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423" r:id="rId2"/>
    <p:sldId id="256" r:id="rId3"/>
    <p:sldId id="268" r:id="rId4"/>
    <p:sldId id="269" r:id="rId5"/>
    <p:sldId id="424" r:id="rId6"/>
    <p:sldId id="425" r:id="rId7"/>
    <p:sldId id="270" r:id="rId8"/>
    <p:sldId id="257" r:id="rId9"/>
    <p:sldId id="258" r:id="rId10"/>
    <p:sldId id="259" r:id="rId11"/>
    <p:sldId id="260" r:id="rId12"/>
    <p:sldId id="261" r:id="rId13"/>
    <p:sldId id="262" r:id="rId14"/>
    <p:sldId id="263" r:id="rId15"/>
    <p:sldId id="264" r:id="rId16"/>
    <p:sldId id="265" r:id="rId17"/>
    <p:sldId id="266" r:id="rId18"/>
    <p:sldId id="271" r:id="rId19"/>
    <p:sldId id="272" r:id="rId20"/>
    <p:sldId id="426" r:id="rId21"/>
    <p:sldId id="420" r:id="rId22"/>
    <p:sldId id="273" r:id="rId23"/>
    <p:sldId id="274" r:id="rId24"/>
    <p:sldId id="421" r:id="rId25"/>
    <p:sldId id="428" r:id="rId26"/>
    <p:sldId id="275" r:id="rId27"/>
    <p:sldId id="280" r:id="rId28"/>
    <p:sldId id="277" r:id="rId29"/>
    <p:sldId id="282" r:id="rId30"/>
    <p:sldId id="283" r:id="rId31"/>
    <p:sldId id="284" r:id="rId32"/>
    <p:sldId id="285" r:id="rId33"/>
    <p:sldId id="278" r:id="rId34"/>
    <p:sldId id="279" r:id="rId35"/>
    <p:sldId id="281"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6" r:id="rId56"/>
    <p:sldId id="307" r:id="rId57"/>
    <p:sldId id="308" r:id="rId58"/>
    <p:sldId id="309" r:id="rId59"/>
    <p:sldId id="310" r:id="rId60"/>
    <p:sldId id="311" r:id="rId61"/>
    <p:sldId id="312" r:id="rId62"/>
    <p:sldId id="313" r:id="rId63"/>
    <p:sldId id="305"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30" r:id="rId80"/>
    <p:sldId id="329"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429"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10" r:id="rId157"/>
    <p:sldId id="411" r:id="rId158"/>
    <p:sldId id="413" r:id="rId159"/>
    <p:sldId id="414" r:id="rId160"/>
    <p:sldId id="416" r:id="rId161"/>
    <p:sldId id="415" r:id="rId162"/>
    <p:sldId id="417" r:id="rId163"/>
    <p:sldId id="405" r:id="rId164"/>
    <p:sldId id="406" r:id="rId165"/>
    <p:sldId id="407" r:id="rId166"/>
    <p:sldId id="408" r:id="rId167"/>
    <p:sldId id="409" r:id="rId168"/>
    <p:sldId id="418" r:id="rId169"/>
    <p:sldId id="419" r:id="rId170"/>
    <p:sldId id="422" r:id="rId1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8" d="100"/>
          <a:sy n="78" d="100"/>
        </p:scale>
        <p:origin x="18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tr-TR"/>
              <a:t>Asıl başlık stilini düzenlemek için tıklayın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42A54C80-263E-416B-A8E0-580EDEADCBDC}" type="datetimeFigureOut">
              <a:rPr lang="en-US" dirty="0"/>
              <a:t>3/29/2026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3/29/2026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fi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B7D118AC-4755-4EEC-91D6-9AD6EA048327}"/>
              </a:ext>
            </a:extLst>
          </p:cNvPr>
          <p:cNvSpPr>
            <a:spLocks noGrp="1"/>
          </p:cNvSpPr>
          <p:nvPr>
            <p:ph type="title"/>
          </p:nvPr>
        </p:nvSpPr>
        <p:spPr>
          <a:xfrm>
            <a:off x="987878" y="1951265"/>
            <a:ext cx="8343273" cy="3796392"/>
          </a:xfrm>
        </p:spPr>
        <p:txBody>
          <a:bodyPr>
            <a:normAutofit/>
          </a:bodyPr>
          <a:lstStyle/>
          <a:p>
            <a:r>
              <a:rPr lang="tr-TR" dirty="0"/>
              <a:t>POLİSLİK MESLEĞİNDE ETKİLİ İLETİŞİM </a:t>
            </a:r>
          </a:p>
        </p:txBody>
      </p:sp>
    </p:spTree>
    <p:extLst>
      <p:ext uri="{BB962C8B-B14F-4D97-AF65-F5344CB8AC3E}">
        <p14:creationId xmlns:p14="http://schemas.microsoft.com/office/powerpoint/2010/main" val="2515741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BEFFF7B0-96D5-4386-BCFA-FF2A0EC93D97}"/>
              </a:ext>
            </a:extLst>
          </p:cNvPr>
          <p:cNvSpPr>
            <a:spLocks noGrp="1"/>
          </p:cNvSpPr>
          <p:nvPr>
            <p:ph type="ctrTitle"/>
          </p:nvPr>
        </p:nvSpPr>
        <p:spPr>
          <a:xfrm>
            <a:off x="1507067" y="383721"/>
            <a:ext cx="7766936" cy="800101"/>
          </a:xfrm>
        </p:spPr>
        <p:txBody>
          <a:bodyPr/>
          <a:lstStyle/>
          <a:p>
            <a:pPr algn="l"/>
            <a:r>
              <a:rPr lang="tr-TR" dirty="0"/>
              <a:t>İLETİŞİM NEDİR?</a:t>
            </a:r>
          </a:p>
        </p:txBody>
      </p:sp>
      <p:sp>
        <p:nvSpPr>
          <p:cNvPr id="3" name="Alt Başlık 2">
            <a:extLst>
              <a:ext uri="{FF2B5EF4-FFF2-40B4-BE49-F238E27FC236}">
                <a16:creationId xmlns:a16="http://schemas.microsoft.com/office/drawing/2014/main" id="{E110EC02-A530-4364-B120-A409FB3E4792}"/>
              </a:ext>
            </a:extLst>
          </p:cNvPr>
          <p:cNvSpPr>
            <a:spLocks noGrp="1"/>
          </p:cNvSpPr>
          <p:nvPr>
            <p:ph type="subTitle" idx="1"/>
          </p:nvPr>
        </p:nvSpPr>
        <p:spPr>
          <a:xfrm>
            <a:off x="1507067" y="1526721"/>
            <a:ext cx="7766936" cy="4090308"/>
          </a:xfrm>
        </p:spPr>
        <p:txBody>
          <a:bodyPr/>
          <a:lstStyle/>
          <a:p>
            <a:pPr algn="l"/>
            <a:r>
              <a:rPr lang="tr-TR" dirty="0"/>
              <a:t>İletişim; bireylerin ya da toplulukların </a:t>
            </a:r>
            <a:r>
              <a:rPr lang="tr-TR" b="1" dirty="0"/>
              <a:t>duygu, düşünce, bilgi ve deneyimlerini</a:t>
            </a:r>
            <a:r>
              <a:rPr lang="tr-TR" dirty="0"/>
              <a:t> çeşitli yollarla(söz, yazı, beden dili, mimik, teknoloji vb.) </a:t>
            </a:r>
            <a:r>
              <a:rPr lang="tr-TR" b="1" dirty="0"/>
              <a:t>başkalarına aktarması ve paylaşması sürecidir</a:t>
            </a:r>
            <a:r>
              <a:rPr lang="tr-TR" dirty="0"/>
              <a:t>.</a:t>
            </a:r>
            <a:br>
              <a:rPr lang="tr-TR" dirty="0"/>
            </a:br>
            <a:endParaRPr lang="tr-TR" dirty="0"/>
          </a:p>
          <a:p>
            <a:pPr algn="l"/>
            <a:r>
              <a:rPr lang="tr-TR" dirty="0"/>
              <a:t>İletişim yalnızca mesaj göndermek değil; aynı zamanda mesajın doğru anlaşılması, yorumlanması ve geri bildirim alınması sürecini kapsar.</a:t>
            </a:r>
          </a:p>
        </p:txBody>
      </p:sp>
      <p:pic>
        <p:nvPicPr>
          <p:cNvPr id="2054" name="Picture 6" descr="İşlevsel İletişim Nedir? Dilgem">
            <a:extLst>
              <a:ext uri="{FF2B5EF4-FFF2-40B4-BE49-F238E27FC236}">
                <a16:creationId xmlns:a16="http://schemas.microsoft.com/office/drawing/2014/main" id="{34C9C46F-FE05-48AD-B693-E1799E6F1F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548744"/>
            <a:ext cx="5021035" cy="2688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1670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3C8A397-5F83-4A91-8930-AB415502B7D4}"/>
              </a:ext>
            </a:extLst>
          </p:cNvPr>
          <p:cNvSpPr>
            <a:spLocks noGrp="1"/>
          </p:cNvSpPr>
          <p:nvPr>
            <p:ph idx="1"/>
          </p:nvPr>
        </p:nvSpPr>
        <p:spPr>
          <a:xfrm>
            <a:off x="677334" y="547007"/>
            <a:ext cx="8596668" cy="5494355"/>
          </a:xfrm>
        </p:spPr>
        <p:txBody>
          <a:bodyPr/>
          <a:lstStyle/>
          <a:p>
            <a:r>
              <a:rPr lang="tr-TR" dirty="0"/>
              <a:t>İngilizcede “</a:t>
            </a:r>
            <a:r>
              <a:rPr lang="tr-TR" dirty="0" err="1"/>
              <a:t>communication</a:t>
            </a:r>
            <a:r>
              <a:rPr lang="tr-TR" dirty="0"/>
              <a:t>” olarak kullanılan iletişim sözcüğünün kökeni, Latince “</a:t>
            </a:r>
            <a:r>
              <a:rPr lang="tr-TR" dirty="0" err="1"/>
              <a:t>communis</a:t>
            </a:r>
            <a:r>
              <a:rPr lang="tr-TR" dirty="0"/>
              <a:t> ve </a:t>
            </a:r>
            <a:r>
              <a:rPr lang="tr-TR" dirty="0" err="1"/>
              <a:t>communicare</a:t>
            </a:r>
            <a:r>
              <a:rPr lang="tr-TR" dirty="0"/>
              <a:t>” sözcüklerinden türetilmiş olup, “ortak, ortak kılmak, ortak olmak ve haberdar etme” anlamında kullanılmaktadır. İletişim temel anlamda bilgi, duygu ve düşüncelerin paylaşılması olmakla birlikte, aynı zamanda kişi ya da grupların davranış ve tutumlarını etkilemeye yönelik bir eylemdir. Diğer bir ifadeyle, iletişim, bireyler arasında bilgi alıp vermek amacıyla oluşturulan bir ilişkiler sistemi olarak açıklanabilir.</a:t>
            </a:r>
          </a:p>
        </p:txBody>
      </p:sp>
      <p:pic>
        <p:nvPicPr>
          <p:cNvPr id="10242" name="Picture 2" descr="İletişim nedir? İnsan İlişkilerinde Sık Yapılan İletişim Hataları -  Bakırköy Aile-İlişki-Evlilik Danışmanı Gülcem Yıldırım">
            <a:extLst>
              <a:ext uri="{FF2B5EF4-FFF2-40B4-BE49-F238E27FC236}">
                <a16:creationId xmlns:a16="http://schemas.microsoft.com/office/drawing/2014/main" id="{D539A4D8-41D3-4020-BAA9-3D1264A716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4793" y="3094264"/>
            <a:ext cx="5568043" cy="2457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98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E5F6F60-C57C-41CE-9536-580B050FEC69}"/>
              </a:ext>
            </a:extLst>
          </p:cNvPr>
          <p:cNvSpPr>
            <a:spLocks noGrp="1"/>
          </p:cNvSpPr>
          <p:nvPr>
            <p:ph idx="1"/>
          </p:nvPr>
        </p:nvSpPr>
        <p:spPr>
          <a:xfrm>
            <a:off x="677334" y="987879"/>
            <a:ext cx="8596668" cy="5053483"/>
          </a:xfrm>
        </p:spPr>
        <p:txBody>
          <a:bodyPr/>
          <a:lstStyle/>
          <a:p>
            <a:r>
              <a:rPr lang="tr-TR" dirty="0"/>
              <a:t>Amerikalı sosyolog Charles </a:t>
            </a:r>
            <a:r>
              <a:rPr lang="tr-TR" dirty="0" err="1"/>
              <a:t>Cooley</a:t>
            </a:r>
            <a:r>
              <a:rPr lang="tr-TR" dirty="0"/>
              <a:t> iletişim ile ilgili şunları ifade etmektedir: İletişim, insan ilişkilerinin, içinden geçerek var olduğu ve geliştiği mekanizma anlamına gelir. İnsan ilişkilerinin var olduğu ve geliştiği mekanizmalar özellikle beyindeki bütün semboller ve bu sembolleri mekan içinde iletme ve zaman içinde koruma yollarıdır.</a:t>
            </a:r>
          </a:p>
          <a:p>
            <a:pPr marL="0" indent="0">
              <a:buNone/>
            </a:pPr>
            <a:endParaRPr lang="tr-TR" dirty="0"/>
          </a:p>
        </p:txBody>
      </p:sp>
      <p:pic>
        <p:nvPicPr>
          <p:cNvPr id="11266" name="Picture 2" descr="İnsan ve İletişim, Etkili İletişim ve Kuralları, Öneriler - Türk Dili ve  Edebiyatı">
            <a:extLst>
              <a:ext uri="{FF2B5EF4-FFF2-40B4-BE49-F238E27FC236}">
                <a16:creationId xmlns:a16="http://schemas.microsoft.com/office/drawing/2014/main" id="{60F4E807-FB55-4864-9ECE-5D22FCC882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4843" y="2880632"/>
            <a:ext cx="4220935" cy="2891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2453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39369601-BB4F-4910-BABF-C1AA6A57863B}"/>
              </a:ext>
            </a:extLst>
          </p:cNvPr>
          <p:cNvSpPr>
            <a:spLocks noGrp="1"/>
          </p:cNvSpPr>
          <p:nvPr>
            <p:ph type="title"/>
          </p:nvPr>
        </p:nvSpPr>
        <p:spPr>
          <a:xfrm>
            <a:off x="677334" y="609600"/>
            <a:ext cx="8596668" cy="713014"/>
          </a:xfrm>
        </p:spPr>
        <p:txBody>
          <a:bodyPr/>
          <a:lstStyle/>
          <a:p>
            <a:r>
              <a:rPr lang="tr-TR" dirty="0"/>
              <a:t>İletişimin temel özellikleri:</a:t>
            </a:r>
          </a:p>
        </p:txBody>
      </p:sp>
      <p:sp>
        <p:nvSpPr>
          <p:cNvPr id="3" name="İçerik Yer Tutucusu 2">
            <a:extLst>
              <a:ext uri="{FF2B5EF4-FFF2-40B4-BE49-F238E27FC236}">
                <a16:creationId xmlns:a16="http://schemas.microsoft.com/office/drawing/2014/main" id="{5A35349C-65CD-4E45-9392-D889229323D4}"/>
              </a:ext>
            </a:extLst>
          </p:cNvPr>
          <p:cNvSpPr>
            <a:spLocks noGrp="1"/>
          </p:cNvSpPr>
          <p:nvPr>
            <p:ph idx="1"/>
          </p:nvPr>
        </p:nvSpPr>
        <p:spPr>
          <a:xfrm>
            <a:off x="677334" y="1632857"/>
            <a:ext cx="8596668" cy="4408505"/>
          </a:xfrm>
        </p:spPr>
        <p:txBody>
          <a:bodyPr/>
          <a:lstStyle/>
          <a:p>
            <a:r>
              <a:rPr lang="tr-TR" dirty="0"/>
              <a:t>İletişim iki tarafın da aktif olduğu bir alışveriştir.</a:t>
            </a:r>
          </a:p>
          <a:p>
            <a:r>
              <a:rPr lang="tr-TR" dirty="0"/>
              <a:t>İletişimde iletiler sözlü veya sözsüz olarak iletilir.</a:t>
            </a:r>
          </a:p>
          <a:p>
            <a:r>
              <a:rPr lang="tr-TR" dirty="0"/>
              <a:t>Bu iletileri ne şekilde aldığımız, algılarımız tarafından belirlenir.</a:t>
            </a:r>
          </a:p>
          <a:p>
            <a:r>
              <a:rPr lang="tr-TR" dirty="0"/>
              <a:t>İletişim kişiye değil kişiyle yapılır </a:t>
            </a:r>
          </a:p>
          <a:p>
            <a:r>
              <a:rPr lang="tr-TR" dirty="0"/>
              <a:t>İletişim her zaman ve her yerdedir.</a:t>
            </a:r>
          </a:p>
          <a:p>
            <a:r>
              <a:rPr lang="tr-TR" dirty="0"/>
              <a:t>İletişimde amaç çevre üzerinde etkin olmaktır</a:t>
            </a:r>
          </a:p>
          <a:p>
            <a:r>
              <a:rPr lang="tr-TR" dirty="0"/>
              <a:t>İletişim anlamların paylaşılmasıdır </a:t>
            </a:r>
          </a:p>
          <a:p>
            <a:r>
              <a:rPr lang="tr-TR" dirty="0"/>
              <a:t>İletişim değişik katmanlarla gerçekleşir</a:t>
            </a:r>
          </a:p>
          <a:p>
            <a:r>
              <a:rPr lang="tr-TR" dirty="0"/>
              <a:t>İletişim kelimeler, ses tonu ve beden dilinden oluşan bir bütündür.</a:t>
            </a:r>
          </a:p>
        </p:txBody>
      </p:sp>
    </p:spTree>
    <p:extLst>
      <p:ext uri="{BB962C8B-B14F-4D97-AF65-F5344CB8AC3E}">
        <p14:creationId xmlns:p14="http://schemas.microsoft.com/office/powerpoint/2010/main" val="1232388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FEA9BAC-88D9-4D9C-AB31-F188F1A6AE8C}"/>
              </a:ext>
            </a:extLst>
          </p:cNvPr>
          <p:cNvSpPr>
            <a:spLocks noGrp="1"/>
          </p:cNvSpPr>
          <p:nvPr>
            <p:ph idx="1"/>
          </p:nvPr>
        </p:nvSpPr>
        <p:spPr>
          <a:xfrm>
            <a:off x="677334" y="2253343"/>
            <a:ext cx="8596668" cy="1608364"/>
          </a:xfrm>
        </p:spPr>
        <p:txBody>
          <a:bodyPr/>
          <a:lstStyle/>
          <a:p>
            <a:r>
              <a:rPr lang="tr-TR" dirty="0"/>
              <a:t>Kelimeler ne söylediğimizle </a:t>
            </a:r>
          </a:p>
          <a:p>
            <a:r>
              <a:rPr lang="tr-TR" dirty="0"/>
              <a:t>Ses tonu ve beden dili ise Nasıl söylediğimizle ilgilidir.</a:t>
            </a:r>
          </a:p>
          <a:p>
            <a:pPr marL="0" indent="0">
              <a:buNone/>
            </a:pPr>
            <a:endParaRPr lang="tr-TR" dirty="0"/>
          </a:p>
          <a:p>
            <a:pPr marL="0" indent="0">
              <a:buNone/>
            </a:pPr>
            <a:endParaRPr lang="tr-TR" dirty="0"/>
          </a:p>
        </p:txBody>
      </p:sp>
    </p:spTree>
    <p:extLst>
      <p:ext uri="{BB962C8B-B14F-4D97-AF65-F5344CB8AC3E}">
        <p14:creationId xmlns:p14="http://schemas.microsoft.com/office/powerpoint/2010/main" val="1250033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E0E61E03-C3F6-40CF-AEE0-CE2266D06225}"/>
              </a:ext>
            </a:extLst>
          </p:cNvPr>
          <p:cNvSpPr>
            <a:spLocks noGrp="1"/>
          </p:cNvSpPr>
          <p:nvPr>
            <p:ph type="title"/>
          </p:nvPr>
        </p:nvSpPr>
        <p:spPr/>
        <p:txBody>
          <a:bodyPr/>
          <a:lstStyle/>
          <a:p>
            <a:r>
              <a:rPr lang="tr-TR" dirty="0"/>
              <a:t>İLETİŞİM NEDEN ÖNEMLİDİR </a:t>
            </a:r>
          </a:p>
        </p:txBody>
      </p:sp>
      <p:sp>
        <p:nvSpPr>
          <p:cNvPr id="3" name="İçerik Yer Tutucusu 2">
            <a:extLst>
              <a:ext uri="{FF2B5EF4-FFF2-40B4-BE49-F238E27FC236}">
                <a16:creationId xmlns:a16="http://schemas.microsoft.com/office/drawing/2014/main" id="{494AC6E6-4A5C-43B8-B706-119D3303F98F}"/>
              </a:ext>
            </a:extLst>
          </p:cNvPr>
          <p:cNvSpPr>
            <a:spLocks noGrp="1"/>
          </p:cNvSpPr>
          <p:nvPr>
            <p:ph idx="1"/>
          </p:nvPr>
        </p:nvSpPr>
        <p:spPr>
          <a:xfrm>
            <a:off x="677334" y="1281793"/>
            <a:ext cx="8596668" cy="4833257"/>
          </a:xfrm>
        </p:spPr>
        <p:txBody>
          <a:bodyPr/>
          <a:lstStyle/>
          <a:p>
            <a:pPr marL="0" indent="0">
              <a:buNone/>
            </a:pPr>
            <a:r>
              <a:rPr lang="tr-TR" dirty="0"/>
              <a:t>İnsan toplu halde yaşayan bir varlıktır. Dolayısıyla İletişim, toplumsal bir varlık olan insan yaşantısının kaçınılmaz ve önemli bir boyutunu oluşturur. Toplum içinde yaşayan her insan, farkında olsun veya olmasın, birbirleriyle iletişim içindedir. İnsanlar duygu, düşünce ve hayallerini, sorunlarını birbirlerine iletişimle aktarırlar. </a:t>
            </a:r>
          </a:p>
          <a:p>
            <a:pPr marL="0" indent="0">
              <a:buNone/>
            </a:pPr>
            <a:endParaRPr lang="tr-TR" dirty="0"/>
          </a:p>
          <a:p>
            <a:pPr marL="0" indent="0">
              <a:buNone/>
            </a:pPr>
            <a:r>
              <a:rPr lang="tr-TR" dirty="0"/>
              <a:t>İletişimle insanlar birbirlerini anlarlar, sorunlarını paylaşırlar, problemlerine çözümler üretirler. Yani insan hayatının merkezinde iletişim vardır.</a:t>
            </a:r>
          </a:p>
        </p:txBody>
      </p:sp>
      <p:pic>
        <p:nvPicPr>
          <p:cNvPr id="1026" name="Picture 2" descr="Begüm">
            <a:extLst>
              <a:ext uri="{FF2B5EF4-FFF2-40B4-BE49-F238E27FC236}">
                <a16:creationId xmlns:a16="http://schemas.microsoft.com/office/drawing/2014/main" id="{E8EC1BA7-BC5A-4C82-B469-E8F1D2BE2A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4237" y="3976007"/>
            <a:ext cx="3762375"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955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5DA8E1B-8AEC-43D3-8BA4-E2ECCEFE0E65}"/>
              </a:ext>
            </a:extLst>
          </p:cNvPr>
          <p:cNvSpPr>
            <a:spLocks noGrp="1"/>
          </p:cNvSpPr>
          <p:nvPr>
            <p:ph idx="1"/>
          </p:nvPr>
        </p:nvSpPr>
        <p:spPr>
          <a:xfrm>
            <a:off x="677334" y="677637"/>
            <a:ext cx="8596668" cy="5363726"/>
          </a:xfrm>
        </p:spPr>
        <p:txBody>
          <a:bodyPr/>
          <a:lstStyle/>
          <a:p>
            <a:r>
              <a:rPr lang="tr-TR" dirty="0"/>
              <a:t>İletişim tüm insanların yaşamında vazgeçilmez bir unsurdur. Çünkü insanlar doğduklarından itibaren çevrelerindeki kişilerle sürekli olarak bilinçli ya da bilinçsiz bir biçimde iletişim kurarlar. Kişiler konuşarak, susarak, bakarak, oturuş ve duruş biçimiyle diğer kişilere çeşitli anlamlar aktarırlar.</a:t>
            </a:r>
          </a:p>
          <a:p>
            <a:pPr marL="0" indent="0">
              <a:buNone/>
            </a:pPr>
            <a:endParaRPr lang="tr-TR" dirty="0"/>
          </a:p>
          <a:p>
            <a:r>
              <a:rPr lang="tr-TR" dirty="0"/>
              <a:t>İlk çağlarda insanların diğer kişilerle sesler, çığlıklar, hareketler, resimler gibi biçimlerde iletişim kurmaya çalışmaları, günümüzde ise iletişim teknolojileri aracılığıyla bir tuşla dünyanın öbür ucundaki kişilere ulaşarak iletişim kurmaları insan için iletişimin önemini ve gerekliliğini ortaya koymaktadır.</a:t>
            </a:r>
          </a:p>
          <a:p>
            <a:endParaRPr lang="tr-TR" dirty="0"/>
          </a:p>
        </p:txBody>
      </p:sp>
      <p:pic>
        <p:nvPicPr>
          <p:cNvPr id="5" name="Resim 4">
            <a:extLst>
              <a:ext uri="{FF2B5EF4-FFF2-40B4-BE49-F238E27FC236}">
                <a16:creationId xmlns:a16="http://schemas.microsoft.com/office/drawing/2014/main" id="{4723141C-9E79-4F24-B945-113EC549C199}"/>
              </a:ext>
            </a:extLst>
          </p:cNvPr>
          <p:cNvPicPr>
            <a:picLocks noChangeAspect="1"/>
          </p:cNvPicPr>
          <p:nvPr/>
        </p:nvPicPr>
        <p:blipFill>
          <a:blip r:embed="rId2"/>
          <a:stretch>
            <a:fillRect/>
          </a:stretch>
        </p:blipFill>
        <p:spPr>
          <a:xfrm>
            <a:off x="1201512" y="3820886"/>
            <a:ext cx="2571750" cy="1981200"/>
          </a:xfrm>
          <a:prstGeom prst="rect">
            <a:avLst/>
          </a:prstGeom>
        </p:spPr>
      </p:pic>
      <p:pic>
        <p:nvPicPr>
          <p:cNvPr id="7" name="Resim 6">
            <a:extLst>
              <a:ext uri="{FF2B5EF4-FFF2-40B4-BE49-F238E27FC236}">
                <a16:creationId xmlns:a16="http://schemas.microsoft.com/office/drawing/2014/main" id="{B067AD5E-1797-47CF-B97E-052DB05526CD}"/>
              </a:ext>
            </a:extLst>
          </p:cNvPr>
          <p:cNvPicPr>
            <a:picLocks noChangeAspect="1"/>
          </p:cNvPicPr>
          <p:nvPr/>
        </p:nvPicPr>
        <p:blipFill>
          <a:blip r:embed="rId3"/>
          <a:stretch>
            <a:fillRect/>
          </a:stretch>
        </p:blipFill>
        <p:spPr>
          <a:xfrm>
            <a:off x="5704114" y="3880758"/>
            <a:ext cx="2857500" cy="1921328"/>
          </a:xfrm>
          <a:prstGeom prst="rect">
            <a:avLst/>
          </a:prstGeom>
        </p:spPr>
      </p:pic>
    </p:spTree>
    <p:extLst>
      <p:ext uri="{BB962C8B-B14F-4D97-AF65-F5344CB8AC3E}">
        <p14:creationId xmlns:p14="http://schemas.microsoft.com/office/powerpoint/2010/main" val="1710395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C479AD0-7BD4-4029-9EB9-1EAA6FB1DFBE}"/>
              </a:ext>
            </a:extLst>
          </p:cNvPr>
          <p:cNvSpPr>
            <a:spLocks noGrp="1"/>
          </p:cNvSpPr>
          <p:nvPr>
            <p:ph idx="1"/>
          </p:nvPr>
        </p:nvSpPr>
        <p:spPr>
          <a:xfrm>
            <a:off x="579363" y="1091067"/>
            <a:ext cx="8596668" cy="4738233"/>
          </a:xfrm>
        </p:spPr>
        <p:txBody>
          <a:bodyPr/>
          <a:lstStyle/>
          <a:p>
            <a:r>
              <a:rPr lang="tr-TR" dirty="0"/>
              <a:t>Herkes yeryüzünü bir sahne, kendisini de oyuncu olarak benimsemiştir. Herkes rolünü oynamakta, karakterinin gerektirdiği replikleri konuşmakta, yapmacık da olsa birbirlerine vermeleri gereken mesajları verip almaktadır. Dünya sahnesindeki oyun bir iletişim oyunudur. Hiç kimsenin bu oyuna katılmama, oyundan kaçma hakkı ve ayrıcalığı yoktur. İnsan olan herkes bu oyuna katılmak, rolünü oynamak, iletişim kurmak zorundadır.</a:t>
            </a:r>
          </a:p>
        </p:txBody>
      </p:sp>
      <p:pic>
        <p:nvPicPr>
          <p:cNvPr id="1028" name="Picture 4" descr="Ulusal Tiyatro Oyunu Ödülleri sahiplerini buluyor">
            <a:extLst>
              <a:ext uri="{FF2B5EF4-FFF2-40B4-BE49-F238E27FC236}">
                <a16:creationId xmlns:a16="http://schemas.microsoft.com/office/drawing/2014/main" id="{6D0BA968-4159-4E2C-AFBE-CE80B0FA9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0351" y="3159577"/>
            <a:ext cx="4563836" cy="2269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286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46BED21-FF80-4E7B-B811-E1A6D17EB229}"/>
              </a:ext>
            </a:extLst>
          </p:cNvPr>
          <p:cNvSpPr>
            <a:spLocks noGrp="1"/>
          </p:cNvSpPr>
          <p:nvPr>
            <p:ph idx="1"/>
          </p:nvPr>
        </p:nvSpPr>
        <p:spPr>
          <a:xfrm>
            <a:off x="677334" y="718457"/>
            <a:ext cx="8596668" cy="5322905"/>
          </a:xfrm>
        </p:spPr>
        <p:txBody>
          <a:bodyPr/>
          <a:lstStyle/>
          <a:p>
            <a:r>
              <a:rPr lang="tr-TR" dirty="0"/>
              <a:t>İnsanın iletişim kurma özelliğiyle günlük yaşamın her aşamasında ve her ortamda diğer kişileri etkilediği, onlardan etkilendiği ve bu özelliğiyle biyolojik bir varlık olmaktan çıkarak, toplumsal bir varlık olarak kendini gerçekleştirdiği görülmektedir. Bu anlamda toplum içinde yaşayan insanın kendisini daha iyi tanıyarak, çevresindeki kişilerle uyumlu ilişkiler gerçekleştirebilme ve etkileşim kurabilme gereksinimi ortaya çıkmaktadır. Bu bağlamda etkileşimin olduğu her yerde iletişim ve iletişimin olduğu her yerde etkileşimin olduğunu söylemek doğru olacaktır.</a:t>
            </a:r>
          </a:p>
          <a:p>
            <a:pPr marL="0" indent="0">
              <a:buNone/>
            </a:pPr>
            <a:endParaRPr lang="tr-TR" dirty="0"/>
          </a:p>
        </p:txBody>
      </p:sp>
      <p:pic>
        <p:nvPicPr>
          <p:cNvPr id="2050" name="Picture 2" descr="Etkili İletişim Teknikleri Nedir? Nasıl Olur? - İstanbul Ticaret  Üniversitesi Eğitim Portalı">
            <a:extLst>
              <a:ext uri="{FF2B5EF4-FFF2-40B4-BE49-F238E27FC236}">
                <a16:creationId xmlns:a16="http://schemas.microsoft.com/office/drawing/2014/main" id="{A4EEA780-FCD5-420B-AB29-43438E640D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2957" y="3612696"/>
            <a:ext cx="5249636" cy="2244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3683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3">
            <a:extLst>
              <a:ext uri="{FF2B5EF4-FFF2-40B4-BE49-F238E27FC236}">
                <a16:creationId xmlns:a16="http://schemas.microsoft.com/office/drawing/2014/main" id="{6EEDBFF3-C43C-4F20-A375-1DC188795C3E}"/>
              </a:ext>
            </a:extLst>
          </p:cNvPr>
          <p:cNvSpPr>
            <a:spLocks noGrp="1"/>
          </p:cNvSpPr>
          <p:nvPr>
            <p:ph idx="1"/>
          </p:nvPr>
        </p:nvSpPr>
        <p:spPr>
          <a:xfrm>
            <a:off x="677334" y="767443"/>
            <a:ext cx="8596668" cy="5273919"/>
          </a:xfrm>
        </p:spPr>
        <p:txBody>
          <a:bodyPr/>
          <a:lstStyle/>
          <a:p>
            <a:r>
              <a:rPr lang="tr-TR" dirty="0"/>
              <a:t>Ayrıca, iletişim yalnızca toplumsallaşmanın bir parçası değildir, kişinin farklı amaçlarını da gerçekleştirmesini sağlar. Bir anlamda insanın varlığını sürdürmesi sürecinde gelişmelere ve değişimlere bağlı olarak farklı amaçlarla iletişim kurması gerekir. Kişilerin iletişim kurmalarının amaçları çeşitlidir. Kişi, kişisel buluş, dış dünyayı keşfetmek, anlamlı ilişkiler geliştirmek ve tutum ve davranışları değiştirmek amacıyla iletişim kurar.</a:t>
            </a:r>
          </a:p>
          <a:p>
            <a:endParaRPr lang="tr-TR" dirty="0"/>
          </a:p>
        </p:txBody>
      </p:sp>
      <p:pic>
        <p:nvPicPr>
          <p:cNvPr id="3076" name="Picture 4" descr="Örgüt İletişim Eğitimi | asistanakademi.com">
            <a:extLst>
              <a:ext uri="{FF2B5EF4-FFF2-40B4-BE49-F238E27FC236}">
                <a16:creationId xmlns:a16="http://schemas.microsoft.com/office/drawing/2014/main" id="{E00415FA-64C2-40B5-A1F0-1069B12B2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7049" y="3071812"/>
            <a:ext cx="3750129" cy="2160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204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FB421C5-BA3B-4F82-A132-0CB41E3150B0}"/>
              </a:ext>
            </a:extLst>
          </p:cNvPr>
          <p:cNvSpPr>
            <a:spLocks noGrp="1"/>
          </p:cNvSpPr>
          <p:nvPr>
            <p:ph idx="1"/>
          </p:nvPr>
        </p:nvSpPr>
        <p:spPr>
          <a:xfrm>
            <a:off x="783468" y="63904"/>
            <a:ext cx="8596668" cy="8588799"/>
          </a:xfrm>
        </p:spPr>
        <p:txBody>
          <a:bodyPr>
            <a:normAutofit/>
          </a:bodyPr>
          <a:lstStyle/>
          <a:p>
            <a:r>
              <a:rPr lang="tr-TR" sz="1600" dirty="0"/>
              <a:t>Bu çerçevede, bir iletişim sürecinde kaynağın niyet ettiği, istediği, hedeflediği amaç doğrultusunda oluşturduğu mesajın alıcı tarafından aynı biçimde alınması ve planlanması, beklenilen doğrultuda bir karşılık verilmesi etkili bir iletişimin ortaya çıkmasını sağlar. Bir mesajın etkili bir biçimde hedefe iletilmesini sağlayan, niyet edilen uyaranın içeriğinin doğru bir biçimde alınması ya da kabul edilmesi anlamına gelen ve iletişimde bulunan taraflar arasında anlayışın güçlenmesini sağlamak için açıklamada bulunmak, özetleme yapmak, yazılı olarak iletmek vb. yöntemlerin kullanılmasını gerektiren anlayış, iletişimin sonucunda alıcının tepkisinin olumlu olmasını ifade eden memnuniyet, iletişim sürecinin sonunda alıcının, kaynağın aktardığı mesajların etkisiyle var olan ve süregelen tutumlarında farklılaşmaların oluşmasının beklendiği tutumları etkileme ve iletişimin doğru zamanda, doğru sözcükler, doğru bir iletişim tarzıyla gerçekleştirilmesi sonucunda kişiler arasında psikolojik olarak olumlu duygular hissedilmesi, güven duygusunun gelişmesi, böylece iletişimde etkililiğin sağlandığı ilişkilerin gelişmesi gibi etmenlerdir.</a:t>
            </a:r>
          </a:p>
          <a:p>
            <a:pPr marL="0" indent="0">
              <a:buNone/>
            </a:pPr>
            <a:endParaRPr lang="tr-TR" dirty="0"/>
          </a:p>
        </p:txBody>
      </p:sp>
      <p:pic>
        <p:nvPicPr>
          <p:cNvPr id="4098" name="Picture 2" descr="İletişim Teknikleri | diksiyonakademi.com">
            <a:extLst>
              <a:ext uri="{FF2B5EF4-FFF2-40B4-BE49-F238E27FC236}">
                <a16:creationId xmlns:a16="http://schemas.microsoft.com/office/drawing/2014/main" id="{BDBA09A9-611D-4B05-83B3-5FC436777E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2137" y="4039897"/>
            <a:ext cx="5061856" cy="2441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3310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805CC4B-2DE7-4531-87D0-0A48F59ED2E6}"/>
              </a:ext>
            </a:extLst>
          </p:cNvPr>
          <p:cNvSpPr>
            <a:spLocks noGrp="1"/>
          </p:cNvSpPr>
          <p:nvPr>
            <p:ph idx="1"/>
          </p:nvPr>
        </p:nvSpPr>
        <p:spPr>
          <a:xfrm>
            <a:off x="329482" y="480095"/>
            <a:ext cx="8879206" cy="5373697"/>
          </a:xfrm>
        </p:spPr>
        <p:txBody>
          <a:bodyPr/>
          <a:lstStyle/>
          <a:p>
            <a:r>
              <a:rPr lang="tr-TR" sz="2000" dirty="0"/>
              <a:t>Kendimizle, bir başkasıyla ya da başkalarıyla sürekli iletişim içinde olmanın dışında dinleyici, okuyucu ya da izleyici olarak da iletişim ağının kapsamındayız. Günümüzde artık milyonlarla iletişimi paylaşma, başka bir deyişle kitle iletişimi söz konusudur. İnsanlık tarihiyle başlayan iletişim konuşma, yazma, basım ve elektronik kitle iletişimi araçlarıyla en son etkinliğine ulaşmış, uydular aracılığında yeni hizmetler sunmaya başlamıştır.</a:t>
            </a:r>
          </a:p>
          <a:p>
            <a:pPr marL="0" indent="0">
              <a:buNone/>
            </a:pPr>
            <a:endParaRPr lang="tr-TR" dirty="0"/>
          </a:p>
        </p:txBody>
      </p:sp>
      <p:pic>
        <p:nvPicPr>
          <p:cNvPr id="5122" name="Picture 2" descr="Etkin Dinleme | Etkili İletişim Teknikleri | Academy">
            <a:extLst>
              <a:ext uri="{FF2B5EF4-FFF2-40B4-BE49-F238E27FC236}">
                <a16:creationId xmlns:a16="http://schemas.microsoft.com/office/drawing/2014/main" id="{B433731E-CC24-43DD-BEE4-74087CB160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3312" y="3265715"/>
            <a:ext cx="4299231" cy="2334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073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A668808-C441-4D39-BB3C-782D76ADF7FE}"/>
              </a:ext>
            </a:extLst>
          </p:cNvPr>
          <p:cNvSpPr>
            <a:spLocks noGrp="1"/>
          </p:cNvSpPr>
          <p:nvPr>
            <p:ph idx="1"/>
          </p:nvPr>
        </p:nvSpPr>
        <p:spPr>
          <a:xfrm>
            <a:off x="677334" y="914401"/>
            <a:ext cx="8596668" cy="5126962"/>
          </a:xfrm>
        </p:spPr>
        <p:txBody>
          <a:bodyPr/>
          <a:lstStyle/>
          <a:p>
            <a:r>
              <a:rPr lang="tr-TR" dirty="0"/>
              <a:t>Elektronik iletişim ağları içinde ses çözümlemelerinin yapıldığı bir dönemde yaşıyoruz. Bilgi bankalarıyla, evlerimize giren bilgisayarlarla iletişim kuruyoruz. Ancak yine de iletişimi başarısız kılan fiziksel engellerin hızla ortadan kalkmasına karşın, ruhsal engellerin süregittiğinden söz edilebilir. Gerçekten de bugün ilerleyen teknoloji, iletişimi önleyen ya da güçleştiren fiziksel engelleri büyük bir hızla ortadan kaldırıyor, olanaksız sanılanları, düşleri gerçekleştiriyorken; en yalın anlamdaki iletişimi, kişinin kişiyle iletişimini engelleyen güçlüklerin yenilmesinde benzer başarıyı gösterememekte ne yazık ki.</a:t>
            </a:r>
          </a:p>
          <a:p>
            <a:pPr marL="0" indent="0">
              <a:buNone/>
            </a:pPr>
            <a:endParaRPr lang="tr-TR" dirty="0"/>
          </a:p>
        </p:txBody>
      </p:sp>
      <p:pic>
        <p:nvPicPr>
          <p:cNvPr id="6146" name="Picture 2" descr="Türkiye bilgi ve iletişim teknolojileri sektörünün büyüklüğü 785 milyar  TL'ye ulaştı - Dünya Gazetesi">
            <a:extLst>
              <a:ext uri="{FF2B5EF4-FFF2-40B4-BE49-F238E27FC236}">
                <a16:creationId xmlns:a16="http://schemas.microsoft.com/office/drawing/2014/main" id="{D86FB05B-881D-45D9-8EF2-BBEC9C4DE7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7644" y="3959677"/>
            <a:ext cx="5347606" cy="228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267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F1B7503-8D16-4E14-8E9E-DB41B3B49534}"/>
              </a:ext>
            </a:extLst>
          </p:cNvPr>
          <p:cNvSpPr>
            <a:spLocks noGrp="1"/>
          </p:cNvSpPr>
          <p:nvPr>
            <p:ph idx="1"/>
          </p:nvPr>
        </p:nvSpPr>
        <p:spPr>
          <a:xfrm>
            <a:off x="677334" y="1085851"/>
            <a:ext cx="8596668" cy="4955512"/>
          </a:xfrm>
        </p:spPr>
        <p:txBody>
          <a:bodyPr/>
          <a:lstStyle/>
          <a:p>
            <a:pPr marL="0" indent="0">
              <a:buNone/>
            </a:pPr>
            <a:r>
              <a:rPr lang="tr-TR" dirty="0"/>
              <a:t>Etkili iletişimin amacını “iletmek istediğimizi karışımızdakine amaçladığımız biçimde iletebilmek, isteneni elde etmek ve beklenen tepkiyi uyandırmak” diye ele aldığımızda, yaşam boyu sürdürdüğümüz iletişimimizde başarı düzeyimiz pek de yüksek sayılamaz. Çoğu kez umarsızlık içinde, “Ne istediğimi anlatamadım; düşündüğümü iletemedim ya da yanlış anlaşıldım” diyerek yakınırız. İletişim kurmanın güçlüğünü, iletişim sürecini de açıklayan şu sözler çok güzel anlatmaktadır: “Söylediğini sandığını anladığına inanıyorum; ancak duyduğunun benim demek istediğimin olmadığını kavradığından kuşkuluyum”.</a:t>
            </a:r>
          </a:p>
          <a:p>
            <a:endParaRPr lang="tr-TR" dirty="0"/>
          </a:p>
        </p:txBody>
      </p:sp>
      <p:pic>
        <p:nvPicPr>
          <p:cNvPr id="7170" name="Picture 2" descr="İletişimsizlik İmkansızdır* – Sezen Erem">
            <a:extLst>
              <a:ext uri="{FF2B5EF4-FFF2-40B4-BE49-F238E27FC236}">
                <a16:creationId xmlns:a16="http://schemas.microsoft.com/office/drawing/2014/main" id="{5E6AFF11-1720-4E04-8420-C40A02CCA9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314" y="3563607"/>
            <a:ext cx="4874079" cy="2608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0647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C4DF1DE-55A9-4440-8B8B-6DA3591247FF}"/>
              </a:ext>
            </a:extLst>
          </p:cNvPr>
          <p:cNvSpPr>
            <a:spLocks noGrp="1"/>
          </p:cNvSpPr>
          <p:nvPr>
            <p:ph idx="1"/>
          </p:nvPr>
        </p:nvSpPr>
        <p:spPr>
          <a:xfrm>
            <a:off x="677334" y="889907"/>
            <a:ext cx="8596668" cy="5151455"/>
          </a:xfrm>
        </p:spPr>
        <p:txBody>
          <a:bodyPr/>
          <a:lstStyle/>
          <a:p>
            <a:pPr marL="0" indent="0">
              <a:buNone/>
            </a:pPr>
            <a:r>
              <a:rPr lang="tr-TR" dirty="0"/>
              <a:t>Gerçekten de kendimizi karşımızdakine ya da karşımızdakilere ne tam anlamıyla açıklayabiliyor ne de tam anlamıyla anlaşılabiliyoruz. Kısacası etkili bir iletişim içinde değiliz. Çok güçlü bir araç ya da bir yol olan iletişimi gereğince kullanamıyoruz. İletişim çabalarımız da böylece yarı yarıya başarısızlığa uğruyor, engellerle karşılaşıyor. İletişimde karşılaşılan engeller bir anlamda kişilerin duygusal özelliklerinden, yetersizliklerinden bir anlamda da iletişim sürecinin yeterince bilinmemesinden kaynaklanmakta.</a:t>
            </a:r>
          </a:p>
          <a:p>
            <a:pPr marL="0" indent="0">
              <a:buNone/>
            </a:pPr>
            <a:endParaRPr lang="tr-TR" dirty="0"/>
          </a:p>
        </p:txBody>
      </p:sp>
      <p:pic>
        <p:nvPicPr>
          <p:cNvPr id="8194" name="Picture 2" descr="Çağımızın hastalığı:İletişimsizlik - Anayurt Gazetesi">
            <a:extLst>
              <a:ext uri="{FF2B5EF4-FFF2-40B4-BE49-F238E27FC236}">
                <a16:creationId xmlns:a16="http://schemas.microsoft.com/office/drawing/2014/main" id="{7E7CE5A6-B286-4F5B-8DEA-A1A89C8CFC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0650" y="3528332"/>
            <a:ext cx="2895600" cy="158115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İletişimsizlik - Çınare Nasibova - Öyküler - Hayrendiş">
            <a:extLst>
              <a:ext uri="{FF2B5EF4-FFF2-40B4-BE49-F238E27FC236}">
                <a16:creationId xmlns:a16="http://schemas.microsoft.com/office/drawing/2014/main" id="{A7B5EEC8-2962-4497-916E-965E97907E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3127" y="3639911"/>
            <a:ext cx="2847975"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9506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A430469-AF8A-4A6E-8D22-40ACC82A919C}"/>
              </a:ext>
            </a:extLst>
          </p:cNvPr>
          <p:cNvSpPr>
            <a:spLocks noGrp="1"/>
          </p:cNvSpPr>
          <p:nvPr>
            <p:ph idx="1"/>
          </p:nvPr>
        </p:nvSpPr>
        <p:spPr>
          <a:xfrm>
            <a:off x="407913" y="1488613"/>
            <a:ext cx="8596668" cy="4953008"/>
          </a:xfrm>
        </p:spPr>
        <p:txBody>
          <a:bodyPr/>
          <a:lstStyle/>
          <a:p>
            <a:r>
              <a:rPr lang="tr-TR" dirty="0"/>
              <a:t>Toplumlar ile kültürler gerçekte iletişim aracılığında var olmuş ve gelişebilmişlerdir; paylaşılan deneyimlerle, “alışkanlıklar dizisi” ile belirli bir konuma oturmuşlardır. Paylaşılmayan deneyimler ya da alışkanlıklar ise özdeşleşmeyi sağlayamayacağı için değişik kültür ya da topluluktan kişilerle etkili bir iletişime girme olasılığı da azalır. Kaldı ki, bugün dünyadaki değişim hızı ve karmaşıklığı kişileri kendi toplumlarına ya da kültürlerine bile “yabancı” kılabilecek ölçüttedir.</a:t>
            </a:r>
          </a:p>
          <a:p>
            <a:endParaRPr lang="tr-TR" dirty="0"/>
          </a:p>
        </p:txBody>
      </p:sp>
      <p:pic>
        <p:nvPicPr>
          <p:cNvPr id="9218" name="Picture 2" descr="KADEM Karabük'ten Kültürlerarası Etkileşim: &quot;Farklı Coğrafyalarda Kadın ve  Aile&quot; Etkinlik Dizisi Başlıyor - KADEM">
            <a:extLst>
              <a:ext uri="{FF2B5EF4-FFF2-40B4-BE49-F238E27FC236}">
                <a16:creationId xmlns:a16="http://schemas.microsoft.com/office/drawing/2014/main" id="{060478E4-CDBF-49EF-ACA0-131E795DC3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0493" y="3716792"/>
            <a:ext cx="4808764" cy="2341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2807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6875F854-4D4C-4E46-B9A4-F0B662B17D86}"/>
              </a:ext>
            </a:extLst>
          </p:cNvPr>
          <p:cNvSpPr>
            <a:spLocks noGrp="1"/>
          </p:cNvSpPr>
          <p:nvPr>
            <p:ph type="title"/>
          </p:nvPr>
        </p:nvSpPr>
        <p:spPr/>
        <p:txBody>
          <a:bodyPr/>
          <a:lstStyle/>
          <a:p>
            <a:r>
              <a:rPr lang="tr-TR" dirty="0"/>
              <a:t>İLETİŞİM TÜRLERİ</a:t>
            </a:r>
          </a:p>
        </p:txBody>
      </p:sp>
      <p:sp>
        <p:nvSpPr>
          <p:cNvPr id="3" name="İçerik Yer Tutucusu 2">
            <a:extLst>
              <a:ext uri="{FF2B5EF4-FFF2-40B4-BE49-F238E27FC236}">
                <a16:creationId xmlns:a16="http://schemas.microsoft.com/office/drawing/2014/main" id="{AAC30402-4881-4E33-90DD-A2B759E63C34}"/>
              </a:ext>
            </a:extLst>
          </p:cNvPr>
          <p:cNvSpPr>
            <a:spLocks noGrp="1"/>
          </p:cNvSpPr>
          <p:nvPr>
            <p:ph idx="1"/>
          </p:nvPr>
        </p:nvSpPr>
        <p:spPr>
          <a:xfrm>
            <a:off x="473227" y="1420585"/>
            <a:ext cx="8596668" cy="4302369"/>
          </a:xfrm>
        </p:spPr>
        <p:txBody>
          <a:bodyPr/>
          <a:lstStyle/>
          <a:p>
            <a:pPr marL="0" indent="0">
              <a:buNone/>
            </a:pPr>
            <a:r>
              <a:rPr lang="tr-TR" dirty="0"/>
              <a:t>İletişimin Türleri İletişimi kategorize etmede günümüze kadar çok farklı yöntemler kullanılmıştır. İletişim sürecinde kullanılan simge bakımından iletişim; sözsüz, sözlü, yazılı ve görsel olarak sınıflandırılabilirken iletişim boyutları bakımından kişinin kendisiyle iletişimi, kişilerarası iletişim, grup iletişimi, örgüt iletişimi ve kitle iletişimi şeklinde kategorize edilebilir. </a:t>
            </a:r>
          </a:p>
        </p:txBody>
      </p:sp>
      <p:pic>
        <p:nvPicPr>
          <p:cNvPr id="1028" name="Picture 4" descr="Sözlü-sözsüz iletişim / Psikoloji / Milliyet Blog">
            <a:extLst>
              <a:ext uri="{FF2B5EF4-FFF2-40B4-BE49-F238E27FC236}">
                <a16:creationId xmlns:a16="http://schemas.microsoft.com/office/drawing/2014/main" id="{3C40AD24-5209-42F5-A587-E9C4F2FA53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7216" y="3429000"/>
            <a:ext cx="3730398" cy="3045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5885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8DA6D6FC-FDDB-43F6-97FB-88B4BA93446F}"/>
              </a:ext>
            </a:extLst>
          </p:cNvPr>
          <p:cNvSpPr>
            <a:spLocks noGrp="1"/>
          </p:cNvSpPr>
          <p:nvPr>
            <p:ph type="title"/>
          </p:nvPr>
        </p:nvSpPr>
        <p:spPr>
          <a:xfrm>
            <a:off x="677334" y="609600"/>
            <a:ext cx="8596668" cy="762000"/>
          </a:xfrm>
        </p:spPr>
        <p:txBody>
          <a:bodyPr/>
          <a:lstStyle/>
          <a:p>
            <a:r>
              <a:rPr lang="tr-TR" dirty="0"/>
              <a:t>SÖZSÜZ İLETİŞİM</a:t>
            </a:r>
          </a:p>
        </p:txBody>
      </p:sp>
      <p:sp>
        <p:nvSpPr>
          <p:cNvPr id="3" name="İçerik Yer Tutucusu 2">
            <a:extLst>
              <a:ext uri="{FF2B5EF4-FFF2-40B4-BE49-F238E27FC236}">
                <a16:creationId xmlns:a16="http://schemas.microsoft.com/office/drawing/2014/main" id="{F903B92A-CB61-4F50-985B-F13FEAEF8B5E}"/>
              </a:ext>
            </a:extLst>
          </p:cNvPr>
          <p:cNvSpPr>
            <a:spLocks noGrp="1"/>
          </p:cNvSpPr>
          <p:nvPr>
            <p:ph idx="1"/>
          </p:nvPr>
        </p:nvSpPr>
        <p:spPr>
          <a:xfrm>
            <a:off x="677334" y="1371601"/>
            <a:ext cx="8596668" cy="4669762"/>
          </a:xfrm>
        </p:spPr>
        <p:txBody>
          <a:bodyPr/>
          <a:lstStyle/>
          <a:p>
            <a:pPr marL="0" indent="0">
              <a:buNone/>
            </a:pPr>
            <a:r>
              <a:rPr lang="tr-TR" dirty="0"/>
              <a:t>Sözsüz iletişim başlı başına bir iletişim türü olmakla beraber, sözlü iletişimi tamamlayan önemli bir unsurdur. İletişim denildiğinde sadece konuşma akla gelmemelidir. </a:t>
            </a:r>
          </a:p>
          <a:p>
            <a:pPr marL="0" indent="0">
              <a:buNone/>
            </a:pPr>
            <a:endParaRPr lang="tr-TR" dirty="0"/>
          </a:p>
          <a:p>
            <a:pPr marL="0" indent="0">
              <a:buNone/>
            </a:pPr>
            <a:r>
              <a:rPr lang="tr-TR" dirty="0"/>
              <a:t>İlişkide sözsüz iletişim oldukça önemli bir yer kaplar. Sözsüz iletişim konuşulan sözü içermeyen ifade, bilgi verme veya davranış şeklinde tanımlanabilir. </a:t>
            </a:r>
          </a:p>
          <a:p>
            <a:pPr marL="0" indent="0">
              <a:buNone/>
            </a:pPr>
            <a:endParaRPr lang="tr-TR" dirty="0"/>
          </a:p>
          <a:p>
            <a:pPr marL="0" indent="0">
              <a:buNone/>
            </a:pPr>
            <a:r>
              <a:rPr lang="tr-TR" dirty="0"/>
              <a:t>Bazı durumlarda insanlar, gerçek duygu ve düşüncelerini dile getirmezler ya da getiremezler. Söyledikleri, söylemek istediklerinden farklı olur. Bu durumda sözsüz iletişim, kişinin gerçekten ne söylediğini ya da ne söylemek istediğini anlamak açısından güvenilir bir kaynak olarak devreye girer. Araştırmalar sözel olmayan sinyallerin, sözel olarak aktarılan iletilerden beş kat daha etkili olduğunu ve ikisi arasında uyuşmazlık olduğu durumlarda insanların sözel içeriğe aldırmadan sözel olmayan mesajı dikkate aldıklarını göstermiştir</a:t>
            </a:r>
          </a:p>
        </p:txBody>
      </p:sp>
    </p:spTree>
    <p:extLst>
      <p:ext uri="{BB962C8B-B14F-4D97-AF65-F5344CB8AC3E}">
        <p14:creationId xmlns:p14="http://schemas.microsoft.com/office/powerpoint/2010/main" val="1893548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DD1D835-DFD0-47CC-A93C-0CBEF96E7871}"/>
              </a:ext>
            </a:extLst>
          </p:cNvPr>
          <p:cNvSpPr>
            <a:spLocks noGrp="1"/>
          </p:cNvSpPr>
          <p:nvPr>
            <p:ph idx="1"/>
          </p:nvPr>
        </p:nvSpPr>
        <p:spPr/>
        <p:txBody>
          <a:bodyPr/>
          <a:lstStyle/>
          <a:p>
            <a:pPr marL="0" indent="0">
              <a:buNone/>
            </a:pPr>
            <a:r>
              <a:rPr lang="tr-TR" dirty="0"/>
              <a:t> İletişimi yapılandırmada </a:t>
            </a:r>
          </a:p>
          <a:p>
            <a:r>
              <a:rPr lang="tr-TR" dirty="0"/>
              <a:t>Kelimeler %10</a:t>
            </a:r>
          </a:p>
          <a:p>
            <a:r>
              <a:rPr lang="tr-TR" dirty="0"/>
              <a:t> Ses %30</a:t>
            </a:r>
          </a:p>
          <a:p>
            <a:r>
              <a:rPr lang="tr-TR" dirty="0"/>
              <a:t>Beden dili ise %60 oranında rol oynar </a:t>
            </a:r>
          </a:p>
          <a:p>
            <a:endParaRPr lang="tr-TR" dirty="0"/>
          </a:p>
        </p:txBody>
      </p:sp>
    </p:spTree>
    <p:extLst>
      <p:ext uri="{BB962C8B-B14F-4D97-AF65-F5344CB8AC3E}">
        <p14:creationId xmlns:p14="http://schemas.microsoft.com/office/powerpoint/2010/main" val="2824030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5363366-FA7F-4701-B34D-B2CCE7A4C4F2}"/>
              </a:ext>
            </a:extLst>
          </p:cNvPr>
          <p:cNvSpPr>
            <a:spLocks noGrp="1"/>
          </p:cNvSpPr>
          <p:nvPr>
            <p:ph idx="1"/>
          </p:nvPr>
        </p:nvSpPr>
        <p:spPr>
          <a:xfrm>
            <a:off x="677334" y="522515"/>
            <a:ext cx="8596668" cy="5518848"/>
          </a:xfrm>
        </p:spPr>
        <p:txBody>
          <a:bodyPr/>
          <a:lstStyle/>
          <a:p>
            <a:r>
              <a:rPr lang="tr-TR" dirty="0"/>
              <a:t>Sözsüz iletişim temel olarak bireylerin yüz, göz, el, kol, bacak, ayak gibi çeşitli organlarıyla ve bunların yanı sıra giyim, kuşam, renk ve mekan seçimleri ile gerçekleştirdikleri ileti alışverişidir. Bu bağlamda sözsüz iletişim insanlık tarihi kadar eskidir. İlk insanlardan başlayan iletişim serüveninde henüz sesler söze dönüşmemişken ve bu sözcükler vasıtasıyla ilk iletimler yapılmamışken vücudun değişik organları ve fiziksel seçimlerle maksadını karşıya aktarmak şeklinde etkileşimler mevcuttur. </a:t>
            </a:r>
          </a:p>
          <a:p>
            <a:endParaRPr lang="tr-TR" dirty="0"/>
          </a:p>
        </p:txBody>
      </p:sp>
      <p:pic>
        <p:nvPicPr>
          <p:cNvPr id="33794" name="Picture 2" descr="Sessiz İletişim Şekilleri - Sorularla Düşünme | Koç Sevde İsteyin">
            <a:extLst>
              <a:ext uri="{FF2B5EF4-FFF2-40B4-BE49-F238E27FC236}">
                <a16:creationId xmlns:a16="http://schemas.microsoft.com/office/drawing/2014/main" id="{2E29927C-8816-476E-B06C-755F3B1B8B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6386" y="3184070"/>
            <a:ext cx="5878286" cy="2579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189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9E75D58-5CC5-45D4-83F7-C3CBF0B51A3D}"/>
              </a:ext>
            </a:extLst>
          </p:cNvPr>
          <p:cNvSpPr>
            <a:spLocks noGrp="1"/>
          </p:cNvSpPr>
          <p:nvPr>
            <p:ph idx="1"/>
          </p:nvPr>
        </p:nvSpPr>
        <p:spPr>
          <a:xfrm>
            <a:off x="677334" y="563337"/>
            <a:ext cx="8596668" cy="5478026"/>
          </a:xfrm>
        </p:spPr>
        <p:txBody>
          <a:bodyPr/>
          <a:lstStyle/>
          <a:p>
            <a:r>
              <a:rPr lang="tr-TR" dirty="0"/>
              <a:t>Sözsüz iletişimin önemli bir kısmı beden dilinden oluşur. Beden dilini ise jest, mimik, kişiler arası mesafe, oturuş, duruş vb. unsurlardan oluşur Sözsüz iletişim kimi zaman birbirini hiç tanımayan kişilerin, hiç konuşmadan bile karşılıklı olarak anlaşmalarına sebep olur Bununla birlikte günlük yaşamımızda kullandığımız simgesel kodlardan sözsüz olanlar, anlam yaratma ve paylaşmada çoğu kez bilincinde olmaksızın, ancak kaçınılmaz olarak sürekli kullanılırlar.</a:t>
            </a:r>
          </a:p>
        </p:txBody>
      </p:sp>
      <p:pic>
        <p:nvPicPr>
          <p:cNvPr id="2050" name="Picture 2" descr="Beden Dili Hakkında Her Şey | IIENSTITU">
            <a:extLst>
              <a:ext uri="{FF2B5EF4-FFF2-40B4-BE49-F238E27FC236}">
                <a16:creationId xmlns:a16="http://schemas.microsoft.com/office/drawing/2014/main" id="{68990597-3D87-45AB-96F5-CEBA575A99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272" y="3109913"/>
            <a:ext cx="5661338" cy="293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40231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D0711F8-8520-44A4-8DA1-0FC5B2773942}"/>
              </a:ext>
            </a:extLst>
          </p:cNvPr>
          <p:cNvSpPr>
            <a:spLocks noGrp="1"/>
          </p:cNvSpPr>
          <p:nvPr>
            <p:ph idx="1"/>
          </p:nvPr>
        </p:nvSpPr>
        <p:spPr>
          <a:xfrm>
            <a:off x="0" y="522515"/>
            <a:ext cx="8596668" cy="5045319"/>
          </a:xfrm>
        </p:spPr>
        <p:txBody>
          <a:bodyPr/>
          <a:lstStyle/>
          <a:p>
            <a:r>
              <a:rPr lang="tr-TR" dirty="0"/>
              <a:t>Başarılı iletişimin en temel özelliği olan doğru anlama eylemini etkili bir biçime gerçekleştirebilmek için karşımızdaki kişinin beden dilinin nasıl olması gerektiğini, bedenimizin iletişimi kurarken aslında sözlerimizden daha önemli olduğunu ve beden dilimizi nasıl doğru kullanabileceğimiz hakkında  bilgili ve becerikli olmamız gerekmektedir.</a:t>
            </a:r>
          </a:p>
        </p:txBody>
      </p:sp>
      <p:pic>
        <p:nvPicPr>
          <p:cNvPr id="3074" name="Picture 2" descr="Beden Dili Eğitimi | İnsanları Okumak ve Çıkarım Yapmak | Udemy">
            <a:extLst>
              <a:ext uri="{FF2B5EF4-FFF2-40B4-BE49-F238E27FC236}">
                <a16:creationId xmlns:a16="http://schemas.microsoft.com/office/drawing/2014/main" id="{2550EB78-CD75-46FB-BD68-BBC1255B56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3130" y="2253342"/>
            <a:ext cx="5219949" cy="3233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7430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458100F-FD68-47E5-977D-931C2F38D720}"/>
              </a:ext>
            </a:extLst>
          </p:cNvPr>
          <p:cNvSpPr>
            <a:spLocks noGrp="1"/>
          </p:cNvSpPr>
          <p:nvPr>
            <p:ph idx="1"/>
          </p:nvPr>
        </p:nvSpPr>
        <p:spPr>
          <a:xfrm>
            <a:off x="677334" y="547007"/>
            <a:ext cx="8596668" cy="5494355"/>
          </a:xfrm>
        </p:spPr>
        <p:txBody>
          <a:bodyPr/>
          <a:lstStyle/>
          <a:p>
            <a:r>
              <a:rPr lang="tr-TR" dirty="0"/>
              <a:t>Kişiler arasındaki iletişimde etken olan vücudun konumu ve göstergeler, beden dilinin kullanılmasında önemli bir yer tutmaktadır. Nitekim ilk izlenim her zaman etkilidir. “İnsanlar görünümleriyle ağırlanır, fikirleri ile uğurlanır” denilmek suretiyle konum ve göstergelere verilen değer anlatılmıştır. İlk izlenim ilk görüşte aşık olmanın iş hayatındaki örneğidir. İyi bir ilk izlenim için ikinci bir şansın asla olmadığı, edinilen tecrübelerle birçok kişi tarafından çok iyi bilinmektedir</a:t>
            </a:r>
          </a:p>
        </p:txBody>
      </p:sp>
      <p:pic>
        <p:nvPicPr>
          <p:cNvPr id="32770" name="Picture 2" descr="Sözel-Sözsüz İletişim Karşılaştırması – Sözsüz İletişim">
            <a:extLst>
              <a:ext uri="{FF2B5EF4-FFF2-40B4-BE49-F238E27FC236}">
                <a16:creationId xmlns:a16="http://schemas.microsoft.com/office/drawing/2014/main" id="{83B4890E-9D57-4662-9962-61844E53F8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993572"/>
            <a:ext cx="5494564" cy="3235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07633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D1F09B0-5B14-45A6-97F4-FCE5298CC042}"/>
              </a:ext>
            </a:extLst>
          </p:cNvPr>
          <p:cNvSpPr>
            <a:spLocks noGrp="1"/>
          </p:cNvSpPr>
          <p:nvPr>
            <p:ph idx="1"/>
          </p:nvPr>
        </p:nvSpPr>
        <p:spPr>
          <a:xfrm>
            <a:off x="644677" y="1793196"/>
            <a:ext cx="8596668" cy="4419825"/>
          </a:xfrm>
        </p:spPr>
        <p:txBody>
          <a:bodyPr/>
          <a:lstStyle/>
          <a:p>
            <a:r>
              <a:rPr lang="tr-TR" dirty="0"/>
              <a:t>Karşımızdakinin bizi doğru anlayabilmesi için beden duruşumuzun önemi büyüktür. Gönderdiğimiz iletilerin alıcı tarafından anlaşılması noktasında alıcı bizim beden duruşumuzu ve onun verdiği iletiyi okumaya ve anlamaya çalışır.</a:t>
            </a:r>
          </a:p>
          <a:p>
            <a:r>
              <a:rPr lang="tr-TR" dirty="0"/>
              <a:t>Kişiler duygu ve düşüncelerini en çok da beden diliyle dışa vurur. Yüz ifadesi verilen mesaja uyum içinde olur ya da alınan mesaja göre şekillenir.</a:t>
            </a:r>
          </a:p>
          <a:p>
            <a:r>
              <a:rPr lang="tr-TR" dirty="0"/>
              <a:t>Dolayısıyla gönderilen mesajın alıcı tarafından etkili bir şekilde anlaşılmasında mimiklerimizin etkisi büyüktür.</a:t>
            </a:r>
          </a:p>
        </p:txBody>
      </p:sp>
    </p:spTree>
    <p:extLst>
      <p:ext uri="{BB962C8B-B14F-4D97-AF65-F5344CB8AC3E}">
        <p14:creationId xmlns:p14="http://schemas.microsoft.com/office/powerpoint/2010/main" val="2910332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D52BD3A-6E17-4D2D-93EC-3504EB1C8330}"/>
              </a:ext>
            </a:extLst>
          </p:cNvPr>
          <p:cNvSpPr>
            <a:spLocks noGrp="1"/>
          </p:cNvSpPr>
          <p:nvPr>
            <p:ph idx="1"/>
          </p:nvPr>
        </p:nvSpPr>
        <p:spPr>
          <a:xfrm>
            <a:off x="677334" y="759279"/>
            <a:ext cx="8596668" cy="5282083"/>
          </a:xfrm>
        </p:spPr>
        <p:txBody>
          <a:bodyPr/>
          <a:lstStyle/>
          <a:p>
            <a:r>
              <a:rPr lang="tr-TR" dirty="0"/>
              <a:t>Sözsüz iletişim aynı zamanda kültürel boyutta farklılıklar arz eden, değişik kültürlerde jest, mimik ve vücut hareketlerinin değişik anlamlara geldiği ilginç bir simgedir. Örneğin Japon kültüründe vücudu belden öne eğerek verilen hediyeyi iki elle verme ve alırken de iki elle alma karşılıklı saygının ifadesiyken Latin topluluklarda böyle bir hareket saygı göstergesi olarak algılanmayabilir. Yer ve mesafe tutma, dokunma, jestler, göz ve bakış, zaman ve statü kullanımı, ses dili, maddeler ve eşyalar ve fiziksel görünüş (kılık-kıyafet, renkler, vb.) başlıca sözsüz iletişim türlerini oluşturur </a:t>
            </a:r>
          </a:p>
          <a:p>
            <a:endParaRPr lang="tr-TR" dirty="0"/>
          </a:p>
        </p:txBody>
      </p:sp>
      <p:pic>
        <p:nvPicPr>
          <p:cNvPr id="4098" name="Picture 2" descr="Selamlaşma sanatı: Japonlar neden eğilerek selam veriyor? - Fotoğraf  Galerisi">
            <a:extLst>
              <a:ext uri="{FF2B5EF4-FFF2-40B4-BE49-F238E27FC236}">
                <a16:creationId xmlns:a16="http://schemas.microsoft.com/office/drawing/2014/main" id="{49AFFBE2-CD16-48F1-BA6D-4B40A9FC71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400319"/>
            <a:ext cx="4620986" cy="2641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7707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D2EA04E6-F14B-482F-AB72-02C9DC50E566}"/>
              </a:ext>
            </a:extLst>
          </p:cNvPr>
          <p:cNvSpPr>
            <a:spLocks noGrp="1"/>
          </p:cNvSpPr>
          <p:nvPr>
            <p:ph type="title"/>
          </p:nvPr>
        </p:nvSpPr>
        <p:spPr/>
        <p:txBody>
          <a:bodyPr/>
          <a:lstStyle/>
          <a:p>
            <a:r>
              <a:rPr lang="tr-TR" dirty="0"/>
              <a:t>SÖZLÜ İLETİŞİM </a:t>
            </a:r>
          </a:p>
        </p:txBody>
      </p:sp>
      <p:sp>
        <p:nvSpPr>
          <p:cNvPr id="3" name="İçerik Yer Tutucusu 2">
            <a:extLst>
              <a:ext uri="{FF2B5EF4-FFF2-40B4-BE49-F238E27FC236}">
                <a16:creationId xmlns:a16="http://schemas.microsoft.com/office/drawing/2014/main" id="{224A7CFB-D1F2-4DF8-B2C1-3501292908FD}"/>
              </a:ext>
            </a:extLst>
          </p:cNvPr>
          <p:cNvSpPr>
            <a:spLocks noGrp="1"/>
          </p:cNvSpPr>
          <p:nvPr>
            <p:ph idx="1"/>
          </p:nvPr>
        </p:nvSpPr>
        <p:spPr>
          <a:xfrm>
            <a:off x="677334" y="1396093"/>
            <a:ext cx="8596668" cy="4645269"/>
          </a:xfrm>
        </p:spPr>
        <p:txBody>
          <a:bodyPr/>
          <a:lstStyle/>
          <a:p>
            <a:r>
              <a:rPr lang="tr-TR" dirty="0"/>
              <a:t>Sözlü iletişimde konuşma ve yazı dili vardır. Dil, toplumdaki bireylerin aynı tepkiyi gösterdiği, sembollerden oluşan bir sistemdir. Sözlü iletişimde önemli olan seçilen kelimelerin mesajın anlaşılabilmesindeki rolünün bilinmesidir. Sözlü iletişimi bazı sosyal bilimciler ise yazılı iletişimden ayırarak sadece seslerin sözcüklere dönüşmesi sürecinin bir sonucu olarak görmüşlerdir. Konuşma günlük yaşamımızın ayrılmaz bir parçasıdır. Günümüzdeki etkileşimlerin çoğu konuşmalar şeklinde gerçekleşir.</a:t>
            </a:r>
          </a:p>
        </p:txBody>
      </p:sp>
      <p:pic>
        <p:nvPicPr>
          <p:cNvPr id="4" name="Picture 2" descr="Etkili İletişim | diksiyonakademi.com">
            <a:extLst>
              <a:ext uri="{FF2B5EF4-FFF2-40B4-BE49-F238E27FC236}">
                <a16:creationId xmlns:a16="http://schemas.microsoft.com/office/drawing/2014/main" id="{70B67B6E-4843-40FD-B334-AB7C212B3C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2910" y="3516200"/>
            <a:ext cx="5409574" cy="2822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60004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BDF6D5A-7E70-49F1-87DB-087474E2E47F}"/>
              </a:ext>
            </a:extLst>
          </p:cNvPr>
          <p:cNvSpPr>
            <a:spLocks noGrp="1"/>
          </p:cNvSpPr>
          <p:nvPr>
            <p:ph idx="1"/>
          </p:nvPr>
        </p:nvSpPr>
        <p:spPr>
          <a:xfrm>
            <a:off x="587527" y="530680"/>
            <a:ext cx="8596668" cy="5404548"/>
          </a:xfrm>
        </p:spPr>
        <p:txBody>
          <a:bodyPr/>
          <a:lstStyle/>
          <a:p>
            <a:r>
              <a:rPr lang="tr-TR" dirty="0"/>
              <a:t>Sözlü iletişim dil ve dil ötesi olmak üzere iki sınıfa ayrılabilir. Dil iletişimi bizim bildiğimiz anlamda konuşma iletişimi, dil ötesi iletişim ise konuşmanın nasıl yapıldığıdır (ses tonu, şiddeti gibi). Sözle iletişim alfabenin belli bir ilişkiyi gerçekleştirmek üzere manipüle edilmesidir. Alfabe bir iletişimin oluşması için kendi başına yeterli değildir. Ancak bir insan ile diğeri ya da diğerleri arasında belli  bir etkileşimin olması iletişimi mümkün kılar.</a:t>
            </a:r>
          </a:p>
        </p:txBody>
      </p:sp>
      <p:pic>
        <p:nvPicPr>
          <p:cNvPr id="6146" name="Picture 2" descr="Ses Tonuna Dikkat">
            <a:extLst>
              <a:ext uri="{FF2B5EF4-FFF2-40B4-BE49-F238E27FC236}">
                <a16:creationId xmlns:a16="http://schemas.microsoft.com/office/drawing/2014/main" id="{8FC7E7C4-CF21-4900-95E3-15EA02C293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2379" y="2835050"/>
            <a:ext cx="4686300" cy="26105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2336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1369489-F5C8-455E-9017-012CED7FEDBD}"/>
              </a:ext>
            </a:extLst>
          </p:cNvPr>
          <p:cNvSpPr>
            <a:spLocks noGrp="1"/>
          </p:cNvSpPr>
          <p:nvPr>
            <p:ph idx="1"/>
          </p:nvPr>
        </p:nvSpPr>
        <p:spPr>
          <a:xfrm>
            <a:off x="677334" y="481693"/>
            <a:ext cx="8596668" cy="5559669"/>
          </a:xfrm>
        </p:spPr>
        <p:txBody>
          <a:bodyPr/>
          <a:lstStyle/>
          <a:p>
            <a:r>
              <a:rPr lang="tr-TR" dirty="0"/>
              <a:t>Sözlü ve sözsüz iletişim, kişilerarası iletişimin olmazsa olmaz, en temel unsurlarıdır ve bu durumun temelinde, her iki iletişim biçiminin de kendimizi ifade etmemizi sağlayan iletişimsel aracılar olmaları yatar. Duygu ve düşünceler ifade edilirken sıklıkla her ikisi birlikte, el ele, iç içe geçmiş bir biçimde kullanılır. Bir başka ifade edişle, çoğu zaman her iki iletişim kanalını birden, birbirlerini destekler ya da bazı durumlarda birbirleri ile çelişir biçimde kullanma yolundan gidilir, duygular ve tutumlar karşımızdaki kişi/kişilere aktarılır, ilişki kurulur, sürdürülür, düzenlenir ya da sonlandırılır. </a:t>
            </a:r>
          </a:p>
        </p:txBody>
      </p:sp>
      <p:pic>
        <p:nvPicPr>
          <p:cNvPr id="9218" name="Picture 2" descr="Sözsüz İletişim Kodlarının Ortak Özellikleri – SÖZSÜZ İLETİŞİM">
            <a:extLst>
              <a:ext uri="{FF2B5EF4-FFF2-40B4-BE49-F238E27FC236}">
                <a16:creationId xmlns:a16="http://schemas.microsoft.com/office/drawing/2014/main" id="{D306498A-6F9C-4A7C-8807-8CE3DF2CD3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2645" y="3120800"/>
            <a:ext cx="3746046" cy="2806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094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FD5546B-CA69-47A3-B964-E1E9B0548B86}"/>
              </a:ext>
            </a:extLst>
          </p:cNvPr>
          <p:cNvSpPr>
            <a:spLocks noGrp="1"/>
          </p:cNvSpPr>
          <p:nvPr>
            <p:ph idx="1"/>
          </p:nvPr>
        </p:nvSpPr>
        <p:spPr>
          <a:xfrm>
            <a:off x="677334" y="383721"/>
            <a:ext cx="8596668" cy="5657641"/>
          </a:xfrm>
        </p:spPr>
        <p:txBody>
          <a:bodyPr/>
          <a:lstStyle/>
          <a:p>
            <a:r>
              <a:rPr lang="tr-TR" dirty="0"/>
              <a:t>İçinde bulunulan koşullar, hissedilenler, düşünceler, ilişki kurulan kişinin iletişim tarzı ve iletişim biçimi gibi özellikleri, iletişim içinde olunan kişi/kişilere özel mi yoksa sözsüz kanallardan mı daha etkin bir biçimde ulaşılabileceğini belirler. Örneğin, yakın bir arkadaşın bizim hakkımızda daha açıklamada bulunmasını önlemek ve “bildiklerini söylememesi, artık bu noktada susması” için gereken mesajı beden dilimizle anlatmayı (işaret parmağınız dudaklarımızda, gözleriniz açılmış, kaşlarınız yukarı kalkmış) tercih edebilir, onun bizi nasıl olsa çok iyi tanıdığını düşünerek, konuşmadan kendimizi ifade etme yoluna gidebiliriz.</a:t>
            </a:r>
          </a:p>
          <a:p>
            <a:endParaRPr lang="tr-TR" dirty="0"/>
          </a:p>
        </p:txBody>
      </p:sp>
      <p:pic>
        <p:nvPicPr>
          <p:cNvPr id="10242" name="Picture 2" descr="Mikro İfadeler – Mimiklerimiz Yalan Söylemez Temel Eğitimi – PsikoEvim  Psikoloji Merkezi">
            <a:extLst>
              <a:ext uri="{FF2B5EF4-FFF2-40B4-BE49-F238E27FC236}">
                <a16:creationId xmlns:a16="http://schemas.microsoft.com/office/drawing/2014/main" id="{5D4A2110-ECB8-47E7-B1B2-93EC84E52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4406" y="3212541"/>
            <a:ext cx="4988379" cy="2575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6608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30A61B3-D99B-4E40-9AA2-2611206DEFE4}"/>
              </a:ext>
            </a:extLst>
          </p:cNvPr>
          <p:cNvSpPr>
            <a:spLocks noGrp="1"/>
          </p:cNvSpPr>
          <p:nvPr>
            <p:ph idx="1"/>
          </p:nvPr>
        </p:nvSpPr>
        <p:spPr>
          <a:xfrm>
            <a:off x="677334" y="644979"/>
            <a:ext cx="8596668" cy="5396383"/>
          </a:xfrm>
        </p:spPr>
        <p:txBody>
          <a:bodyPr/>
          <a:lstStyle/>
          <a:p>
            <a:r>
              <a:rPr lang="tr-TR" dirty="0"/>
              <a:t>Bir başka durumda ise, iş yerinde daha resmi bir ilişki içinde olduğumuz arkadaşımıza kızdığımızda duyduğumuz içsel rahatsızlığı sözel yollarla dile getirme yolunu seçebiliriz (tabii bu arada hissedilen hoşnutsuzluk yüzümüzden de okunur). Sonuç olarak; içinde bulunulan çevresel koşullar, üstlenilen roller, bireyin bilişsel ve duygusal dünyası ve içinde yetiştiği kültür onun hangi iletişim biçimini daha yoğun bir biçimde tercih edeceğini belirler, belirleyemediği durumlarda da izlenebilecek bir yön çizer</a:t>
            </a:r>
          </a:p>
          <a:p>
            <a:pPr marL="0" indent="0">
              <a:buNone/>
            </a:pPr>
            <a:endParaRPr lang="tr-TR" dirty="0"/>
          </a:p>
        </p:txBody>
      </p:sp>
      <p:pic>
        <p:nvPicPr>
          <p:cNvPr id="11266" name="Picture 2" descr="Küs olduğun konuşmadığın arkadaşın var mı? - KizlarSoruyor">
            <a:extLst>
              <a:ext uri="{FF2B5EF4-FFF2-40B4-BE49-F238E27FC236}">
                <a16:creationId xmlns:a16="http://schemas.microsoft.com/office/drawing/2014/main" id="{9D074587-20D2-46A4-8DB4-99EE1FADD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436" y="3047320"/>
            <a:ext cx="4327071" cy="2830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4803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0EAE74B-3B22-46DF-8B17-654E682204CD}"/>
              </a:ext>
            </a:extLst>
          </p:cNvPr>
          <p:cNvSpPr>
            <a:spLocks noGrp="1"/>
          </p:cNvSpPr>
          <p:nvPr>
            <p:ph idx="1"/>
          </p:nvPr>
        </p:nvSpPr>
        <p:spPr>
          <a:xfrm>
            <a:off x="677334" y="832757"/>
            <a:ext cx="8596668" cy="5208606"/>
          </a:xfrm>
        </p:spPr>
        <p:txBody>
          <a:bodyPr>
            <a:normAutofit/>
          </a:bodyPr>
          <a:lstStyle/>
          <a:p>
            <a:r>
              <a:rPr lang="tr-TR" dirty="0"/>
              <a:t>Sözel ve sözsüz iletişim becerileri çoğu zaman karşımıza “el ele” çıkar</a:t>
            </a:r>
          </a:p>
          <a:p>
            <a:r>
              <a:rPr lang="tr-TR" dirty="0"/>
              <a:t> Sözel ve sözsüz iletişim becerileri kişisel imaj üzerinde oldukça etkilidir</a:t>
            </a:r>
          </a:p>
          <a:p>
            <a:r>
              <a:rPr lang="tr-TR" dirty="0"/>
              <a:t> İletişimlerde tepki (geribildirim) verilirken sözel mesajların yanında sözsüz mesajlar da kullanılır </a:t>
            </a:r>
          </a:p>
          <a:p>
            <a:r>
              <a:rPr lang="tr-TR" dirty="0"/>
              <a:t>Sözel beceriler daha çok fikirlerle, sözsüz beceriler ise daha çok duygularla ilintilidir</a:t>
            </a:r>
          </a:p>
          <a:p>
            <a:r>
              <a:rPr lang="tr-TR" dirty="0"/>
              <a:t> Sözel ve sözsüz beceriler, konuşmanın akışının belirlenmesine destek olur </a:t>
            </a:r>
          </a:p>
          <a:p>
            <a:r>
              <a:rPr lang="tr-TR" dirty="0"/>
              <a:t>Sözel ve sözsüz iletişim becerileri “zor durumlarda” birbirlerine arka çıkar </a:t>
            </a:r>
          </a:p>
          <a:p>
            <a:r>
              <a:rPr lang="tr-TR" dirty="0"/>
              <a:t>Sözel ve sözsüz iletişim mesajları kültürden kültüre farklılık gösterir </a:t>
            </a:r>
          </a:p>
          <a:p>
            <a:r>
              <a:rPr lang="tr-TR" dirty="0"/>
              <a:t>Sözsüz mesajlar anlamlandırılırken içinde bulunulan ortamın özellikleri göz ardı edilmemelidir </a:t>
            </a:r>
          </a:p>
          <a:p>
            <a:r>
              <a:rPr lang="tr-TR" dirty="0"/>
              <a:t>Her iki iletişim biçimini başarılı bir biçimde sürdürmek zor olsa da, sözsüz olan kıyasla biraz daha zordur.</a:t>
            </a:r>
          </a:p>
          <a:p>
            <a:endParaRPr lang="tr-TR" dirty="0"/>
          </a:p>
        </p:txBody>
      </p:sp>
    </p:spTree>
    <p:extLst>
      <p:ext uri="{BB962C8B-B14F-4D97-AF65-F5344CB8AC3E}">
        <p14:creationId xmlns:p14="http://schemas.microsoft.com/office/powerpoint/2010/main" val="6855320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C267DF9A-60C5-4F41-A5C3-637815D3429B}"/>
              </a:ext>
            </a:extLst>
          </p:cNvPr>
          <p:cNvSpPr>
            <a:spLocks noGrp="1"/>
          </p:cNvSpPr>
          <p:nvPr>
            <p:ph type="title"/>
          </p:nvPr>
        </p:nvSpPr>
        <p:spPr/>
        <p:txBody>
          <a:bodyPr/>
          <a:lstStyle/>
          <a:p>
            <a:r>
              <a:rPr lang="tr-TR" dirty="0"/>
              <a:t>YAZILI İLETİŞİM </a:t>
            </a:r>
            <a:br>
              <a:rPr lang="tr-TR" dirty="0"/>
            </a:br>
            <a:endParaRPr lang="tr-TR" sz="2400" dirty="0"/>
          </a:p>
        </p:txBody>
      </p:sp>
      <p:sp>
        <p:nvSpPr>
          <p:cNvPr id="3" name="İçerik Yer Tutucusu 2">
            <a:extLst>
              <a:ext uri="{FF2B5EF4-FFF2-40B4-BE49-F238E27FC236}">
                <a16:creationId xmlns:a16="http://schemas.microsoft.com/office/drawing/2014/main" id="{48BD51B1-0E43-4BE5-A79C-38B7B9F25C86}"/>
              </a:ext>
            </a:extLst>
          </p:cNvPr>
          <p:cNvSpPr>
            <a:spLocks noGrp="1"/>
          </p:cNvSpPr>
          <p:nvPr>
            <p:ph idx="1"/>
          </p:nvPr>
        </p:nvSpPr>
        <p:spPr>
          <a:xfrm>
            <a:off x="677334" y="1575707"/>
            <a:ext cx="8596668" cy="4465655"/>
          </a:xfrm>
        </p:spPr>
        <p:txBody>
          <a:bodyPr/>
          <a:lstStyle/>
          <a:p>
            <a:r>
              <a:rPr lang="tr-TR" dirty="0"/>
              <a:t>Bilgi veya haberleri iletmek için basılı, el yazılı ve dijital yazılı dokümanların bir araç olarak iletişimde kullanılmasına yazılı iletişim denir. Yazının icadı ile insanlar arasındaki iletişim farklı bir boyuta daha sahip olmuştur. Artık iletilen şeyin kayıtlara geçirilebilmesi ve tekrar tekrar okunabilmesi mümkün olmakla beraber, gerek hukuki gerekse sistematik olarak evrensellik sağlama yolunda önemli bir adım atılmıştır Yazılı iletişim, insanın belirgin sınırlılıklarını aşmasında çok etkili olmuştur. Yazılı iletişimin temelleri ilk insanlar tarafından çizilen mağara resimleridir .Yazılı iletişime, yazıların hukuksal anlamda belge olması nedeniyle başvurulur. Şirketlerde politikalar ve prosedürler yazılı olarak düzenlenir .Belli başlı yazılı iletişim araçları kitap, dergi, mektup, mail, gazete, afiş, vb.dir. </a:t>
            </a:r>
          </a:p>
          <a:p>
            <a:r>
              <a:rPr lang="tr-TR" dirty="0"/>
              <a:t>SÖZ UÇAR YAZI KALIR…</a:t>
            </a:r>
          </a:p>
        </p:txBody>
      </p:sp>
    </p:spTree>
    <p:extLst>
      <p:ext uri="{BB962C8B-B14F-4D97-AF65-F5344CB8AC3E}">
        <p14:creationId xmlns:p14="http://schemas.microsoft.com/office/powerpoint/2010/main" val="14004750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8C400F48-022B-4344-986E-97449CB600F4}"/>
              </a:ext>
            </a:extLst>
          </p:cNvPr>
          <p:cNvSpPr>
            <a:spLocks noGrp="1"/>
          </p:cNvSpPr>
          <p:nvPr>
            <p:ph type="title"/>
          </p:nvPr>
        </p:nvSpPr>
        <p:spPr>
          <a:xfrm>
            <a:off x="734484" y="332014"/>
            <a:ext cx="8596668" cy="546781"/>
          </a:xfrm>
        </p:spPr>
        <p:txBody>
          <a:bodyPr>
            <a:normAutofit fontScale="90000"/>
          </a:bodyPr>
          <a:lstStyle/>
          <a:p>
            <a:r>
              <a:rPr lang="tr-TR" dirty="0"/>
              <a:t>GÖRSEL İLETİŞİM </a:t>
            </a:r>
          </a:p>
        </p:txBody>
      </p:sp>
      <p:sp>
        <p:nvSpPr>
          <p:cNvPr id="3" name="İçerik Yer Tutucusu 2">
            <a:extLst>
              <a:ext uri="{FF2B5EF4-FFF2-40B4-BE49-F238E27FC236}">
                <a16:creationId xmlns:a16="http://schemas.microsoft.com/office/drawing/2014/main" id="{32C6E26A-8454-4EFA-8B7B-FEA47E8DF792}"/>
              </a:ext>
            </a:extLst>
          </p:cNvPr>
          <p:cNvSpPr>
            <a:spLocks noGrp="1"/>
          </p:cNvSpPr>
          <p:nvPr>
            <p:ph idx="1"/>
          </p:nvPr>
        </p:nvSpPr>
        <p:spPr>
          <a:xfrm>
            <a:off x="391584" y="987879"/>
            <a:ext cx="8596668" cy="4049275"/>
          </a:xfrm>
        </p:spPr>
        <p:txBody>
          <a:bodyPr>
            <a:normAutofit/>
          </a:bodyPr>
          <a:lstStyle/>
          <a:p>
            <a:r>
              <a:rPr lang="tr-TR" dirty="0"/>
              <a:t>Görsel iletişim doğrudan insan gözüne ve görsel algısına hitap eden bir iletişim biçimidir. İlkel çağlarda mağaralara çizilen resimlerle başlayan görsel iletişim günümüzde televizyon, internet ve sinema gibi iletişim biçimlerine evirilmiştir. Görsel iletişim yazılı iletişimin temelini oluşturur </a:t>
            </a:r>
          </a:p>
          <a:p>
            <a:r>
              <a:rPr lang="tr-TR" dirty="0"/>
              <a:t>Görsel iletişim araçları, mesajların insanın gözüne hitap ettiği slayt, tepegöz, projeksiyon cihazı, grafik, üç boyutlu modeller ve fotoğraf gibi araçlardır. Görsel-işitsel iletişim araçlarıysa mesajın göz ve kulağa birlikte hitap ettiği film, video, kayıt ve gösterim cihazı gibi araçlardır. Bununla birlikte radyo işitsel, televizyon ise görsel işitsel iletişim araçlarıdır. Bu araçlar doğaları gereği iki yönlü iletişime olanak vermeseler de kamuoyunun oluşumunda önemli işlevler üstlenirler. </a:t>
            </a:r>
          </a:p>
        </p:txBody>
      </p:sp>
      <p:pic>
        <p:nvPicPr>
          <p:cNvPr id="7170" name="Picture 2" descr="Görsel iletişim tasarımı png | PNGWing">
            <a:extLst>
              <a:ext uri="{FF2B5EF4-FFF2-40B4-BE49-F238E27FC236}">
                <a16:creationId xmlns:a16="http://schemas.microsoft.com/office/drawing/2014/main" id="{3DEAB719-17F0-4D2D-940C-E9AF716ABF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8604" y="5037154"/>
            <a:ext cx="4059010" cy="139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5084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ED17CB27-D48B-4197-9797-C6130DCE74DD}"/>
              </a:ext>
            </a:extLst>
          </p:cNvPr>
          <p:cNvSpPr>
            <a:spLocks noGrp="1"/>
          </p:cNvSpPr>
          <p:nvPr>
            <p:ph type="title"/>
          </p:nvPr>
        </p:nvSpPr>
        <p:spPr/>
        <p:txBody>
          <a:bodyPr/>
          <a:lstStyle/>
          <a:p>
            <a:r>
              <a:rPr lang="tr-TR" dirty="0"/>
              <a:t>İLETİŞİMİN TEMEL ÖĞELERİ</a:t>
            </a:r>
            <a:br>
              <a:rPr lang="tr-TR" dirty="0"/>
            </a:br>
            <a:endParaRPr lang="tr-TR" dirty="0"/>
          </a:p>
        </p:txBody>
      </p:sp>
      <p:sp>
        <p:nvSpPr>
          <p:cNvPr id="3" name="İçerik Yer Tutucusu 2">
            <a:extLst>
              <a:ext uri="{FF2B5EF4-FFF2-40B4-BE49-F238E27FC236}">
                <a16:creationId xmlns:a16="http://schemas.microsoft.com/office/drawing/2014/main" id="{5695F2A1-0AFA-43C3-B387-D89DF8A80A26}"/>
              </a:ext>
            </a:extLst>
          </p:cNvPr>
          <p:cNvSpPr>
            <a:spLocks noGrp="1"/>
          </p:cNvSpPr>
          <p:nvPr>
            <p:ph idx="1"/>
          </p:nvPr>
        </p:nvSpPr>
        <p:spPr>
          <a:xfrm>
            <a:off x="677334" y="1583871"/>
            <a:ext cx="8596668" cy="4457491"/>
          </a:xfrm>
        </p:spPr>
        <p:txBody>
          <a:bodyPr>
            <a:normAutofit/>
          </a:bodyPr>
          <a:lstStyle/>
          <a:p>
            <a:pPr marL="0" indent="0">
              <a:buNone/>
            </a:pPr>
            <a:r>
              <a:rPr lang="tr-TR" dirty="0"/>
              <a:t>İletişim olgusu bir anlık değildir, bir başka deyişle, bir anda olup bitmez, bir süreç içerisinde oluşur. İletişim olgusu değişik ortamlarda, değişik amaçlarla gerçekleşen bir ileti aktarımıdır. Bu olguyu yaratan ise farklı özellikleri olan öğelerdir. Bu öğelerin farklı özellikleri ise iletişimin türlerini ortaya çıkarır. İletişim olgu ve sürecinde değişmez olarak kabul edilen (5) öğe vardır:</a:t>
            </a:r>
          </a:p>
          <a:p>
            <a:pPr marL="0" indent="0">
              <a:buNone/>
            </a:pPr>
            <a:endParaRPr lang="tr-TR" dirty="0"/>
          </a:p>
          <a:p>
            <a:r>
              <a:rPr lang="tr-TR" dirty="0"/>
              <a:t>Mesajı gönderen ya da başlatan (verici / kaynak) </a:t>
            </a:r>
          </a:p>
          <a:p>
            <a:r>
              <a:rPr lang="tr-TR" dirty="0"/>
              <a:t>Mesajın hedefi (alıcı)</a:t>
            </a:r>
          </a:p>
          <a:p>
            <a:r>
              <a:rPr lang="tr-TR" dirty="0"/>
              <a:t>Aktarılan, verilen bilgi, tutum ve davranış (mesaj / ileti) </a:t>
            </a:r>
          </a:p>
          <a:p>
            <a:r>
              <a:rPr lang="tr-TR" dirty="0"/>
              <a:t>Mesajı ileten ortam (kanal) </a:t>
            </a:r>
          </a:p>
          <a:p>
            <a:r>
              <a:rPr lang="tr-TR" dirty="0"/>
              <a:t>Mesajın alıcı tarafından alınıp alınmadığı (geribildirim) Tam bir iletişim olgusu ve sürecinden söz edebilmek için bu (5) öğenin bulunması gerekir.</a:t>
            </a:r>
          </a:p>
          <a:p>
            <a:endParaRPr lang="tr-TR" dirty="0"/>
          </a:p>
        </p:txBody>
      </p:sp>
    </p:spTree>
    <p:extLst>
      <p:ext uri="{BB962C8B-B14F-4D97-AF65-F5344CB8AC3E}">
        <p14:creationId xmlns:p14="http://schemas.microsoft.com/office/powerpoint/2010/main" val="12277322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D0373AD-48CB-45F4-A971-403AE64638E7}"/>
              </a:ext>
            </a:extLst>
          </p:cNvPr>
          <p:cNvSpPr>
            <a:spLocks noGrp="1"/>
          </p:cNvSpPr>
          <p:nvPr>
            <p:ph idx="1"/>
          </p:nvPr>
        </p:nvSpPr>
        <p:spPr>
          <a:xfrm>
            <a:off x="677334" y="775607"/>
            <a:ext cx="8596668" cy="5265755"/>
          </a:xfrm>
        </p:spPr>
        <p:txBody>
          <a:bodyPr/>
          <a:lstStyle/>
          <a:p>
            <a:r>
              <a:rPr lang="tr-TR" dirty="0"/>
              <a:t>Kaynağın iletişimde başarılı olabilmesi için sahip olması gereken özellikler güvenirlik, iletişim becerisi, sevilmek, saygınlık, fiziki görünüm, tutumlar, empati yeteneği, eğitim düzeyi, çevresel, toplumsal ve kültürel öğelerdir</a:t>
            </a:r>
          </a:p>
          <a:p>
            <a:pPr marL="0" indent="0">
              <a:buNone/>
            </a:pPr>
            <a:endParaRPr lang="tr-TR" dirty="0"/>
          </a:p>
        </p:txBody>
      </p:sp>
      <p:pic>
        <p:nvPicPr>
          <p:cNvPr id="62468" name="Picture 4" descr="ETKİLİ İLETİŞİM BECERİLERİ">
            <a:extLst>
              <a:ext uri="{FF2B5EF4-FFF2-40B4-BE49-F238E27FC236}">
                <a16:creationId xmlns:a16="http://schemas.microsoft.com/office/drawing/2014/main" id="{35E9EA83-DC56-4319-9C8B-B5FEEE9D18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5574" y="2685371"/>
            <a:ext cx="4171950" cy="241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405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16502A1-8FFE-4E30-99A9-92A7BBC2D2DA}"/>
              </a:ext>
            </a:extLst>
          </p:cNvPr>
          <p:cNvSpPr>
            <a:spLocks noGrp="1"/>
          </p:cNvSpPr>
          <p:nvPr>
            <p:ph idx="1"/>
          </p:nvPr>
        </p:nvSpPr>
        <p:spPr>
          <a:xfrm>
            <a:off x="677334" y="1134835"/>
            <a:ext cx="8596668" cy="4416879"/>
          </a:xfrm>
        </p:spPr>
        <p:txBody>
          <a:bodyPr/>
          <a:lstStyle/>
          <a:p>
            <a:r>
              <a:rPr lang="tr-TR" dirty="0"/>
              <a:t>Kaynağın hedefi ikna edebilmesi, inandırabilmesinin en önemli koşulu güvenilirliktir. İletişim kaynağının etkileyici olabilmesi için olabildiğince konusunda uzman olmasının ötesinde konu hakkında söyledikleriyle ilgili olarak herhangi bir çıkar gözetmeksizin doğru olarak aktardığına inanılmalıdır. Bu noktada güvenilirlik dürüstlük özelliğini de içermektedir. Bununla birlikte alıcının kaynağın kendi tutumunu ve düşüncesini değiştirmeye yönelik bir amacının olmadığına yönelik bir inanca sahip olması durumunda kaynak etkili bir biçiminde iletişim kurabilir. Kaynağın sahip olması gereken diğer bir özellik iletişim becerisidir. Çünkü mesaj, sözle verildiğinde, iyi söyleyiş, sözcük zenginliği ve uyumlu söz dizimi iletişim becerisinde önemli olur. Mesaj herhangi bir iletişim aracıyla iletildiğinde ise, aracın seçimi, araca uygun mesajın kodlanması ve süreç içindeki daha birçok faktör etkilidir.</a:t>
            </a:r>
          </a:p>
          <a:p>
            <a:pPr marL="0" indent="0">
              <a:buNone/>
            </a:pPr>
            <a:endParaRPr lang="tr-TR" dirty="0"/>
          </a:p>
        </p:txBody>
      </p:sp>
    </p:spTree>
    <p:extLst>
      <p:ext uri="{BB962C8B-B14F-4D97-AF65-F5344CB8AC3E}">
        <p14:creationId xmlns:p14="http://schemas.microsoft.com/office/powerpoint/2010/main" val="7420034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9920C68-B116-47E5-9CBD-B8975FD3698F}"/>
              </a:ext>
            </a:extLst>
          </p:cNvPr>
          <p:cNvSpPr>
            <a:spLocks noGrp="1"/>
          </p:cNvSpPr>
          <p:nvPr>
            <p:ph idx="1"/>
          </p:nvPr>
        </p:nvSpPr>
        <p:spPr>
          <a:xfrm>
            <a:off x="677334" y="547007"/>
            <a:ext cx="8596668" cy="5290457"/>
          </a:xfrm>
        </p:spPr>
        <p:txBody>
          <a:bodyPr/>
          <a:lstStyle/>
          <a:p>
            <a:r>
              <a:rPr lang="tr-TR" dirty="0"/>
              <a:t>İletişim kaynağının sevilen ve hoş bir kimse olması ilettiği mesajların daha çok benimsenmesinde etkili olabilir. Çünkü genellikle kişiler sevdikleri ve beğendikleri kişilerden gelen mesajları kabul etme eğilimindedir. Ayrıca, saygınlık, genel bir özellik olup, kaynağın aktardığı konuda uzman olması ve alıcının kaynağa saygı göstermesi arasında doğrudan bir ilişki bulunmaktadır. İnsanlar kıyafetleriyle ağırlanır, karakteriyle uğurlanırlar. Bu açıdan, görünüş, kişinin fizik yapısıyla kılık kıyafetinin bir bütünü olarak algılanmaktadır. Seçilmiş düzgün bir kıyafet kaynağın kendisine duyduğu güvenin bir kanıtı olabileceği gibi aynı zamanda karşısındaki hedefe gösterdiği özenin de bir göstergesidir. Öte yandan, iletişim sürecinde kaynağın iletişiminin en önemli etkileyicisi kendi kişiliğidir.</a:t>
            </a:r>
          </a:p>
          <a:p>
            <a:pPr marL="0" indent="0">
              <a:buNone/>
            </a:pPr>
            <a:endParaRPr lang="tr-TR" dirty="0"/>
          </a:p>
        </p:txBody>
      </p:sp>
      <p:pic>
        <p:nvPicPr>
          <p:cNvPr id="12290" name="Picture 2" descr="Ultra sempatik liderlerin 10 özelliği | Yeni İş Fikirleri">
            <a:extLst>
              <a:ext uri="{FF2B5EF4-FFF2-40B4-BE49-F238E27FC236}">
                <a16:creationId xmlns:a16="http://schemas.microsoft.com/office/drawing/2014/main" id="{1907A721-8E0B-49CF-BE51-2971E5CA03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8534" y="4010706"/>
            <a:ext cx="3280002" cy="21533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38863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FEE3EEE-5DAB-45D5-8DF0-09AC1B76DE7B}"/>
              </a:ext>
            </a:extLst>
          </p:cNvPr>
          <p:cNvSpPr>
            <a:spLocks noGrp="1"/>
          </p:cNvSpPr>
          <p:nvPr>
            <p:ph idx="1"/>
          </p:nvPr>
        </p:nvSpPr>
        <p:spPr>
          <a:xfrm>
            <a:off x="677334" y="1273629"/>
            <a:ext cx="8596668" cy="4767733"/>
          </a:xfrm>
        </p:spPr>
        <p:txBody>
          <a:bodyPr/>
          <a:lstStyle/>
          <a:p>
            <a:pPr marL="0" indent="0">
              <a:buNone/>
            </a:pPr>
            <a:endParaRPr lang="tr-TR" dirty="0"/>
          </a:p>
          <a:p>
            <a:pPr marL="0" indent="0">
              <a:buNone/>
            </a:pPr>
            <a:endParaRPr lang="tr-TR" dirty="0"/>
          </a:p>
          <a:p>
            <a:pPr marL="0" indent="0">
              <a:buNone/>
            </a:pPr>
            <a:endParaRPr lang="tr-TR" dirty="0"/>
          </a:p>
          <a:p>
            <a:pPr marL="0" indent="0">
              <a:buNone/>
            </a:pPr>
            <a:r>
              <a:rPr lang="tr-TR" dirty="0"/>
              <a:t>Kişilik, kaynağın kendisine ait düşünceleri, iletişimi kendisine özgü biçimde oluşturulmasını sağlar. Kişilerin toplumsal norm ve değerleri, çok farklı konulara ilişkin değişik tutumları vardır ve bunlar iletişim sürecine doğrudan yansır.</a:t>
            </a:r>
          </a:p>
          <a:p>
            <a:pPr marL="0" indent="0">
              <a:buNone/>
            </a:pPr>
            <a:endParaRPr lang="tr-TR" dirty="0"/>
          </a:p>
        </p:txBody>
      </p:sp>
    </p:spTree>
    <p:extLst>
      <p:ext uri="{BB962C8B-B14F-4D97-AF65-F5344CB8AC3E}">
        <p14:creationId xmlns:p14="http://schemas.microsoft.com/office/powerpoint/2010/main" val="36981653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8C6AFE7-BB8A-4090-989A-F21ECA24E1B5}"/>
              </a:ext>
            </a:extLst>
          </p:cNvPr>
          <p:cNvSpPr>
            <a:spLocks noGrp="1"/>
          </p:cNvSpPr>
          <p:nvPr>
            <p:ph idx="1"/>
          </p:nvPr>
        </p:nvSpPr>
        <p:spPr>
          <a:xfrm>
            <a:off x="677334" y="1763485"/>
            <a:ext cx="8596668" cy="4277877"/>
          </a:xfrm>
        </p:spPr>
        <p:txBody>
          <a:bodyPr/>
          <a:lstStyle/>
          <a:p>
            <a:r>
              <a:rPr lang="tr-TR" dirty="0"/>
              <a:t>Mesajın etkinliği üzerinde rol oynayan diğer bir unsur da empatidir. Empati ya da başka bir deyişle “duygu sezisi” insanların gerçekliğini, nasıl algıladıklarını ve yorumladıklarını bu gerçekliğe ilişkin olarak kendi görüşlerinden vazgeçmeksizin anlama yetisi olarak tanımlanır. Yine ayrıca, kaynağın eğitim düzeyinin yüksek olması, mesajların oluşturulması, sunulması ve hedef kitleden gelen mesajların değerlendirilmesi gibi iletişimin tüm aşamalarında etkili olur. Ek olarak, kişilerin iletişimleri kendi çevresel, toplumsal, ekonomik ve kültürel durumlarını yansıtmaktadır. Kişilerin toplum içindeki rolleri, konumları, saygınlığı ve belli işlevleri vardır.</a:t>
            </a:r>
          </a:p>
          <a:p>
            <a:endParaRPr lang="tr-TR" dirty="0"/>
          </a:p>
        </p:txBody>
      </p:sp>
    </p:spTree>
    <p:extLst>
      <p:ext uri="{BB962C8B-B14F-4D97-AF65-F5344CB8AC3E}">
        <p14:creationId xmlns:p14="http://schemas.microsoft.com/office/powerpoint/2010/main" val="10487989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D3CD896-1FA5-48A8-B879-AFDC7AC39718}"/>
              </a:ext>
            </a:extLst>
          </p:cNvPr>
          <p:cNvSpPr>
            <a:spLocks noGrp="1"/>
          </p:cNvSpPr>
          <p:nvPr>
            <p:ph idx="1"/>
          </p:nvPr>
        </p:nvSpPr>
        <p:spPr>
          <a:xfrm>
            <a:off x="677334" y="1363435"/>
            <a:ext cx="8596668" cy="4677927"/>
          </a:xfrm>
        </p:spPr>
        <p:txBody>
          <a:bodyPr/>
          <a:lstStyle/>
          <a:p>
            <a:r>
              <a:rPr lang="tr-TR" dirty="0"/>
              <a:t>İletişim sürecinde kaynağın üstlendiği belirli işlevler vardır. Sözgelimi; </a:t>
            </a:r>
          </a:p>
          <a:p>
            <a:r>
              <a:rPr lang="tr-TR" dirty="0"/>
              <a:t>İletişimi kaynak / verici başlatır </a:t>
            </a:r>
          </a:p>
          <a:p>
            <a:r>
              <a:rPr lang="tr-TR" dirty="0"/>
              <a:t>Mesajları kaynak / verici seçer. </a:t>
            </a:r>
          </a:p>
          <a:p>
            <a:r>
              <a:rPr lang="tr-TR" dirty="0"/>
              <a:t>İletişim kanalını yani iletişimin hangi ortamlarda aktarılacağı hususunu verici/kaynak belirler. </a:t>
            </a:r>
          </a:p>
          <a:p>
            <a:r>
              <a:rPr lang="tr-TR" dirty="0"/>
              <a:t>Mesajın verilme zamanını verici / kaynak belirler. </a:t>
            </a:r>
          </a:p>
          <a:p>
            <a:r>
              <a:rPr lang="tr-TR" dirty="0"/>
              <a:t>İletişimin amacına ulaşıp ulaşmadığı geribildirimin /yanıtın gelmesiyle anlaşılır. Tam iletişim, verilen mesajın, alıcı tarafından tam olarak alınması ve anlaşılmasıyla gerçekleşir</a:t>
            </a:r>
          </a:p>
          <a:p>
            <a:pPr marL="0" indent="0">
              <a:buNone/>
            </a:pPr>
            <a:endParaRPr lang="tr-TR" dirty="0"/>
          </a:p>
          <a:p>
            <a:endParaRPr lang="tr-TR" dirty="0"/>
          </a:p>
        </p:txBody>
      </p:sp>
    </p:spTree>
    <p:extLst>
      <p:ext uri="{BB962C8B-B14F-4D97-AF65-F5344CB8AC3E}">
        <p14:creationId xmlns:p14="http://schemas.microsoft.com/office/powerpoint/2010/main" val="19062133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9CF7ED3-3FC5-416A-BB45-9801C6C7B595}"/>
              </a:ext>
            </a:extLst>
          </p:cNvPr>
          <p:cNvSpPr>
            <a:spLocks noGrp="1"/>
          </p:cNvSpPr>
          <p:nvPr>
            <p:ph idx="1"/>
          </p:nvPr>
        </p:nvSpPr>
        <p:spPr>
          <a:xfrm>
            <a:off x="677334" y="449037"/>
            <a:ext cx="8596668" cy="5592326"/>
          </a:xfrm>
        </p:spPr>
        <p:txBody>
          <a:bodyPr/>
          <a:lstStyle/>
          <a:p>
            <a:r>
              <a:rPr lang="tr-TR" dirty="0"/>
              <a:t>Verici ve alıcının algılama düzeyleri ne kadar yüksek ise, iletişim o derece başarılı olur. Kimi zaman vericinin verdiği mesajların bir kısmı alıcı tarafından algılanır. Buna “sınırlı iletişim” denir. Bu iletişim sürecinin, yüz yüze olması durumunda, karşılıklı gidiş gelişlerde (soru-yanıt-yorum gibi), iletişimin daha başarılı olması sağlanabilir.</a:t>
            </a:r>
          </a:p>
          <a:p>
            <a:endParaRPr lang="tr-TR" dirty="0"/>
          </a:p>
        </p:txBody>
      </p:sp>
      <p:pic>
        <p:nvPicPr>
          <p:cNvPr id="14338" name="Picture 2" descr="Müşteriyle İletişim Süreci - Perakende Okulum">
            <a:extLst>
              <a:ext uri="{FF2B5EF4-FFF2-40B4-BE49-F238E27FC236}">
                <a16:creationId xmlns:a16="http://schemas.microsoft.com/office/drawing/2014/main" id="{2609C148-46CD-4201-8CF4-D6A560BD55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0" y="2800350"/>
            <a:ext cx="6727371" cy="2220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85974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8" name="Picture 6" descr="Etkili İletişim Teknikleri – Duygu'nun Web Sayfası">
            <a:extLst>
              <a:ext uri="{FF2B5EF4-FFF2-40B4-BE49-F238E27FC236}">
                <a16:creationId xmlns:a16="http://schemas.microsoft.com/office/drawing/2014/main" id="{F9B06CB6-64FC-46FA-A78A-F4F9EED9575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12421" y="1567544"/>
            <a:ext cx="6719207" cy="4119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042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FDD457C5-79F1-4F77-B048-5F2746B8D358}"/>
              </a:ext>
            </a:extLst>
          </p:cNvPr>
          <p:cNvSpPr>
            <a:spLocks noGrp="1"/>
          </p:cNvSpPr>
          <p:nvPr>
            <p:ph type="title"/>
          </p:nvPr>
        </p:nvSpPr>
        <p:spPr/>
        <p:txBody>
          <a:bodyPr/>
          <a:lstStyle/>
          <a:p>
            <a:r>
              <a:rPr lang="tr-TR" dirty="0"/>
              <a:t>MESAJ</a:t>
            </a:r>
          </a:p>
        </p:txBody>
      </p:sp>
      <p:sp>
        <p:nvSpPr>
          <p:cNvPr id="3" name="İçerik Yer Tutucusu 2">
            <a:extLst>
              <a:ext uri="{FF2B5EF4-FFF2-40B4-BE49-F238E27FC236}">
                <a16:creationId xmlns:a16="http://schemas.microsoft.com/office/drawing/2014/main" id="{94AC2196-C590-4051-8589-778120986A57}"/>
              </a:ext>
            </a:extLst>
          </p:cNvPr>
          <p:cNvSpPr>
            <a:spLocks noGrp="1"/>
          </p:cNvSpPr>
          <p:nvPr>
            <p:ph idx="1"/>
          </p:nvPr>
        </p:nvSpPr>
        <p:spPr>
          <a:xfrm>
            <a:off x="522213" y="1224643"/>
            <a:ext cx="8596668" cy="4163576"/>
          </a:xfrm>
        </p:spPr>
        <p:txBody>
          <a:bodyPr/>
          <a:lstStyle/>
          <a:p>
            <a:pPr marL="0" indent="0">
              <a:buNone/>
            </a:pPr>
            <a:r>
              <a:rPr lang="tr-TR" b="1" dirty="0"/>
              <a:t>Mesaj/İleti Mesaj</a:t>
            </a:r>
            <a:r>
              <a:rPr lang="tr-TR" dirty="0"/>
              <a:t>, kaynak ile alıcı arasında iletişimin kurulmasını sağlayan, sembollerle oluşturulmuş ve belirli bir biçimi, anlamlı bir bütünlüğü olan, iletişim sürecinde aktarılmak istenenleri taşıyan bir öğedir. Alıcı açısından değerlendirildiğinde mesaj bir sinyal ya da sinyallerden oluşan bir uyaran niteliği taşır. İngilizcede “</a:t>
            </a:r>
            <a:r>
              <a:rPr lang="tr-TR" dirty="0" err="1"/>
              <a:t>message</a:t>
            </a:r>
            <a:r>
              <a:rPr lang="tr-TR" dirty="0"/>
              <a:t>” olarak ifade edilen kavramın Türkçede karşılığı “mesaj” ya da “</a:t>
            </a:r>
            <a:r>
              <a:rPr lang="tr-TR" dirty="0" err="1"/>
              <a:t>ileti”dir</a:t>
            </a:r>
            <a:r>
              <a:rPr lang="tr-TR" dirty="0"/>
              <a:t>. Mesaj, kaynağın alıcıya iletmek istediklerini kodlara ya da simgelere, diğer bir ifadeyle sözlü ya da sözsüz işaretlere dönüştürmesiyle oluşur. Bu noktada mesaj alıcının ne kadar çok duyu kanalına ulaşırsa o denli etkili olabileceği söylenebilir. Ancak, kaynak ve alıcının ortak algılama, anlama ve anlamlandırma süreçlerini kullanmaları gereklidir.</a:t>
            </a:r>
          </a:p>
          <a:p>
            <a:pPr marL="0" indent="0">
              <a:buNone/>
            </a:pPr>
            <a:endParaRPr lang="tr-TR" dirty="0"/>
          </a:p>
        </p:txBody>
      </p:sp>
      <p:pic>
        <p:nvPicPr>
          <p:cNvPr id="15364" name="Picture 4" descr="İletişim">
            <a:extLst>
              <a:ext uri="{FF2B5EF4-FFF2-40B4-BE49-F238E27FC236}">
                <a16:creationId xmlns:a16="http://schemas.microsoft.com/office/drawing/2014/main" id="{81A754DF-8BC6-4D67-A9B9-0E2737EBC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3275" y="4408034"/>
            <a:ext cx="3269796" cy="1840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15745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FEC5A18A-ED60-442C-9F5B-028AAA7AB926}"/>
              </a:ext>
            </a:extLst>
          </p:cNvPr>
          <p:cNvSpPr>
            <a:spLocks noGrp="1"/>
          </p:cNvSpPr>
          <p:nvPr>
            <p:ph type="title"/>
          </p:nvPr>
        </p:nvSpPr>
        <p:spPr>
          <a:xfrm>
            <a:off x="677334" y="609600"/>
            <a:ext cx="8596668" cy="1096736"/>
          </a:xfrm>
        </p:spPr>
        <p:txBody>
          <a:bodyPr>
            <a:normAutofit fontScale="90000"/>
          </a:bodyPr>
          <a:lstStyle/>
          <a:p>
            <a:r>
              <a:rPr lang="tr-TR" sz="2500" dirty="0"/>
              <a:t>Mesajın iletişim sürecinde istenilen etkiyi yaratabilmesi için temel olarak aşağıdaki özellikleri taşıması beklenmektedir.</a:t>
            </a:r>
            <a:br>
              <a:rPr lang="tr-TR" dirty="0"/>
            </a:br>
            <a:endParaRPr lang="tr-TR" dirty="0"/>
          </a:p>
        </p:txBody>
      </p:sp>
      <p:sp>
        <p:nvSpPr>
          <p:cNvPr id="3" name="İçerik Yer Tutucusu 2">
            <a:extLst>
              <a:ext uri="{FF2B5EF4-FFF2-40B4-BE49-F238E27FC236}">
                <a16:creationId xmlns:a16="http://schemas.microsoft.com/office/drawing/2014/main" id="{F193CE1A-4BA9-4E59-B742-212F4E9250D7}"/>
              </a:ext>
            </a:extLst>
          </p:cNvPr>
          <p:cNvSpPr>
            <a:spLocks noGrp="1"/>
          </p:cNvSpPr>
          <p:nvPr>
            <p:ph idx="1"/>
          </p:nvPr>
        </p:nvSpPr>
        <p:spPr/>
        <p:txBody>
          <a:bodyPr/>
          <a:lstStyle/>
          <a:p>
            <a:endParaRPr lang="tr-TR" dirty="0"/>
          </a:p>
          <a:p>
            <a:r>
              <a:rPr lang="tr-TR" dirty="0"/>
              <a:t>Mesaj Anlaşılır Olmalıdır: Mesajlar anlaşılırlık, tür ve içerik açısından ele alınmaktadır. Sözel ve sözel olmayan mesajlar en anlaşılır biçimde sunulmalıdır. Anlaşılırlık, kaynak ve alıcının bilgisine, deneyimine ve yeteneğine bağlıdır. </a:t>
            </a:r>
          </a:p>
        </p:txBody>
      </p:sp>
    </p:spTree>
    <p:extLst>
      <p:ext uri="{BB962C8B-B14F-4D97-AF65-F5344CB8AC3E}">
        <p14:creationId xmlns:p14="http://schemas.microsoft.com/office/powerpoint/2010/main" val="29555986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167DB20-D52C-4B51-8D3D-CBB1C9A72E33}"/>
              </a:ext>
            </a:extLst>
          </p:cNvPr>
          <p:cNvSpPr>
            <a:spLocks noGrp="1"/>
          </p:cNvSpPr>
          <p:nvPr>
            <p:ph idx="1"/>
          </p:nvPr>
        </p:nvSpPr>
        <p:spPr/>
        <p:txBody>
          <a:bodyPr/>
          <a:lstStyle/>
          <a:p>
            <a:r>
              <a:rPr lang="tr-TR" dirty="0"/>
              <a:t>Mesaj Açık Olmalıdır: Açıklık istenen ve beklenen etkinin gerçekleşmesi açısından oldukça önemlidir. Kaynak, gönderdiği mesaj sonucunda alıcıdan belirli bir tepkiyi göstermesini beklemektedir. Bu noktada mesajın alıcısının kim olacağı, hangi alıcının ne yapması gerektiği mesajın genel ifadesi içinde yer almalıdır. </a:t>
            </a:r>
          </a:p>
        </p:txBody>
      </p:sp>
    </p:spTree>
    <p:extLst>
      <p:ext uri="{BB962C8B-B14F-4D97-AF65-F5344CB8AC3E}">
        <p14:creationId xmlns:p14="http://schemas.microsoft.com/office/powerpoint/2010/main" val="30318866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817E670-44E2-476B-98CF-6B9FF6D6CBF4}"/>
              </a:ext>
            </a:extLst>
          </p:cNvPr>
          <p:cNvSpPr>
            <a:spLocks noGrp="1"/>
          </p:cNvSpPr>
          <p:nvPr>
            <p:ph idx="1"/>
          </p:nvPr>
        </p:nvSpPr>
        <p:spPr/>
        <p:txBody>
          <a:bodyPr/>
          <a:lstStyle/>
          <a:p>
            <a:r>
              <a:rPr lang="tr-TR" dirty="0"/>
              <a:t>Mesaj Zamanında İletilmelidir: Her iletişimin belirli bir gerçekleşme zamanı vardır. İletişim, mesajın içeriğine uygun olan zaman içinde gerçekleşmelidir. Alıcıdan beklenen davranış ya da tepki de belirli bir zamana bağlı olabilir. Mesajın zamanlamasına dikkat edilmeli, mesajın içeriği zaman konusunda da bilgiler içermelidir. </a:t>
            </a:r>
          </a:p>
        </p:txBody>
      </p:sp>
    </p:spTree>
    <p:extLst>
      <p:ext uri="{BB962C8B-B14F-4D97-AF65-F5344CB8AC3E}">
        <p14:creationId xmlns:p14="http://schemas.microsoft.com/office/powerpoint/2010/main" val="2021500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2A0CE27-8E74-4745-89ED-D99FE6D3577A}"/>
              </a:ext>
            </a:extLst>
          </p:cNvPr>
          <p:cNvSpPr>
            <a:spLocks noGrp="1"/>
          </p:cNvSpPr>
          <p:nvPr>
            <p:ph idx="1"/>
          </p:nvPr>
        </p:nvSpPr>
        <p:spPr/>
        <p:txBody>
          <a:bodyPr/>
          <a:lstStyle/>
          <a:p>
            <a:endParaRPr lang="tr-TR" dirty="0"/>
          </a:p>
          <a:p>
            <a:r>
              <a:rPr lang="tr-TR" dirty="0"/>
              <a:t>Mesaj Uygun Bir Yol izlemelidir: İletişimin gerçekleştiği ortam uygun olan bir iletişim ağı seçilmelidir, mesaj bu yolu izleyerek alıcıya gitmelidir. Mesaj uygun yolu izlemeden alıcıya varırsa, etkinliğini kaybedebileceği gibi, aynı zamanda kaynak ile alıcı arasındaki ilişkiye de etki edebilir. </a:t>
            </a:r>
          </a:p>
        </p:txBody>
      </p:sp>
    </p:spTree>
    <p:extLst>
      <p:ext uri="{BB962C8B-B14F-4D97-AF65-F5344CB8AC3E}">
        <p14:creationId xmlns:p14="http://schemas.microsoft.com/office/powerpoint/2010/main" val="15430454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64EC1D8-E683-4E90-9EED-542217068E3C}"/>
              </a:ext>
            </a:extLst>
          </p:cNvPr>
          <p:cNvSpPr>
            <a:spLocks noGrp="1"/>
          </p:cNvSpPr>
          <p:nvPr>
            <p:ph idx="1"/>
          </p:nvPr>
        </p:nvSpPr>
        <p:spPr>
          <a:xfrm>
            <a:off x="677333" y="498022"/>
            <a:ext cx="8596668" cy="5102469"/>
          </a:xfrm>
        </p:spPr>
        <p:txBody>
          <a:bodyPr/>
          <a:lstStyle/>
          <a:p>
            <a:r>
              <a:rPr lang="tr-TR" dirty="0"/>
              <a:t>Mesaj Kaynak ve Alıcı Arasında Kalmalıdır: Mesaj kaynaktan alıcıya ulaşana kadar, farklı kişilerden ve aşamalardan geçmektedir. Bu nedenle mesajın kaynaktan alıcıya ulaşması sırasında mesajın içeriğine başka etkenler tarafından çeşitli eklentiler yapılabilir. Ve bu kaynağın temelde iletmek istediği anlama zarar verebilir anlamında bozulmalar oluşabilir. </a:t>
            </a:r>
          </a:p>
          <a:p>
            <a:endParaRPr lang="tr-TR" dirty="0"/>
          </a:p>
        </p:txBody>
      </p:sp>
      <p:pic>
        <p:nvPicPr>
          <p:cNvPr id="16386" name="Picture 2" descr="İletişim Yoluyla Kendimizi Var Ediyoruz">
            <a:extLst>
              <a:ext uri="{FF2B5EF4-FFF2-40B4-BE49-F238E27FC236}">
                <a16:creationId xmlns:a16="http://schemas.microsoft.com/office/drawing/2014/main" id="{7607DE86-E474-48ED-BB08-E12C51C174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6772" y="2859931"/>
            <a:ext cx="5298622" cy="2381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6222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7C8BB6FC-1751-447E-B0E2-3DB47B11671B}"/>
              </a:ext>
            </a:extLst>
          </p:cNvPr>
          <p:cNvSpPr>
            <a:spLocks noGrp="1"/>
          </p:cNvSpPr>
          <p:nvPr>
            <p:ph type="title"/>
          </p:nvPr>
        </p:nvSpPr>
        <p:spPr>
          <a:xfrm>
            <a:off x="930728" y="609600"/>
            <a:ext cx="8343273" cy="247650"/>
          </a:xfrm>
        </p:spPr>
        <p:txBody>
          <a:bodyPr>
            <a:normAutofit fontScale="90000"/>
          </a:bodyPr>
          <a:lstStyle/>
          <a:p>
            <a:r>
              <a:rPr lang="tr-TR" dirty="0"/>
              <a:t>KANAL</a:t>
            </a:r>
          </a:p>
        </p:txBody>
      </p:sp>
      <p:sp>
        <p:nvSpPr>
          <p:cNvPr id="3" name="İçerik Yer Tutucusu 2">
            <a:extLst>
              <a:ext uri="{FF2B5EF4-FFF2-40B4-BE49-F238E27FC236}">
                <a16:creationId xmlns:a16="http://schemas.microsoft.com/office/drawing/2014/main" id="{5AB4844F-A285-46AD-8D1A-E02E080F4F3A}"/>
              </a:ext>
            </a:extLst>
          </p:cNvPr>
          <p:cNvSpPr>
            <a:spLocks noGrp="1"/>
          </p:cNvSpPr>
          <p:nvPr>
            <p:ph idx="1"/>
          </p:nvPr>
        </p:nvSpPr>
        <p:spPr>
          <a:xfrm>
            <a:off x="677334" y="1123725"/>
            <a:ext cx="8596668" cy="3880773"/>
          </a:xfrm>
        </p:spPr>
        <p:txBody>
          <a:bodyPr/>
          <a:lstStyle/>
          <a:p>
            <a:r>
              <a:rPr lang="tr-TR" dirty="0"/>
              <a:t>İletişim sürecinde kaynak ve alıcı arasında mesajın iletilmesini sağlayan yola kanal/oluk adı verilir. Kanal ışık dalgaları, radyo dalgaları, telefon kabloları olabilir. Genellikle kanal iletişim aracı olarak da kullanılmaktadır. Bu anlamda, araç, mesajı kanal aracılığıyla aktarabilecek bir sinyale dönüştüren teknik ya da fiziksel bir nesnedir ve aracın özellikleri aracın aktarabileceği kodları belirlemektedir</a:t>
            </a:r>
          </a:p>
          <a:p>
            <a:r>
              <a:rPr lang="tr-TR" dirty="0"/>
              <a:t>Bu doğrultuda, iletişim sürecinde kullanılan kanallar konuşmayla aktarılan sözcükler, ifade biçimleri, sesler, jestler, mimikler gibi </a:t>
            </a:r>
            <a:r>
              <a:rPr lang="tr-TR" dirty="0" err="1"/>
              <a:t>sunumsal</a:t>
            </a:r>
            <a:r>
              <a:rPr lang="tr-TR" dirty="0"/>
              <a:t> araçlar, kitap, fotoğraf, resim, heykel gibi </a:t>
            </a:r>
            <a:r>
              <a:rPr lang="tr-TR" dirty="0" err="1"/>
              <a:t>ekinsel</a:t>
            </a:r>
            <a:r>
              <a:rPr lang="tr-TR" dirty="0"/>
              <a:t>/kültürel ve </a:t>
            </a:r>
            <a:r>
              <a:rPr lang="tr-TR" dirty="0" err="1"/>
              <a:t>güzelduyusal</a:t>
            </a:r>
            <a:r>
              <a:rPr lang="tr-TR" dirty="0"/>
              <a:t>/estetik değerlerin iletilmesinde sağlayan temsili araçlar ve telefon, radyo, televizyon, internet gibi mekanik ve teknolojik araçlar olmak üzere temel olarak üç kategoride incelenebilir.</a:t>
            </a:r>
          </a:p>
          <a:p>
            <a:endParaRPr lang="tr-TR" dirty="0"/>
          </a:p>
        </p:txBody>
      </p:sp>
      <p:pic>
        <p:nvPicPr>
          <p:cNvPr id="17410" name="Picture 2" descr="İletişim Türleri: Farklı Yollarla Etkili İletişim Kurmanın Sırları">
            <a:extLst>
              <a:ext uri="{FF2B5EF4-FFF2-40B4-BE49-F238E27FC236}">
                <a16:creationId xmlns:a16="http://schemas.microsoft.com/office/drawing/2014/main" id="{BBDA1E87-DACE-4688-A182-893EC711B4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1152" y="4572681"/>
            <a:ext cx="3270477" cy="1762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785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D5B6E9B3-3CDA-4BD1-90C9-A81CF0469F0F}"/>
              </a:ext>
            </a:extLst>
          </p:cNvPr>
          <p:cNvSpPr>
            <a:spLocks noGrp="1"/>
          </p:cNvSpPr>
          <p:nvPr>
            <p:ph type="title"/>
          </p:nvPr>
        </p:nvSpPr>
        <p:spPr/>
        <p:txBody>
          <a:bodyPr/>
          <a:lstStyle/>
          <a:p>
            <a:r>
              <a:rPr lang="tr-TR" dirty="0"/>
              <a:t>ALICI/HEDEF</a:t>
            </a:r>
          </a:p>
        </p:txBody>
      </p:sp>
      <p:sp>
        <p:nvSpPr>
          <p:cNvPr id="3" name="İçerik Yer Tutucusu 2">
            <a:extLst>
              <a:ext uri="{FF2B5EF4-FFF2-40B4-BE49-F238E27FC236}">
                <a16:creationId xmlns:a16="http://schemas.microsoft.com/office/drawing/2014/main" id="{3E56D1AB-CABE-4AA5-905E-6D2070D9EDE7}"/>
              </a:ext>
            </a:extLst>
          </p:cNvPr>
          <p:cNvSpPr>
            <a:spLocks noGrp="1"/>
          </p:cNvSpPr>
          <p:nvPr>
            <p:ph idx="1"/>
          </p:nvPr>
        </p:nvSpPr>
        <p:spPr>
          <a:xfrm>
            <a:off x="522213" y="1167494"/>
            <a:ext cx="8596668" cy="4604448"/>
          </a:xfrm>
        </p:spPr>
        <p:txBody>
          <a:bodyPr/>
          <a:lstStyle/>
          <a:p>
            <a:r>
              <a:rPr lang="tr-TR" dirty="0"/>
              <a:t>Alıcı, kaynak tarafından gönderilen mesajların hedefidir. Kodlanmış olarak gelen mesajların kodlarını kendi duygu, düşünce, anlayış, algılama, deneyim gibi özelliklerine bağlı olarak çözer. </a:t>
            </a:r>
            <a:r>
              <a:rPr lang="tr-TR" dirty="0" err="1"/>
              <a:t>İngilizce’de</a:t>
            </a:r>
            <a:r>
              <a:rPr lang="tr-TR" dirty="0"/>
              <a:t> “</a:t>
            </a:r>
            <a:r>
              <a:rPr lang="tr-TR" dirty="0" err="1"/>
              <a:t>receiver</a:t>
            </a:r>
            <a:r>
              <a:rPr lang="tr-TR" dirty="0"/>
              <a:t>” olarak ifade edilen kavram Türkçede “alıcı” ya da “hedef” olarak kullanılmaktadır. Alıcının sembollere dönüşmüş olan mesajları kendi algılama ve anlamlandırma çerçevesinde duygu, düşünce ya da davranışa dönüştürerek olumlu ya da olumsuz bir tepkide bulunması beklenir. Bu anlamda alıcı aynı zamanda mesajın alındığını ya da alınmadığını, anlaşıldığını ya da anlaşılmadığını açıklığa kavuşturur.</a:t>
            </a:r>
          </a:p>
          <a:p>
            <a:endParaRPr lang="tr-TR" dirty="0"/>
          </a:p>
        </p:txBody>
      </p:sp>
      <p:pic>
        <p:nvPicPr>
          <p:cNvPr id="18434" name="Picture 2" descr="İLETİŞİM ÇAĞINDA İLETİŞİM BOZUKLUĞU">
            <a:extLst>
              <a:ext uri="{FF2B5EF4-FFF2-40B4-BE49-F238E27FC236}">
                <a16:creationId xmlns:a16="http://schemas.microsoft.com/office/drawing/2014/main" id="{1ACCD63B-ED35-4A6E-81E8-A7E05524B2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0547" y="3750868"/>
            <a:ext cx="2419350" cy="2237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731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A10EB0B-74C1-49B2-BBB3-42F38F2ECDFF}"/>
              </a:ext>
            </a:extLst>
          </p:cNvPr>
          <p:cNvSpPr>
            <a:spLocks noGrp="1"/>
          </p:cNvSpPr>
          <p:nvPr>
            <p:ph idx="1"/>
          </p:nvPr>
        </p:nvSpPr>
        <p:spPr>
          <a:xfrm>
            <a:off x="677334" y="938893"/>
            <a:ext cx="8596668" cy="5102469"/>
          </a:xfrm>
        </p:spPr>
        <p:txBody>
          <a:bodyPr/>
          <a:lstStyle/>
          <a:p>
            <a:r>
              <a:rPr lang="tr-TR" dirty="0"/>
              <a:t>Bu bağlamda, alıcının kavramsal filtresi (mesajların anlaşılmasını sağlayan tutumlar ve değerler, dil, deneyimler), ve bilişsel stili (öğrenme biçimi, bilgi düzeyi, organize etme becerisi, anlayış düzeyi) mesajların yorumlanmasını etkiler. Bununla birlikte alıcının eşik değerinin (alıcının duyu organlarının organik olarak hassasiyeti) de, mesajın algılanmasında önemli bir rolü vardır. Mesaj alıcının duyu organlarına ulaştığı zaman, sesli iletişimlerde sesin frekansı duyma eşiğine uygun, görsel ve yazılı mesajlarda ise açık görülecek kadar net olmalıdır. </a:t>
            </a:r>
          </a:p>
        </p:txBody>
      </p:sp>
      <p:pic>
        <p:nvPicPr>
          <p:cNvPr id="19458" name="Picture 2" descr="Etkili İletişim Mesajı Nasıl Olmalı? | IIENSTITU">
            <a:extLst>
              <a:ext uri="{FF2B5EF4-FFF2-40B4-BE49-F238E27FC236}">
                <a16:creationId xmlns:a16="http://schemas.microsoft.com/office/drawing/2014/main" id="{F4AB89C3-19B8-4DB6-9CF5-30561673F1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5252" y="3778703"/>
            <a:ext cx="4160384" cy="2140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6765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2D49EBC-F5CA-4088-9849-D8B5BB34C76D}"/>
              </a:ext>
            </a:extLst>
          </p:cNvPr>
          <p:cNvSpPr>
            <a:spLocks noGrp="1"/>
          </p:cNvSpPr>
          <p:nvPr>
            <p:ph idx="1"/>
          </p:nvPr>
        </p:nvSpPr>
        <p:spPr>
          <a:xfrm>
            <a:off x="489556" y="522515"/>
            <a:ext cx="8596668" cy="4547298"/>
          </a:xfrm>
        </p:spPr>
        <p:txBody>
          <a:bodyPr/>
          <a:lstStyle/>
          <a:p>
            <a:r>
              <a:rPr lang="tr-TR" dirty="0"/>
              <a:t>Alıcının kavrayabileceğinden daha fazla mesajın iletilmesi durumunda iletişimin istenen amaca ulaşamaması söz konusu olabilir. Kaynağın ve alıcının eşdeğer bir düzeyde mesajlar iletmesi etkili bir iletişimde önemli bir rol oynar. Buna bağlı olarak alıcının mesajı gönderildiği anlama uygun olarak alıp değerlendirir. Alıcının mesajı almaya istekli olması mesajın doğru olarak yorumlanmasında etkilidir. Eğer alıcı mesaja karşı kayıtsız ya da isteksiz ise, bu durumda mesajı istenildiği biçimde algılamayacak ve beklenen sonuç gerçekleşmeyecektir. Alıcının kaynağın gönderdiği mesajın kodunu açarak yorumlaması için bilgi düzeyinin de yeterli olması gerekir. Alıcı bu yorumuna ilişkin olarak kaynağa bir geribildirimde bulunmalı, diğer bir ifadeyle bir tepki vermelidir. Böylece alıcı da bir kaynak durumuna geçmiş olmakta, iletişimin çift yönlü süreci işlemektedir.</a:t>
            </a:r>
          </a:p>
          <a:p>
            <a:endParaRPr lang="tr-TR" dirty="0"/>
          </a:p>
        </p:txBody>
      </p:sp>
      <p:pic>
        <p:nvPicPr>
          <p:cNvPr id="20482" name="Picture 2" descr="İletişim türleri nelerdir? – merakname">
            <a:extLst>
              <a:ext uri="{FF2B5EF4-FFF2-40B4-BE49-F238E27FC236}">
                <a16:creationId xmlns:a16="http://schemas.microsoft.com/office/drawing/2014/main" id="{D9D1128B-0492-4A8E-8E6F-A5D4DFD461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0998" y="3794352"/>
            <a:ext cx="3165702" cy="2198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70808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2DF1251C-94C0-41E7-8D43-EE9EFDF6E628}"/>
              </a:ext>
            </a:extLst>
          </p:cNvPr>
          <p:cNvSpPr>
            <a:spLocks noGrp="1"/>
          </p:cNvSpPr>
          <p:nvPr>
            <p:ph type="title"/>
          </p:nvPr>
        </p:nvSpPr>
        <p:spPr/>
        <p:txBody>
          <a:bodyPr/>
          <a:lstStyle/>
          <a:p>
            <a:r>
              <a:rPr lang="tr-TR" dirty="0"/>
              <a:t>GERİ BİLDİRİM </a:t>
            </a:r>
          </a:p>
        </p:txBody>
      </p:sp>
      <p:sp>
        <p:nvSpPr>
          <p:cNvPr id="3" name="İçerik Yer Tutucusu 2">
            <a:extLst>
              <a:ext uri="{FF2B5EF4-FFF2-40B4-BE49-F238E27FC236}">
                <a16:creationId xmlns:a16="http://schemas.microsoft.com/office/drawing/2014/main" id="{E323674B-E4EF-4F56-9F48-F58AFD14938E}"/>
              </a:ext>
            </a:extLst>
          </p:cNvPr>
          <p:cNvSpPr>
            <a:spLocks noGrp="1"/>
          </p:cNvSpPr>
          <p:nvPr>
            <p:ph idx="1"/>
          </p:nvPr>
        </p:nvSpPr>
        <p:spPr>
          <a:xfrm>
            <a:off x="677334" y="1436915"/>
            <a:ext cx="8596668" cy="4604448"/>
          </a:xfrm>
        </p:spPr>
        <p:txBody>
          <a:bodyPr/>
          <a:lstStyle/>
          <a:p>
            <a:r>
              <a:rPr lang="tr-TR" dirty="0"/>
              <a:t>İletişim süreci içinde kaynaktan alıcıya ulaşan mesaja karşılık olarak alıcının da kaynağa tepkisini ya da yorumunu belirtmek üzere gönderdiği mesaja geribildirim/dönüt/geri besleme adı verilir. İletişim sözcüğü kendisi bir tepkiyi, karşıtlığı, alışverişi, değiş tokuşu anlatmaktadır. İletişim sürecinde geribildirim; denetleme ve gözetleme görevi görür. Geri besleme, hem kaynağın kendine ilişkin öğrenmesine hem de diğer kişilere göre kaynağın kendini ayarlamasına yardımcı olur .Geribildirimle iletişim sürecinde alıcı kaynak, kaynak da alıcı durumuna geçmektedir.</a:t>
            </a:r>
          </a:p>
          <a:p>
            <a:endParaRPr lang="tr-TR" dirty="0"/>
          </a:p>
        </p:txBody>
      </p:sp>
      <p:pic>
        <p:nvPicPr>
          <p:cNvPr id="21508" name="Picture 4" descr="Geri Bildirim Neden Gerekli?">
            <a:extLst>
              <a:ext uri="{FF2B5EF4-FFF2-40B4-BE49-F238E27FC236}">
                <a16:creationId xmlns:a16="http://schemas.microsoft.com/office/drawing/2014/main" id="{56B889D3-BD27-494C-8163-100C25B42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6629" y="4298288"/>
            <a:ext cx="5037364" cy="2559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11262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CD70E20-70EF-4AF9-AB19-E50D613EAEC8}"/>
              </a:ext>
            </a:extLst>
          </p:cNvPr>
          <p:cNvSpPr>
            <a:spLocks noGrp="1"/>
          </p:cNvSpPr>
          <p:nvPr>
            <p:ph idx="1"/>
          </p:nvPr>
        </p:nvSpPr>
        <p:spPr>
          <a:xfrm>
            <a:off x="677334" y="522515"/>
            <a:ext cx="8596668" cy="5518848"/>
          </a:xfrm>
        </p:spPr>
        <p:txBody>
          <a:bodyPr>
            <a:normAutofit/>
          </a:bodyPr>
          <a:lstStyle/>
          <a:p>
            <a:pPr marL="0" indent="0">
              <a:buNone/>
            </a:pPr>
            <a:r>
              <a:rPr lang="tr-TR" dirty="0"/>
              <a:t>Bu çerçevede, geribildirim mesajları, iletişim sürecinde iltifat etmek, övmek, tebrik etmek gibi olumlu durumları ifade eden olumlu ya da kişilerarası iletişimde eleştirmek, kaş çatmak, tehdit etmek, sert bir biçimde bakmak gibi olumsuz durumları açıklayan olumsuz, “Sen çok tatlı bir insansın.”, “Çok güzel gülüyorsun.” gibi ifadelerle kişi ya da “Numarayı tekrar eder misin? “, “Bu söylediğin gerçekten doğru.” gibi ifadelerle mesaj odaklı, iş görüşmelerinde sorulan bir sorunun yanıtının görüşmenin sonunda aktarıldığı durumda olduğu gibi gecikmiş ya da kişinin söylediği söze karşılık olarak gülümsemek, mesajı onaylayan bir ifade kullanmak hemen geribildirimde bulunmaya “doğru, evet” gibi ifadelerde bulunmak gibi hemen, iletişim sürecinde kaynağın ilettiği mesajı kabul etmeyi, onaylamayı ifade eden destekleyici ya da iletişimde kaynağın ilettiği mesajı kabul etmemeyi, yargılamayı, eksiklik bulmayı açıklayan eleştirel, kendiliğinden ve tamamen doğru bir biçimde veriliyorsa düşük (Örneğin, “Sınava çok mu çalıştın?” sorusuna verilen “Evet, bu sınavı vermek zorundayım.” yanıtı düşük kontrollü bir geribildirimdir) ya da dikkatli bir biçimde belirli bir amaç doğrultusunda hazırlanıyorsa (Örneğin müdürün sorduğu “Bu dosyada bir yanlışlık mı var?” soruya çalışanın “Sanırım yok ama incelemek gerekir.” yanıtı) yüksek düzeyde kontrol özelliğine sahip olabilir.</a:t>
            </a:r>
          </a:p>
          <a:p>
            <a:pPr marL="0" indent="0">
              <a:buNone/>
            </a:pPr>
            <a:endParaRPr lang="tr-TR" dirty="0"/>
          </a:p>
        </p:txBody>
      </p:sp>
    </p:spTree>
    <p:extLst>
      <p:ext uri="{BB962C8B-B14F-4D97-AF65-F5344CB8AC3E}">
        <p14:creationId xmlns:p14="http://schemas.microsoft.com/office/powerpoint/2010/main" val="36911004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BF50205-2D7B-4871-9A5D-CB7DAD29BC51}"/>
              </a:ext>
            </a:extLst>
          </p:cNvPr>
          <p:cNvSpPr>
            <a:spLocks noGrp="1"/>
          </p:cNvSpPr>
          <p:nvPr>
            <p:ph idx="1"/>
          </p:nvPr>
        </p:nvSpPr>
        <p:spPr>
          <a:xfrm>
            <a:off x="677334" y="906237"/>
            <a:ext cx="8596668" cy="5135125"/>
          </a:xfrm>
        </p:spPr>
        <p:txBody>
          <a:bodyPr/>
          <a:lstStyle/>
          <a:p>
            <a:pPr marL="0" indent="0">
              <a:buNone/>
            </a:pPr>
            <a:r>
              <a:rPr lang="tr-TR" dirty="0"/>
              <a:t>Geribildirim, iletişim sürecinde kaynağa iletişimin etkililiği ya da başarısı konusunda bilgi verir. Buna bağlı olarak kaynak iletmek istediği mesajı yeniden oluşturmakta ya da eksik olduğunu düşündüğü noktalarda değişiklikler yapmaktadır. Yanlış anlaşılmaya neden olan unsurlar varsa bunları azaltmakta ya da tamamen ortadan kaldırmaya çalışmaktadır. Geribildirim iletildiği sürece iletişimde olumsuzlukların yaşanması en aza indirilebilir.</a:t>
            </a:r>
          </a:p>
          <a:p>
            <a:pPr marL="0" indent="0">
              <a:buNone/>
            </a:pPr>
            <a:endParaRPr lang="tr-TR" dirty="0"/>
          </a:p>
        </p:txBody>
      </p:sp>
      <p:pic>
        <p:nvPicPr>
          <p:cNvPr id="22530" name="Picture 2" descr="Geri bildirim | Başak Tecer Eğitim ve Danışmanlık">
            <a:extLst>
              <a:ext uri="{FF2B5EF4-FFF2-40B4-BE49-F238E27FC236}">
                <a16:creationId xmlns:a16="http://schemas.microsoft.com/office/drawing/2014/main" id="{9DEC888B-89F7-4D9C-814C-119C1C15D9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9864" y="2767692"/>
            <a:ext cx="5437415" cy="3184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2843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0B7C196F-BAFE-46CF-88D5-7A821FC38332}"/>
              </a:ext>
            </a:extLst>
          </p:cNvPr>
          <p:cNvSpPr>
            <a:spLocks noGrp="1"/>
          </p:cNvSpPr>
          <p:nvPr>
            <p:ph type="title"/>
          </p:nvPr>
        </p:nvSpPr>
        <p:spPr/>
        <p:txBody>
          <a:bodyPr/>
          <a:lstStyle/>
          <a:p>
            <a:r>
              <a:rPr lang="tr-TR" dirty="0"/>
              <a:t>GÜRÜLTÜ</a:t>
            </a:r>
          </a:p>
        </p:txBody>
      </p:sp>
      <p:sp>
        <p:nvSpPr>
          <p:cNvPr id="3" name="İçerik Yer Tutucusu 2">
            <a:extLst>
              <a:ext uri="{FF2B5EF4-FFF2-40B4-BE49-F238E27FC236}">
                <a16:creationId xmlns:a16="http://schemas.microsoft.com/office/drawing/2014/main" id="{04BCDAA5-5CE1-4BF5-A90A-22F9F7D6810C}"/>
              </a:ext>
            </a:extLst>
          </p:cNvPr>
          <p:cNvSpPr>
            <a:spLocks noGrp="1"/>
          </p:cNvSpPr>
          <p:nvPr>
            <p:ph idx="1"/>
          </p:nvPr>
        </p:nvSpPr>
        <p:spPr>
          <a:xfrm>
            <a:off x="677334" y="1518557"/>
            <a:ext cx="8596668" cy="4522805"/>
          </a:xfrm>
        </p:spPr>
        <p:txBody>
          <a:bodyPr/>
          <a:lstStyle/>
          <a:p>
            <a:r>
              <a:rPr lang="tr-TR" dirty="0"/>
              <a:t>İletişim, bireyler arasında duygu, düşünce, bilgi ve tutumların çeşitli kanallar aracılığıyla aktarılması sürecidir. Bu sürecin sağlıklı ve etkili biçimde gerçekleşebilmesi için iletinin, göndericiden alıcıya doğru ve eksiksiz şekilde ulaşması gerekir. Ancak iletişim sürecinde bu aktarımı engelleyen veya bozan birçok unsur bulunmaktadır. Bu unsurların başında </a:t>
            </a:r>
            <a:r>
              <a:rPr lang="tr-TR" b="1" dirty="0"/>
              <a:t>gürültü</a:t>
            </a:r>
            <a:r>
              <a:rPr lang="tr-TR" dirty="0"/>
              <a:t> kavramı gelmektedir.</a:t>
            </a:r>
          </a:p>
        </p:txBody>
      </p:sp>
      <p:pic>
        <p:nvPicPr>
          <p:cNvPr id="23554" name="Picture 2" descr="İletişim Nedir? İletişimin Engelleri Nelerdir?">
            <a:extLst>
              <a:ext uri="{FF2B5EF4-FFF2-40B4-BE49-F238E27FC236}">
                <a16:creationId xmlns:a16="http://schemas.microsoft.com/office/drawing/2014/main" id="{F7DE42C2-A1F6-48D5-9A81-98A8C6091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7014" y="3537403"/>
            <a:ext cx="5012872" cy="2602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0802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BF79FF7-3E8B-4CB5-A73D-71796CCCB3E4}"/>
              </a:ext>
            </a:extLst>
          </p:cNvPr>
          <p:cNvSpPr>
            <a:spLocks noGrp="1"/>
          </p:cNvSpPr>
          <p:nvPr>
            <p:ph idx="1"/>
          </p:nvPr>
        </p:nvSpPr>
        <p:spPr>
          <a:xfrm>
            <a:off x="677334" y="693965"/>
            <a:ext cx="8596668" cy="5347398"/>
          </a:xfrm>
        </p:spPr>
        <p:txBody>
          <a:bodyPr/>
          <a:lstStyle/>
          <a:p>
            <a:r>
              <a:rPr lang="tr-TR" dirty="0"/>
              <a:t>İletişimde gürültü; gönderilen mesajın alıcı tarafından doğru biçimde algılanmasını, anlaşılmasını veya yorumlanmasını engelleyen her türlü iç ve dış etkendir. Gürültü yalnızca fiziksel seslerle sınırlı değildir; bireyin psikolojik durumu, çevresel faktörler, kullanılan dil, kültürel farklılıklar ve teknik aksaklıklar da gürültü kapsamında değerlendirilir. Bu yönüyle gürültü, iletişim sürecinin her aşamasında ortaya çıkabilen çok boyutlu bir engeldir.</a:t>
            </a:r>
          </a:p>
        </p:txBody>
      </p:sp>
      <p:pic>
        <p:nvPicPr>
          <p:cNvPr id="24578" name="Picture 2" descr="Gürültü Nedir? Gürültü Çeşitleri Nelerdir?">
            <a:extLst>
              <a:ext uri="{FF2B5EF4-FFF2-40B4-BE49-F238E27FC236}">
                <a16:creationId xmlns:a16="http://schemas.microsoft.com/office/drawing/2014/main" id="{2207299E-C3C6-4709-A6B8-E40B1321E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9914" y="3151412"/>
            <a:ext cx="4357634" cy="2889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07006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912BA7B-4BC5-415A-BE77-CE3AA430D5C2}"/>
              </a:ext>
            </a:extLst>
          </p:cNvPr>
          <p:cNvSpPr>
            <a:spLocks noGrp="1"/>
          </p:cNvSpPr>
          <p:nvPr>
            <p:ph idx="1"/>
          </p:nvPr>
        </p:nvSpPr>
        <p:spPr>
          <a:xfrm>
            <a:off x="554870" y="723675"/>
            <a:ext cx="8596668" cy="3880773"/>
          </a:xfrm>
        </p:spPr>
        <p:txBody>
          <a:bodyPr/>
          <a:lstStyle/>
          <a:p>
            <a:r>
              <a:rPr lang="tr-TR" dirty="0"/>
              <a:t>Gürültü, iletişimin temel amacı olan anlam paylaşımını olumsuz etkiler. Mesajın eksik, yanlış veya çarpıtılmış biçimde algılanmasına neden olabilir. Bu durum, iletişimde yanlış anlamalara, bilgi kaybına ve geri bildirim sürecinin sağlıksız işlemesine yol açar. Özellikle yüz yüze iletişimde gürültü, hem sözlü hem de sözsüz mesajların etkisini azaltarak iletişimin kalitesini düşürür.</a:t>
            </a:r>
          </a:p>
        </p:txBody>
      </p:sp>
      <p:pic>
        <p:nvPicPr>
          <p:cNvPr id="25602" name="Picture 2" descr="ÇALIŞMA YAŞAMINDA GÜRÜLTÜ İLE MÜCADELE REHBERİ">
            <a:extLst>
              <a:ext uri="{FF2B5EF4-FFF2-40B4-BE49-F238E27FC236}">
                <a16:creationId xmlns:a16="http://schemas.microsoft.com/office/drawing/2014/main" id="{80818F1B-DA2C-4880-94F5-A22D7DCB2F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3062968"/>
            <a:ext cx="5592535" cy="2545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6230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B3D37E82-CF01-4A1B-AA2D-575E2DB2547C}"/>
              </a:ext>
            </a:extLst>
          </p:cNvPr>
          <p:cNvSpPr>
            <a:spLocks noGrp="1"/>
          </p:cNvSpPr>
          <p:nvPr>
            <p:ph type="title"/>
          </p:nvPr>
        </p:nvSpPr>
        <p:spPr>
          <a:xfrm>
            <a:off x="677334" y="1249136"/>
            <a:ext cx="8596668" cy="681264"/>
          </a:xfrm>
        </p:spPr>
        <p:txBody>
          <a:bodyPr>
            <a:normAutofit fontScale="90000"/>
          </a:bodyPr>
          <a:lstStyle/>
          <a:p>
            <a:r>
              <a:rPr lang="tr-TR" sz="2500" dirty="0"/>
              <a:t>GÜRÜLTÜNÜN İLETİŞİM ÜZERİNDEKİ OLIUMSUZ ETKİLERİ ŞUNLARDIR </a:t>
            </a:r>
          </a:p>
        </p:txBody>
      </p:sp>
      <p:sp>
        <p:nvSpPr>
          <p:cNvPr id="4" name="Rectangle 1">
            <a:extLst>
              <a:ext uri="{FF2B5EF4-FFF2-40B4-BE49-F238E27FC236}">
                <a16:creationId xmlns:a16="http://schemas.microsoft.com/office/drawing/2014/main" id="{E8222FA6-3BD6-4A0D-ADED-C526B3659BAF}"/>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a:ln>
                  <a:noFill/>
                </a:ln>
                <a:solidFill>
                  <a:schemeClr val="tx1"/>
                </a:solidFill>
                <a:effectLst/>
                <a:latin typeface="Arial" panose="020B0604020202020204" pitchFamily="34" charset="0"/>
              </a:rPr>
              <a:t>Mesajın yanlış anlaşılması:</a:t>
            </a:r>
            <a:r>
              <a:rPr kumimoji="0" lang="tr-TR" altLang="tr-TR" sz="1800" b="0" i="0" u="none" strike="noStrike" cap="none" normalizeH="0" baseline="0">
                <a:ln>
                  <a:noFill/>
                </a:ln>
                <a:solidFill>
                  <a:schemeClr val="tx1"/>
                </a:solidFill>
                <a:effectLst/>
                <a:latin typeface="Arial" panose="020B0604020202020204" pitchFamily="34" charset="0"/>
              </a:rPr>
              <a:t> Alıcı, iletinin anlamını hatalı yorumlayabilir.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a:ln>
                  <a:noFill/>
                </a:ln>
                <a:solidFill>
                  <a:schemeClr val="tx1"/>
                </a:solidFill>
                <a:effectLst/>
                <a:latin typeface="Arial" panose="020B0604020202020204" pitchFamily="34" charset="0"/>
              </a:rPr>
              <a:t>İletişim kopukluğu:</a:t>
            </a:r>
            <a:r>
              <a:rPr kumimoji="0" lang="tr-TR" altLang="tr-TR" sz="1800" b="0" i="0" u="none" strike="noStrike" cap="none" normalizeH="0" baseline="0">
                <a:ln>
                  <a:noFill/>
                </a:ln>
                <a:solidFill>
                  <a:schemeClr val="tx1"/>
                </a:solidFill>
                <a:effectLst/>
                <a:latin typeface="Arial" panose="020B0604020202020204" pitchFamily="34" charset="0"/>
              </a:rPr>
              <a:t> Gürültü yoğun olduğunda iletişim tamamen kesintiye uğrayabilir.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a:ln>
                  <a:noFill/>
                </a:ln>
                <a:solidFill>
                  <a:schemeClr val="tx1"/>
                </a:solidFill>
                <a:effectLst/>
                <a:latin typeface="Arial" panose="020B0604020202020204" pitchFamily="34" charset="0"/>
              </a:rPr>
              <a:t>Zaman ve enerji kaybı:</a:t>
            </a:r>
            <a:r>
              <a:rPr kumimoji="0" lang="tr-TR" altLang="tr-TR" sz="1800" b="0" i="0" u="none" strike="noStrike" cap="none" normalizeH="0" baseline="0">
                <a:ln>
                  <a:noFill/>
                </a:ln>
                <a:solidFill>
                  <a:schemeClr val="tx1"/>
                </a:solidFill>
                <a:effectLst/>
                <a:latin typeface="Arial" panose="020B0604020202020204" pitchFamily="34" charset="0"/>
              </a:rPr>
              <a:t> Mesajın tekrar edilmesi veya açıklanması gerekebilir.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a:ln>
                  <a:noFill/>
                </a:ln>
                <a:solidFill>
                  <a:schemeClr val="tx1"/>
                </a:solidFill>
                <a:effectLst/>
                <a:latin typeface="Arial" panose="020B0604020202020204" pitchFamily="34" charset="0"/>
              </a:rPr>
              <a:t>Duygusal tepkiler:</a:t>
            </a:r>
            <a:r>
              <a:rPr kumimoji="0" lang="tr-TR" altLang="tr-TR" sz="1800" b="0" i="0" u="none" strike="noStrike" cap="none" normalizeH="0" baseline="0">
                <a:ln>
                  <a:noFill/>
                </a:ln>
                <a:solidFill>
                  <a:schemeClr val="tx1"/>
                </a:solidFill>
                <a:effectLst/>
                <a:latin typeface="Arial" panose="020B0604020202020204" pitchFamily="34" charset="0"/>
              </a:rPr>
              <a:t> Yanlış anlaşılmalar öfke, stres ve güvensizlik yaratabilir.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1" i="0" u="none" strike="noStrike" cap="none" normalizeH="0" baseline="0">
                <a:ln>
                  <a:noFill/>
                </a:ln>
                <a:solidFill>
                  <a:schemeClr val="tx1"/>
                </a:solidFill>
                <a:effectLst/>
                <a:latin typeface="Arial" panose="020B0604020202020204" pitchFamily="34" charset="0"/>
              </a:rPr>
              <a:t>İletişim çatışmaları:</a:t>
            </a:r>
            <a:r>
              <a:rPr kumimoji="0" lang="tr-TR" altLang="tr-TR" sz="1800" b="0" i="0" u="none" strike="noStrike" cap="none" normalizeH="0" baseline="0">
                <a:ln>
                  <a:noFill/>
                </a:ln>
                <a:solidFill>
                  <a:schemeClr val="tx1"/>
                </a:solidFill>
                <a:effectLst/>
                <a:latin typeface="Arial" panose="020B0604020202020204" pitchFamily="34" charset="0"/>
              </a:rPr>
              <a:t> Gürültü, kişiler arası çatışmaların artmasına neden olabilir.</a:t>
            </a:r>
          </a:p>
        </p:txBody>
      </p:sp>
    </p:spTree>
    <p:extLst>
      <p:ext uri="{BB962C8B-B14F-4D97-AF65-F5344CB8AC3E}">
        <p14:creationId xmlns:p14="http://schemas.microsoft.com/office/powerpoint/2010/main" val="5985659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F11E949-9EF5-4E5D-9A06-0E4BA435E0E2}"/>
              </a:ext>
            </a:extLst>
          </p:cNvPr>
          <p:cNvSpPr>
            <a:spLocks noGrp="1"/>
          </p:cNvSpPr>
          <p:nvPr>
            <p:ph idx="1"/>
          </p:nvPr>
        </p:nvSpPr>
        <p:spPr>
          <a:xfrm>
            <a:off x="677334" y="432707"/>
            <a:ext cx="8596668" cy="5608655"/>
          </a:xfrm>
        </p:spPr>
        <p:txBody>
          <a:bodyPr>
            <a:normAutofit/>
          </a:bodyPr>
          <a:lstStyle/>
          <a:p>
            <a:r>
              <a:rPr lang="tr-TR" dirty="0"/>
              <a:t>Gürültü kavramı, iletişimin neden her zaman istenilen etkiyi yaratmadığını açıklaması açısından büyük önem taşır. İletişimde gürültünün farkında olmak, bireylerin daha bilinçli ve etkili iletişim kurmasını sağlar. Gürültü kaynaklarının tanınması ve azaltılması; açık, anlaşılır mesajlar verilmesine, uygun iletişim kanallarının seçilmesine ve sağlıklı geri bildirim alınmasına katkı sunar. Özellikle eğitim, sağlık, güvenlik ve yönetsel alanlarda gürültünün kontrol altına alınması, iletişim başarısını doğrudan artırır.</a:t>
            </a:r>
          </a:p>
          <a:p>
            <a:pPr marL="0" indent="0">
              <a:buNone/>
            </a:pPr>
            <a:endParaRPr lang="tr-TR" b="1" dirty="0"/>
          </a:p>
          <a:p>
            <a:r>
              <a:rPr lang="tr-TR" dirty="0"/>
              <a:t>Sonuç olarak gürültü, iletişim sürecinin kaçınılmaz ancak yönetilebilir bir unsurudur. İletişimde başarının sağlanabilmesi için gürültü kaynaklarının tanınması, etkilerinin azaltılması ve iletişim sürecinin bu bilinçle yapılandırılması gerekmektedir. Gürültünün etkili biçimde yönetilmesi, doğru anlaşılmayı, karşılıklı güveni ve sağlıklı ilişkileri güçlendiren temel bir unsurdur.</a:t>
            </a:r>
          </a:p>
          <a:p>
            <a:endParaRPr lang="tr-TR" dirty="0"/>
          </a:p>
        </p:txBody>
      </p:sp>
      <p:pic>
        <p:nvPicPr>
          <p:cNvPr id="27650" name="Picture 2" descr="Etkili İletişim Teknikleri Nelerdir?">
            <a:extLst>
              <a:ext uri="{FF2B5EF4-FFF2-40B4-BE49-F238E27FC236}">
                <a16:creationId xmlns:a16="http://schemas.microsoft.com/office/drawing/2014/main" id="{5F0C2A53-D29C-41FF-B518-30BA9F229D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843" y="4615543"/>
            <a:ext cx="3622686" cy="2144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4241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D39C342E-08D5-4DF8-A74C-4C13E5989264}"/>
              </a:ext>
            </a:extLst>
          </p:cNvPr>
          <p:cNvSpPr>
            <a:spLocks noGrp="1"/>
          </p:cNvSpPr>
          <p:nvPr>
            <p:ph type="title"/>
          </p:nvPr>
        </p:nvSpPr>
        <p:spPr/>
        <p:txBody>
          <a:bodyPr/>
          <a:lstStyle/>
          <a:p>
            <a:r>
              <a:rPr lang="tr-TR" dirty="0"/>
              <a:t>SÖZLÜ İLETİŞİM BECERİLERİ</a:t>
            </a:r>
            <a:br>
              <a:rPr lang="tr-TR" dirty="0"/>
            </a:br>
            <a:r>
              <a:rPr lang="tr-TR" sz="2400" dirty="0"/>
              <a:t>DİKSİYON VE TONLAMA </a:t>
            </a:r>
          </a:p>
        </p:txBody>
      </p:sp>
      <p:sp>
        <p:nvSpPr>
          <p:cNvPr id="3" name="İçerik Yer Tutucusu 2">
            <a:extLst>
              <a:ext uri="{FF2B5EF4-FFF2-40B4-BE49-F238E27FC236}">
                <a16:creationId xmlns:a16="http://schemas.microsoft.com/office/drawing/2014/main" id="{5781C815-76AB-485F-832B-51288001238B}"/>
              </a:ext>
            </a:extLst>
          </p:cNvPr>
          <p:cNvSpPr>
            <a:spLocks noGrp="1"/>
          </p:cNvSpPr>
          <p:nvPr>
            <p:ph idx="1"/>
          </p:nvPr>
        </p:nvSpPr>
        <p:spPr/>
        <p:txBody>
          <a:bodyPr/>
          <a:lstStyle/>
          <a:p>
            <a:r>
              <a:rPr lang="tr-TR" dirty="0"/>
              <a:t>Sözlü iletişim şu temel becerilere dayanır:</a:t>
            </a:r>
          </a:p>
          <a:p>
            <a:r>
              <a:rPr lang="tr-TR" dirty="0"/>
              <a:t>Diksiyon</a:t>
            </a:r>
          </a:p>
          <a:p>
            <a:r>
              <a:rPr lang="tr-TR" dirty="0"/>
              <a:t>Tonlama</a:t>
            </a:r>
          </a:p>
          <a:p>
            <a:r>
              <a:rPr lang="tr-TR" dirty="0"/>
              <a:t>Vurgu</a:t>
            </a:r>
          </a:p>
          <a:p>
            <a:r>
              <a:rPr lang="tr-TR" dirty="0"/>
              <a:t>Beden dili</a:t>
            </a:r>
          </a:p>
          <a:p>
            <a:r>
              <a:rPr lang="tr-TR" dirty="0"/>
              <a:t>Akıcı ve anlaşılır konuşma</a:t>
            </a:r>
          </a:p>
          <a:p>
            <a:pPr marL="0" indent="0">
              <a:buNone/>
            </a:pPr>
            <a:r>
              <a:rPr lang="tr-TR" dirty="0"/>
              <a:t>Bu beceriler içinde </a:t>
            </a:r>
            <a:r>
              <a:rPr lang="tr-TR" b="1" dirty="0"/>
              <a:t>diksiyon ve tonlama</a:t>
            </a:r>
            <a:r>
              <a:rPr lang="tr-TR" dirty="0"/>
              <a:t>, iletişimin kalitesini doğrudan belirleyen temel unsurlardır.</a:t>
            </a:r>
          </a:p>
          <a:p>
            <a:pPr marL="0" indent="0">
              <a:buNone/>
            </a:pPr>
            <a:endParaRPr lang="tr-TR" dirty="0"/>
          </a:p>
        </p:txBody>
      </p:sp>
    </p:spTree>
    <p:extLst>
      <p:ext uri="{BB962C8B-B14F-4D97-AF65-F5344CB8AC3E}">
        <p14:creationId xmlns:p14="http://schemas.microsoft.com/office/powerpoint/2010/main" val="25790879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FBF5B0A-D57F-4CC2-9B63-A5B2E42452E8}"/>
              </a:ext>
            </a:extLst>
          </p:cNvPr>
          <p:cNvSpPr>
            <a:spLocks noGrp="1"/>
          </p:cNvSpPr>
          <p:nvPr>
            <p:ph idx="1"/>
          </p:nvPr>
        </p:nvSpPr>
        <p:spPr>
          <a:xfrm>
            <a:off x="677334" y="416379"/>
            <a:ext cx="8596668" cy="5624983"/>
          </a:xfrm>
        </p:spPr>
        <p:txBody>
          <a:bodyPr/>
          <a:lstStyle/>
          <a:p>
            <a:r>
              <a:rPr lang="tr-TR" b="1" dirty="0"/>
              <a:t>Diksiyon Nedir?</a:t>
            </a:r>
          </a:p>
          <a:p>
            <a:pPr marL="0" indent="0">
              <a:buNone/>
            </a:pPr>
            <a:endParaRPr lang="tr-TR" b="1" dirty="0"/>
          </a:p>
          <a:p>
            <a:r>
              <a:rPr lang="tr-TR" dirty="0"/>
              <a:t>Diksiyon; kelimelerin </a:t>
            </a:r>
            <a:r>
              <a:rPr lang="tr-TR" b="1" dirty="0"/>
              <a:t>doğru, açık ve anlaşılır</a:t>
            </a:r>
            <a:r>
              <a:rPr lang="tr-TR" dirty="0"/>
              <a:t> biçimde söylenmesidir.</a:t>
            </a:r>
          </a:p>
          <a:p>
            <a:r>
              <a:rPr lang="tr-TR" dirty="0"/>
              <a:t>Seslerin doğru çıkarılması, hecelerin yutulmaması ve kelimelerin net telaffuz edilmesini kapsar.</a:t>
            </a:r>
          </a:p>
          <a:p>
            <a:r>
              <a:rPr lang="tr-TR" dirty="0"/>
              <a:t>İyi bir diksiyon, konuşmacının </a:t>
            </a:r>
            <a:r>
              <a:rPr lang="tr-TR" b="1" dirty="0"/>
              <a:t>kendine güvenli, bilgili ve etkileyici</a:t>
            </a:r>
            <a:r>
              <a:rPr lang="tr-TR" dirty="0"/>
              <a:t> algılanmasını sağlar.</a:t>
            </a:r>
          </a:p>
          <a:p>
            <a:endParaRPr lang="tr-TR" dirty="0"/>
          </a:p>
        </p:txBody>
      </p:sp>
      <p:pic>
        <p:nvPicPr>
          <p:cNvPr id="28674" name="Picture 2" descr="KO-MEK DİKSİYON VE ETKİLİ KONUŞMA EĞİTİMİ Branşı">
            <a:extLst>
              <a:ext uri="{FF2B5EF4-FFF2-40B4-BE49-F238E27FC236}">
                <a16:creationId xmlns:a16="http://schemas.microsoft.com/office/drawing/2014/main" id="{F70676F1-6A07-4ED5-B7ED-CD09B4FFD1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9473" y="4357688"/>
            <a:ext cx="4092349" cy="1571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4269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643EC71-5EAE-4668-A9C4-80D36ABAACFD}"/>
              </a:ext>
            </a:extLst>
          </p:cNvPr>
          <p:cNvSpPr>
            <a:spLocks noGrp="1"/>
          </p:cNvSpPr>
          <p:nvPr>
            <p:ph idx="1"/>
          </p:nvPr>
        </p:nvSpPr>
        <p:spPr>
          <a:xfrm>
            <a:off x="677334" y="424543"/>
            <a:ext cx="8596668" cy="5616819"/>
          </a:xfrm>
        </p:spPr>
        <p:txBody>
          <a:bodyPr/>
          <a:lstStyle/>
          <a:p>
            <a:r>
              <a:rPr lang="tr-TR" b="1" dirty="0"/>
              <a:t>Diksiyonun İletişime Etkisi</a:t>
            </a:r>
          </a:p>
          <a:p>
            <a:r>
              <a:rPr lang="tr-TR" dirty="0"/>
              <a:t>Mesajın </a:t>
            </a:r>
            <a:r>
              <a:rPr lang="tr-TR" b="1" dirty="0"/>
              <a:t>doğru anlaşılmasını</a:t>
            </a:r>
            <a:r>
              <a:rPr lang="tr-TR" dirty="0"/>
              <a:t> sağlar.</a:t>
            </a:r>
          </a:p>
          <a:p>
            <a:r>
              <a:rPr lang="tr-TR" dirty="0"/>
              <a:t>Yanlış anlaşılmaları ve iletişim kazalarını azaltır.</a:t>
            </a:r>
          </a:p>
          <a:p>
            <a:r>
              <a:rPr lang="tr-TR" dirty="0"/>
              <a:t>Konuşmacının </a:t>
            </a:r>
            <a:r>
              <a:rPr lang="tr-TR" b="1" dirty="0"/>
              <a:t>saygınlığını ve güvenilirliğini</a:t>
            </a:r>
            <a:r>
              <a:rPr lang="tr-TR" dirty="0"/>
              <a:t> artırır.</a:t>
            </a:r>
          </a:p>
          <a:p>
            <a:r>
              <a:rPr lang="tr-TR" dirty="0"/>
              <a:t>Dinleyicinin dikkatini canlı tutar.</a:t>
            </a:r>
          </a:p>
          <a:p>
            <a:r>
              <a:rPr lang="tr-TR" dirty="0"/>
              <a:t>Profesyonel ortamlarda olumlu izlenim bırakır.</a:t>
            </a:r>
          </a:p>
        </p:txBody>
      </p:sp>
      <p:pic>
        <p:nvPicPr>
          <p:cNvPr id="29698" name="Picture 2" descr="Diksiyon Kursu - İmaj Akademi Kariyer ve İmaj Eğitimleri">
            <a:extLst>
              <a:ext uri="{FF2B5EF4-FFF2-40B4-BE49-F238E27FC236}">
                <a16:creationId xmlns:a16="http://schemas.microsoft.com/office/drawing/2014/main" id="{DED54359-D776-497B-B272-BAE72BE326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25" y="3429000"/>
            <a:ext cx="3985532" cy="2318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1307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B40EB80-A53C-4D35-898E-6033D36A874A}"/>
              </a:ext>
            </a:extLst>
          </p:cNvPr>
          <p:cNvSpPr>
            <a:spLocks noGrp="1"/>
          </p:cNvSpPr>
          <p:nvPr>
            <p:ph idx="1"/>
          </p:nvPr>
        </p:nvSpPr>
        <p:spPr>
          <a:xfrm>
            <a:off x="677334" y="1143001"/>
            <a:ext cx="8596668" cy="4898362"/>
          </a:xfrm>
        </p:spPr>
        <p:txBody>
          <a:bodyPr/>
          <a:lstStyle/>
          <a:p>
            <a:r>
              <a:rPr lang="tr-TR" b="1" dirty="0"/>
              <a:t>Diksiyonun Önemi</a:t>
            </a:r>
          </a:p>
          <a:p>
            <a:r>
              <a:rPr lang="tr-TR" dirty="0"/>
              <a:t>Eğitim hayatında başarıyı destekler.</a:t>
            </a:r>
          </a:p>
          <a:p>
            <a:r>
              <a:rPr lang="tr-TR" dirty="0"/>
              <a:t>İş görüşmeleri ve sunumlarda etkilidir.</a:t>
            </a:r>
          </a:p>
          <a:p>
            <a:r>
              <a:rPr lang="tr-TR" dirty="0"/>
              <a:t>Topluluk önünde konuşma korkusunu azaltır.</a:t>
            </a:r>
          </a:p>
          <a:p>
            <a:r>
              <a:rPr lang="tr-TR" dirty="0"/>
              <a:t>Kişinin kendini doğru ifade etmesine yardımcı olur.</a:t>
            </a:r>
          </a:p>
          <a:p>
            <a:r>
              <a:rPr lang="tr-TR" dirty="0"/>
              <a:t>İletişimde </a:t>
            </a:r>
            <a:r>
              <a:rPr lang="tr-TR" b="1" dirty="0"/>
              <a:t>özgüven kazandırır</a:t>
            </a:r>
            <a:r>
              <a:rPr lang="tr-TR" dirty="0"/>
              <a:t>.</a:t>
            </a:r>
          </a:p>
          <a:p>
            <a:endParaRPr lang="tr-TR" dirty="0"/>
          </a:p>
        </p:txBody>
      </p:sp>
      <p:pic>
        <p:nvPicPr>
          <p:cNvPr id="30722" name="Picture 2" descr="Güzel Konuşma ve Diksiyon | diksiyonakademi.com">
            <a:extLst>
              <a:ext uri="{FF2B5EF4-FFF2-40B4-BE49-F238E27FC236}">
                <a16:creationId xmlns:a16="http://schemas.microsoft.com/office/drawing/2014/main" id="{AECF3148-495F-4452-91C8-6F20105DA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75" y="4018869"/>
            <a:ext cx="3958318" cy="2577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5644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7A499A8-7CA4-4DC8-AF5B-0183145DAD63}"/>
              </a:ext>
            </a:extLst>
          </p:cNvPr>
          <p:cNvSpPr>
            <a:spLocks noGrp="1"/>
          </p:cNvSpPr>
          <p:nvPr>
            <p:ph idx="1"/>
          </p:nvPr>
        </p:nvSpPr>
        <p:spPr>
          <a:xfrm>
            <a:off x="677334" y="538843"/>
            <a:ext cx="8596668" cy="5502519"/>
          </a:xfrm>
        </p:spPr>
        <p:txBody>
          <a:bodyPr/>
          <a:lstStyle/>
          <a:p>
            <a:r>
              <a:rPr lang="tr-TR" b="1" dirty="0"/>
              <a:t>Tonlama Nedir?</a:t>
            </a:r>
          </a:p>
          <a:p>
            <a:r>
              <a:rPr lang="tr-TR" dirty="0"/>
              <a:t>Tonlama; konuşma sırasında sesin </a:t>
            </a:r>
            <a:r>
              <a:rPr lang="tr-TR" b="1" dirty="0"/>
              <a:t>iniş-çıkışlarının, hızının ve şiddetinin</a:t>
            </a:r>
            <a:r>
              <a:rPr lang="tr-TR" dirty="0"/>
              <a:t> ayarlanmasıdır.</a:t>
            </a:r>
          </a:p>
          <a:p>
            <a:r>
              <a:rPr lang="tr-TR" dirty="0"/>
              <a:t>Aynı cümle farklı tonlamalarla söylendiğinde farklı anlamlar taşıyabilir.</a:t>
            </a:r>
          </a:p>
          <a:p>
            <a:r>
              <a:rPr lang="tr-TR" dirty="0"/>
              <a:t>Tonlama, konuşmaya </a:t>
            </a:r>
            <a:r>
              <a:rPr lang="tr-TR" b="1" dirty="0"/>
              <a:t>duygu ve anlam derinliği</a:t>
            </a:r>
            <a:r>
              <a:rPr lang="tr-TR" dirty="0"/>
              <a:t> katar.</a:t>
            </a:r>
          </a:p>
          <a:p>
            <a:endParaRPr lang="tr-TR" dirty="0"/>
          </a:p>
        </p:txBody>
      </p:sp>
      <p:pic>
        <p:nvPicPr>
          <p:cNvPr id="31746" name="Picture 2" descr="Konuşmada Ton Tonlama - Türk Dili ve Edebiyatı">
            <a:extLst>
              <a:ext uri="{FF2B5EF4-FFF2-40B4-BE49-F238E27FC236}">
                <a16:creationId xmlns:a16="http://schemas.microsoft.com/office/drawing/2014/main" id="{C901F6FD-C674-4806-A321-92B25A8AFB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5668" y="3943245"/>
            <a:ext cx="3204482" cy="189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3164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D669F1A-21CA-490D-8C7F-676136186A86}"/>
              </a:ext>
            </a:extLst>
          </p:cNvPr>
          <p:cNvSpPr>
            <a:spLocks noGrp="1"/>
          </p:cNvSpPr>
          <p:nvPr>
            <p:ph idx="1"/>
          </p:nvPr>
        </p:nvSpPr>
        <p:spPr>
          <a:xfrm>
            <a:off x="677334" y="1069521"/>
            <a:ext cx="8596668" cy="4971841"/>
          </a:xfrm>
        </p:spPr>
        <p:txBody>
          <a:bodyPr/>
          <a:lstStyle/>
          <a:p>
            <a:r>
              <a:rPr lang="tr-TR" b="1" dirty="0"/>
              <a:t>Tonlamanın İletişime Etkisi</a:t>
            </a:r>
          </a:p>
          <a:p>
            <a:r>
              <a:rPr lang="tr-TR" dirty="0"/>
              <a:t>Duyguların karşı tarafa doğru aktarılmasını sağlar.</a:t>
            </a:r>
          </a:p>
          <a:p>
            <a:r>
              <a:rPr lang="tr-TR" dirty="0"/>
              <a:t>Konuşmanın monoton olmasını engeller.</a:t>
            </a:r>
          </a:p>
          <a:p>
            <a:r>
              <a:rPr lang="tr-TR" dirty="0"/>
              <a:t>Dinleyicinin ilgisini artırır.</a:t>
            </a:r>
          </a:p>
          <a:p>
            <a:r>
              <a:rPr lang="tr-TR" dirty="0"/>
              <a:t>Mesajın önem derecesini vurgular.</a:t>
            </a:r>
          </a:p>
          <a:p>
            <a:r>
              <a:rPr lang="tr-TR" dirty="0"/>
              <a:t>Konuşmayı daha etkileyici ve akılda kalıcı hale getirir.</a:t>
            </a:r>
          </a:p>
          <a:p>
            <a:endParaRPr lang="tr-TR" dirty="0"/>
          </a:p>
        </p:txBody>
      </p:sp>
      <p:pic>
        <p:nvPicPr>
          <p:cNvPr id="32770" name="Picture 2" descr="Anlatım-Tonlama - KidEğitim">
            <a:extLst>
              <a:ext uri="{FF2B5EF4-FFF2-40B4-BE49-F238E27FC236}">
                <a16:creationId xmlns:a16="http://schemas.microsoft.com/office/drawing/2014/main" id="{A831DA7E-A323-4E31-B544-C89C285A7C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199" y="4107317"/>
            <a:ext cx="3927021" cy="2407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26729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A8FC071-ABD4-4AD0-AE20-55FCDE393DEC}"/>
              </a:ext>
            </a:extLst>
          </p:cNvPr>
          <p:cNvSpPr>
            <a:spLocks noGrp="1"/>
          </p:cNvSpPr>
          <p:nvPr>
            <p:ph idx="1"/>
          </p:nvPr>
        </p:nvSpPr>
        <p:spPr>
          <a:xfrm>
            <a:off x="677334" y="457201"/>
            <a:ext cx="8596668" cy="5584162"/>
          </a:xfrm>
        </p:spPr>
        <p:txBody>
          <a:bodyPr/>
          <a:lstStyle/>
          <a:p>
            <a:r>
              <a:rPr lang="tr-TR" b="1" dirty="0"/>
              <a:t>Tonlamanın Önemi</a:t>
            </a:r>
          </a:p>
          <a:p>
            <a:r>
              <a:rPr lang="tr-TR" dirty="0"/>
              <a:t>Empati kurmayı kolaylaştırır.</a:t>
            </a:r>
          </a:p>
          <a:p>
            <a:r>
              <a:rPr lang="tr-TR" dirty="0"/>
              <a:t>İkna gücünü artırır.</a:t>
            </a:r>
          </a:p>
          <a:p>
            <a:r>
              <a:rPr lang="tr-TR" dirty="0"/>
              <a:t>Yanlış anlamaları azaltır.</a:t>
            </a:r>
          </a:p>
          <a:p>
            <a:r>
              <a:rPr lang="tr-TR" dirty="0"/>
              <a:t>Dinleyici ile duygusal bağ kurulmasını sağlar.</a:t>
            </a:r>
          </a:p>
          <a:p>
            <a:r>
              <a:rPr lang="tr-TR" dirty="0"/>
              <a:t>Liderlik ve hitabet becerilerini geliştirir.</a:t>
            </a:r>
          </a:p>
          <a:p>
            <a:endParaRPr lang="tr-TR" dirty="0"/>
          </a:p>
        </p:txBody>
      </p:sp>
      <p:pic>
        <p:nvPicPr>
          <p:cNvPr id="33794" name="Picture 2" descr="Vurgu ve Tonlamanın Diksiyondaki Önemi | TRT Akademi">
            <a:extLst>
              <a:ext uri="{FF2B5EF4-FFF2-40B4-BE49-F238E27FC236}">
                <a16:creationId xmlns:a16="http://schemas.microsoft.com/office/drawing/2014/main" id="{7C218A35-FE87-4AC2-83AA-7BD71AC2DC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1449" y="3249282"/>
            <a:ext cx="3635829" cy="3012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0000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D3CD632-2E75-4B46-8FD0-9F7EE18D7606}"/>
              </a:ext>
            </a:extLst>
          </p:cNvPr>
          <p:cNvSpPr>
            <a:spLocks noGrp="1"/>
          </p:cNvSpPr>
          <p:nvPr>
            <p:ph idx="1"/>
          </p:nvPr>
        </p:nvSpPr>
        <p:spPr>
          <a:xfrm>
            <a:off x="677334" y="1649185"/>
            <a:ext cx="8596668" cy="4392177"/>
          </a:xfrm>
        </p:spPr>
        <p:txBody>
          <a:bodyPr/>
          <a:lstStyle/>
          <a:p>
            <a:r>
              <a:rPr lang="tr-TR" b="1" dirty="0"/>
              <a:t>Diksiyon ve Tonlama Birlikteliği</a:t>
            </a:r>
          </a:p>
          <a:p>
            <a:r>
              <a:rPr lang="tr-TR" dirty="0"/>
              <a:t>Diksiyon ve tonlama birbirini tamamlayan unsurlardır.</a:t>
            </a:r>
          </a:p>
          <a:p>
            <a:r>
              <a:rPr lang="tr-TR" dirty="0"/>
              <a:t>İyi diksiyon olmadan tonlama etkisini kaybeder.</a:t>
            </a:r>
          </a:p>
          <a:p>
            <a:r>
              <a:rPr lang="tr-TR" dirty="0"/>
              <a:t>Doğru tonlama olmadan diksiyon mekanik ve sıkıcı hale gelir.</a:t>
            </a:r>
          </a:p>
          <a:p>
            <a:r>
              <a:rPr lang="tr-TR" dirty="0"/>
              <a:t>Etkili iletişim için </a:t>
            </a:r>
            <a:r>
              <a:rPr lang="tr-TR" b="1" dirty="0"/>
              <a:t>her ikisinin birlikte kullanılması</a:t>
            </a:r>
            <a:r>
              <a:rPr lang="tr-TR" dirty="0"/>
              <a:t> gerekir.</a:t>
            </a:r>
          </a:p>
          <a:p>
            <a:endParaRPr lang="tr-TR" dirty="0"/>
          </a:p>
        </p:txBody>
      </p:sp>
    </p:spTree>
    <p:extLst>
      <p:ext uri="{BB962C8B-B14F-4D97-AF65-F5344CB8AC3E}">
        <p14:creationId xmlns:p14="http://schemas.microsoft.com/office/powerpoint/2010/main" val="19583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0E65E06-F18E-4144-87E0-AE3F23F32F23}"/>
              </a:ext>
            </a:extLst>
          </p:cNvPr>
          <p:cNvSpPr>
            <a:spLocks noGrp="1"/>
          </p:cNvSpPr>
          <p:nvPr>
            <p:ph idx="1"/>
          </p:nvPr>
        </p:nvSpPr>
        <p:spPr>
          <a:xfrm>
            <a:off x="677334" y="277586"/>
            <a:ext cx="8596668" cy="5322905"/>
          </a:xfrm>
        </p:spPr>
        <p:txBody>
          <a:bodyPr/>
          <a:lstStyle/>
          <a:p>
            <a:r>
              <a:rPr lang="tr-TR" b="1" dirty="0"/>
              <a:t>Diksiyon ve Tonlamanın İletişimde Sağladığı Kazanımlar</a:t>
            </a:r>
          </a:p>
          <a:p>
            <a:r>
              <a:rPr lang="tr-TR" dirty="0"/>
              <a:t>Açık ve net iletişim</a:t>
            </a:r>
          </a:p>
          <a:p>
            <a:r>
              <a:rPr lang="tr-TR" dirty="0"/>
              <a:t>Güçlü ifade yeteneği</a:t>
            </a:r>
          </a:p>
          <a:p>
            <a:r>
              <a:rPr lang="tr-TR" dirty="0"/>
              <a:t>Etkili hitabet</a:t>
            </a:r>
          </a:p>
          <a:p>
            <a:r>
              <a:rPr lang="tr-TR" dirty="0"/>
              <a:t>Karşılıklı anlayış</a:t>
            </a:r>
          </a:p>
          <a:p>
            <a:r>
              <a:rPr lang="tr-TR" dirty="0"/>
              <a:t>Sağlıklı ve kalıcı iletişim</a:t>
            </a:r>
          </a:p>
          <a:p>
            <a:endParaRPr lang="tr-TR" dirty="0"/>
          </a:p>
        </p:txBody>
      </p:sp>
      <p:pic>
        <p:nvPicPr>
          <p:cNvPr id="35842" name="Picture 2" descr="İGA Akademi İle Gelecek Seninle!">
            <a:extLst>
              <a:ext uri="{FF2B5EF4-FFF2-40B4-BE49-F238E27FC236}">
                <a16:creationId xmlns:a16="http://schemas.microsoft.com/office/drawing/2014/main" id="{6A13CC8F-8899-471B-A167-3C05F650EE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5532" y="2606165"/>
            <a:ext cx="4031796" cy="2839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6849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489BA15-8382-4EE7-92CD-62FFD18058B2}"/>
              </a:ext>
            </a:extLst>
          </p:cNvPr>
          <p:cNvSpPr>
            <a:spLocks noGrp="1"/>
          </p:cNvSpPr>
          <p:nvPr>
            <p:ph idx="1"/>
          </p:nvPr>
        </p:nvSpPr>
        <p:spPr/>
        <p:txBody>
          <a:bodyPr/>
          <a:lstStyle/>
          <a:p>
            <a:r>
              <a:rPr lang="tr-TR" b="1" dirty="0"/>
              <a:t>Sözsüz İletişimde Konuşmanın Rolü</a:t>
            </a:r>
          </a:p>
          <a:p>
            <a:r>
              <a:rPr lang="tr-TR" dirty="0"/>
              <a:t>Her ne kadar sözsüz iletişim kelime içermese de, </a:t>
            </a:r>
            <a:r>
              <a:rPr lang="tr-TR" b="1" dirty="0"/>
              <a:t>konuşma biçimi</a:t>
            </a:r>
            <a:r>
              <a:rPr lang="tr-TR" dirty="0"/>
              <a:t> sözsüz mesajları doğrudan etkiler.</a:t>
            </a:r>
          </a:p>
          <a:p>
            <a:r>
              <a:rPr lang="tr-TR" dirty="0"/>
              <a:t>Açık ve anlaşılır konuşma; beden dili ve mimiklerle uyumlu olduğunda iletişim güçlenir.</a:t>
            </a:r>
          </a:p>
          <a:p>
            <a:r>
              <a:rPr lang="tr-TR" dirty="0"/>
              <a:t>Konuşma sırasında yaşanan belirsizlik, sözsüz mesajlarla çelişkiye neden olabilir.</a:t>
            </a:r>
          </a:p>
          <a:p>
            <a:endParaRPr lang="tr-TR" dirty="0"/>
          </a:p>
        </p:txBody>
      </p:sp>
    </p:spTree>
    <p:extLst>
      <p:ext uri="{BB962C8B-B14F-4D97-AF65-F5344CB8AC3E}">
        <p14:creationId xmlns:p14="http://schemas.microsoft.com/office/powerpoint/2010/main" val="6250752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475BABC-ECC7-4EDF-8488-00F5B2413EF6}"/>
              </a:ext>
            </a:extLst>
          </p:cNvPr>
          <p:cNvSpPr>
            <a:spLocks noGrp="1"/>
          </p:cNvSpPr>
          <p:nvPr>
            <p:ph idx="1"/>
          </p:nvPr>
        </p:nvSpPr>
        <p:spPr>
          <a:xfrm>
            <a:off x="677334" y="274638"/>
            <a:ext cx="8596668" cy="3880773"/>
          </a:xfrm>
        </p:spPr>
        <p:txBody>
          <a:bodyPr/>
          <a:lstStyle/>
          <a:p>
            <a:r>
              <a:rPr lang="tr-TR" b="1" dirty="0"/>
              <a:t>Açık ve Anlaşılır Konuşmanın Önemi</a:t>
            </a:r>
          </a:p>
          <a:p>
            <a:r>
              <a:rPr lang="tr-TR" dirty="0"/>
              <a:t>Yanlış anlamaları önler.</a:t>
            </a:r>
          </a:p>
          <a:p>
            <a:r>
              <a:rPr lang="tr-TR" dirty="0"/>
              <a:t>Sözsüz mesajlarla uyum sağlar.</a:t>
            </a:r>
          </a:p>
          <a:p>
            <a:r>
              <a:rPr lang="tr-TR" dirty="0"/>
              <a:t>Dinleyicide güven duygusu oluşturur.</a:t>
            </a:r>
          </a:p>
          <a:p>
            <a:r>
              <a:rPr lang="tr-TR" dirty="0"/>
              <a:t>İletişimi hızlandırır ve etkili hale getirir.</a:t>
            </a:r>
          </a:p>
          <a:p>
            <a:r>
              <a:rPr lang="tr-TR" dirty="0"/>
              <a:t>Karşı tarafın dikkatini ve ilgisini artırır.</a:t>
            </a:r>
          </a:p>
          <a:p>
            <a:endParaRPr lang="tr-TR" dirty="0"/>
          </a:p>
        </p:txBody>
      </p:sp>
      <p:pic>
        <p:nvPicPr>
          <p:cNvPr id="36866" name="Picture 2" descr="Etkili İletişim ve Beden Dili: Mesajınızı Güçlendirin | TRT Akademi">
            <a:extLst>
              <a:ext uri="{FF2B5EF4-FFF2-40B4-BE49-F238E27FC236}">
                <a16:creationId xmlns:a16="http://schemas.microsoft.com/office/drawing/2014/main" id="{B65EFDDF-09A8-43AD-9BC0-0536A3CE1B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0585" y="3355311"/>
            <a:ext cx="3758294" cy="2433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8034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62F7EB6-6525-446C-8CD6-DCFAAA8F57B4}"/>
              </a:ext>
            </a:extLst>
          </p:cNvPr>
          <p:cNvSpPr>
            <a:spLocks noGrp="1"/>
          </p:cNvSpPr>
          <p:nvPr>
            <p:ph idx="1"/>
          </p:nvPr>
        </p:nvSpPr>
        <p:spPr>
          <a:xfrm>
            <a:off x="677334" y="547007"/>
            <a:ext cx="8596668" cy="5494355"/>
          </a:xfrm>
        </p:spPr>
        <p:txBody>
          <a:bodyPr/>
          <a:lstStyle/>
          <a:p>
            <a:r>
              <a:rPr lang="tr-TR" b="1" dirty="0"/>
              <a:t>Doğru Kelime Seçimi Nedir?</a:t>
            </a:r>
          </a:p>
          <a:p>
            <a:r>
              <a:rPr lang="tr-TR" dirty="0"/>
              <a:t>Mesajın amacına ve muhatabına uygun kelimelerin seçilmesidir.</a:t>
            </a:r>
          </a:p>
          <a:p>
            <a:r>
              <a:rPr lang="tr-TR" dirty="0"/>
              <a:t>Kelimeler, söyleniş biçimiyle birlikte sözsüz iletişimi destekler.</a:t>
            </a:r>
          </a:p>
          <a:p>
            <a:r>
              <a:rPr lang="tr-TR" dirty="0"/>
              <a:t>Yanlış kelime seçimi, beden diliyle verilen mesajı zayıflatabilir.</a:t>
            </a:r>
          </a:p>
          <a:p>
            <a:endParaRPr lang="tr-TR" dirty="0"/>
          </a:p>
        </p:txBody>
      </p:sp>
      <p:pic>
        <p:nvPicPr>
          <p:cNvPr id="37890" name="Picture 2" descr="Etkili İletişimde Etkili Dinleme - TUNÇ VİDİNLİ">
            <a:extLst>
              <a:ext uri="{FF2B5EF4-FFF2-40B4-BE49-F238E27FC236}">
                <a16:creationId xmlns:a16="http://schemas.microsoft.com/office/drawing/2014/main" id="{87F07292-7D5D-4EC5-BF52-C91F3CCD30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9734" y="3030992"/>
            <a:ext cx="4096430" cy="2773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551626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89D6BAD-E77B-4975-8D4B-88C1FA63883D}"/>
              </a:ext>
            </a:extLst>
          </p:cNvPr>
          <p:cNvSpPr>
            <a:spLocks noGrp="1"/>
          </p:cNvSpPr>
          <p:nvPr>
            <p:ph idx="1"/>
          </p:nvPr>
        </p:nvSpPr>
        <p:spPr/>
        <p:txBody>
          <a:bodyPr/>
          <a:lstStyle/>
          <a:p>
            <a:r>
              <a:rPr lang="tr-TR" b="1" dirty="0"/>
              <a:t>Doğru Kelime Seçiminin Önemi</a:t>
            </a:r>
          </a:p>
          <a:p>
            <a:r>
              <a:rPr lang="tr-TR" dirty="0"/>
              <a:t>Mesajın netliğini artırır.</a:t>
            </a:r>
          </a:p>
          <a:p>
            <a:r>
              <a:rPr lang="tr-TR" dirty="0"/>
              <a:t>Karşı tarafın kendini değerli hissetmesini sağlar.</a:t>
            </a:r>
          </a:p>
          <a:p>
            <a:r>
              <a:rPr lang="tr-TR" dirty="0"/>
              <a:t>Olumsuz duyguların oluşmasını engeller.</a:t>
            </a:r>
          </a:p>
          <a:p>
            <a:r>
              <a:rPr lang="tr-TR" dirty="0"/>
              <a:t>İletişimde saygı ve nezaket ortamı oluşturur.</a:t>
            </a:r>
          </a:p>
          <a:p>
            <a:r>
              <a:rPr lang="tr-TR" dirty="0"/>
              <a:t>Çatışma ve iletişim kopukluğunu azaltır.</a:t>
            </a:r>
          </a:p>
          <a:p>
            <a:endParaRPr lang="tr-TR" dirty="0"/>
          </a:p>
        </p:txBody>
      </p:sp>
    </p:spTree>
    <p:extLst>
      <p:ext uri="{BB962C8B-B14F-4D97-AF65-F5344CB8AC3E}">
        <p14:creationId xmlns:p14="http://schemas.microsoft.com/office/powerpoint/2010/main" val="2341781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14A9A81-0097-4687-9C0A-F9A7A92B75D3}"/>
              </a:ext>
            </a:extLst>
          </p:cNvPr>
          <p:cNvSpPr>
            <a:spLocks noGrp="1"/>
          </p:cNvSpPr>
          <p:nvPr>
            <p:ph idx="1"/>
          </p:nvPr>
        </p:nvSpPr>
        <p:spPr>
          <a:xfrm>
            <a:off x="677334" y="1159329"/>
            <a:ext cx="8596668" cy="4882033"/>
          </a:xfrm>
        </p:spPr>
        <p:txBody>
          <a:bodyPr/>
          <a:lstStyle/>
          <a:p>
            <a:r>
              <a:rPr lang="tr-TR" b="1" dirty="0"/>
              <a:t>Sözsüz İletişim ile Kelime Seçimi Arasındaki İlişki</a:t>
            </a:r>
          </a:p>
          <a:p>
            <a:r>
              <a:rPr lang="tr-TR" dirty="0"/>
              <a:t>Seçilen kelimeler, yüz ifadeleri ve beden diliyle uyumlu olmalıdır.</a:t>
            </a:r>
          </a:p>
          <a:p>
            <a:r>
              <a:rPr lang="tr-TR" dirty="0"/>
              <a:t>Olumlu kelimeler, olumlu beden diliyle birleştiğinde mesaj güçlenir.</a:t>
            </a:r>
          </a:p>
          <a:p>
            <a:r>
              <a:rPr lang="tr-TR" dirty="0"/>
              <a:t>Çelişkili mesajlar, iletişimde güvensizlik yaratır.</a:t>
            </a:r>
          </a:p>
          <a:p>
            <a:endParaRPr lang="tr-TR" dirty="0"/>
          </a:p>
        </p:txBody>
      </p:sp>
      <p:pic>
        <p:nvPicPr>
          <p:cNvPr id="38914" name="Picture 2" descr="sözsüz iletişim - Bilginin Kalesi">
            <a:extLst>
              <a:ext uri="{FF2B5EF4-FFF2-40B4-BE49-F238E27FC236}">
                <a16:creationId xmlns:a16="http://schemas.microsoft.com/office/drawing/2014/main" id="{99333509-06D7-4BC0-8FB5-AD18CDFEFF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3019" y="3429000"/>
            <a:ext cx="4013481" cy="2045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52553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EC2086E-3FB1-4E75-9096-D675941FCF30}"/>
              </a:ext>
            </a:extLst>
          </p:cNvPr>
          <p:cNvSpPr>
            <a:spLocks noGrp="1"/>
          </p:cNvSpPr>
          <p:nvPr>
            <p:ph idx="1"/>
          </p:nvPr>
        </p:nvSpPr>
        <p:spPr/>
        <p:txBody>
          <a:bodyPr/>
          <a:lstStyle/>
          <a:p>
            <a:r>
              <a:rPr lang="tr-TR" b="1" dirty="0"/>
              <a:t>Etkili Sözsüz İletişim İçin Öneriler</a:t>
            </a:r>
          </a:p>
          <a:p>
            <a:r>
              <a:rPr lang="tr-TR" dirty="0"/>
              <a:t>Net ve sade cümleler kurmak</a:t>
            </a:r>
          </a:p>
          <a:p>
            <a:r>
              <a:rPr lang="tr-TR" dirty="0"/>
              <a:t>Karşı tarafın seviyesine uygun kelimeler seçmek</a:t>
            </a:r>
          </a:p>
          <a:p>
            <a:r>
              <a:rPr lang="tr-TR" dirty="0"/>
              <a:t>Beden diliyle konuşmayı desteklemek</a:t>
            </a:r>
          </a:p>
          <a:p>
            <a:r>
              <a:rPr lang="tr-TR" dirty="0"/>
              <a:t>Göz teması kurmak</a:t>
            </a:r>
          </a:p>
          <a:p>
            <a:r>
              <a:rPr lang="tr-TR" dirty="0"/>
              <a:t>Ses tonunu mesajla uyumlu kullanmak</a:t>
            </a:r>
          </a:p>
          <a:p>
            <a:endParaRPr lang="tr-TR" dirty="0"/>
          </a:p>
        </p:txBody>
      </p:sp>
    </p:spTree>
    <p:extLst>
      <p:ext uri="{BB962C8B-B14F-4D97-AF65-F5344CB8AC3E}">
        <p14:creationId xmlns:p14="http://schemas.microsoft.com/office/powerpoint/2010/main" val="21605961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E58EBF2-1B83-492A-89FC-682DE1374795}"/>
              </a:ext>
            </a:extLst>
          </p:cNvPr>
          <p:cNvSpPr>
            <a:spLocks noGrp="1"/>
          </p:cNvSpPr>
          <p:nvPr>
            <p:ph idx="1"/>
          </p:nvPr>
        </p:nvSpPr>
        <p:spPr/>
        <p:txBody>
          <a:bodyPr/>
          <a:lstStyle/>
          <a:p>
            <a:r>
              <a:rPr lang="tr-TR" b="1" dirty="0"/>
              <a:t>İletişimde Yapılan Yaygın Hatalar</a:t>
            </a:r>
          </a:p>
          <a:p>
            <a:r>
              <a:rPr lang="tr-TR" dirty="0"/>
              <a:t>Karmaşık ve uzun cümleler kullanmak</a:t>
            </a:r>
          </a:p>
          <a:p>
            <a:r>
              <a:rPr lang="tr-TR" dirty="0"/>
              <a:t>Yanlış kelime seçimiyle olumsuz mesaj vermek</a:t>
            </a:r>
          </a:p>
          <a:p>
            <a:r>
              <a:rPr lang="tr-TR" dirty="0"/>
              <a:t>Sözlü ve sözsüz mesajların çelişmesi</a:t>
            </a:r>
          </a:p>
          <a:p>
            <a:r>
              <a:rPr lang="tr-TR" dirty="0"/>
              <a:t>Dikkat dağınıklığına neden olacak beden dili kullanmak</a:t>
            </a:r>
          </a:p>
          <a:p>
            <a:endParaRPr lang="tr-TR" dirty="0"/>
          </a:p>
        </p:txBody>
      </p:sp>
    </p:spTree>
    <p:extLst>
      <p:ext uri="{BB962C8B-B14F-4D97-AF65-F5344CB8AC3E}">
        <p14:creationId xmlns:p14="http://schemas.microsoft.com/office/powerpoint/2010/main" val="82790214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FC8F64A-B670-4809-BFE3-AAC4FCB9F316}"/>
              </a:ext>
            </a:extLst>
          </p:cNvPr>
          <p:cNvSpPr>
            <a:spLocks noGrp="1"/>
          </p:cNvSpPr>
          <p:nvPr>
            <p:ph idx="1"/>
          </p:nvPr>
        </p:nvSpPr>
        <p:spPr/>
        <p:txBody>
          <a:bodyPr/>
          <a:lstStyle/>
          <a:p>
            <a:r>
              <a:rPr lang="tr-TR" dirty="0"/>
              <a:t>Sözsüz iletişim, iletişimin en güçlü boyutlarından biridir.</a:t>
            </a:r>
          </a:p>
          <a:p>
            <a:r>
              <a:rPr lang="tr-TR" dirty="0"/>
              <a:t>Açık ve anlaşılır konuşma, sözsüz mesajların doğru algılanmasını sağlar.</a:t>
            </a:r>
          </a:p>
          <a:p>
            <a:r>
              <a:rPr lang="tr-TR" dirty="0"/>
              <a:t>Doğru kelime seçimi, iletişimi güçlendirir ve güven oluşturur.</a:t>
            </a:r>
          </a:p>
          <a:p>
            <a:r>
              <a:rPr lang="tr-TR" dirty="0"/>
              <a:t>Etkili iletişim için sözlü ve sözsüz unsurlar bir bütün olarak kullanılmalıdır.</a:t>
            </a:r>
          </a:p>
          <a:p>
            <a:endParaRPr lang="tr-TR" dirty="0"/>
          </a:p>
        </p:txBody>
      </p:sp>
    </p:spTree>
    <p:extLst>
      <p:ext uri="{BB962C8B-B14F-4D97-AF65-F5344CB8AC3E}">
        <p14:creationId xmlns:p14="http://schemas.microsoft.com/office/powerpoint/2010/main" val="34574177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16503766-AE15-4A8D-8B53-9C3D7F7181C1}"/>
              </a:ext>
            </a:extLst>
          </p:cNvPr>
          <p:cNvSpPr>
            <a:spLocks noGrp="1"/>
          </p:cNvSpPr>
          <p:nvPr>
            <p:ph type="title"/>
          </p:nvPr>
        </p:nvSpPr>
        <p:spPr/>
        <p:txBody>
          <a:bodyPr/>
          <a:lstStyle/>
          <a:p>
            <a:r>
              <a:rPr lang="tr-TR" dirty="0"/>
              <a:t>SÖZSÜZ İLETİŞİM </a:t>
            </a:r>
            <a:br>
              <a:rPr lang="tr-TR" dirty="0"/>
            </a:br>
            <a:r>
              <a:rPr lang="tr-TR" sz="2400" dirty="0"/>
              <a:t>JEST VE MİMİKLER </a:t>
            </a:r>
          </a:p>
        </p:txBody>
      </p:sp>
      <p:sp>
        <p:nvSpPr>
          <p:cNvPr id="3" name="İçerik Yer Tutucusu 2">
            <a:extLst>
              <a:ext uri="{FF2B5EF4-FFF2-40B4-BE49-F238E27FC236}">
                <a16:creationId xmlns:a16="http://schemas.microsoft.com/office/drawing/2014/main" id="{1054879A-2FB1-433A-8561-38740F7D2B33}"/>
              </a:ext>
            </a:extLst>
          </p:cNvPr>
          <p:cNvSpPr>
            <a:spLocks noGrp="1"/>
          </p:cNvSpPr>
          <p:nvPr>
            <p:ph idx="1"/>
          </p:nvPr>
        </p:nvSpPr>
        <p:spPr>
          <a:xfrm>
            <a:off x="677334" y="2628900"/>
            <a:ext cx="8596668" cy="3412462"/>
          </a:xfrm>
        </p:spPr>
        <p:txBody>
          <a:bodyPr/>
          <a:lstStyle/>
          <a:p>
            <a:r>
              <a:rPr lang="tr-TR" dirty="0"/>
              <a:t>Sözsüz iletişim; duygu, düşünce ve tutumların kelimeler kullanılmadan aktarılmasıdır. Beden dili, yüz ifadeleri, duruş, göz teması ve kişiler arası mesafe sözsüz iletişimin temel unsurlarıdır. Çoğu zaman sözsüz mesajlar, söylenen sözlerden daha güçlü ve etkili olabilir.</a:t>
            </a:r>
          </a:p>
          <a:p>
            <a:endParaRPr lang="tr-TR" dirty="0"/>
          </a:p>
        </p:txBody>
      </p:sp>
      <p:pic>
        <p:nvPicPr>
          <p:cNvPr id="39938" name="Picture 2" descr="Paul Ekman'a Göre Mikro-İfadeler - Aklınızı Keşfedin">
            <a:extLst>
              <a:ext uri="{FF2B5EF4-FFF2-40B4-BE49-F238E27FC236}">
                <a16:creationId xmlns:a16="http://schemas.microsoft.com/office/drawing/2014/main" id="{4C42C80D-05B7-4A4F-B0CA-64913D9EB6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8216" y="4126837"/>
            <a:ext cx="3185433" cy="191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7186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06C297D-9056-4993-B1B2-1312E5F4C6EF}"/>
              </a:ext>
            </a:extLst>
          </p:cNvPr>
          <p:cNvSpPr>
            <a:spLocks noGrp="1"/>
          </p:cNvSpPr>
          <p:nvPr>
            <p:ph idx="1"/>
          </p:nvPr>
        </p:nvSpPr>
        <p:spPr>
          <a:xfrm>
            <a:off x="677334" y="1436915"/>
            <a:ext cx="8596668" cy="4604448"/>
          </a:xfrm>
        </p:spPr>
        <p:txBody>
          <a:bodyPr/>
          <a:lstStyle/>
          <a:p>
            <a:r>
              <a:rPr lang="tr-TR" b="1" dirty="0"/>
              <a:t>Jest Nedir?</a:t>
            </a:r>
          </a:p>
          <a:p>
            <a:r>
              <a:rPr lang="tr-TR" dirty="0"/>
              <a:t>Jestler; el, kol, baş ve bedenin çeşitli hareketleriyle verilen mesajlardır. Konuşmayı destekler, vurgular ve anlamı güçlendirir.</a:t>
            </a:r>
          </a:p>
          <a:p>
            <a:r>
              <a:rPr lang="tr-TR" b="1" dirty="0"/>
              <a:t>Örnekler:</a:t>
            </a:r>
            <a:endParaRPr lang="tr-TR" dirty="0"/>
          </a:p>
          <a:p>
            <a:r>
              <a:rPr lang="tr-TR" dirty="0"/>
              <a:t>El sallamak (selamlama)</a:t>
            </a:r>
          </a:p>
          <a:p>
            <a:r>
              <a:rPr lang="tr-TR" dirty="0"/>
              <a:t>Baş sallamak (onaylama)</a:t>
            </a:r>
          </a:p>
          <a:p>
            <a:r>
              <a:rPr lang="tr-TR" dirty="0"/>
              <a:t>Omuz silkmek (kararsızlık)</a:t>
            </a:r>
          </a:p>
          <a:p>
            <a:endParaRPr lang="tr-TR" dirty="0"/>
          </a:p>
        </p:txBody>
      </p:sp>
      <p:pic>
        <p:nvPicPr>
          <p:cNvPr id="40962" name="Picture 2" descr="Çağdaş Mimikler Emojiler - Genç İstikbal Dergisi">
            <a:extLst>
              <a:ext uri="{FF2B5EF4-FFF2-40B4-BE49-F238E27FC236}">
                <a16:creationId xmlns:a16="http://schemas.microsoft.com/office/drawing/2014/main" id="{006DB821-05F1-409E-B8F5-16AF6783F1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2153" y="3608614"/>
            <a:ext cx="3672567" cy="2432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3105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F4C415C-3B34-407B-AD01-0FDECC709EAA}"/>
              </a:ext>
            </a:extLst>
          </p:cNvPr>
          <p:cNvSpPr>
            <a:spLocks noGrp="1"/>
          </p:cNvSpPr>
          <p:nvPr>
            <p:ph idx="1"/>
          </p:nvPr>
        </p:nvSpPr>
        <p:spPr>
          <a:xfrm>
            <a:off x="636513" y="568554"/>
            <a:ext cx="8596668" cy="3880773"/>
          </a:xfrm>
        </p:spPr>
        <p:txBody>
          <a:bodyPr/>
          <a:lstStyle/>
          <a:p>
            <a:r>
              <a:rPr lang="tr-TR" b="1" dirty="0"/>
              <a:t>Mimik Nedir?</a:t>
            </a:r>
          </a:p>
          <a:p>
            <a:r>
              <a:rPr lang="tr-TR" dirty="0"/>
              <a:t>Mimikler; yüz kaslarının hareketleriyle ortaya çıkan ifadelerdir. Duyguların en doğal ve hızlı biçimde aktarılmasını sağlar.</a:t>
            </a:r>
          </a:p>
          <a:p>
            <a:r>
              <a:rPr lang="tr-TR" b="1" dirty="0"/>
              <a:t>Örnekler:</a:t>
            </a:r>
            <a:endParaRPr lang="tr-TR" dirty="0"/>
          </a:p>
          <a:p>
            <a:r>
              <a:rPr lang="tr-TR" dirty="0"/>
              <a:t>Gülümseme (mutluluk, samimiyet)</a:t>
            </a:r>
          </a:p>
          <a:p>
            <a:r>
              <a:rPr lang="tr-TR" dirty="0"/>
              <a:t>Kaş çatma (öfke, rahatsızlık)</a:t>
            </a:r>
          </a:p>
          <a:p>
            <a:r>
              <a:rPr lang="tr-TR" dirty="0"/>
              <a:t>Gözleri büyütme (şaşkınlık)</a:t>
            </a:r>
          </a:p>
          <a:p>
            <a:endParaRPr lang="tr-TR" dirty="0"/>
          </a:p>
        </p:txBody>
      </p:sp>
      <p:pic>
        <p:nvPicPr>
          <p:cNvPr id="41986" name="Picture 2" descr="Mimikler vektörler, vektör çizimler, vektörel grafik | DepositPhotos">
            <a:extLst>
              <a:ext uri="{FF2B5EF4-FFF2-40B4-BE49-F238E27FC236}">
                <a16:creationId xmlns:a16="http://schemas.microsoft.com/office/drawing/2014/main" id="{178DD6EC-E7C3-45A9-8C1D-D6FB50623D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3667" y="3618821"/>
            <a:ext cx="3278640" cy="254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2936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DB2F756-FDA7-4D95-BD77-2158D0338BF3}"/>
              </a:ext>
            </a:extLst>
          </p:cNvPr>
          <p:cNvSpPr>
            <a:spLocks noGrp="1"/>
          </p:cNvSpPr>
          <p:nvPr>
            <p:ph idx="1"/>
          </p:nvPr>
        </p:nvSpPr>
        <p:spPr/>
        <p:txBody>
          <a:bodyPr/>
          <a:lstStyle/>
          <a:p>
            <a:r>
              <a:rPr lang="tr-TR" b="1" dirty="0"/>
              <a:t>İletişimde Önemi</a:t>
            </a:r>
          </a:p>
          <a:p>
            <a:r>
              <a:rPr lang="tr-TR" dirty="0"/>
              <a:t>Duyguların doğru anlaşılmasını sağlar.</a:t>
            </a:r>
          </a:p>
          <a:p>
            <a:r>
              <a:rPr lang="tr-TR" dirty="0"/>
              <a:t>Konuşmaya canlılık ve doğallık katar.</a:t>
            </a:r>
          </a:p>
          <a:p>
            <a:r>
              <a:rPr lang="tr-TR" dirty="0"/>
              <a:t>Samimiyet ve güven duygusu oluşturur.</a:t>
            </a:r>
          </a:p>
          <a:p>
            <a:r>
              <a:rPr lang="tr-TR" dirty="0"/>
              <a:t>Yanlış veya aşırı kullanıldığında dikkat dağıtıcı olabilir.</a:t>
            </a:r>
          </a:p>
          <a:p>
            <a:endParaRPr lang="tr-TR" dirty="0"/>
          </a:p>
        </p:txBody>
      </p:sp>
      <p:pic>
        <p:nvPicPr>
          <p:cNvPr id="43010" name="Picture 2" descr="Türkiye'nin en popüler jest ve mimikleri belli oldu: İşte o liste - KRT TV">
            <a:extLst>
              <a:ext uri="{FF2B5EF4-FFF2-40B4-BE49-F238E27FC236}">
                <a16:creationId xmlns:a16="http://schemas.microsoft.com/office/drawing/2014/main" id="{4439B241-2B56-4F24-9FE0-1D511F7CB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0470" y="4245427"/>
            <a:ext cx="3459616" cy="2400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3360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ABA7578-3B3D-4373-BE58-4AE0E8188494}"/>
              </a:ext>
            </a:extLst>
          </p:cNvPr>
          <p:cNvSpPr>
            <a:spLocks noGrp="1"/>
          </p:cNvSpPr>
          <p:nvPr>
            <p:ph idx="1"/>
          </p:nvPr>
        </p:nvSpPr>
        <p:spPr>
          <a:xfrm>
            <a:off x="677334" y="359229"/>
            <a:ext cx="8596668" cy="5682133"/>
          </a:xfrm>
        </p:spPr>
        <p:txBody>
          <a:bodyPr/>
          <a:lstStyle/>
          <a:p>
            <a:r>
              <a:rPr lang="tr-TR" b="1" dirty="0"/>
              <a:t>Göz Teması</a:t>
            </a:r>
          </a:p>
          <a:p>
            <a:r>
              <a:rPr lang="tr-TR" b="1" dirty="0"/>
              <a:t>Göz Teması Nedir?</a:t>
            </a:r>
          </a:p>
          <a:p>
            <a:r>
              <a:rPr lang="tr-TR" dirty="0"/>
              <a:t>Göz teması; iletişim sırasında konuşmacı ile dinleyici arasında kurulan bakış ilişkisidir. Etkili iletişimin temel unsurlarından biridir.</a:t>
            </a:r>
          </a:p>
          <a:p>
            <a:r>
              <a:rPr lang="tr-TR" b="1" dirty="0"/>
              <a:t>İletişimdeki Rolü</a:t>
            </a:r>
          </a:p>
          <a:p>
            <a:r>
              <a:rPr lang="tr-TR" dirty="0"/>
              <a:t>İlgi ve dikkatin göstergesidir.</a:t>
            </a:r>
          </a:p>
          <a:p>
            <a:r>
              <a:rPr lang="tr-TR" dirty="0"/>
              <a:t>Karşı tarafa değer verildiğini hissettirir.</a:t>
            </a:r>
          </a:p>
          <a:p>
            <a:r>
              <a:rPr lang="tr-TR" dirty="0"/>
              <a:t>Güven ve samimiyet oluşturur.</a:t>
            </a:r>
          </a:p>
          <a:p>
            <a:r>
              <a:rPr lang="tr-TR" dirty="0"/>
              <a:t>Dinleme ve anlama isteğini yansıtır.</a:t>
            </a:r>
          </a:p>
          <a:p>
            <a:endParaRPr lang="tr-TR" dirty="0"/>
          </a:p>
        </p:txBody>
      </p:sp>
      <p:pic>
        <p:nvPicPr>
          <p:cNvPr id="44036" name="Picture 4" descr="Göz temasına dair bilmeniz gereken her şey - Uplifers">
            <a:extLst>
              <a:ext uri="{FF2B5EF4-FFF2-40B4-BE49-F238E27FC236}">
                <a16:creationId xmlns:a16="http://schemas.microsoft.com/office/drawing/2014/main" id="{742C28FD-A65C-44C7-AF4A-16F9D00554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5021" y="4482192"/>
            <a:ext cx="4354286" cy="2318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05302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2B0D032-B2E3-4F0C-BA82-6DD9A4C006A9}"/>
              </a:ext>
            </a:extLst>
          </p:cNvPr>
          <p:cNvSpPr>
            <a:spLocks noGrp="1"/>
          </p:cNvSpPr>
          <p:nvPr>
            <p:ph idx="1"/>
          </p:nvPr>
        </p:nvSpPr>
        <p:spPr/>
        <p:txBody>
          <a:bodyPr/>
          <a:lstStyle/>
          <a:p>
            <a:r>
              <a:rPr lang="tr-TR" b="1" dirty="0"/>
              <a:t>Dikkat Edilmesi Gerekenler</a:t>
            </a:r>
          </a:p>
          <a:p>
            <a:r>
              <a:rPr lang="tr-TR" dirty="0"/>
              <a:t>Sürekli ve sabit bakış rahatsız edici olabilir.</a:t>
            </a:r>
          </a:p>
          <a:p>
            <a:r>
              <a:rPr lang="tr-TR" dirty="0"/>
              <a:t>Göz temasından kaçınmak ilgisizlik veya güvensizlik olarak algılanabilir.</a:t>
            </a:r>
          </a:p>
          <a:p>
            <a:r>
              <a:rPr lang="tr-TR" dirty="0"/>
              <a:t>Dengeli ve doğal göz teması tercih edilmelidir.</a:t>
            </a:r>
          </a:p>
          <a:p>
            <a:endParaRPr lang="tr-TR" dirty="0"/>
          </a:p>
        </p:txBody>
      </p:sp>
      <p:pic>
        <p:nvPicPr>
          <p:cNvPr id="45058" name="Picture 2" descr="İnsanlarla göz teması kuramayan, elini/kolunu nereye koyacağını bilemeyen,  yeni bir ortama girince sessiz kalıp gerilen ve yutkunma ihtiyacı hisseden  sosyal fobi hastasıyla görüşme notlarımızı sunuyorum.  https://t.co/ItbmXYgAgQ">
            <a:extLst>
              <a:ext uri="{FF2B5EF4-FFF2-40B4-BE49-F238E27FC236}">
                <a16:creationId xmlns:a16="http://schemas.microsoft.com/office/drawing/2014/main" id="{5CC9378C-00D4-483D-B930-B747EACFF2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8836" y="3976007"/>
            <a:ext cx="4305300" cy="2383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432686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3EF34EF-E7E5-4340-B106-7BBA87E7E535}"/>
              </a:ext>
            </a:extLst>
          </p:cNvPr>
          <p:cNvSpPr>
            <a:spLocks noGrp="1"/>
          </p:cNvSpPr>
          <p:nvPr>
            <p:ph idx="1"/>
          </p:nvPr>
        </p:nvSpPr>
        <p:spPr>
          <a:xfrm>
            <a:off x="677334" y="489857"/>
            <a:ext cx="8596668" cy="6057900"/>
          </a:xfrm>
        </p:spPr>
        <p:txBody>
          <a:bodyPr/>
          <a:lstStyle/>
          <a:p>
            <a:r>
              <a:rPr lang="tr-TR" b="1" dirty="0"/>
              <a:t>Duruş Nedir?</a:t>
            </a:r>
          </a:p>
          <a:p>
            <a:r>
              <a:rPr lang="tr-TR" dirty="0"/>
              <a:t>Duruş; kişinin ayakta veya otururken bedenini konumlandırma biçimidir. Bireyin kendine güveni ve ruh hâli hakkında bilgi verir.</a:t>
            </a:r>
          </a:p>
          <a:p>
            <a:r>
              <a:rPr lang="tr-TR" b="1" dirty="0"/>
              <a:t>Duruşun Anlamları</a:t>
            </a:r>
          </a:p>
          <a:p>
            <a:r>
              <a:rPr lang="tr-TR" dirty="0"/>
              <a:t>Dik duruş: Özgüven, ciddiyet</a:t>
            </a:r>
          </a:p>
          <a:p>
            <a:r>
              <a:rPr lang="tr-TR" dirty="0"/>
              <a:t>Öne eğilme: İlgi, dikkat</a:t>
            </a:r>
          </a:p>
          <a:p>
            <a:r>
              <a:rPr lang="tr-TR" dirty="0"/>
              <a:t>Kambur duruş: Güvensizlik, isteksizlik</a:t>
            </a:r>
          </a:p>
          <a:p>
            <a:r>
              <a:rPr lang="tr-TR" dirty="0"/>
              <a:t>Kolları bağlama: Savunma, mesafe koyma</a:t>
            </a:r>
          </a:p>
          <a:p>
            <a:endParaRPr lang="tr-TR" dirty="0"/>
          </a:p>
        </p:txBody>
      </p:sp>
      <p:pic>
        <p:nvPicPr>
          <p:cNvPr id="46082" name="Picture 2" descr="Konuşmanızı Güçlendiren Unsurlar: Doğru Duruş… | IIENSTITU">
            <a:extLst>
              <a:ext uri="{FF2B5EF4-FFF2-40B4-BE49-F238E27FC236}">
                <a16:creationId xmlns:a16="http://schemas.microsoft.com/office/drawing/2014/main" id="{75523E37-52C4-4E02-854C-3D5E3D6483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9174" y="3509281"/>
            <a:ext cx="3384776" cy="2801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7846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EC6B18C-EE5A-4D7C-AD3D-25A0B4185C1A}"/>
              </a:ext>
            </a:extLst>
          </p:cNvPr>
          <p:cNvSpPr>
            <a:spLocks noGrp="1"/>
          </p:cNvSpPr>
          <p:nvPr>
            <p:ph idx="1"/>
          </p:nvPr>
        </p:nvSpPr>
        <p:spPr>
          <a:xfrm>
            <a:off x="677334" y="595993"/>
            <a:ext cx="8596668" cy="5445369"/>
          </a:xfrm>
        </p:spPr>
        <p:txBody>
          <a:bodyPr/>
          <a:lstStyle/>
          <a:p>
            <a:r>
              <a:rPr lang="tr-TR" b="1" dirty="0"/>
              <a:t>İletişimde Önemi</a:t>
            </a:r>
          </a:p>
          <a:p>
            <a:r>
              <a:rPr lang="tr-TR" dirty="0"/>
              <a:t>İlk izlenimi belirler.</a:t>
            </a:r>
          </a:p>
          <a:p>
            <a:r>
              <a:rPr lang="tr-TR" dirty="0"/>
              <a:t>Mesajın ciddiyetini artırır veya azaltır.</a:t>
            </a:r>
          </a:p>
          <a:p>
            <a:r>
              <a:rPr lang="tr-TR" dirty="0"/>
              <a:t>Karşı tarafın iletişime yaklaşımını etkiler.</a:t>
            </a:r>
          </a:p>
          <a:p>
            <a:endParaRPr lang="tr-TR" dirty="0"/>
          </a:p>
        </p:txBody>
      </p:sp>
      <p:pic>
        <p:nvPicPr>
          <p:cNvPr id="47106" name="Picture 2" descr="Etkili iletişim teknikleri ve beden dilinin önemi | Katılım Emeklilik">
            <a:extLst>
              <a:ext uri="{FF2B5EF4-FFF2-40B4-BE49-F238E27FC236}">
                <a16:creationId xmlns:a16="http://schemas.microsoft.com/office/drawing/2014/main" id="{43D4B469-26EA-4E10-9951-372B9CA3CB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1279" y="2628899"/>
            <a:ext cx="4090307" cy="3159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190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FB3D967-FBCC-40A7-AD87-89AF63A0B882}"/>
              </a:ext>
            </a:extLst>
          </p:cNvPr>
          <p:cNvSpPr>
            <a:spLocks noGrp="1"/>
          </p:cNvSpPr>
          <p:nvPr>
            <p:ph idx="1"/>
          </p:nvPr>
        </p:nvSpPr>
        <p:spPr>
          <a:xfrm>
            <a:off x="677334" y="122465"/>
            <a:ext cx="8596668" cy="5918898"/>
          </a:xfrm>
        </p:spPr>
        <p:txBody>
          <a:bodyPr/>
          <a:lstStyle/>
          <a:p>
            <a:r>
              <a:rPr lang="tr-TR" b="1" dirty="0"/>
              <a:t>Mesafe Nedir?</a:t>
            </a:r>
          </a:p>
          <a:p>
            <a:r>
              <a:rPr lang="tr-TR" dirty="0"/>
              <a:t>Mesafe; iletişim kuran kişiler arasındaki fiziksel uzaklıktır. Kültürel, sosyal ve kişisel faktörlere göre değişir.</a:t>
            </a:r>
          </a:p>
          <a:p>
            <a:r>
              <a:rPr lang="tr-TR" b="1" dirty="0"/>
              <a:t>Mesafe Türleri</a:t>
            </a:r>
          </a:p>
          <a:p>
            <a:r>
              <a:rPr lang="tr-TR" b="1" dirty="0"/>
              <a:t>Mahrem Mesafe:</a:t>
            </a:r>
            <a:r>
              <a:rPr lang="tr-TR" dirty="0"/>
              <a:t> Aile ve çok yakın ilişkiler</a:t>
            </a:r>
          </a:p>
          <a:p>
            <a:r>
              <a:rPr lang="tr-TR" b="1" dirty="0"/>
              <a:t>Kişisel Mesafe:</a:t>
            </a:r>
            <a:r>
              <a:rPr lang="tr-TR" dirty="0"/>
              <a:t> Arkadaşlar ve yakın tanıdıklar</a:t>
            </a:r>
          </a:p>
          <a:p>
            <a:r>
              <a:rPr lang="tr-TR" b="1" dirty="0"/>
              <a:t>Sosyal Mesafe:</a:t>
            </a:r>
            <a:r>
              <a:rPr lang="tr-TR" dirty="0"/>
              <a:t> İş ve resmî ilişkiler</a:t>
            </a:r>
          </a:p>
          <a:p>
            <a:r>
              <a:rPr lang="tr-TR" b="1" dirty="0"/>
              <a:t>Kamusal Mesafe:</a:t>
            </a:r>
            <a:r>
              <a:rPr lang="tr-TR" dirty="0"/>
              <a:t> Topluluklara hitap etme</a:t>
            </a:r>
          </a:p>
          <a:p>
            <a:endParaRPr lang="tr-TR" dirty="0"/>
          </a:p>
        </p:txBody>
      </p:sp>
      <p:pic>
        <p:nvPicPr>
          <p:cNvPr id="48130" name="Picture 2" descr="5 maddelik kritik 'sosyal mesafe' uyarısı!">
            <a:extLst>
              <a:ext uri="{FF2B5EF4-FFF2-40B4-BE49-F238E27FC236}">
                <a16:creationId xmlns:a16="http://schemas.microsoft.com/office/drawing/2014/main" id="{17801C2F-6255-4EDD-8681-DAF8985A4E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49" y="3608615"/>
            <a:ext cx="3986893" cy="2432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2344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DA47BC7-848B-4459-B650-A6FC3F4CBF58}"/>
              </a:ext>
            </a:extLst>
          </p:cNvPr>
          <p:cNvSpPr>
            <a:spLocks noGrp="1"/>
          </p:cNvSpPr>
          <p:nvPr>
            <p:ph idx="1"/>
          </p:nvPr>
        </p:nvSpPr>
        <p:spPr>
          <a:xfrm>
            <a:off x="677334" y="571501"/>
            <a:ext cx="8596668" cy="5469862"/>
          </a:xfrm>
        </p:spPr>
        <p:txBody>
          <a:bodyPr/>
          <a:lstStyle/>
          <a:p>
            <a:r>
              <a:rPr lang="tr-TR" b="1" dirty="0"/>
              <a:t>İletişimde Önemi</a:t>
            </a:r>
          </a:p>
          <a:p>
            <a:r>
              <a:rPr lang="tr-TR" dirty="0"/>
              <a:t>Rahatlık ve güven hissi sağlar.</a:t>
            </a:r>
          </a:p>
          <a:p>
            <a:r>
              <a:rPr lang="tr-TR" dirty="0"/>
              <a:t>Uygunsuz mesafe, rahatsızlık ve gerginlik yaratabilir.</a:t>
            </a:r>
          </a:p>
          <a:p>
            <a:r>
              <a:rPr lang="tr-TR" dirty="0"/>
              <a:t>Kültürel farklılıklar mutlaka dikkate alınmalıdır.</a:t>
            </a:r>
          </a:p>
          <a:p>
            <a:endParaRPr lang="tr-TR" dirty="0"/>
          </a:p>
        </p:txBody>
      </p:sp>
      <p:pic>
        <p:nvPicPr>
          <p:cNvPr id="49154" name="Picture 2" descr="Iletişim kişisel sınırlar vektörü kişi kişisel sosyal sınır psikoloji mesafe  iletişim kişisel sınırlar karakteri insanlar siyah çizgi illüstrasyonu |  Premium vektör">
            <a:extLst>
              <a:ext uri="{FF2B5EF4-FFF2-40B4-BE49-F238E27FC236}">
                <a16:creationId xmlns:a16="http://schemas.microsoft.com/office/drawing/2014/main" id="{D74FA497-5858-4113-944A-B7C406264E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2949" y="2753867"/>
            <a:ext cx="4150179" cy="2863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64795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87E912F-E851-4756-8BEA-DA49CDE22454}"/>
              </a:ext>
            </a:extLst>
          </p:cNvPr>
          <p:cNvSpPr>
            <a:spLocks noGrp="1"/>
          </p:cNvSpPr>
          <p:nvPr>
            <p:ph idx="1"/>
          </p:nvPr>
        </p:nvSpPr>
        <p:spPr>
          <a:xfrm>
            <a:off x="677334" y="1779814"/>
            <a:ext cx="8596668" cy="4261548"/>
          </a:xfrm>
        </p:spPr>
        <p:txBody>
          <a:bodyPr/>
          <a:lstStyle/>
          <a:p>
            <a:r>
              <a:rPr lang="tr-TR" b="1" dirty="0"/>
              <a:t>Sözsüz İletişim Unsurlarının Birlikte Kullanımı</a:t>
            </a:r>
          </a:p>
          <a:p>
            <a:r>
              <a:rPr lang="tr-TR" dirty="0"/>
              <a:t>Jest, mimik, göz teması, duruş ve mesafe bir bütün olarak değerlendirilmelidir.</a:t>
            </a:r>
          </a:p>
          <a:p>
            <a:r>
              <a:rPr lang="tr-TR" dirty="0"/>
              <a:t>Bu unsurların uyumlu kullanımı mesajın gücünü artırır.</a:t>
            </a:r>
          </a:p>
          <a:p>
            <a:r>
              <a:rPr lang="tr-TR" dirty="0"/>
              <a:t>Çelişkili sözsüz mesajlar iletişimde güvensizlik yaratır.</a:t>
            </a:r>
          </a:p>
          <a:p>
            <a:endParaRPr lang="tr-TR" dirty="0"/>
          </a:p>
        </p:txBody>
      </p:sp>
      <p:pic>
        <p:nvPicPr>
          <p:cNvPr id="50178" name="Picture 2" descr="Sessiz Kalmak İlişkiyi Bitiriyor, Mesafe Koymak Kurtarıyor!">
            <a:extLst>
              <a:ext uri="{FF2B5EF4-FFF2-40B4-BE49-F238E27FC236}">
                <a16:creationId xmlns:a16="http://schemas.microsoft.com/office/drawing/2014/main" id="{F7F420D9-60DB-42D7-B0DF-47D41F9821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5991" y="3910588"/>
            <a:ext cx="4207329" cy="2433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2353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927B1BA-B6B2-40FE-98FF-C83510E9BA92}"/>
              </a:ext>
            </a:extLst>
          </p:cNvPr>
          <p:cNvSpPr>
            <a:spLocks noGrp="1"/>
          </p:cNvSpPr>
          <p:nvPr>
            <p:ph idx="1"/>
          </p:nvPr>
        </p:nvSpPr>
        <p:spPr>
          <a:xfrm>
            <a:off x="481392" y="1112594"/>
            <a:ext cx="8596668" cy="5394342"/>
          </a:xfrm>
        </p:spPr>
        <p:txBody>
          <a:bodyPr/>
          <a:lstStyle/>
          <a:p>
            <a:r>
              <a:rPr lang="tr-TR" dirty="0"/>
              <a:t>Sözsüz iletişim; jest ve mimikler, göz teması, duruş ve mesafe aracılığıyla güçlü mesajlar iletir. Bu unsurların bilinçli ve doğru kullanımı, iletişimin daha etkili, anlaşılır ve sağlıklı olmasını sağlar. Etkili iletişim kurmak isteyen bireylerin sözsüz iletişim becerilerini geliştirmesi büyük önem taşımaktadır.</a:t>
            </a:r>
          </a:p>
        </p:txBody>
      </p:sp>
      <p:pic>
        <p:nvPicPr>
          <p:cNvPr id="51202" name="Picture 2" descr="İletişim Türleri Nelerdir? İletişim çeşitleri ve şekilleri - Ogesti">
            <a:extLst>
              <a:ext uri="{FF2B5EF4-FFF2-40B4-BE49-F238E27FC236}">
                <a16:creationId xmlns:a16="http://schemas.microsoft.com/office/drawing/2014/main" id="{6B003A14-7437-42D9-A728-4C46A83ED7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393" y="2986088"/>
            <a:ext cx="4678135" cy="3267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957546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A35A2EE2-4640-461A-BE7C-D2D0CBAB433E}"/>
              </a:ext>
            </a:extLst>
          </p:cNvPr>
          <p:cNvSpPr>
            <a:spLocks noGrp="1"/>
          </p:cNvSpPr>
          <p:nvPr>
            <p:ph type="title"/>
          </p:nvPr>
        </p:nvSpPr>
        <p:spPr>
          <a:xfrm>
            <a:off x="677334" y="609600"/>
            <a:ext cx="8596668" cy="966107"/>
          </a:xfrm>
        </p:spPr>
        <p:txBody>
          <a:bodyPr/>
          <a:lstStyle/>
          <a:p>
            <a:r>
              <a:rPr lang="tr-TR" dirty="0"/>
              <a:t>İLETİŞİMDE DİNLEME ve EMPATİ</a:t>
            </a:r>
          </a:p>
        </p:txBody>
      </p:sp>
      <p:sp>
        <p:nvSpPr>
          <p:cNvPr id="3" name="İçerik Yer Tutucusu 2">
            <a:extLst>
              <a:ext uri="{FF2B5EF4-FFF2-40B4-BE49-F238E27FC236}">
                <a16:creationId xmlns:a16="http://schemas.microsoft.com/office/drawing/2014/main" id="{CC9810F4-0F1E-4AF0-88BB-E77363E0907A}"/>
              </a:ext>
            </a:extLst>
          </p:cNvPr>
          <p:cNvSpPr>
            <a:spLocks noGrp="1"/>
          </p:cNvSpPr>
          <p:nvPr>
            <p:ph idx="1"/>
          </p:nvPr>
        </p:nvSpPr>
        <p:spPr>
          <a:xfrm>
            <a:off x="677334" y="1657350"/>
            <a:ext cx="8596668" cy="4384012"/>
          </a:xfrm>
        </p:spPr>
        <p:txBody>
          <a:bodyPr/>
          <a:lstStyle/>
          <a:p>
            <a:r>
              <a:rPr lang="tr-TR" dirty="0"/>
              <a:t>İletişimin amacı, kısaca sorunlarımızı çözmek, gereksinimlerimizi karşılamak olsa gerek. Etkili iletişim nasıl kurulur ve hangi davranışlarımız etkili iletişim olarak tanımlanabilir? Etkili iletişim kurabilmek için öncelikle karşımızdaki kişilere saygı duymak, onların varlığını kabul etmek, onlara değerli olduklarını hissettirmek, onları olduğu gibi benimsemek gereklidir. Abartıdan uzak, olduğu gibi davranmak da bu bağlamda önemlidir. Özellikle de etkili iletişimin temelinde bireyin kendini tanıması, kendi değerlerinin ve tutumlarının farkında olması ve kendine güven etkili bir iletişim kurabilmesinde önemlidir. Bu bağlamda, Kendini tanımak, Kendini açmak ve kendini doğru ifade etmek; Karşımızdakini etkin ve ilgili dinlemek, Empati kurabilmek, Hoşgörülü ve önyargısız olmak, Eleştirilere karşı açık olmak ve Sözsüz iletişim unsurlarını (Beden dili, mekan dili, göz teması gibi) etkili kullanmak bireyin etkili iletişim kurabilmesi için sahip olması gereken beceriler olarak görülmektedir.</a:t>
            </a:r>
          </a:p>
          <a:p>
            <a:endParaRPr lang="tr-TR" dirty="0"/>
          </a:p>
        </p:txBody>
      </p:sp>
    </p:spTree>
    <p:extLst>
      <p:ext uri="{BB962C8B-B14F-4D97-AF65-F5344CB8AC3E}">
        <p14:creationId xmlns:p14="http://schemas.microsoft.com/office/powerpoint/2010/main" val="18035049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0CB3717-6CAE-4912-8B3D-F0C9818E997A}"/>
              </a:ext>
            </a:extLst>
          </p:cNvPr>
          <p:cNvSpPr>
            <a:spLocks noGrp="1"/>
          </p:cNvSpPr>
          <p:nvPr>
            <p:ph idx="1"/>
          </p:nvPr>
        </p:nvSpPr>
        <p:spPr/>
        <p:txBody>
          <a:bodyPr/>
          <a:lstStyle/>
          <a:p>
            <a:r>
              <a:rPr lang="tr-TR" dirty="0"/>
              <a:t>İnsanın yaşamında, konuşmak ve susmak kadar dinlemenin de büyük bir yeri ve önemi vardır hiç kuşkusuz. Bireyin etkili iletişimin kurabilmesindeki en temel becerilerinden bir diğeri de iyi bir dinleyici olabilmesidir. Gerçekten de insanoğluna bahşedilen en önemli armağanlardan biri duyma duyusudur. Ancak çoğunlukla duyma/işitme ve dinleme birbirine karıştırıldığından, konuşan birini sadece duymak yerine, onu dinlemeye odaklanmak etkili iletişimin en önemli unsurudur</a:t>
            </a:r>
          </a:p>
          <a:p>
            <a:endParaRPr lang="tr-TR" dirty="0"/>
          </a:p>
        </p:txBody>
      </p:sp>
      <p:pic>
        <p:nvPicPr>
          <p:cNvPr id="52226" name="Picture 2" descr="Etkili Dinlemenin Önündeki Engeller">
            <a:extLst>
              <a:ext uri="{FF2B5EF4-FFF2-40B4-BE49-F238E27FC236}">
                <a16:creationId xmlns:a16="http://schemas.microsoft.com/office/drawing/2014/main" id="{B230F1FC-30FE-482F-B150-5400B36ABA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0656" y="4314825"/>
            <a:ext cx="2962275"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78305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2BCEDD5-CCC9-4492-AFB9-2CA3557C0420}"/>
              </a:ext>
            </a:extLst>
          </p:cNvPr>
          <p:cNvSpPr>
            <a:spLocks noGrp="1"/>
          </p:cNvSpPr>
          <p:nvPr>
            <p:ph idx="1"/>
          </p:nvPr>
        </p:nvSpPr>
        <p:spPr>
          <a:xfrm>
            <a:off x="677334" y="922563"/>
            <a:ext cx="8596668" cy="5118799"/>
          </a:xfrm>
        </p:spPr>
        <p:txBody>
          <a:bodyPr/>
          <a:lstStyle/>
          <a:p>
            <a:r>
              <a:rPr lang="tr-TR" dirty="0"/>
              <a:t>Olumlu ilişkiler geliştirmede, insanlardan bilgi almada, başkalarını tanımada, anlamada ve onlara yardım etmede en temel öğe etkili dinlemedir. Bu bağlamda da iyi bir dinleyici olmanın ilk adımı dinlemeye istekli olmak ve konuşmacıya ilgi göstermektir. Bir iletişim becerisi olarak dinleme belirli bir eğitim sonucu kazanılabilen ve geliştirilebilen bir beceridir; dinleme düşünsel bir beceridir ve pratikle geliştirilebilir. </a:t>
            </a:r>
          </a:p>
        </p:txBody>
      </p:sp>
      <p:pic>
        <p:nvPicPr>
          <p:cNvPr id="53250" name="Picture 2" descr="Etkili iletişim ve etkili dinleme - Psikoloji - Keyfiniz.com - Zevkli Yaşa!">
            <a:extLst>
              <a:ext uri="{FF2B5EF4-FFF2-40B4-BE49-F238E27FC236}">
                <a16:creationId xmlns:a16="http://schemas.microsoft.com/office/drawing/2014/main" id="{4CC7175F-02B2-4964-A4E7-4318C30D86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5757" y="3053443"/>
            <a:ext cx="5543550" cy="2808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06060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0C7EF70-96B5-4F91-A045-C4F538A4DBD0}"/>
              </a:ext>
            </a:extLst>
          </p:cNvPr>
          <p:cNvSpPr>
            <a:spLocks noGrp="1"/>
          </p:cNvSpPr>
          <p:nvPr>
            <p:ph idx="1"/>
          </p:nvPr>
        </p:nvSpPr>
        <p:spPr>
          <a:xfrm>
            <a:off x="677334" y="775607"/>
            <a:ext cx="8596668" cy="5265755"/>
          </a:xfrm>
        </p:spPr>
        <p:txBody>
          <a:bodyPr/>
          <a:lstStyle/>
          <a:p>
            <a:r>
              <a:rPr lang="tr-TR" dirty="0"/>
              <a:t>Bu doğrultuda, söylenenleri tam olarak anlayabilme, dinledikleri arasında neden-sonuç ilişkisi kurabilme, dinlediği konuşmanın ana düşüncesini kavrayabilme, dinlediğinin eksik, yanlış, abartılı, yararlı gibi yönlerini seçebilme, dinlediklerini tarafsız bir biçimde değerlendirebilme, dinlediklerine karşı hoşgörü duygusu geliştirebilme söz konusu eğitim için bireyin yapması gerekenlerdir. Gerçekten de dinlemek karşınızdaki kişiye “ Sana saygı duyuyorum”, “Sana değer veriyorum ” mesajı vermenin en iyi yoludur.</a:t>
            </a:r>
          </a:p>
          <a:p>
            <a:endParaRPr lang="tr-TR" dirty="0"/>
          </a:p>
        </p:txBody>
      </p:sp>
      <p:pic>
        <p:nvPicPr>
          <p:cNvPr id="54274" name="Picture 2" descr="İnsana ait becerilerden 'Etkili Dinleme' - Galeri - Fikriyat Gazetesi">
            <a:extLst>
              <a:ext uri="{FF2B5EF4-FFF2-40B4-BE49-F238E27FC236}">
                <a16:creationId xmlns:a16="http://schemas.microsoft.com/office/drawing/2014/main" id="{4C969F22-6472-4469-8706-2655CEB1E0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0054" y="3275921"/>
            <a:ext cx="3512003" cy="2471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24569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533740B-F0C8-4EB0-A5BF-04FA7A53F438}"/>
              </a:ext>
            </a:extLst>
          </p:cNvPr>
          <p:cNvSpPr>
            <a:spLocks noGrp="1"/>
          </p:cNvSpPr>
          <p:nvPr>
            <p:ph idx="1"/>
          </p:nvPr>
        </p:nvSpPr>
        <p:spPr>
          <a:xfrm>
            <a:off x="677334" y="661307"/>
            <a:ext cx="8596668" cy="5380055"/>
          </a:xfrm>
        </p:spPr>
        <p:txBody>
          <a:bodyPr/>
          <a:lstStyle/>
          <a:p>
            <a:r>
              <a:rPr lang="tr-TR" dirty="0"/>
              <a:t>Gerçekten de dinlemek zor iştir ve daha fazla enerji gerektirir. Kalp hızlanır, kan dolaşımı hızlanır, vücut ısısı yükselir. Dinlemek çok basit süreç değildir. Çünkü kişinin duyduğu bellekten hızla silinir. 10 dakikalık sözel bir sunumdan sonra, ortalama bir dinleyicide bunun % 50’si kalır. 8 saat geçtikten sonra, ortalama bir dinleyici konuşulanın sadece % 25’ini anımsayabilir. Etkili bir iletişim için bu nedenle bireyin anlayabilmek için dinleme sürecini etkin ve etkili bir biçimde yaşaması gereklidir. Ancak ne yazık ki, dinlerken "anlamak" her zaman gerçekleşmeyebilmektedir. Yanlış anlama ve anlaşılmalar, iletişim kazaları da ortaya çıkabilmektedir. Bunu önlemenin en iyi yolu, dinleyenin geri bildirimde bulunmasıdır. Ancak bu durumda etkin dinlemeden söz edilebilir.</a:t>
            </a:r>
          </a:p>
          <a:p>
            <a:endParaRPr lang="tr-TR" dirty="0"/>
          </a:p>
        </p:txBody>
      </p:sp>
      <p:pic>
        <p:nvPicPr>
          <p:cNvPr id="55298" name="Picture 2" descr="İletişimde Dinleme Türleri Nelerdir? - londrakapitalistanbul.com">
            <a:extLst>
              <a:ext uri="{FF2B5EF4-FFF2-40B4-BE49-F238E27FC236}">
                <a16:creationId xmlns:a16="http://schemas.microsoft.com/office/drawing/2014/main" id="{F77A7DFC-3345-4650-90D2-E8F0C60821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6431" y="3802517"/>
            <a:ext cx="4116840" cy="2459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2847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34E66C3-8DC1-49A6-A128-85B9FACF9680}"/>
              </a:ext>
            </a:extLst>
          </p:cNvPr>
          <p:cNvSpPr>
            <a:spLocks noGrp="1"/>
          </p:cNvSpPr>
          <p:nvPr>
            <p:ph idx="1"/>
          </p:nvPr>
        </p:nvSpPr>
        <p:spPr>
          <a:xfrm>
            <a:off x="677334" y="1690007"/>
            <a:ext cx="8596668" cy="4351355"/>
          </a:xfrm>
        </p:spPr>
        <p:txBody>
          <a:bodyPr>
            <a:normAutofit/>
          </a:bodyPr>
          <a:lstStyle/>
          <a:p>
            <a:pPr marL="0" indent="0">
              <a:buNone/>
            </a:pPr>
            <a:r>
              <a:rPr lang="tr-TR" dirty="0"/>
              <a:t>Öte yandan, etkili bir dinleme süreci 3 temel gerekliliği de içermektedir: Dikkat, anlama ve kabul etme. Bu doğrultuda, etkili bir biçimde dinlemenin gerekleri aşağıdaki gibi belirtilebilir</a:t>
            </a:r>
          </a:p>
          <a:p>
            <a:r>
              <a:rPr lang="tr-TR" dirty="0"/>
              <a:t>1. Dinleyici bütün dikkatini konuşan kişiye vermeli ve bütün varlığıyla orada olmalıdır. </a:t>
            </a:r>
          </a:p>
          <a:p>
            <a:r>
              <a:rPr lang="tr-TR" dirty="0"/>
              <a:t>2. Dinleyici, konuşan kişinin söyleyeceği şeyler hakkında tahminde bulunmayı bir kenara bırakmalıdır. 3. Dinleyici, yorumlarını neler olduğunu açıklayan ancak yargılamayan bir yaklaşımla yapmalıdır. </a:t>
            </a:r>
          </a:p>
          <a:p>
            <a:r>
              <a:rPr lang="tr-TR" dirty="0"/>
              <a:t>4. Dinleyici, herhangi bir karışıklığı açıklığa kavuşturmak için soru sormaya hazır olmalıdır.</a:t>
            </a:r>
          </a:p>
          <a:p>
            <a:r>
              <a:rPr lang="tr-TR" dirty="0"/>
              <a:t> 5. Dinleyici, konuşan kişiye dinlediğini ve anlattığı şeylerin algılandığını hissettirmelidir. </a:t>
            </a:r>
          </a:p>
        </p:txBody>
      </p:sp>
    </p:spTree>
    <p:extLst>
      <p:ext uri="{BB962C8B-B14F-4D97-AF65-F5344CB8AC3E}">
        <p14:creationId xmlns:p14="http://schemas.microsoft.com/office/powerpoint/2010/main" val="61026122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521035F-27BC-4A92-9335-FC92A82E84A9}"/>
              </a:ext>
            </a:extLst>
          </p:cNvPr>
          <p:cNvSpPr>
            <a:spLocks noGrp="1"/>
          </p:cNvSpPr>
          <p:nvPr>
            <p:ph idx="1"/>
          </p:nvPr>
        </p:nvSpPr>
        <p:spPr/>
        <p:txBody>
          <a:bodyPr>
            <a:normAutofit lnSpcReduction="10000"/>
          </a:bodyPr>
          <a:lstStyle/>
          <a:p>
            <a:pPr marL="0" indent="0">
              <a:buNone/>
            </a:pPr>
            <a:r>
              <a:rPr lang="tr-TR" dirty="0"/>
              <a:t>Genel olarak iki tür dinlemeden söz edilmektedir: Edilgin dinleme ve Etkin dinleme :</a:t>
            </a:r>
          </a:p>
          <a:p>
            <a:r>
              <a:rPr lang="tr-TR" b="1" dirty="0"/>
              <a:t>Edilgin dinleme </a:t>
            </a:r>
            <a:r>
              <a:rPr lang="tr-TR" dirty="0"/>
              <a:t>sözel tepki vermeden, mesajı yollayan kişiyi dinlemektir. Belki baş sallayarak, karşıdaki kişiye “Seni dinliyorum, anlat” mesajı örtük bir biçimde ulaşabilir. Ancak, etkin dinlemede olduğu gibi mesajı yollayan kişinin kendini anlayıp, anlamadığını kestiremez. Edilgin dinlemede mesajı alan kişi mesajı emer. Edilgin dinleme bir araçtır, ancak yeterli değildir. Sessizliğin de örneğin beden diliyle desteklenmesi gereklidir. Oysa Etkin dinleme </a:t>
            </a:r>
            <a:r>
              <a:rPr lang="tr-TR" dirty="0" err="1"/>
              <a:t>empatik</a:t>
            </a:r>
            <a:r>
              <a:rPr lang="tr-TR" dirty="0"/>
              <a:t> anlayışla aynı şeydir. </a:t>
            </a:r>
            <a:r>
              <a:rPr lang="tr-TR" dirty="0" err="1"/>
              <a:t>Empatik</a:t>
            </a:r>
            <a:r>
              <a:rPr lang="tr-TR" dirty="0"/>
              <a:t> anlayışla etkin dinlenirse, kişi karşısındakinin sorununu çözebilir. Dinleyici edilgin bir biçimde sözcükleri emmez, duyduklarında saklı olan duygu ve gerçekleri etkin olarak elde etmeğe çalışır ve konuşana sorunu çözmesi için dinleyerek yardım eder.</a:t>
            </a:r>
          </a:p>
          <a:p>
            <a:r>
              <a:rPr lang="tr-TR" dirty="0"/>
              <a:t> </a:t>
            </a:r>
          </a:p>
          <a:p>
            <a:endParaRPr lang="tr-TR" dirty="0"/>
          </a:p>
        </p:txBody>
      </p:sp>
    </p:spTree>
    <p:extLst>
      <p:ext uri="{BB962C8B-B14F-4D97-AF65-F5344CB8AC3E}">
        <p14:creationId xmlns:p14="http://schemas.microsoft.com/office/powerpoint/2010/main" val="30333182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8EC95750-2109-44D4-A935-FEDA307E3545}"/>
              </a:ext>
            </a:extLst>
          </p:cNvPr>
          <p:cNvSpPr>
            <a:spLocks noGrp="1"/>
          </p:cNvSpPr>
          <p:nvPr>
            <p:ph type="title"/>
          </p:nvPr>
        </p:nvSpPr>
        <p:spPr/>
        <p:txBody>
          <a:bodyPr>
            <a:noAutofit/>
          </a:bodyPr>
          <a:lstStyle/>
          <a:p>
            <a:r>
              <a:rPr lang="tr-TR" sz="2400" dirty="0"/>
              <a:t>Son olarak dinleme becerisinin niteliğini artıran ya da azaltan etkili ve etkisiz sözel olmayan davranışlar aşağıdaki tabloda yer almaktadır:</a:t>
            </a:r>
            <a:br>
              <a:rPr lang="tr-TR" sz="2400" dirty="0"/>
            </a:br>
            <a:endParaRPr lang="tr-TR" sz="2400" dirty="0"/>
          </a:p>
        </p:txBody>
      </p:sp>
      <p:pic>
        <p:nvPicPr>
          <p:cNvPr id="4" name="İçerik Yer Tutucusu 3">
            <a:extLst>
              <a:ext uri="{FF2B5EF4-FFF2-40B4-BE49-F238E27FC236}">
                <a16:creationId xmlns:a16="http://schemas.microsoft.com/office/drawing/2014/main" id="{1572C4BD-768D-4108-8CA8-88D814EFB9BA}"/>
              </a:ext>
            </a:extLst>
          </p:cNvPr>
          <p:cNvPicPr>
            <a:picLocks noGrp="1"/>
          </p:cNvPicPr>
          <p:nvPr>
            <p:ph idx="1"/>
          </p:nvPr>
        </p:nvPicPr>
        <p:blipFill>
          <a:blip r:embed="rId2"/>
          <a:stretch>
            <a:fillRect/>
          </a:stretch>
        </p:blipFill>
        <p:spPr>
          <a:xfrm>
            <a:off x="1582492" y="2160588"/>
            <a:ext cx="6787053" cy="3881437"/>
          </a:xfrm>
          <a:prstGeom prst="rect">
            <a:avLst/>
          </a:prstGeom>
        </p:spPr>
      </p:pic>
    </p:spTree>
    <p:extLst>
      <p:ext uri="{BB962C8B-B14F-4D97-AF65-F5344CB8AC3E}">
        <p14:creationId xmlns:p14="http://schemas.microsoft.com/office/powerpoint/2010/main" val="272186370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a:extLst>
              <a:ext uri="{FF2B5EF4-FFF2-40B4-BE49-F238E27FC236}">
                <a16:creationId xmlns:a16="http://schemas.microsoft.com/office/drawing/2014/main" id="{EFA6C972-D4BC-4053-B60F-8E9F2D9CA656}"/>
              </a:ext>
            </a:extLst>
          </p:cNvPr>
          <p:cNvPicPr>
            <a:picLocks noGrp="1"/>
          </p:cNvPicPr>
          <p:nvPr>
            <p:ph idx="1"/>
          </p:nvPr>
        </p:nvPicPr>
        <p:blipFill>
          <a:blip r:embed="rId2"/>
          <a:stretch>
            <a:fillRect/>
          </a:stretch>
        </p:blipFill>
        <p:spPr>
          <a:xfrm>
            <a:off x="677863" y="2934135"/>
            <a:ext cx="8596312" cy="2334343"/>
          </a:xfrm>
          <a:prstGeom prst="rect">
            <a:avLst/>
          </a:prstGeom>
        </p:spPr>
      </p:pic>
    </p:spTree>
    <p:extLst>
      <p:ext uri="{BB962C8B-B14F-4D97-AF65-F5344CB8AC3E}">
        <p14:creationId xmlns:p14="http://schemas.microsoft.com/office/powerpoint/2010/main" val="402015456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BF4FF717-EF29-438D-B2F0-D4B300865294}"/>
              </a:ext>
            </a:extLst>
          </p:cNvPr>
          <p:cNvSpPr>
            <a:spLocks noGrp="1"/>
          </p:cNvSpPr>
          <p:nvPr>
            <p:ph type="title"/>
          </p:nvPr>
        </p:nvSpPr>
        <p:spPr/>
        <p:txBody>
          <a:bodyPr/>
          <a:lstStyle/>
          <a:p>
            <a:r>
              <a:rPr lang="tr-TR" dirty="0"/>
              <a:t>EMPATİ VE İLETİŞİM</a:t>
            </a:r>
          </a:p>
        </p:txBody>
      </p:sp>
      <p:pic>
        <p:nvPicPr>
          <p:cNvPr id="56322" name="Picture 2" descr="İletişimde Empati Neden Önemlidir? - Terapi Evreni">
            <a:extLst>
              <a:ext uri="{FF2B5EF4-FFF2-40B4-BE49-F238E27FC236}">
                <a16:creationId xmlns:a16="http://schemas.microsoft.com/office/drawing/2014/main" id="{0A63A8B3-3601-4111-BE90-7A3EBC5D175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2212520"/>
            <a:ext cx="6000750" cy="4188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08333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404B1EB-DC43-43DA-B470-7D2E206E6D31}"/>
              </a:ext>
            </a:extLst>
          </p:cNvPr>
          <p:cNvSpPr>
            <a:spLocks noGrp="1"/>
          </p:cNvSpPr>
          <p:nvPr>
            <p:ph idx="1"/>
          </p:nvPr>
        </p:nvSpPr>
        <p:spPr/>
        <p:txBody>
          <a:bodyPr/>
          <a:lstStyle/>
          <a:p>
            <a:pPr marL="0" indent="0">
              <a:buNone/>
            </a:pPr>
            <a:r>
              <a:rPr lang="tr-TR" dirty="0"/>
              <a:t>Empati bir insanın kendisini karşısındaki insanın yerine koyarak onun duygularını ve düşüncelerini doğru olarak anlamasıdır.</a:t>
            </a:r>
          </a:p>
          <a:p>
            <a:pPr marL="0" indent="0">
              <a:buNone/>
            </a:pPr>
            <a:endParaRPr lang="tr-TR" dirty="0"/>
          </a:p>
          <a:p>
            <a:pPr marL="0" indent="0">
              <a:buNone/>
            </a:pPr>
            <a:r>
              <a:rPr lang="tr-TR" dirty="0"/>
              <a:t>Empati insan ilişkilerinin sürekliliği açısından önemli bir etmendir. İnsanların karşısındaki kişiyle empati kurabiliyor olmaları iletişimin başladığını ve alıcının kaynağı algılamaya çalıştığını ve etkili bir dinleme gerçekleştirdiğinin göstergesidir.</a:t>
            </a:r>
          </a:p>
        </p:txBody>
      </p:sp>
    </p:spTree>
    <p:extLst>
      <p:ext uri="{BB962C8B-B14F-4D97-AF65-F5344CB8AC3E}">
        <p14:creationId xmlns:p14="http://schemas.microsoft.com/office/powerpoint/2010/main" val="30576693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8A887ED-B200-4936-890C-1BBCE6703521}"/>
              </a:ext>
            </a:extLst>
          </p:cNvPr>
          <p:cNvSpPr>
            <a:spLocks noGrp="1"/>
          </p:cNvSpPr>
          <p:nvPr>
            <p:ph idx="1"/>
          </p:nvPr>
        </p:nvSpPr>
        <p:spPr>
          <a:xfrm>
            <a:off x="677334" y="449037"/>
            <a:ext cx="8596668" cy="5592326"/>
          </a:xfrm>
        </p:spPr>
        <p:txBody>
          <a:bodyPr/>
          <a:lstStyle/>
          <a:p>
            <a:r>
              <a:rPr lang="tr-TR" dirty="0"/>
              <a:t>İnsan gelişimi ve ruh sağlığı için gerekli olan empati etkili iletişimin en temel öğesidir. Empati /</a:t>
            </a:r>
            <a:r>
              <a:rPr lang="tr-TR" dirty="0" err="1"/>
              <a:t>eşduyum</a:t>
            </a:r>
            <a:r>
              <a:rPr lang="tr-TR" dirty="0"/>
              <a:t>/duygudaşlık bir başkasının duyguları, içinde bulunduğu durum ya da davranışlarındaki güdüyü anlamak ve içselleştirmek anlamına gelmektedir. Genellikle empati ve sempati kavramları birbirine karıştırılmaktadır. Oysa bir insana sempati duymak, o insanın duygu ve düşüncelerine sahip olmaktır. Sempatide yandaş olmak esastır, yakınlık duymak söz konusudur. Empatide ise duygu ve düşünceler anlaşılmaya çalışılmaktadır. </a:t>
            </a:r>
          </a:p>
        </p:txBody>
      </p:sp>
      <p:pic>
        <p:nvPicPr>
          <p:cNvPr id="57348" name="Picture 4" descr="Sınav Eğitim Kurumları">
            <a:extLst>
              <a:ext uri="{FF2B5EF4-FFF2-40B4-BE49-F238E27FC236}">
                <a16:creationId xmlns:a16="http://schemas.microsoft.com/office/drawing/2014/main" id="{00CECA65-F2CE-49DC-A6AA-AFCA566458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1943" y="3082699"/>
            <a:ext cx="5159828" cy="3179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2002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5576126-202E-4BFA-B99E-DD135F678E2D}"/>
              </a:ext>
            </a:extLst>
          </p:cNvPr>
          <p:cNvSpPr>
            <a:spLocks noGrp="1"/>
          </p:cNvSpPr>
          <p:nvPr>
            <p:ph idx="1"/>
          </p:nvPr>
        </p:nvSpPr>
        <p:spPr>
          <a:xfrm>
            <a:off x="677334" y="383721"/>
            <a:ext cx="8596668" cy="5657642"/>
          </a:xfrm>
        </p:spPr>
        <p:txBody>
          <a:bodyPr/>
          <a:lstStyle/>
          <a:p>
            <a:r>
              <a:rPr lang="tr-TR" dirty="0"/>
              <a:t>Empati gerçekleşmesi için gerekli olan üç temel öğe </a:t>
            </a:r>
            <a:r>
              <a:rPr lang="tr-TR" dirty="0" err="1"/>
              <a:t>Rogers’e</a:t>
            </a:r>
            <a:r>
              <a:rPr lang="tr-TR" dirty="0"/>
              <a:t> göre </a:t>
            </a:r>
          </a:p>
          <a:p>
            <a:r>
              <a:rPr lang="tr-TR" dirty="0"/>
              <a:t>1. Bir insanın kendisini karşısındaki kişinin yerine koyarak olaylara onun bakış açısıyla bakmak, </a:t>
            </a:r>
          </a:p>
          <a:p>
            <a:r>
              <a:rPr lang="tr-TR" dirty="0"/>
              <a:t>2. Karşıdakinin duygu ve düşüncelerini doğru olarak anlamak ve hissetmek, </a:t>
            </a:r>
          </a:p>
          <a:p>
            <a:r>
              <a:rPr lang="tr-TR" dirty="0"/>
              <a:t>3. O kişiyi anladığını ona ifade etmek. </a:t>
            </a:r>
          </a:p>
          <a:p>
            <a:pPr marL="0" indent="0">
              <a:buNone/>
            </a:pPr>
            <a:endParaRPr lang="tr-TR" dirty="0"/>
          </a:p>
          <a:p>
            <a:pPr marL="0" indent="0">
              <a:buNone/>
            </a:pPr>
            <a:r>
              <a:rPr lang="tr-TR" dirty="0"/>
              <a:t>Bu bağlamda, empati, ÜSTÜN </a:t>
            </a:r>
            <a:r>
              <a:rPr lang="tr-TR" dirty="0" err="1"/>
              <a:t>Dökmen’e</a:t>
            </a:r>
            <a:r>
              <a:rPr lang="tr-TR" dirty="0"/>
              <a:t> göre, bir kişinin kendisini karşısındaki kişinin yerine koyarak olaylara onun bakış açısıyla bakması, hissetmesi ve bu durumu ona iletmesi sürecidir.</a:t>
            </a:r>
          </a:p>
          <a:p>
            <a:endParaRPr lang="tr-TR" dirty="0"/>
          </a:p>
        </p:txBody>
      </p:sp>
      <p:pic>
        <p:nvPicPr>
          <p:cNvPr id="58370" name="Picture 2" descr="Empati Nedir ve Neden Gereklidir? - Mutlu Yaşam Danışmanlık">
            <a:extLst>
              <a:ext uri="{FF2B5EF4-FFF2-40B4-BE49-F238E27FC236}">
                <a16:creationId xmlns:a16="http://schemas.microsoft.com/office/drawing/2014/main" id="{815B157A-9068-4AC7-9F05-F55D542F80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3007" y="3701143"/>
            <a:ext cx="4049485" cy="2503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40995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33381CD-6741-45CA-81D0-5BDFE65E38EC}"/>
              </a:ext>
            </a:extLst>
          </p:cNvPr>
          <p:cNvSpPr>
            <a:spLocks noGrp="1"/>
          </p:cNvSpPr>
          <p:nvPr>
            <p:ph idx="1"/>
          </p:nvPr>
        </p:nvSpPr>
        <p:spPr/>
        <p:txBody>
          <a:bodyPr/>
          <a:lstStyle/>
          <a:p>
            <a:r>
              <a:rPr lang="tr-TR" dirty="0"/>
              <a:t>Doğru ve etkili bir iletişim kurabilmek demek, bir zincirin halkaları gibi birbirini bütünleyen pek çok etkeni bir araya getirebilmekle olanaklıdır ki bu bağlamda da bireyde bulunması gereken özelliklerden en önemlisi empatidir. Işık’a göre, empatinin birbiriyle ilintili temel unsurları vardır İlk unsur, içinde yer aldığımız topluluktaki herkes birbirinden farklıdır. Gerçekten de her insan bir başkasına göre farklı düşünebilmektedir ve bu düşüncesinin doğrultusunda farklı hisler taşıyabilmektedir. İnsan karşındakini anlayabilir ve duygularını analiz edebilirse o zaman etkili ve sağlıklı bir iletişim kurabilir, istediği hedefe kolayca ulaşabilir. Empatinin birinci kuralı bu bağlamda, insanın karşısındakini anlamaktır. Empati bir yetenektir geliştirilip güçlendirilebilir</a:t>
            </a:r>
          </a:p>
          <a:p>
            <a:endParaRPr lang="tr-TR" dirty="0"/>
          </a:p>
        </p:txBody>
      </p:sp>
    </p:spTree>
    <p:extLst>
      <p:ext uri="{BB962C8B-B14F-4D97-AF65-F5344CB8AC3E}">
        <p14:creationId xmlns:p14="http://schemas.microsoft.com/office/powerpoint/2010/main" val="404680135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0AE5FCC-7CF3-49CD-9BA7-F5DA84C9B953}"/>
              </a:ext>
            </a:extLst>
          </p:cNvPr>
          <p:cNvSpPr>
            <a:spLocks noGrp="1"/>
          </p:cNvSpPr>
          <p:nvPr>
            <p:ph idx="1"/>
          </p:nvPr>
        </p:nvSpPr>
        <p:spPr/>
        <p:txBody>
          <a:bodyPr/>
          <a:lstStyle/>
          <a:p>
            <a:r>
              <a:rPr lang="tr-TR" dirty="0"/>
              <a:t>Ayrıca, etkili bir iletişim kurulabilmesi için mesajın doğru olması yetmez; doğru bir zamanda alıcısına ulaşması, alıcısının da bu mesajı almaya hazır olması gereklidir. Bu noktada, birey diğerlerini anladığını içten bir biçimde dile getirmelidir çünkü içtenlik empatinin vazgeçilmez kritik eşiğidir. </a:t>
            </a:r>
          </a:p>
        </p:txBody>
      </p:sp>
      <p:pic>
        <p:nvPicPr>
          <p:cNvPr id="60418" name="Picture 2" descr="Empati Nedir? - Renas Psikoloji">
            <a:extLst>
              <a:ext uri="{FF2B5EF4-FFF2-40B4-BE49-F238E27FC236}">
                <a16:creationId xmlns:a16="http://schemas.microsoft.com/office/drawing/2014/main" id="{72114173-500D-4A68-AD55-E1B49006C5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5213" y="3861707"/>
            <a:ext cx="3643993" cy="2506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50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5B56622-F925-41AC-A4B8-368E6A2AC4BB}"/>
              </a:ext>
            </a:extLst>
          </p:cNvPr>
          <p:cNvSpPr>
            <a:spLocks noGrp="1"/>
          </p:cNvSpPr>
          <p:nvPr>
            <p:ph idx="1"/>
          </p:nvPr>
        </p:nvSpPr>
        <p:spPr/>
        <p:txBody>
          <a:bodyPr>
            <a:normAutofit/>
          </a:bodyPr>
          <a:lstStyle/>
          <a:p>
            <a:r>
              <a:rPr lang="tr-TR" dirty="0"/>
              <a:t>Öte yandan empati birine benzemek kavramından çok farklıdır çünkü birine benzemek onun gibi olmaktır. Oysa, empati, kendi kimliğini, kişiliğini koruyarak bir başkasını anlayabilme becerisidir. Bu nedenle, insan karşısındakini anlamalı, onun hislerine tercüman olmalıdır. Ancak, etkili bir iletişim için insanın karşısındakini anlaması yeterli değildir; onu anladığını ifade edebilme yeteneğine de sahip olması gereklidir. Ayrıca, etkili bir iletişim için beden dili ve ses de kullanılarak mesaj alıcısına ulaştırılmalıdır. İnsanın diğerlerinin hissettiklerini, bir topluluğun beklentilerini anladığını, onlarla empati kurduğunu göstermesinin en etkili yolu, içten duygularını dile getirmek, jest ve mimiklerle bu içten duyguları desteklediğini ortaya koymaktır. Demek ki empatinin birinci kuralı anlamaksa ikinci kuralı anlaşılan şeyi gerçekleştirmek için gerekli ortamı hazırlayabilmektir. </a:t>
            </a:r>
          </a:p>
        </p:txBody>
      </p:sp>
    </p:spTree>
    <p:extLst>
      <p:ext uri="{BB962C8B-B14F-4D97-AF65-F5344CB8AC3E}">
        <p14:creationId xmlns:p14="http://schemas.microsoft.com/office/powerpoint/2010/main" val="82373657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948FE58-1308-445E-8D78-416EDB538014}"/>
              </a:ext>
            </a:extLst>
          </p:cNvPr>
          <p:cNvSpPr>
            <a:spLocks noGrp="1"/>
          </p:cNvSpPr>
          <p:nvPr>
            <p:ph idx="1"/>
          </p:nvPr>
        </p:nvSpPr>
        <p:spPr>
          <a:xfrm>
            <a:off x="1118205" y="1083601"/>
            <a:ext cx="8596668" cy="4966135"/>
          </a:xfrm>
        </p:spPr>
        <p:txBody>
          <a:bodyPr/>
          <a:lstStyle/>
          <a:p>
            <a:r>
              <a:rPr lang="tr-TR" dirty="0"/>
              <a:t>Empatiye ilişkin son nokta insanın karşındakini anladığı kadar, anladığını kendisine anlatabilmesidir.</a:t>
            </a:r>
          </a:p>
          <a:p>
            <a:endParaRPr lang="tr-TR" dirty="0"/>
          </a:p>
        </p:txBody>
      </p:sp>
      <p:pic>
        <p:nvPicPr>
          <p:cNvPr id="59394" name="Picture 2" descr="SOSYAL EMPATİ - Başkalarını Anlama Sanatı">
            <a:extLst>
              <a:ext uri="{FF2B5EF4-FFF2-40B4-BE49-F238E27FC236}">
                <a16:creationId xmlns:a16="http://schemas.microsoft.com/office/drawing/2014/main" id="{F2B0D190-AB50-43A1-ACFA-B0008AD208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179" y="2316617"/>
            <a:ext cx="6041571" cy="3496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36960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415530BD-379E-4D76-BAE6-57DF6B294B41}"/>
              </a:ext>
            </a:extLst>
          </p:cNvPr>
          <p:cNvSpPr>
            <a:spLocks noGrp="1"/>
          </p:cNvSpPr>
          <p:nvPr>
            <p:ph type="title"/>
          </p:nvPr>
        </p:nvSpPr>
        <p:spPr/>
        <p:txBody>
          <a:bodyPr/>
          <a:lstStyle/>
          <a:p>
            <a:r>
              <a:rPr lang="tr-TR" dirty="0"/>
              <a:t>POLİSLİK MESLEĞİNDE EMPATİNİN ÖNEMİ </a:t>
            </a:r>
          </a:p>
        </p:txBody>
      </p:sp>
      <p:sp>
        <p:nvSpPr>
          <p:cNvPr id="3" name="İçerik Yer Tutucusu 2">
            <a:extLst>
              <a:ext uri="{FF2B5EF4-FFF2-40B4-BE49-F238E27FC236}">
                <a16:creationId xmlns:a16="http://schemas.microsoft.com/office/drawing/2014/main" id="{D669A8BB-6D83-486C-BFF0-0687F20C8AE0}"/>
              </a:ext>
            </a:extLst>
          </p:cNvPr>
          <p:cNvSpPr>
            <a:spLocks noGrp="1"/>
          </p:cNvSpPr>
          <p:nvPr>
            <p:ph idx="1"/>
          </p:nvPr>
        </p:nvSpPr>
        <p:spPr>
          <a:xfrm>
            <a:off x="677334" y="1714501"/>
            <a:ext cx="8596668" cy="4326862"/>
          </a:xfrm>
        </p:spPr>
        <p:txBody>
          <a:bodyPr/>
          <a:lstStyle/>
          <a:p>
            <a:r>
              <a:rPr lang="tr-TR" dirty="0"/>
              <a:t>Empati; bir başkasının duygu, düşünce ve yaşadığı durumu </a:t>
            </a:r>
            <a:r>
              <a:rPr lang="tr-TR" b="1" dirty="0"/>
              <a:t>kendi bakış açısını kaybetmeden</a:t>
            </a:r>
            <a:r>
              <a:rPr lang="tr-TR" dirty="0"/>
              <a:t>, onun perspektifinden anlamaya çalışmaktır. Empati kuran birey, karşısındakinin ne hissettiğini anlamaya çalışır; yargılamadan dinler ve buna uygun davranış geliştirir. Empati, özellikle insanla birebir temas hâlinde olunan mesleklerde vazgeçilmez bir iletişim becerisidir.</a:t>
            </a:r>
          </a:p>
          <a:p>
            <a:endParaRPr lang="tr-TR" dirty="0"/>
          </a:p>
          <a:p>
            <a:r>
              <a:rPr lang="tr-TR" dirty="0"/>
              <a:t>Polislik; yalnızca suçla mücadele değil, aynı zamanda </a:t>
            </a:r>
            <a:r>
              <a:rPr lang="tr-TR" b="1" dirty="0"/>
              <a:t>toplumla sürekli ve doğrudan iletişim kurulan</a:t>
            </a:r>
            <a:r>
              <a:rPr lang="tr-TR" dirty="0"/>
              <a:t> bir kamu hizmetidir. Polisler; mağdur, şüpheli, tanık, çocuk, yaşlı, engelli ve psikolojik olarak zor durumda olan bireylerle sıkça karşılaşır. Bu nedenle empati, polislik mesleğinde </a:t>
            </a:r>
            <a:r>
              <a:rPr lang="tr-TR" b="1" dirty="0"/>
              <a:t>etkili iletişimin ve mesleki başarının temel unsurlarından biridir.</a:t>
            </a:r>
            <a:endParaRPr lang="tr-TR" dirty="0"/>
          </a:p>
        </p:txBody>
      </p:sp>
    </p:spTree>
    <p:extLst>
      <p:ext uri="{BB962C8B-B14F-4D97-AF65-F5344CB8AC3E}">
        <p14:creationId xmlns:p14="http://schemas.microsoft.com/office/powerpoint/2010/main" val="148884049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A757F90-FFF9-4219-81B6-473D1AA49F77}"/>
              </a:ext>
            </a:extLst>
          </p:cNvPr>
          <p:cNvSpPr>
            <a:spLocks noGrp="1"/>
          </p:cNvSpPr>
          <p:nvPr>
            <p:ph idx="1"/>
          </p:nvPr>
        </p:nvSpPr>
        <p:spPr>
          <a:xfrm>
            <a:off x="677334" y="1477737"/>
            <a:ext cx="8596668" cy="4563626"/>
          </a:xfrm>
        </p:spPr>
        <p:txBody>
          <a:bodyPr/>
          <a:lstStyle/>
          <a:p>
            <a:r>
              <a:rPr lang="tr-TR" b="1" dirty="0"/>
              <a:t>Polislikte Empatinin Önemi</a:t>
            </a:r>
          </a:p>
          <a:p>
            <a:r>
              <a:rPr lang="tr-TR" dirty="0"/>
              <a:t>Empatinin polislik mesleğinde önemli olmasının başlıca nedenleri şunlardır:</a:t>
            </a:r>
          </a:p>
          <a:p>
            <a:r>
              <a:rPr lang="tr-TR" dirty="0"/>
              <a:t>Vatandaş ile polis arasındaki </a:t>
            </a:r>
            <a:r>
              <a:rPr lang="tr-TR" b="1" dirty="0"/>
              <a:t>güveni artırır</a:t>
            </a:r>
            <a:r>
              <a:rPr lang="tr-TR" dirty="0"/>
              <a:t>.</a:t>
            </a:r>
          </a:p>
          <a:p>
            <a:r>
              <a:rPr lang="tr-TR" dirty="0"/>
              <a:t>Olayların </a:t>
            </a:r>
            <a:r>
              <a:rPr lang="tr-TR" b="1" dirty="0"/>
              <a:t>barışçıl yollarla çözülmesini</a:t>
            </a:r>
            <a:r>
              <a:rPr lang="tr-TR" dirty="0"/>
              <a:t> sağlar.</a:t>
            </a:r>
          </a:p>
          <a:p>
            <a:r>
              <a:rPr lang="tr-TR" dirty="0"/>
              <a:t>Gereksiz güç kullanımını azaltır.</a:t>
            </a:r>
          </a:p>
          <a:p>
            <a:r>
              <a:rPr lang="tr-TR" dirty="0"/>
              <a:t>Toplumsal olaylarda tansiyonun düşmesine yardımcı olur.</a:t>
            </a:r>
          </a:p>
          <a:p>
            <a:r>
              <a:rPr lang="tr-TR" dirty="0"/>
              <a:t>Mağdurun kendini anlaşılmış ve güvende hissetmesini sağlar.</a:t>
            </a:r>
          </a:p>
          <a:p>
            <a:r>
              <a:rPr lang="tr-TR" dirty="0"/>
              <a:t>Polisin mesleki saygınlığını ve toplumdaki itibarını artırır.</a:t>
            </a:r>
          </a:p>
          <a:p>
            <a:endParaRPr lang="tr-TR" dirty="0"/>
          </a:p>
        </p:txBody>
      </p:sp>
    </p:spTree>
    <p:extLst>
      <p:ext uri="{BB962C8B-B14F-4D97-AF65-F5344CB8AC3E}">
        <p14:creationId xmlns:p14="http://schemas.microsoft.com/office/powerpoint/2010/main" val="359081241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C45C85A-C90B-4EBA-BC57-69A16008B547}"/>
              </a:ext>
            </a:extLst>
          </p:cNvPr>
          <p:cNvSpPr>
            <a:spLocks noGrp="1"/>
          </p:cNvSpPr>
          <p:nvPr>
            <p:ph idx="1"/>
          </p:nvPr>
        </p:nvSpPr>
        <p:spPr/>
        <p:txBody>
          <a:bodyPr/>
          <a:lstStyle/>
          <a:p>
            <a:r>
              <a:rPr lang="tr-TR" b="1" dirty="0"/>
              <a:t>Polis–Vatandaş İletişiminde Empati</a:t>
            </a:r>
          </a:p>
          <a:p>
            <a:r>
              <a:rPr lang="tr-TR" dirty="0" err="1"/>
              <a:t>Empatik</a:t>
            </a:r>
            <a:r>
              <a:rPr lang="tr-TR" dirty="0"/>
              <a:t> bir polis:</a:t>
            </a:r>
          </a:p>
          <a:p>
            <a:r>
              <a:rPr lang="tr-TR" dirty="0"/>
              <a:t>Vatandaşı dikkatle dinler.</a:t>
            </a:r>
          </a:p>
          <a:p>
            <a:r>
              <a:rPr lang="tr-TR" dirty="0"/>
              <a:t>Sert ve yargılayıcı dil kullanmaz.</a:t>
            </a:r>
          </a:p>
          <a:p>
            <a:r>
              <a:rPr lang="tr-TR" dirty="0"/>
              <a:t>Karşısındakinin içinde bulunduğu koşulları dikkate alır.</a:t>
            </a:r>
          </a:p>
          <a:p>
            <a:r>
              <a:rPr lang="tr-TR" dirty="0"/>
              <a:t>Sorunun çözümüne odaklanır.</a:t>
            </a:r>
          </a:p>
          <a:p>
            <a:r>
              <a:rPr lang="tr-TR" dirty="0"/>
              <a:t>Bu yaklaşım, vatandaşın polisle iş birliği yapmasını kolaylaştırır ve iletişim sürecini olumlu yönde etkiler.</a:t>
            </a:r>
          </a:p>
          <a:p>
            <a:endParaRPr lang="tr-TR" dirty="0"/>
          </a:p>
        </p:txBody>
      </p:sp>
    </p:spTree>
    <p:extLst>
      <p:ext uri="{BB962C8B-B14F-4D97-AF65-F5344CB8AC3E}">
        <p14:creationId xmlns:p14="http://schemas.microsoft.com/office/powerpoint/2010/main" val="24685597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1B4EF8C-62CF-4126-8525-B831DA142258}"/>
              </a:ext>
            </a:extLst>
          </p:cNvPr>
          <p:cNvSpPr>
            <a:spLocks noGrp="1"/>
          </p:cNvSpPr>
          <p:nvPr>
            <p:ph idx="1"/>
          </p:nvPr>
        </p:nvSpPr>
        <p:spPr/>
        <p:txBody>
          <a:bodyPr/>
          <a:lstStyle/>
          <a:p>
            <a:r>
              <a:rPr lang="tr-TR" b="1" dirty="0"/>
              <a:t>Polislikte Empati Örnekleri ve Uygulamaları</a:t>
            </a:r>
          </a:p>
          <a:p>
            <a:r>
              <a:rPr lang="tr-TR" b="1" dirty="0"/>
              <a:t>a) Mağdurla İletişimde Empati</a:t>
            </a:r>
          </a:p>
          <a:p>
            <a:r>
              <a:rPr lang="tr-TR" dirty="0"/>
              <a:t>Bir suç mağduru genellikle korku, öfke ve çaresizlik duyguları içindedir. </a:t>
            </a:r>
            <a:r>
              <a:rPr lang="tr-TR" dirty="0" err="1"/>
              <a:t>Empatik</a:t>
            </a:r>
            <a:r>
              <a:rPr lang="tr-TR" dirty="0"/>
              <a:t> bir polis:</a:t>
            </a:r>
          </a:p>
          <a:p>
            <a:r>
              <a:rPr lang="tr-TR" dirty="0"/>
              <a:t>Mağdurun sözünü kesmeden dinler.</a:t>
            </a:r>
          </a:p>
          <a:p>
            <a:r>
              <a:rPr lang="tr-TR" dirty="0"/>
              <a:t>Onu suçlayıcı ifadelerden kaçınır.</a:t>
            </a:r>
          </a:p>
          <a:p>
            <a:r>
              <a:rPr lang="tr-TR" dirty="0"/>
              <a:t>“Sizi anlıyorum” gibi destekleyici ifadeler kullanır.</a:t>
            </a:r>
          </a:p>
          <a:p>
            <a:r>
              <a:rPr lang="tr-TR" dirty="0"/>
              <a:t>Mağdurun kendini güvende hissetmesini sağlar.</a:t>
            </a:r>
          </a:p>
          <a:p>
            <a:r>
              <a:rPr lang="tr-TR" b="1" dirty="0"/>
              <a:t>Sonuç:</a:t>
            </a:r>
            <a:r>
              <a:rPr lang="tr-TR" dirty="0"/>
              <a:t> Mağdur, olayı daha sağlıklı anlatır ve adli süreç daha doğru ilerler.</a:t>
            </a:r>
          </a:p>
          <a:p>
            <a:endParaRPr lang="tr-TR" dirty="0"/>
          </a:p>
        </p:txBody>
      </p:sp>
    </p:spTree>
    <p:extLst>
      <p:ext uri="{BB962C8B-B14F-4D97-AF65-F5344CB8AC3E}">
        <p14:creationId xmlns:p14="http://schemas.microsoft.com/office/powerpoint/2010/main" val="28021562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0ACF819-AFE5-4BD7-918B-BA0DB1885A95}"/>
              </a:ext>
            </a:extLst>
          </p:cNvPr>
          <p:cNvSpPr>
            <a:spLocks noGrp="1"/>
          </p:cNvSpPr>
          <p:nvPr>
            <p:ph idx="1"/>
          </p:nvPr>
        </p:nvSpPr>
        <p:spPr/>
        <p:txBody>
          <a:bodyPr/>
          <a:lstStyle/>
          <a:p>
            <a:r>
              <a:rPr lang="tr-TR" b="1" dirty="0"/>
              <a:t>b) Aile İçi Şiddet Olaylarında Empati</a:t>
            </a:r>
          </a:p>
          <a:p>
            <a:r>
              <a:rPr lang="tr-TR" dirty="0"/>
              <a:t>Aile içi şiddet vakalarında taraflar duygusal olarak yoğun stres altındadır. Empati kuran polis:</a:t>
            </a:r>
          </a:p>
          <a:p>
            <a:r>
              <a:rPr lang="tr-TR" dirty="0"/>
              <a:t>Tarafların duygularını anlamaya çalışır.</a:t>
            </a:r>
          </a:p>
          <a:p>
            <a:r>
              <a:rPr lang="tr-TR" dirty="0"/>
              <a:t>Özellikle mağdurun korku ve çekincelerini dikkate alır.</a:t>
            </a:r>
          </a:p>
          <a:p>
            <a:r>
              <a:rPr lang="tr-TR" dirty="0"/>
              <a:t>Olayı küçümsemez veya normalleştirmez.</a:t>
            </a:r>
          </a:p>
          <a:p>
            <a:r>
              <a:rPr lang="tr-TR" dirty="0"/>
              <a:t>Hukuki süreci sakin ve anlaşılır şekilde açıklar.</a:t>
            </a:r>
          </a:p>
          <a:p>
            <a:r>
              <a:rPr lang="tr-TR" b="1" dirty="0"/>
              <a:t>Sonuç:</a:t>
            </a:r>
            <a:r>
              <a:rPr lang="tr-TR" dirty="0"/>
              <a:t> Şiddetin tekrarının önlenmesine katkı sağlar.</a:t>
            </a:r>
          </a:p>
          <a:p>
            <a:endParaRPr lang="tr-TR" dirty="0"/>
          </a:p>
        </p:txBody>
      </p:sp>
    </p:spTree>
    <p:extLst>
      <p:ext uri="{BB962C8B-B14F-4D97-AF65-F5344CB8AC3E}">
        <p14:creationId xmlns:p14="http://schemas.microsoft.com/office/powerpoint/2010/main" val="11329425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B182B3F-D315-451C-B795-3BEB6825816F}"/>
              </a:ext>
            </a:extLst>
          </p:cNvPr>
          <p:cNvSpPr>
            <a:spLocks noGrp="1"/>
          </p:cNvSpPr>
          <p:nvPr>
            <p:ph idx="1"/>
          </p:nvPr>
        </p:nvSpPr>
        <p:spPr/>
        <p:txBody>
          <a:bodyPr/>
          <a:lstStyle/>
          <a:p>
            <a:r>
              <a:rPr lang="tr-TR" b="1" dirty="0"/>
              <a:t>C) Çocuklarla İletişimde Empati</a:t>
            </a:r>
          </a:p>
          <a:p>
            <a:r>
              <a:rPr lang="tr-TR" dirty="0"/>
              <a:t>Çocuklar, polis karşısında korku yaşayabilir. </a:t>
            </a:r>
            <a:r>
              <a:rPr lang="tr-TR" dirty="0" err="1"/>
              <a:t>Empatik</a:t>
            </a:r>
            <a:r>
              <a:rPr lang="tr-TR" dirty="0"/>
              <a:t> polis:</a:t>
            </a:r>
          </a:p>
          <a:p>
            <a:r>
              <a:rPr lang="tr-TR" dirty="0"/>
              <a:t>Çocuğun seviyesine iner.</a:t>
            </a:r>
          </a:p>
          <a:p>
            <a:r>
              <a:rPr lang="tr-TR" dirty="0"/>
              <a:t>Sert ses tonu kullanmaz.</a:t>
            </a:r>
          </a:p>
          <a:p>
            <a:r>
              <a:rPr lang="tr-TR" dirty="0"/>
              <a:t>Basit ve anlaşılır kelimelerle konuşur.</a:t>
            </a:r>
          </a:p>
          <a:p>
            <a:r>
              <a:rPr lang="tr-TR" dirty="0"/>
              <a:t>Çocuğun kendini güvende hissetmesini sağlar.</a:t>
            </a:r>
          </a:p>
          <a:p>
            <a:r>
              <a:rPr lang="tr-TR" b="1" dirty="0"/>
              <a:t>Sonuç:</a:t>
            </a:r>
            <a:r>
              <a:rPr lang="tr-TR" dirty="0"/>
              <a:t> Çocuk daha rahat ifade verir ve psikolojik zarar azalır.</a:t>
            </a:r>
          </a:p>
          <a:p>
            <a:endParaRPr lang="tr-TR" dirty="0"/>
          </a:p>
        </p:txBody>
      </p:sp>
    </p:spTree>
    <p:extLst>
      <p:ext uri="{BB962C8B-B14F-4D97-AF65-F5344CB8AC3E}">
        <p14:creationId xmlns:p14="http://schemas.microsoft.com/office/powerpoint/2010/main" val="100819596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A1E6AA5-9D8A-4B36-BF19-D8B6706DF839}"/>
              </a:ext>
            </a:extLst>
          </p:cNvPr>
          <p:cNvSpPr>
            <a:spLocks noGrp="1"/>
          </p:cNvSpPr>
          <p:nvPr>
            <p:ph idx="1"/>
          </p:nvPr>
        </p:nvSpPr>
        <p:spPr/>
        <p:txBody>
          <a:bodyPr/>
          <a:lstStyle/>
          <a:p>
            <a:r>
              <a:rPr lang="tr-TR" b="1" dirty="0"/>
              <a:t>D)Toplumsal Olaylarda Empati</a:t>
            </a:r>
          </a:p>
          <a:p>
            <a:r>
              <a:rPr lang="tr-TR" dirty="0"/>
              <a:t>Toplumsal olaylarda kalabalıklar duygusal olarak hassastır. Empati kuran polis:</a:t>
            </a:r>
          </a:p>
          <a:p>
            <a:r>
              <a:rPr lang="tr-TR" dirty="0" err="1"/>
              <a:t>Provokatif</a:t>
            </a:r>
            <a:r>
              <a:rPr lang="tr-TR" dirty="0"/>
              <a:t> davranışlardan kaçınır.</a:t>
            </a:r>
          </a:p>
          <a:p>
            <a:r>
              <a:rPr lang="tr-TR" dirty="0"/>
              <a:t>Kalabalığın taleplerini anlamaya çalışır.</a:t>
            </a:r>
          </a:p>
          <a:p>
            <a:r>
              <a:rPr lang="tr-TR" dirty="0"/>
              <a:t>İletişimi ön planda tutar.</a:t>
            </a:r>
          </a:p>
          <a:p>
            <a:r>
              <a:rPr lang="tr-TR" dirty="0"/>
              <a:t>Güç kullanmadan önce ikna yöntemlerini dener.</a:t>
            </a:r>
          </a:p>
          <a:p>
            <a:r>
              <a:rPr lang="tr-TR" b="1" dirty="0"/>
              <a:t>Sonuç:</a:t>
            </a:r>
            <a:r>
              <a:rPr lang="tr-TR" dirty="0"/>
              <a:t> Olayların büyümesi önlenir, kamu düzeni sağlanır.</a:t>
            </a:r>
          </a:p>
          <a:p>
            <a:endParaRPr lang="tr-TR" dirty="0"/>
          </a:p>
        </p:txBody>
      </p:sp>
    </p:spTree>
    <p:extLst>
      <p:ext uri="{BB962C8B-B14F-4D97-AF65-F5344CB8AC3E}">
        <p14:creationId xmlns:p14="http://schemas.microsoft.com/office/powerpoint/2010/main" val="117011655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C9BEF08-BC4C-4C14-A450-8CA5B6DB0DBF}"/>
              </a:ext>
            </a:extLst>
          </p:cNvPr>
          <p:cNvSpPr>
            <a:spLocks noGrp="1"/>
          </p:cNvSpPr>
          <p:nvPr>
            <p:ph idx="1"/>
          </p:nvPr>
        </p:nvSpPr>
        <p:spPr/>
        <p:txBody>
          <a:bodyPr/>
          <a:lstStyle/>
          <a:p>
            <a:r>
              <a:rPr lang="tr-TR" b="1" dirty="0"/>
              <a:t>E) Şüpheli veya Suçlu ile İletişimde Empati</a:t>
            </a:r>
          </a:p>
          <a:p>
            <a:r>
              <a:rPr lang="tr-TR" dirty="0"/>
              <a:t>Empati, suçu onaylamak anlamına gelmez. Polis:</a:t>
            </a:r>
          </a:p>
          <a:p>
            <a:r>
              <a:rPr lang="tr-TR" dirty="0"/>
              <a:t>Şüpheliye insan onuruna uygun davranır.</a:t>
            </a:r>
          </a:p>
          <a:p>
            <a:r>
              <a:rPr lang="tr-TR" dirty="0"/>
              <a:t>Haklarını açıkça anlatır.</a:t>
            </a:r>
          </a:p>
          <a:p>
            <a:r>
              <a:rPr lang="tr-TR" dirty="0"/>
              <a:t>Aşağılayıcı ve tehditkâr tavırlardan kaçınır.</a:t>
            </a:r>
          </a:p>
          <a:p>
            <a:r>
              <a:rPr lang="tr-TR" b="1" dirty="0"/>
              <a:t>Sonuç:</a:t>
            </a:r>
            <a:r>
              <a:rPr lang="tr-TR" dirty="0"/>
              <a:t> Direnç azalır, iletişim daha sağlıklı yürür.</a:t>
            </a:r>
          </a:p>
          <a:p>
            <a:endParaRPr lang="tr-TR" dirty="0"/>
          </a:p>
        </p:txBody>
      </p:sp>
    </p:spTree>
    <p:extLst>
      <p:ext uri="{BB962C8B-B14F-4D97-AF65-F5344CB8AC3E}">
        <p14:creationId xmlns:p14="http://schemas.microsoft.com/office/powerpoint/2010/main" val="427698049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3489524-6F24-4D4E-870C-3A711F5F5376}"/>
              </a:ext>
            </a:extLst>
          </p:cNvPr>
          <p:cNvSpPr>
            <a:spLocks noGrp="1"/>
          </p:cNvSpPr>
          <p:nvPr>
            <p:ph idx="1"/>
          </p:nvPr>
        </p:nvSpPr>
        <p:spPr/>
        <p:txBody>
          <a:bodyPr/>
          <a:lstStyle/>
          <a:p>
            <a:r>
              <a:rPr lang="tr-TR" b="1" dirty="0"/>
              <a:t>Empatinin Polis Üzerindeki Olumlu Etkileri</a:t>
            </a:r>
          </a:p>
          <a:p>
            <a:r>
              <a:rPr lang="tr-TR" dirty="0"/>
              <a:t>Mesleki stresin azalmasına yardımcı olur.</a:t>
            </a:r>
          </a:p>
          <a:p>
            <a:r>
              <a:rPr lang="tr-TR" dirty="0"/>
              <a:t>Tükenmişlik sendromunu önler.</a:t>
            </a:r>
          </a:p>
          <a:p>
            <a:r>
              <a:rPr lang="tr-TR" dirty="0"/>
              <a:t>Polis–toplum ilişkilerini güçlendirir.</a:t>
            </a:r>
          </a:p>
          <a:p>
            <a:r>
              <a:rPr lang="tr-TR" dirty="0"/>
              <a:t>Mesleki tatmini artırır.</a:t>
            </a:r>
          </a:p>
          <a:p>
            <a:r>
              <a:rPr lang="tr-TR" dirty="0"/>
              <a:t>Daha etkili ve profesyonel bir polislik anlayışı oluşturur.</a:t>
            </a:r>
          </a:p>
          <a:p>
            <a:endParaRPr lang="tr-TR" dirty="0"/>
          </a:p>
        </p:txBody>
      </p:sp>
    </p:spTree>
    <p:extLst>
      <p:ext uri="{BB962C8B-B14F-4D97-AF65-F5344CB8AC3E}">
        <p14:creationId xmlns:p14="http://schemas.microsoft.com/office/powerpoint/2010/main" val="13529400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82FE0D1-EA73-4326-B9EF-B6357D3CAFE8}"/>
              </a:ext>
            </a:extLst>
          </p:cNvPr>
          <p:cNvSpPr>
            <a:spLocks noGrp="1"/>
          </p:cNvSpPr>
          <p:nvPr>
            <p:ph idx="1"/>
          </p:nvPr>
        </p:nvSpPr>
        <p:spPr>
          <a:xfrm>
            <a:off x="677334" y="1722663"/>
            <a:ext cx="8596668" cy="4318699"/>
          </a:xfrm>
        </p:spPr>
        <p:txBody>
          <a:bodyPr/>
          <a:lstStyle/>
          <a:p>
            <a:r>
              <a:rPr lang="tr-TR" b="1" dirty="0"/>
              <a:t>Polislikte Empati ile Otorite Dengesi</a:t>
            </a:r>
          </a:p>
          <a:p>
            <a:r>
              <a:rPr lang="tr-TR" dirty="0"/>
              <a:t>Empati, otoritenin zayıflaması değildir. Aksine:</a:t>
            </a:r>
          </a:p>
          <a:p>
            <a:r>
              <a:rPr lang="tr-TR" dirty="0"/>
              <a:t>Empatiyle kurulan otorite daha kalıcıdır.</a:t>
            </a:r>
          </a:p>
          <a:p>
            <a:r>
              <a:rPr lang="tr-TR" dirty="0"/>
              <a:t>Vatandaş, </a:t>
            </a:r>
            <a:r>
              <a:rPr lang="tr-TR" dirty="0" err="1"/>
              <a:t>empatik</a:t>
            </a:r>
            <a:r>
              <a:rPr lang="tr-TR" dirty="0"/>
              <a:t> polisi daha kolay kabul eder.</a:t>
            </a:r>
          </a:p>
          <a:p>
            <a:r>
              <a:rPr lang="tr-TR" dirty="0"/>
              <a:t>Empati, hukukun etkin ve insani şekilde uygulanmasını sağlar.</a:t>
            </a:r>
          </a:p>
          <a:p>
            <a:endParaRPr lang="tr-TR" dirty="0"/>
          </a:p>
        </p:txBody>
      </p:sp>
    </p:spTree>
    <p:extLst>
      <p:ext uri="{BB962C8B-B14F-4D97-AF65-F5344CB8AC3E}">
        <p14:creationId xmlns:p14="http://schemas.microsoft.com/office/powerpoint/2010/main" val="87824537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4DD1042-70DA-450B-965E-F00DCB7A106F}"/>
              </a:ext>
            </a:extLst>
          </p:cNvPr>
          <p:cNvSpPr>
            <a:spLocks noGrp="1"/>
          </p:cNvSpPr>
          <p:nvPr>
            <p:ph idx="1"/>
          </p:nvPr>
        </p:nvSpPr>
        <p:spPr>
          <a:xfrm>
            <a:off x="677334" y="881743"/>
            <a:ext cx="8596668" cy="5159619"/>
          </a:xfrm>
        </p:spPr>
        <p:txBody>
          <a:bodyPr/>
          <a:lstStyle/>
          <a:p>
            <a:r>
              <a:rPr lang="tr-TR" dirty="0"/>
              <a:t>Polislik mesleğinde empati; sadece bir iletişim becerisi değil, </a:t>
            </a:r>
            <a:r>
              <a:rPr lang="tr-TR" b="1" dirty="0"/>
              <a:t>mesleki bir gerekliliktir</a:t>
            </a:r>
            <a:r>
              <a:rPr lang="tr-TR" dirty="0"/>
              <a:t>. Empati kurabilen polis, olayları daha sağlıklı değerlendirir, toplumsal barışa katkı sağlar ve mesleğini insan haklarına uygun şekilde icra eder. Güçlü bir polislik anlayışı; sertlikten değil, </a:t>
            </a:r>
            <a:r>
              <a:rPr lang="tr-TR" b="1" dirty="0"/>
              <a:t>anlayış, adalet ve empati</a:t>
            </a:r>
            <a:r>
              <a:rPr lang="tr-TR" dirty="0"/>
              <a:t> temelinden doğar.</a:t>
            </a:r>
          </a:p>
        </p:txBody>
      </p:sp>
      <p:pic>
        <p:nvPicPr>
          <p:cNvPr id="61444" name="Picture 4" descr="İlişkilerde Sağlıklı İletişim Nasıl Kurulur?">
            <a:extLst>
              <a:ext uri="{FF2B5EF4-FFF2-40B4-BE49-F238E27FC236}">
                <a16:creationId xmlns:a16="http://schemas.microsoft.com/office/drawing/2014/main" id="{FCE9D12C-5117-49D1-B578-8C51751C6F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5807" y="3047321"/>
            <a:ext cx="5510893" cy="310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00688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6EB9F1D1-5DF5-4390-966C-C0FDFCED30AE}"/>
              </a:ext>
            </a:extLst>
          </p:cNvPr>
          <p:cNvSpPr>
            <a:spLocks noGrp="1"/>
          </p:cNvSpPr>
          <p:nvPr>
            <p:ph type="title"/>
          </p:nvPr>
        </p:nvSpPr>
        <p:spPr>
          <a:xfrm>
            <a:off x="677334" y="473529"/>
            <a:ext cx="8596668" cy="783771"/>
          </a:xfrm>
        </p:spPr>
        <p:txBody>
          <a:bodyPr/>
          <a:lstStyle/>
          <a:p>
            <a:r>
              <a:rPr lang="tr-TR" dirty="0"/>
              <a:t>ETKİLİ İLETİŞİMİN ÖNÜNDEKİ ENGELLER </a:t>
            </a:r>
          </a:p>
        </p:txBody>
      </p:sp>
      <p:sp>
        <p:nvSpPr>
          <p:cNvPr id="3" name="İçerik Yer Tutucusu 2">
            <a:extLst>
              <a:ext uri="{FF2B5EF4-FFF2-40B4-BE49-F238E27FC236}">
                <a16:creationId xmlns:a16="http://schemas.microsoft.com/office/drawing/2014/main" id="{7D480B55-8831-4898-B37A-BD70E3C4D0E7}"/>
              </a:ext>
            </a:extLst>
          </p:cNvPr>
          <p:cNvSpPr>
            <a:spLocks noGrp="1"/>
          </p:cNvSpPr>
          <p:nvPr>
            <p:ph idx="1"/>
          </p:nvPr>
        </p:nvSpPr>
        <p:spPr>
          <a:xfrm>
            <a:off x="677334" y="1393146"/>
            <a:ext cx="8596668" cy="3880773"/>
          </a:xfrm>
        </p:spPr>
        <p:txBody>
          <a:bodyPr/>
          <a:lstStyle/>
          <a:p>
            <a:r>
              <a:rPr lang="tr-TR" dirty="0"/>
              <a:t>Günümüzde teknolojinin yardımıyla iletişim kanalları sınır tanımazken bir taraftan da iletişim </a:t>
            </a:r>
            <a:r>
              <a:rPr lang="tr-TR" dirty="0" err="1"/>
              <a:t>otobanınında</a:t>
            </a:r>
            <a:r>
              <a:rPr lang="tr-TR" dirty="0"/>
              <a:t> sayısız kazaya tanık oluyor insan. Kimileri konuştuğunu zannedip bir şey söylemiyor, kimileri konuşup çatlatıyor, kimileri susarak konuşuyor, kimileri de konuşarak susuyor. Her gün iletişim kazalarında birçok kişi yitip gidiyor. Hatta insan en yakınlarını bile bu kazalardan koruyamıyor. Ölümcül yaralar alanları da kurtaramadığı zamanlar oluyor…. İletişim, özellikle de etkili iletişim sürecinde verimi, etkililiği engelleyen unsurlar vardır ki genellikle iletişim kazaları, iletişim kopukluğu denilen durumlara yol açabilirler.</a:t>
            </a:r>
          </a:p>
        </p:txBody>
      </p:sp>
      <p:pic>
        <p:nvPicPr>
          <p:cNvPr id="3074" name="Picture 2" descr="En Yaygın İletişim Engelleri Üzerine Örnekler">
            <a:extLst>
              <a:ext uri="{FF2B5EF4-FFF2-40B4-BE49-F238E27FC236}">
                <a16:creationId xmlns:a16="http://schemas.microsoft.com/office/drawing/2014/main" id="{1E9C4D5B-64B6-4432-B721-7596ED2960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5241" y="4003447"/>
            <a:ext cx="4006623" cy="2669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79664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F8643E2-D0E2-4A03-9FD5-795A1B35EA10}"/>
              </a:ext>
            </a:extLst>
          </p:cNvPr>
          <p:cNvSpPr>
            <a:spLocks noGrp="1"/>
          </p:cNvSpPr>
          <p:nvPr>
            <p:ph idx="1"/>
          </p:nvPr>
        </p:nvSpPr>
        <p:spPr>
          <a:xfrm>
            <a:off x="824290" y="1175657"/>
            <a:ext cx="8596668" cy="4424834"/>
          </a:xfrm>
        </p:spPr>
        <p:txBody>
          <a:bodyPr/>
          <a:lstStyle/>
          <a:p>
            <a:r>
              <a:rPr lang="tr-TR" dirty="0"/>
              <a:t>Süzme, </a:t>
            </a:r>
          </a:p>
          <a:p>
            <a:r>
              <a:rPr lang="tr-TR" dirty="0"/>
              <a:t>seçici algılama, </a:t>
            </a:r>
          </a:p>
          <a:p>
            <a:r>
              <a:rPr lang="tr-TR" dirty="0"/>
              <a:t>duygusal durum, </a:t>
            </a:r>
          </a:p>
          <a:p>
            <a:r>
              <a:rPr lang="tr-TR" dirty="0"/>
              <a:t>mesaj, </a:t>
            </a:r>
          </a:p>
          <a:p>
            <a:r>
              <a:rPr lang="tr-TR" dirty="0"/>
              <a:t>zaman unsuru, </a:t>
            </a:r>
          </a:p>
          <a:p>
            <a:r>
              <a:rPr lang="tr-TR" dirty="0"/>
              <a:t>önyargı, </a:t>
            </a:r>
          </a:p>
          <a:p>
            <a:r>
              <a:rPr lang="tr-TR" dirty="0"/>
              <a:t>mesajı gönderen ve alanın konumu, </a:t>
            </a:r>
          </a:p>
          <a:p>
            <a:r>
              <a:rPr lang="tr-TR" dirty="0"/>
              <a:t>pasif dinleme, </a:t>
            </a:r>
          </a:p>
          <a:p>
            <a:r>
              <a:rPr lang="tr-TR" dirty="0"/>
              <a:t>gürültü, </a:t>
            </a:r>
          </a:p>
          <a:p>
            <a:r>
              <a:rPr lang="tr-TR" dirty="0"/>
              <a:t>yetersiz geribildirim gibi unsurlar iletişimin engelleri olarak sayılabilmektedir</a:t>
            </a:r>
          </a:p>
          <a:p>
            <a:endParaRPr lang="tr-TR" dirty="0"/>
          </a:p>
        </p:txBody>
      </p:sp>
      <p:pic>
        <p:nvPicPr>
          <p:cNvPr id="4098" name="Picture 2" descr="Etkili iletişim becerileri nasıl geliştirilir? - Fikir Turu">
            <a:extLst>
              <a:ext uri="{FF2B5EF4-FFF2-40B4-BE49-F238E27FC236}">
                <a16:creationId xmlns:a16="http://schemas.microsoft.com/office/drawing/2014/main" id="{53DC9D56-7A44-4DAE-84E0-BFDBE20D44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969" y="619126"/>
            <a:ext cx="4045620" cy="3030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36278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458C3B4-87C6-4F8E-B5A1-4FCD1747E08D}"/>
              </a:ext>
            </a:extLst>
          </p:cNvPr>
          <p:cNvSpPr>
            <a:spLocks noGrp="1"/>
          </p:cNvSpPr>
          <p:nvPr>
            <p:ph idx="1"/>
          </p:nvPr>
        </p:nvSpPr>
        <p:spPr>
          <a:xfrm>
            <a:off x="677334" y="726621"/>
            <a:ext cx="8596668" cy="5314742"/>
          </a:xfrm>
        </p:spPr>
        <p:txBody>
          <a:bodyPr/>
          <a:lstStyle/>
          <a:p>
            <a:r>
              <a:rPr lang="tr-TR" dirty="0"/>
              <a:t>Gerçekten de kişilerin iletişim sürecinde aktarmak istedikleri bilgi, düşünce, duygularını tam olarak aktaramadıkları zaman kimi engeller ortaya çıkmaktadır. Örneğin, kaynak ve alıcının birbirleri hakkındaki olumsuz düşünceleri gibi etmenler mesajın doğru anlaşılmasını engellemektedir. Alıcı kaynağın mesleği, cinsiyeti, dış görünüşü, kültürel farklılıklar gibi etmenler üzerinden alıcıyı değerlendirdiğinde alıcı hakkında olumsuz bir izlenime kapılabilmektedir. Böylece kaynak ve alıcı arasındaki iletişimde kopukluklar söz konusu olabilmektedir. </a:t>
            </a:r>
          </a:p>
        </p:txBody>
      </p:sp>
      <p:pic>
        <p:nvPicPr>
          <p:cNvPr id="5122" name="Picture 2" descr="İş Yerinde İletişim Engellerini Aşmanın Yolları - Hayatın Ritmi">
            <a:extLst>
              <a:ext uri="{FF2B5EF4-FFF2-40B4-BE49-F238E27FC236}">
                <a16:creationId xmlns:a16="http://schemas.microsoft.com/office/drawing/2014/main" id="{086095D3-8872-4922-98B5-4A9ED0F8AD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0939" y="3675970"/>
            <a:ext cx="4080782" cy="2251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71750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44EC224-EF2B-4A06-8257-E0C599B0700A}"/>
              </a:ext>
            </a:extLst>
          </p:cNvPr>
          <p:cNvSpPr>
            <a:spLocks noGrp="1"/>
          </p:cNvSpPr>
          <p:nvPr>
            <p:ph idx="1"/>
          </p:nvPr>
        </p:nvSpPr>
        <p:spPr>
          <a:xfrm>
            <a:off x="677334" y="1779815"/>
            <a:ext cx="8596668" cy="4261548"/>
          </a:xfrm>
        </p:spPr>
        <p:txBody>
          <a:bodyPr/>
          <a:lstStyle/>
          <a:p>
            <a:r>
              <a:rPr lang="tr-TR" dirty="0"/>
              <a:t>Bu bağlamda, Doğan </a:t>
            </a:r>
            <a:r>
              <a:rPr lang="tr-TR" dirty="0" err="1"/>
              <a:t>Cüceloğlu’na</a:t>
            </a:r>
            <a:r>
              <a:rPr lang="tr-TR" dirty="0"/>
              <a:t> göre bir aracın sürücüsü, yolda kendinden başka araç yokmuş gibi davranırsa, trafik kazası olur. Bir kişi konuşurken, karşısındakini nasıl etkilediğini düşünmeden, kendi bildiği yönde istediğini söylerse, aynı trafikte olduğu gibi, “iletişim kazaları” ortaya çıkar. İnsan ilişkileriyle ilgili bu kazaların sonucunda da “yaralananlar” ve “ölenler” vardır: Küsenler, ayrılanlar ve gücenenler “yaralıları”, kendi içine kapanıp yalnızlığa gömülenlerse “ölenleri” oluşturur. İletişim kazaları, trafik kazalarında olduğu gibi, kazalara yol açan nedenler bilindiği derecede azaltılabilir. İletişim konusunda bilgi edinen birey hem kendini, hem de çevresindekileri daha iyi değerlendirir ve anlar. Kendi davranışlarını değerlendirebilen kimse, kurmuş olduğu ilişkilerin temelinde yatan psikolojik süreçleri anlar ve farkına varmadan ortaya çıkan “iletişim </a:t>
            </a:r>
            <a:r>
              <a:rPr lang="tr-TR" dirty="0" err="1"/>
              <a:t>kazaları”nı</a:t>
            </a:r>
            <a:r>
              <a:rPr lang="tr-TR" dirty="0"/>
              <a:t> önleyebilme olanağına kavuşur. </a:t>
            </a:r>
          </a:p>
        </p:txBody>
      </p:sp>
    </p:spTree>
    <p:extLst>
      <p:ext uri="{BB962C8B-B14F-4D97-AF65-F5344CB8AC3E}">
        <p14:creationId xmlns:p14="http://schemas.microsoft.com/office/powerpoint/2010/main" val="378621258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924B706-8C99-4610-BEB9-DF4609602FB1}"/>
              </a:ext>
            </a:extLst>
          </p:cNvPr>
          <p:cNvSpPr>
            <a:spLocks noGrp="1"/>
          </p:cNvSpPr>
          <p:nvPr>
            <p:ph idx="1"/>
          </p:nvPr>
        </p:nvSpPr>
        <p:spPr>
          <a:xfrm>
            <a:off x="677334" y="400051"/>
            <a:ext cx="8596668" cy="5641312"/>
          </a:xfrm>
        </p:spPr>
        <p:txBody>
          <a:bodyPr/>
          <a:lstStyle/>
          <a:p>
            <a:r>
              <a:rPr lang="tr-TR" dirty="0"/>
              <a:t>Hasarsız bir iletişim için; iletişimde üslup, her zaman içerikten üstündür, kişi verdiği sözsüz mesajlara dikkat etmelidir, önce beyin, sonra ağız devreye girmelidir. Ayrıca bazen susmak da bir iletişim kurma şeklidir, insan başkalarının onu anlamadığını söyleyerek suçunu görmezden gelir. Oysa kaza tutanağına kendisinden başlamalıdır</a:t>
            </a:r>
          </a:p>
          <a:p>
            <a:endParaRPr lang="tr-TR" dirty="0"/>
          </a:p>
        </p:txBody>
      </p:sp>
      <p:pic>
        <p:nvPicPr>
          <p:cNvPr id="6146" name="Picture 2" descr="Çatışmanın nedeni iletişimsizlik">
            <a:extLst>
              <a:ext uri="{FF2B5EF4-FFF2-40B4-BE49-F238E27FC236}">
                <a16:creationId xmlns:a16="http://schemas.microsoft.com/office/drawing/2014/main" id="{AE34CB34-0D62-4551-8D0F-1D5BC28A82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421" y="2505074"/>
            <a:ext cx="4778829" cy="3324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746499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C3254B6-2BB3-459A-A3A9-FC9F1B4D7C2E}"/>
              </a:ext>
            </a:extLst>
          </p:cNvPr>
          <p:cNvSpPr>
            <a:spLocks noGrp="1"/>
          </p:cNvSpPr>
          <p:nvPr>
            <p:ph idx="1"/>
          </p:nvPr>
        </p:nvSpPr>
        <p:spPr>
          <a:xfrm>
            <a:off x="677334" y="620486"/>
            <a:ext cx="8596668" cy="5420876"/>
          </a:xfrm>
        </p:spPr>
        <p:txBody>
          <a:bodyPr/>
          <a:lstStyle/>
          <a:p>
            <a:r>
              <a:rPr lang="tr-TR" dirty="0"/>
              <a:t>Etkili bir iletişim için iletişime engel olan algılama farklılıkları, dildeki farklılıklar, gürültü engeli, duygusal etmenler, sözlerle mimikler arasındaki uyumsuzluk, güvensizlik, alıcının duygu dünyasını ayarlayamamak, yetersiz bilgi, eksik pekiştirme, karmaşık ve aşırı teknik bir dil, yüz yüze iletişim olanağı bulamamak, iletişimde farklı ve yetersiz kanal kullanmak. Bu engellerin uygun araç yöntemlerle ortadan kaldırılmasıyla etkin iletişim olanağı sağlanabilmektedir. </a:t>
            </a:r>
          </a:p>
        </p:txBody>
      </p:sp>
      <p:pic>
        <p:nvPicPr>
          <p:cNvPr id="7170" name="Picture 2" descr="İGA Akademi İle Gelecek Seninle!">
            <a:extLst>
              <a:ext uri="{FF2B5EF4-FFF2-40B4-BE49-F238E27FC236}">
                <a16:creationId xmlns:a16="http://schemas.microsoft.com/office/drawing/2014/main" id="{2ED6E991-7BCC-4661-B3F2-488795912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3150" y="3330924"/>
            <a:ext cx="5576207" cy="2854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985882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E866F0A-73CC-4646-963E-E877C090AAC7}"/>
              </a:ext>
            </a:extLst>
          </p:cNvPr>
          <p:cNvSpPr>
            <a:spLocks noGrp="1"/>
          </p:cNvSpPr>
          <p:nvPr>
            <p:ph idx="1"/>
          </p:nvPr>
        </p:nvSpPr>
        <p:spPr>
          <a:xfrm>
            <a:off x="677334" y="375557"/>
            <a:ext cx="8596668" cy="5665805"/>
          </a:xfrm>
        </p:spPr>
        <p:txBody>
          <a:bodyPr/>
          <a:lstStyle/>
          <a:p>
            <a:r>
              <a:rPr lang="tr-TR" dirty="0"/>
              <a:t>Ayrıca başka bir sınıflandırma iletişimin engellerini 3 madde toplamaktadır: </a:t>
            </a:r>
          </a:p>
          <a:p>
            <a:r>
              <a:rPr lang="tr-TR" dirty="0"/>
              <a:t>1. İletişimin önemini yeterince kavrayamamış olmak; </a:t>
            </a:r>
          </a:p>
          <a:p>
            <a:r>
              <a:rPr lang="tr-TR" dirty="0"/>
              <a:t>2. İletişimin önemli bir gereksinim olduğunun farkında olmamak; </a:t>
            </a:r>
          </a:p>
          <a:p>
            <a:r>
              <a:rPr lang="tr-TR" dirty="0"/>
              <a:t>3. Etkin iletişim yöntemlerini bilmemek. Bu kapsamda, iletişimin engelleri kaynak ve alıcı arasındaki psikolojik uyumun sağlanamamasından ya da bu uyumun sağlanabilmesi için geribildirimin yanlış değerlendirilmesinden oluşmaktadır.</a:t>
            </a:r>
          </a:p>
        </p:txBody>
      </p:sp>
      <p:pic>
        <p:nvPicPr>
          <p:cNvPr id="8194" name="Picture 2" descr="İşyerindeki Yanlış Anlaşılmalar - Accessland.live">
            <a:extLst>
              <a:ext uri="{FF2B5EF4-FFF2-40B4-BE49-F238E27FC236}">
                <a16:creationId xmlns:a16="http://schemas.microsoft.com/office/drawing/2014/main" id="{050326C8-978C-4922-90E7-DD592E6016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886" y="3298370"/>
            <a:ext cx="4572000" cy="2742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05933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D35D6E9-7FAB-4A1E-8A9D-B6B0D2928DCE}"/>
              </a:ext>
            </a:extLst>
          </p:cNvPr>
          <p:cNvSpPr>
            <a:spLocks noGrp="1"/>
          </p:cNvSpPr>
          <p:nvPr>
            <p:ph idx="1"/>
          </p:nvPr>
        </p:nvSpPr>
        <p:spPr>
          <a:xfrm>
            <a:off x="677334" y="285750"/>
            <a:ext cx="8596668" cy="6425293"/>
          </a:xfrm>
        </p:spPr>
        <p:txBody>
          <a:bodyPr>
            <a:normAutofit fontScale="85000" lnSpcReduction="10000"/>
          </a:bodyPr>
          <a:lstStyle/>
          <a:p>
            <a:r>
              <a:rPr lang="tr-TR" dirty="0"/>
              <a:t>Başka bir sınıflamaya göre ise iletişimin engelleri aşağıdaki gibidir </a:t>
            </a:r>
          </a:p>
          <a:p>
            <a:r>
              <a:rPr lang="tr-TR" dirty="0"/>
              <a:t>1.İnsanlar arasında etkili iletişimin en önemli engellerinden biri, mesajı almadan önce </a:t>
            </a:r>
            <a:r>
              <a:rPr lang="tr-TR" dirty="0" err="1"/>
              <a:t>önyargılama</a:t>
            </a:r>
            <a:r>
              <a:rPr lang="tr-TR" dirty="0"/>
              <a:t> ve değerlendirmeye kalkmaktır. Bu durum çatışma ve zıtlaşmaya, anlaşmazlıklara kimi zaman da aşırı ve anlamsız bir uyumculuğa neden olmaktadır. Gönderilen mesajı sürekli reddetmek ve olumsuz geribildirim vermek bir iletişim engelidir; onu sürekli kabul etmek ve mesaja katkıda bulunmamak da bir iletişim engelidir. </a:t>
            </a:r>
          </a:p>
          <a:p>
            <a:r>
              <a:rPr lang="tr-TR" dirty="0"/>
              <a:t>2. Bir diğer iletişimin engeli sözcüklere boğulmadır. Sürekli olarak sözcüklerle, mesajlarda anlatılan bir konuyu dinleyenler zamanla dinlemeyecek duruma düşebilmektedirler.</a:t>
            </a:r>
          </a:p>
          <a:p>
            <a:r>
              <a:rPr lang="tr-TR" dirty="0"/>
              <a:t> 3. Anlatılanların karıştırılması diğer bir iletişimin engelidir. Kaynak, düşüncelerini aktarmada yalnızca sözlü mesajları kullanırsa, hedef anlamını hiç ya da iyi bilmediği sözcükleri, önceden bildiği ya da onlara benzeyen sözcüklerle karıştırabilir. </a:t>
            </a:r>
          </a:p>
          <a:p>
            <a:r>
              <a:rPr lang="tr-TR" dirty="0"/>
              <a:t>4. Mesajı algılayamama da bir diğer iletişimin engelidir. Kaynak, sözlü anlatım sırasında hedefin algı hızını hesaba katmadan ve anlayıp anlamadığını gözlemeden mesajlarını </a:t>
            </a:r>
            <a:r>
              <a:rPr lang="tr-TR" dirty="0" err="1"/>
              <a:t>ard</a:t>
            </a:r>
            <a:r>
              <a:rPr lang="tr-TR" dirty="0"/>
              <a:t> arda iletirse, alıcı daha ilk cümlenin anlamını kavrayamadan izleyen diğer cümlelerle karşı karşıya kalır. Sonuçta bir iki cümleden sonra, anlatılmak isteneni izleyemeyecek ve iletişim engellenecektir. </a:t>
            </a:r>
          </a:p>
          <a:p>
            <a:r>
              <a:rPr lang="tr-TR" dirty="0"/>
              <a:t>5. İlgi duymama: Alıcının ilgi duymaması ya konuyu önceden bilmemesinden ya da o zamana kadar hiç uğraşmamış olduğu ve zor sandığı yabancı bir konuyla karşılaşmasından  doğabilir. Alıcı bilmediği konuyu dinlemek istemeyeceği gibi, bildiği bir konunun tekrarını da dinlemek istemeyecektir. Dinlememek ise iletişimin önündeki en önemli engeldir. </a:t>
            </a:r>
          </a:p>
          <a:p>
            <a:r>
              <a:rPr lang="tr-TR" dirty="0"/>
              <a:t>6. Fiziksel çevrenin verdiği rahatsızlıklar da iletişim sürecinin engelidir. İletişim ortamındaki aşırı sıcaklık ya da soğukluk, havanın nemli olması, kötü ışık düzeni ve gürültülü çevre, iletişimi engelleyen fiziksel etkenlerdendir. </a:t>
            </a:r>
          </a:p>
          <a:p>
            <a:r>
              <a:rPr lang="tr-TR" dirty="0"/>
              <a:t>7. Fizyolojik ve psikolojik rahatsızlıklar da iletişimin engelidir. Alıcının fizyolojik ya da psikolojik rahatsızlığı da iletişimi engeller.</a:t>
            </a:r>
          </a:p>
          <a:p>
            <a:endParaRPr lang="tr-TR" dirty="0"/>
          </a:p>
        </p:txBody>
      </p:sp>
    </p:spTree>
    <p:extLst>
      <p:ext uri="{BB962C8B-B14F-4D97-AF65-F5344CB8AC3E}">
        <p14:creationId xmlns:p14="http://schemas.microsoft.com/office/powerpoint/2010/main" val="264940875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BDC1E79-F30D-40D3-BA52-A074BB7BBC50}"/>
              </a:ext>
            </a:extLst>
          </p:cNvPr>
          <p:cNvSpPr>
            <a:spLocks noGrp="1"/>
          </p:cNvSpPr>
          <p:nvPr>
            <p:ph idx="1"/>
          </p:nvPr>
        </p:nvSpPr>
        <p:spPr>
          <a:xfrm>
            <a:off x="677334" y="1877787"/>
            <a:ext cx="8596668" cy="4163576"/>
          </a:xfrm>
        </p:spPr>
        <p:txBody>
          <a:bodyPr>
            <a:normAutofit/>
          </a:bodyPr>
          <a:lstStyle/>
          <a:p>
            <a:r>
              <a:rPr lang="tr-TR" dirty="0"/>
              <a:t>Etkili bir iletişim sürecinin sorunsuz bir biçimde yürütülmesini engelleyen temel etmenler arasında kaba davranmak, alay etmek, damgalamak, suçlamak, küçümseyici davranmak, azarlamak, tehdit etmek, aşırı şakacı olmak gibi etmenler sayılabilir Ayrıca korkular, duyarsızlık, kararsızlık, alınganlık, benmerkezcilik de etkili bir iletişim sürecini engelleyen etmenlerdendir. Bu bağlamda, kaba davranma insanlar arasında hiç de hoş karşılanmayan bir davranıştır. Kaba insanlarla kimse iletişim kurmak istemez. Bu nedenle etkili iletişim sürecinde kaba davranmaktan uzak durulmalı, olabildiğince kibar davranılmalıdır. İnsanları hafife almak, onlarla dalga geçmek, alay etmek de hiç kimsenin onaylamadığı ve sevmediği bir tutumdur. Alay etme, etkili iletişimin en önemli unsuru olan insana değer verme tutumuyla taban tabana zıt bir durumdur. Bu nedenle alay etme tutumundan uzak durmalı, insana insan olduğu için değer verilmelidir. </a:t>
            </a:r>
          </a:p>
        </p:txBody>
      </p:sp>
    </p:spTree>
    <p:extLst>
      <p:ext uri="{BB962C8B-B14F-4D97-AF65-F5344CB8AC3E}">
        <p14:creationId xmlns:p14="http://schemas.microsoft.com/office/powerpoint/2010/main" val="303976191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09E52A9-CAD3-4B72-806C-00E82E883B52}"/>
              </a:ext>
            </a:extLst>
          </p:cNvPr>
          <p:cNvSpPr>
            <a:spLocks noGrp="1"/>
          </p:cNvSpPr>
          <p:nvPr>
            <p:ph idx="1"/>
          </p:nvPr>
        </p:nvSpPr>
        <p:spPr>
          <a:xfrm>
            <a:off x="677334" y="506187"/>
            <a:ext cx="8596668" cy="5535176"/>
          </a:xfrm>
        </p:spPr>
        <p:txBody>
          <a:bodyPr/>
          <a:lstStyle/>
          <a:p>
            <a:r>
              <a:rPr lang="tr-TR" dirty="0"/>
              <a:t>İnsanlar genellikle eleştirmekten hoşlansalar da eleştirilmekten hoşlanmazlar. Bu nedenle, etkili iletişim sürecinde sorun yaşanıyorsa karşıdaki insanı suçlamadan, yargılamadan onunla </a:t>
            </a:r>
            <a:r>
              <a:rPr lang="tr-TR" dirty="0" err="1"/>
              <a:t>empatik</a:t>
            </a:r>
            <a:r>
              <a:rPr lang="tr-TR" dirty="0"/>
              <a:t> iletişim kurarak sorunun çözümüne odaklanılmalıdır. Espri, şaka, gülümseme insanların hoşuna giden davranışlardır. Ancak yeri ve zamanı uygunsa. Etkili iletişim sürecinde ancak espriyi yeri ve zamanı gelince yapmak insanların hoşuna gidecek bir ortam yaratabilir. İnsanlara hor bakan, küçümseyen, insanları hakir görenleri toplumda kimse sevmez. Bu tür insanlar kolay kolay iletişim de kuramazlar. Bu nedenle etkili bir iletişim için alçakgönüllü davranarak insanlarla iletişim kurmak önemlidir. </a:t>
            </a:r>
          </a:p>
        </p:txBody>
      </p:sp>
      <p:pic>
        <p:nvPicPr>
          <p:cNvPr id="9218" name="Picture 2" descr="Narsistlerin En Çok Nefret Ettiği 6 Kişi! - Motivasyon, Günlük Kişisel  Gelişim ve Psikoloji Sitesi">
            <a:extLst>
              <a:ext uri="{FF2B5EF4-FFF2-40B4-BE49-F238E27FC236}">
                <a16:creationId xmlns:a16="http://schemas.microsoft.com/office/drawing/2014/main" id="{E89AF5D0-4022-4C35-9589-AB5D01FC83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0737" y="3569835"/>
            <a:ext cx="5151664" cy="2781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779900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C22B66C-994E-4261-8CDA-2447CAFF1E4A}"/>
              </a:ext>
            </a:extLst>
          </p:cNvPr>
          <p:cNvSpPr>
            <a:spLocks noGrp="1"/>
          </p:cNvSpPr>
          <p:nvPr>
            <p:ph idx="1"/>
          </p:nvPr>
        </p:nvSpPr>
        <p:spPr>
          <a:xfrm>
            <a:off x="595691" y="800100"/>
            <a:ext cx="8596668" cy="5135336"/>
          </a:xfrm>
        </p:spPr>
        <p:txBody>
          <a:bodyPr>
            <a:normAutofit lnSpcReduction="10000"/>
          </a:bodyPr>
          <a:lstStyle/>
          <a:p>
            <a:r>
              <a:rPr lang="tr-TR" dirty="0"/>
              <a:t>İletişim sürecini olumsuz etkileyen bir unsur olan iletişim korkusu anlık gelişmeler karşısında kendini göstermektedir. İletişim korkusunu tetikleyenler unsurlar arasında ani ruhsal değişmeler, sinirli tepkiler, yalnızlık duygusu, dışlanma hissi, yanlış şeyler söyleme kaygısı, alaya alınma ya da başkalarına aptal görünme gibi durumsal olaylar sayılabilir. Ayrıca düşük zihinsel beceriler, konuşma yetersizliği, sosyal içe dönüklük, iletişim kaygısı, düşük sosyal özgüven, sosyal yabancılaşma, kültürel ve etnik ayrılıklarda iletişim korkusuna ve suskunluğa neden olmaktadır. Başka bir anlatımla, insanın çevresindekilerle iletişime geçmesini engelleyen korkular şu şekilde kendini gösterir:</a:t>
            </a:r>
          </a:p>
          <a:p>
            <a:r>
              <a:rPr lang="tr-TR" dirty="0">
                <a:sym typeface="Symbol" panose="05050102010706020507" pitchFamily="18" charset="2"/>
              </a:rPr>
              <a:t></a:t>
            </a:r>
            <a:r>
              <a:rPr lang="tr-TR" dirty="0"/>
              <a:t> Yeni durum ve insanlardan (kişi ortamdaki görüşleri hemen kabul eder) </a:t>
            </a:r>
          </a:p>
          <a:p>
            <a:r>
              <a:rPr lang="tr-TR" dirty="0">
                <a:sym typeface="Symbol" panose="05050102010706020507" pitchFamily="18" charset="2"/>
              </a:rPr>
              <a:t></a:t>
            </a:r>
            <a:r>
              <a:rPr lang="tr-TR" dirty="0"/>
              <a:t> Yanlış şeyleri söylemekten (kişi konuşamaz) </a:t>
            </a:r>
          </a:p>
          <a:p>
            <a:r>
              <a:rPr lang="tr-TR" dirty="0">
                <a:sym typeface="Symbol" panose="05050102010706020507" pitchFamily="18" charset="2"/>
              </a:rPr>
              <a:t></a:t>
            </a:r>
            <a:r>
              <a:rPr lang="tr-TR" dirty="0"/>
              <a:t> Alaya alınmaktan (kişi söyleyeceği şeyleri küçümser) </a:t>
            </a:r>
          </a:p>
          <a:p>
            <a:r>
              <a:rPr lang="tr-TR" dirty="0">
                <a:sym typeface="Symbol" panose="05050102010706020507" pitchFamily="18" charset="2"/>
              </a:rPr>
              <a:t></a:t>
            </a:r>
            <a:r>
              <a:rPr lang="tr-TR" dirty="0"/>
              <a:t> Başkasının gözünde küçük görünmek (insan düşündüğünü söyleyemez) </a:t>
            </a:r>
          </a:p>
          <a:p>
            <a:r>
              <a:rPr lang="tr-TR" dirty="0">
                <a:sym typeface="Symbol" panose="05050102010706020507" pitchFamily="18" charset="2"/>
              </a:rPr>
              <a:t></a:t>
            </a:r>
            <a:r>
              <a:rPr lang="tr-TR" dirty="0"/>
              <a:t> Duyguları ifade etmek ya da duyguları kontrol edememekten korkmak (kişi duygularını bastırır) Duyarsızlık ise bir insanın bir toplumun ya da diğer insanların duygusal, sosyal ya da fiziksel yaşamlarına ilgi duymaması olarak tanımlanmaktadır. </a:t>
            </a:r>
          </a:p>
        </p:txBody>
      </p:sp>
    </p:spTree>
    <p:extLst>
      <p:ext uri="{BB962C8B-B14F-4D97-AF65-F5344CB8AC3E}">
        <p14:creationId xmlns:p14="http://schemas.microsoft.com/office/powerpoint/2010/main" val="273864577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1565FAF-FDEB-4EF1-8A7F-9CCE64E55E07}"/>
              </a:ext>
            </a:extLst>
          </p:cNvPr>
          <p:cNvSpPr>
            <a:spLocks noGrp="1"/>
          </p:cNvSpPr>
          <p:nvPr>
            <p:ph idx="1"/>
          </p:nvPr>
        </p:nvSpPr>
        <p:spPr>
          <a:xfrm>
            <a:off x="677334" y="1232807"/>
            <a:ext cx="8596668" cy="5151664"/>
          </a:xfrm>
        </p:spPr>
        <p:txBody>
          <a:bodyPr/>
          <a:lstStyle/>
          <a:p>
            <a:r>
              <a:rPr lang="tr-TR" dirty="0"/>
              <a:t>İlgisizlik, kayıtsızlık demektir. İnsanın karşısındaki insana duyarsız kalması o kişiye yapılabilecek en büyük hata, en büyük kötülüktür. Lakap takma merakı, şakalaşmak ya da küçümsemek amacıyla yapılan sonuçları yıkım olan davranıştır. Şakalaşmak karşıdaki kişinin duygularına önem vermemek anlamına gelir. Küçümsenmenin sonucunda ise kişi aşağılanma, dışlanma, yok sayılma, kullanılma gibi duyguları yoğun bir biçimde yaşayabileceğinden iletişim sorunlarının yaşanması kaçınılmazdır. Kararsızlık, insanın ikilem yaşadığı anlarda hissettiği bir duygudur. Bilgisizlik, güvensizlik, gelecek korkusu, bedel ödeme korkusu, sorumluluk alma korkusu, çevre korkusu ya da iyi niyetten kaynaklanan “hayır” diyememe ya da çocukluktan gelen öğretiler kararsızlığın nedenleri arasında sayılabilir. Pek çok insanın taşıdığı sosyal bir fobi olan alınganlık da etkili iletişim sürecini olumsuz engelleyen bir unsurdur. </a:t>
            </a:r>
          </a:p>
        </p:txBody>
      </p:sp>
    </p:spTree>
    <p:extLst>
      <p:ext uri="{BB962C8B-B14F-4D97-AF65-F5344CB8AC3E}">
        <p14:creationId xmlns:p14="http://schemas.microsoft.com/office/powerpoint/2010/main" val="57876609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2691ACC-0218-451F-8DEE-D2E4FD789D7E}"/>
              </a:ext>
            </a:extLst>
          </p:cNvPr>
          <p:cNvSpPr>
            <a:spLocks noGrp="1"/>
          </p:cNvSpPr>
          <p:nvPr>
            <p:ph idx="1"/>
          </p:nvPr>
        </p:nvSpPr>
        <p:spPr/>
        <p:txBody>
          <a:bodyPr/>
          <a:lstStyle/>
          <a:p>
            <a:r>
              <a:rPr lang="tr-TR" dirty="0"/>
              <a:t>Alınganlık karşıdakine kuşkuculuk ve özgüven eksikliği mesajlarını gönderebildiğinden zaman zaman etkili iletişim sürecinde sıkıntı yaşatan bir durumdur. Benmerkezcilik ise başkalarının varlığını ve çıkarlarını </a:t>
            </a:r>
            <a:r>
              <a:rPr lang="tr-TR" dirty="0" err="1"/>
              <a:t>gözardı</a:t>
            </a:r>
            <a:r>
              <a:rPr lang="tr-TR" dirty="0"/>
              <a:t> ederek kendini her şeyin merkezine koyma tutumu ve davranışıdır. Yetişkinlerde bu durum önemli bir iletişim sorunu oluşturur. Çünkü kişi her konuda kendisini öne çıkarmak ister, sürekli kendinden söz eder, ötekilerden daha önemli olduğuna inanır; dinlemek yerine dinlenmek, anlamak yerine anlaşılmak ve sürekli takdir görmek ister.</a:t>
            </a:r>
          </a:p>
          <a:p>
            <a:endParaRPr lang="tr-TR" dirty="0"/>
          </a:p>
        </p:txBody>
      </p:sp>
    </p:spTree>
    <p:extLst>
      <p:ext uri="{BB962C8B-B14F-4D97-AF65-F5344CB8AC3E}">
        <p14:creationId xmlns:p14="http://schemas.microsoft.com/office/powerpoint/2010/main" val="231084567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48C31B3-1242-4959-964B-916911700864}"/>
              </a:ext>
            </a:extLst>
          </p:cNvPr>
          <p:cNvSpPr>
            <a:spLocks noGrp="1"/>
          </p:cNvSpPr>
          <p:nvPr>
            <p:ph idx="1"/>
          </p:nvPr>
        </p:nvSpPr>
        <p:spPr>
          <a:xfrm>
            <a:off x="677334" y="1061357"/>
            <a:ext cx="8596668" cy="4980005"/>
          </a:xfrm>
        </p:spPr>
        <p:txBody>
          <a:bodyPr>
            <a:normAutofit fontScale="92500" lnSpcReduction="20000"/>
          </a:bodyPr>
          <a:lstStyle/>
          <a:p>
            <a:r>
              <a:rPr lang="tr-TR" dirty="0"/>
              <a:t>İletişimi engelleyen diğer unsurlar arasında süzme adı verilen bir engel söz konusu olabilir. Mesaj gönderilirken manipüle edilebilir ve ulaşması gereken yerde kayıplara neden olabilir bu durum; kulaktan kulağa iletilen mesajlar gibi. Bu nedenle anlam kayması yaşanmaması için önemli mesajlar yüz yüze iletilmesi gereklidir. İletişimi engelleyen diğer bir unsur seçici algılamadır. Mesaj gönderilen kişi, mesajı almak istediği şekliyle ya da beklentisi doğrultusunda yorumlayabilir. Burada alıcının güdüleri ve deneyimleri önemlidir. Bu anlamda, seçici algılamanın alışkanlık haline getirilmesi psikolojik rahatsızlıklara neden olabilir. Çaresi ise, mesajların içindeki sözcüklerden çok anlamlara yönelmektir. Duygusal durum da iletişimi engelleyen bir unsurdur. Sözgelimi alıcı farklı bir konuyla meşguldür. Başarılı bir iletişim için alıcının kanallarının açık olması gereklidir. Alıcı, mesajı gönderene kapalı da olabilir. Alıcılarını kaynak kişiye kapatmış, iletişim kapısını kilitlemiş, size saygı duymayan, önyargılı biriyle iletişime geçmek oldukça zordur. Öte yandan alıcı, mesajı alabilmek için yoğun bir şekilde kendisini konsantre etmiş de olabilir. Ya da alıcı, mesajı gönderene karşı deneyimlerinden ötürü savunma </a:t>
            </a:r>
            <a:r>
              <a:rPr lang="tr-TR" dirty="0" err="1"/>
              <a:t>modunda</a:t>
            </a:r>
            <a:r>
              <a:rPr lang="tr-TR" dirty="0"/>
              <a:t> da olabilir. Ya da alıcı, mesaja ilgi duymamaktadır ki bu çoğunlukla kendini beğenmiş kişilerin tarzıdır. Oysa başarılı bir iletişimde anlamsız mesajlar bile dinlenilmelidir. Burada etkili bir iletişim için insanın duygu yönünü yönetebilmesi önemlidir. Duygularını yönetebilmenin en iyi yolu, karar verme aşamasını aceleye getirmemektir. Kişinin kendini </a:t>
            </a:r>
            <a:r>
              <a:rPr lang="tr-TR" dirty="0" err="1"/>
              <a:t>koşullamaması</a:t>
            </a:r>
            <a:r>
              <a:rPr lang="tr-TR" dirty="0"/>
              <a:t> ve önyargıyla hareket etmemesi gereklidir. </a:t>
            </a:r>
          </a:p>
        </p:txBody>
      </p:sp>
    </p:spTree>
    <p:extLst>
      <p:ext uri="{BB962C8B-B14F-4D97-AF65-F5344CB8AC3E}">
        <p14:creationId xmlns:p14="http://schemas.microsoft.com/office/powerpoint/2010/main" val="61886541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912D410-F1D2-44AC-B5D2-046BC716022E}"/>
              </a:ext>
            </a:extLst>
          </p:cNvPr>
          <p:cNvSpPr>
            <a:spLocks noGrp="1"/>
          </p:cNvSpPr>
          <p:nvPr>
            <p:ph idx="1"/>
          </p:nvPr>
        </p:nvSpPr>
        <p:spPr/>
        <p:txBody>
          <a:bodyPr/>
          <a:lstStyle/>
          <a:p>
            <a:r>
              <a:rPr lang="tr-TR" dirty="0"/>
              <a:t>İletişimi engelleyen diğer bir unsur mesajdır. Etkili bir iletişim için mesaj net ve anlaşılır olmalıdır. Mesaj alıcının anlayamayacağı denli teknik terimlere boğulmuşsa itici olabilir. İletilen mesajın alıcı tarafından anlaşılıp anlaşılmadığı da alıcının beden dili dışavurumlarıyla belirlenebilir. Bu doğrultuda, mesaj engelini aşmak için net olmaya gayret edilmelidir. Başvurulan semboller anlaşılır olmalıdır. Aşırı teknik terim kullanımından kaçınılmalıdır. Zaman iletişimi engelleyen diğer bir unsurdur. Bu nedenle zamanın dar olduğu dönemlerde yoğun mesaj göndermek yanlış olur. Alıcı meşgulken mesaj gönderilmemelidir, mesaj gönderme zamanına dikkat edilmelidir. </a:t>
            </a:r>
          </a:p>
        </p:txBody>
      </p:sp>
    </p:spTree>
    <p:extLst>
      <p:ext uri="{BB962C8B-B14F-4D97-AF65-F5344CB8AC3E}">
        <p14:creationId xmlns:p14="http://schemas.microsoft.com/office/powerpoint/2010/main" val="206589583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0E91E32-73F6-48CE-8CF5-727497B7C3D3}"/>
              </a:ext>
            </a:extLst>
          </p:cNvPr>
          <p:cNvSpPr>
            <a:spLocks noGrp="1"/>
          </p:cNvSpPr>
          <p:nvPr>
            <p:ph idx="1"/>
          </p:nvPr>
        </p:nvSpPr>
        <p:spPr>
          <a:xfrm>
            <a:off x="677334" y="1436915"/>
            <a:ext cx="8596668" cy="4604448"/>
          </a:xfrm>
        </p:spPr>
        <p:txBody>
          <a:bodyPr>
            <a:normAutofit fontScale="92500"/>
          </a:bodyPr>
          <a:lstStyle/>
          <a:p>
            <a:r>
              <a:rPr lang="tr-TR" dirty="0"/>
              <a:t>İletişimi engelleyen bir başka unsur da daha önce de belirtildiği gibi önyargıdır. Çünkü önyargı iletişimi baltalar. Önyargıları aşmak, çoğunlukla davranışla olur. Önyargı bazen gizlenebilir. Bu durum da iletişimin başarısız olmasına etkendir. İnsan düşündüğünde gerçekte önyargılarını düzenlemektedir. Bu nedenle diyaloğa açık olunduğunun mesajı göndermelidir insan. Kaynak ve alıcı arasındaki kişisel mesafe de, gürültü de iletişimde bir engel oluşturabilir. Pasif dinleme de bir engeldir. Pasif dinleme engelini aşmanın yolu bu bağlamda, iletişim kurulan kişiye yönelmek, eleştirmemek, yönlendirmemek, dikte etmemek, yorum yapmamak, meşguliyetlerden sıyrılıp yalnızca dinlemektir. Yetersiz geribildirim de iletişimi engelleyen bir unsurdur. Bu engeli aşmanın yolu da aktif/etkin dinlemeden geçer. Geribildirimi kaynak kişi uyguluyorsa, net olmalı, önyargılı ifade kullanmamalı, davranışa yoğunlaşmalı, geribildirimin zamanını iyi ayarlamalı, geribildirimi davranış sonrası uygulamalı, gelişmenin zorla olmasını beklememelidir. Geribildirimi alıcı alıyorsa, bilgi olarak algılamalı, tartışmamalı, gereksinim durumunda geribildirimin niteliğini değerlendirmeli, geribildirime hemen karşılık vermemelidir. Özetle, iletişimin bozucu engelleri kişisel engeller, kanal engelleri, teknik engeller, fiziksel uzaklık, zaman baskısı ve kesintiler şeklinde açıklanabilir.</a:t>
            </a:r>
          </a:p>
          <a:p>
            <a:endParaRPr lang="tr-TR" dirty="0"/>
          </a:p>
        </p:txBody>
      </p:sp>
    </p:spTree>
    <p:extLst>
      <p:ext uri="{BB962C8B-B14F-4D97-AF65-F5344CB8AC3E}">
        <p14:creationId xmlns:p14="http://schemas.microsoft.com/office/powerpoint/2010/main" val="49036503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499B3D2C-9246-472D-BBCF-8E45924E459B}"/>
              </a:ext>
            </a:extLst>
          </p:cNvPr>
          <p:cNvSpPr>
            <a:spLocks noGrp="1"/>
          </p:cNvSpPr>
          <p:nvPr>
            <p:ph type="title"/>
          </p:nvPr>
        </p:nvSpPr>
        <p:spPr>
          <a:xfrm>
            <a:off x="677334" y="318408"/>
            <a:ext cx="8596668" cy="759278"/>
          </a:xfrm>
        </p:spPr>
        <p:txBody>
          <a:bodyPr/>
          <a:lstStyle/>
          <a:p>
            <a:r>
              <a:rPr lang="tr-TR" dirty="0"/>
              <a:t>  DUYGULAR, STRES VE İLETİŞİM </a:t>
            </a:r>
          </a:p>
        </p:txBody>
      </p:sp>
      <p:sp>
        <p:nvSpPr>
          <p:cNvPr id="3" name="İçerik Yer Tutucusu 2">
            <a:extLst>
              <a:ext uri="{FF2B5EF4-FFF2-40B4-BE49-F238E27FC236}">
                <a16:creationId xmlns:a16="http://schemas.microsoft.com/office/drawing/2014/main" id="{9D8E33EA-D1F1-4CF6-8FCE-E413FAEC491E}"/>
              </a:ext>
            </a:extLst>
          </p:cNvPr>
          <p:cNvSpPr>
            <a:spLocks noGrp="1"/>
          </p:cNvSpPr>
          <p:nvPr>
            <p:ph idx="1"/>
          </p:nvPr>
        </p:nvSpPr>
        <p:spPr>
          <a:xfrm>
            <a:off x="677333" y="1559379"/>
            <a:ext cx="8596668" cy="4481983"/>
          </a:xfrm>
        </p:spPr>
        <p:txBody>
          <a:bodyPr/>
          <a:lstStyle/>
          <a:p>
            <a:r>
              <a:rPr lang="tr-TR" dirty="0"/>
              <a:t>İletişim, yalnızca sözcüklerin aktarımından ibaret değildir; bireylerin duygu durumları, düşünceleri ve yaşadıkları psikolojik süreçler iletişimin niteliğini doğrudan etkiler. Özellikle yoğun duyguların yaşandığı ve stres düzeyinin yükseldiği durumlarda iletişim süreci daha karmaşık hâle gelir. Bu nedenle etkili iletişim kurabilmenin temel koşullarından biri, duyguların farkında olmak ve stres altında doğru iletişim stratejileri geliştirebilmektir.</a:t>
            </a:r>
          </a:p>
        </p:txBody>
      </p:sp>
      <p:pic>
        <p:nvPicPr>
          <p:cNvPr id="10242" name="Picture 2" descr="Duyguları Doğru İfade Etmenin İnsan İlişkileri Üzerindeki Etkileri  Nelerdir? - Lanu Psikoloji">
            <a:extLst>
              <a:ext uri="{FF2B5EF4-FFF2-40B4-BE49-F238E27FC236}">
                <a16:creationId xmlns:a16="http://schemas.microsoft.com/office/drawing/2014/main" id="{39924AC5-9A2E-43CD-915E-0EFB58A754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7693" y="3429000"/>
            <a:ext cx="4620986" cy="2612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424455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49149AE-F791-4129-9AA5-4D2356AC4BF9}"/>
              </a:ext>
            </a:extLst>
          </p:cNvPr>
          <p:cNvSpPr>
            <a:spLocks noGrp="1"/>
          </p:cNvSpPr>
          <p:nvPr>
            <p:ph idx="1"/>
          </p:nvPr>
        </p:nvSpPr>
        <p:spPr>
          <a:xfrm>
            <a:off x="677334" y="636815"/>
            <a:ext cx="8596668" cy="5404548"/>
          </a:xfrm>
        </p:spPr>
        <p:txBody>
          <a:bodyPr>
            <a:normAutofit fontScale="92500" lnSpcReduction="10000"/>
          </a:bodyPr>
          <a:lstStyle/>
          <a:p>
            <a:r>
              <a:rPr lang="tr-TR" dirty="0"/>
              <a:t>Duygular, bireyin çevresini algılama biçimini, olaylara verdiği tepkileri ve başkalarıyla kurduğu iletişimi şekillendirir. Sevinç, mutluluk, korku, kaygı, öfke ve üzüntü gibi temel duygular, iletişim sürecinde hem sözlü hem de sözsüz mesajlara yansır. Örneğin, olumlu duygular içinde olan bir birey daha açık, yapıcı ve anlayışlı bir iletişim kurarken; olumsuz duygular yaşayan bir birey savunmacı, kırıcı veya içine kapanık bir iletişim tarzı sergileyebilir.</a:t>
            </a:r>
          </a:p>
          <a:p>
            <a:endParaRPr lang="tr-TR" dirty="0"/>
          </a:p>
          <a:p>
            <a:r>
              <a:rPr lang="tr-TR" dirty="0"/>
              <a:t>Duygular, mesajın </a:t>
            </a:r>
            <a:r>
              <a:rPr lang="tr-TR" b="1" dirty="0"/>
              <a:t>nasıl söylendiğini</a:t>
            </a:r>
            <a:r>
              <a:rPr lang="tr-TR" dirty="0"/>
              <a:t> belirlediği kadar, karşı tarafın mesajı </a:t>
            </a:r>
            <a:r>
              <a:rPr lang="tr-TR" b="1" dirty="0"/>
              <a:t>nasıl algılayacağını</a:t>
            </a:r>
            <a:r>
              <a:rPr lang="tr-TR" dirty="0"/>
              <a:t> da etkiler. Öfke veya kaygı hâlindeki bir kişi, söylenenleri yanlış yorumlayabilir, tehdit algısı geliştirebilir ya da gereğinden sert tepkiler verebilir. Bu durum, iletişimde yanlış anlamalara ve çatışmalara yol açabilir. Dolayısıyla duygusal farkındalık, etkili iletişimin temel taşlarından biridir. Bireyin kendi duygularını tanıması ve kontrol edebilmesi, sağlıklı bir iletişim süreci için gereklidir.</a:t>
            </a:r>
          </a:p>
          <a:p>
            <a:endParaRPr lang="tr-TR" dirty="0"/>
          </a:p>
          <a:p>
            <a:r>
              <a:rPr lang="tr-TR" dirty="0"/>
              <a:t>Ayrıca duygular, beden dili aracılığıyla da iletişime yansır. Ses tonundaki değişimler, yüz ifadeleri, jest ve mimikler, çoğu zaman sözcüklerden daha güçlü mesajlar verir. Kişi sözlü olarak sakin bir mesaj verse bile beden dili gerginlik veya öfke yansıtıyorsa, karşı taraf bu durumu fark eder ve iletişim olumsuz etkilenir. Bu nedenle sözlü ve sözsüz iletişim arasında tutarlılık sağlanması büyük önem taşır.</a:t>
            </a:r>
          </a:p>
          <a:p>
            <a:endParaRPr lang="tr-TR" dirty="0"/>
          </a:p>
        </p:txBody>
      </p:sp>
    </p:spTree>
    <p:extLst>
      <p:ext uri="{BB962C8B-B14F-4D97-AF65-F5344CB8AC3E}">
        <p14:creationId xmlns:p14="http://schemas.microsoft.com/office/powerpoint/2010/main" val="362514292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BA87B00D-FC67-481A-904D-C9FA00196CEA}"/>
              </a:ext>
            </a:extLst>
          </p:cNvPr>
          <p:cNvSpPr>
            <a:spLocks noGrp="1"/>
          </p:cNvSpPr>
          <p:nvPr>
            <p:ph type="title"/>
          </p:nvPr>
        </p:nvSpPr>
        <p:spPr>
          <a:xfrm>
            <a:off x="677334" y="383721"/>
            <a:ext cx="8596668" cy="751115"/>
          </a:xfrm>
        </p:spPr>
        <p:txBody>
          <a:bodyPr>
            <a:normAutofit/>
          </a:bodyPr>
          <a:lstStyle/>
          <a:p>
            <a:r>
              <a:rPr lang="tr-TR" sz="2800" dirty="0"/>
              <a:t>   STRES ALTINDA İLETİŞİM KURMA</a:t>
            </a:r>
          </a:p>
        </p:txBody>
      </p:sp>
      <p:sp>
        <p:nvSpPr>
          <p:cNvPr id="3" name="İçerik Yer Tutucusu 2">
            <a:extLst>
              <a:ext uri="{FF2B5EF4-FFF2-40B4-BE49-F238E27FC236}">
                <a16:creationId xmlns:a16="http://schemas.microsoft.com/office/drawing/2014/main" id="{6E77FEB4-6679-4785-81BE-8C6F56C399A6}"/>
              </a:ext>
            </a:extLst>
          </p:cNvPr>
          <p:cNvSpPr>
            <a:spLocks noGrp="1"/>
          </p:cNvSpPr>
          <p:nvPr>
            <p:ph idx="1"/>
          </p:nvPr>
        </p:nvSpPr>
        <p:spPr>
          <a:xfrm>
            <a:off x="677334" y="1134837"/>
            <a:ext cx="8596668" cy="4906526"/>
          </a:xfrm>
        </p:spPr>
        <p:txBody>
          <a:bodyPr/>
          <a:lstStyle/>
          <a:p>
            <a:r>
              <a:rPr lang="tr-TR" dirty="0"/>
              <a:t>Stres, bireyin kendini baskı altında hissettiği, kontrol duygusunun azaldığı durumlarda ortaya çıkan bir tepkidir. Zaman baskısı, belirsizlik, tehdit algısı veya yoğun sorumluluklar stres düzeyini artırır. Stres altında iletişim kurmak, normal koşullara göre daha zordur; çünkü stres, dikkat dağınıklığına, sabırsızlığa ve duygusal tepkilerin artmasına neden olur.</a:t>
            </a:r>
          </a:p>
          <a:p>
            <a:r>
              <a:rPr lang="tr-TR" dirty="0"/>
              <a:t>Stresli durumlarda bireyler genellikle daha kısa, sert ve emredici bir dil kullanma eğilimindedir. Dinleme becerileri zayıflar, karşı tarafın söylediklerine odaklanmak yerine savunma mekanizmaları devreye girer. Bu durum, iletişim kazalarına ve çatışmaların büyümesine yol açabilir. Özellikle kriz ve baskı ortamlarında yanlış bir kelime ya da uygunsuz bir ses tonu, iletişimin tamamen kopmasına neden olabilir.</a:t>
            </a:r>
          </a:p>
          <a:p>
            <a:endParaRPr lang="tr-TR" dirty="0"/>
          </a:p>
        </p:txBody>
      </p:sp>
      <p:pic>
        <p:nvPicPr>
          <p:cNvPr id="11266" name="Picture 2" descr="Stres Yönetimi Teknikleri – Sır Psikoloji – Kayseri Psikolog – Kayseri EMDR  – Kayseri Aile Danışma Merkezi">
            <a:extLst>
              <a:ext uri="{FF2B5EF4-FFF2-40B4-BE49-F238E27FC236}">
                <a16:creationId xmlns:a16="http://schemas.microsoft.com/office/drawing/2014/main" id="{13EE0005-6B4B-4AA4-8C72-A2C54A5265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1558" y="4355438"/>
            <a:ext cx="4261756" cy="2118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169754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15F8D2A-D7FB-4DCB-95EC-42A50466284B}"/>
              </a:ext>
            </a:extLst>
          </p:cNvPr>
          <p:cNvSpPr>
            <a:spLocks noGrp="1"/>
          </p:cNvSpPr>
          <p:nvPr>
            <p:ph idx="1"/>
          </p:nvPr>
        </p:nvSpPr>
        <p:spPr>
          <a:xfrm>
            <a:off x="677334" y="1387929"/>
            <a:ext cx="8596668" cy="4653433"/>
          </a:xfrm>
        </p:spPr>
        <p:txBody>
          <a:bodyPr/>
          <a:lstStyle/>
          <a:p>
            <a:r>
              <a:rPr lang="tr-TR" dirty="0"/>
              <a:t>Stres altında etkili iletişim kurabilmek için öncelikle bireyin kendi stresini fark etmesi ve kontrol altına alması gerekir. Nefes egzersizleri, kısa duraklamalar ve zihinsel sakinleşme teknikleri, iletişim öncesinde denge sağlamaya yardımcı olur. Ayrıca bu tür durumlarda </a:t>
            </a:r>
            <a:r>
              <a:rPr lang="tr-TR" b="1" dirty="0"/>
              <a:t>net, açık ve kısa ifadeler</a:t>
            </a:r>
            <a:r>
              <a:rPr lang="tr-TR" dirty="0"/>
              <a:t> kullanmak; karmaşık ve uzun açıklamalardan kaçınmak önemlidir. Aktif dinleme, karşı tarafın anlaşıldığını hissetmesini sağlar ve gerilimi azaltır.</a:t>
            </a:r>
          </a:p>
          <a:p>
            <a:endParaRPr lang="tr-TR" dirty="0"/>
          </a:p>
          <a:p>
            <a:r>
              <a:rPr lang="tr-TR" dirty="0"/>
              <a:t>Empati, stresli iletişim ortamlarında en güçlü araçlardan biridir. Karşı tarafın duygu durumunu anlamaya çalışmak, yargılayıcı bir dilden kaçınmak ve çözüm odaklı bir yaklaşım sergilemek, iletişimin yapıcı bir yönde ilerlemesini sağlar. Stres altındaki iletişimde amaç, karşı tarafı baskı altına almak değil; durumu kontrol altına alarak sağlıklı bir etkileşim kurmaktır.</a:t>
            </a:r>
          </a:p>
          <a:p>
            <a:endParaRPr lang="tr-TR" dirty="0"/>
          </a:p>
        </p:txBody>
      </p:sp>
    </p:spTree>
    <p:extLst>
      <p:ext uri="{BB962C8B-B14F-4D97-AF65-F5344CB8AC3E}">
        <p14:creationId xmlns:p14="http://schemas.microsoft.com/office/powerpoint/2010/main" val="265458853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1A5B5F5-6E52-4B1E-ABCC-1F7F2F74FC2F}"/>
              </a:ext>
            </a:extLst>
          </p:cNvPr>
          <p:cNvSpPr>
            <a:spLocks noGrp="1"/>
          </p:cNvSpPr>
          <p:nvPr>
            <p:ph idx="1"/>
          </p:nvPr>
        </p:nvSpPr>
        <p:spPr>
          <a:xfrm>
            <a:off x="636512" y="506185"/>
            <a:ext cx="8596668" cy="4800599"/>
          </a:xfrm>
        </p:spPr>
        <p:txBody>
          <a:bodyPr/>
          <a:lstStyle/>
          <a:p>
            <a:r>
              <a:rPr lang="tr-TR" dirty="0"/>
              <a:t>Duygular ve stres, iletişimin görünmez ancak belirleyici unsurlarıdır. Duyguların farkında olunmadığında ve stres yönetimi sağlanamadığında iletişim kaçınılmaz olarak zarar görür. Buna karşılık, duygusal farkındalık geliştiren ve stres altında iletişim becerilerini güçlendiren bireyler, daha etkili, güven verici ve yapıcı bir iletişim kurabilirler. Bu nedenle etkili iletişim eğitimi, yalnızca konuşma tekniklerini değil; aynı zamanda duygu yönetimi ve stresle başa çıkma becerilerini de kapsamalıdır.</a:t>
            </a:r>
          </a:p>
        </p:txBody>
      </p:sp>
      <p:pic>
        <p:nvPicPr>
          <p:cNvPr id="12290" name="Picture 2" descr="Psikolojik Stres Yönetimi Nedir? - One Dose">
            <a:extLst>
              <a:ext uri="{FF2B5EF4-FFF2-40B4-BE49-F238E27FC236}">
                <a16:creationId xmlns:a16="http://schemas.microsoft.com/office/drawing/2014/main" id="{800395F2-CFE9-4ABA-8469-EE7DC8C149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3393" y="2906484"/>
            <a:ext cx="4555671" cy="2694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70341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AF32BE02-4ACE-4A6E-87DC-3BAB4E1D7DF9}"/>
              </a:ext>
            </a:extLst>
          </p:cNvPr>
          <p:cNvSpPr>
            <a:spLocks noGrp="1"/>
          </p:cNvSpPr>
          <p:nvPr>
            <p:ph type="title"/>
          </p:nvPr>
        </p:nvSpPr>
        <p:spPr/>
        <p:txBody>
          <a:bodyPr/>
          <a:lstStyle/>
          <a:p>
            <a:r>
              <a:rPr lang="tr-TR" dirty="0"/>
              <a:t>ÇATIŞMA YÖNETİMİ </a:t>
            </a:r>
            <a:br>
              <a:rPr lang="tr-TR" dirty="0"/>
            </a:br>
            <a:r>
              <a:rPr lang="tr-TR" sz="2800" dirty="0"/>
              <a:t>ÇATIŞMA NEDİR </a:t>
            </a:r>
          </a:p>
        </p:txBody>
      </p:sp>
      <p:sp>
        <p:nvSpPr>
          <p:cNvPr id="3" name="İçerik Yer Tutucusu 2">
            <a:extLst>
              <a:ext uri="{FF2B5EF4-FFF2-40B4-BE49-F238E27FC236}">
                <a16:creationId xmlns:a16="http://schemas.microsoft.com/office/drawing/2014/main" id="{7D4A43C4-1671-44C5-8EBE-33561E6537CD}"/>
              </a:ext>
            </a:extLst>
          </p:cNvPr>
          <p:cNvSpPr>
            <a:spLocks noGrp="1"/>
          </p:cNvSpPr>
          <p:nvPr>
            <p:ph idx="1"/>
          </p:nvPr>
        </p:nvSpPr>
        <p:spPr>
          <a:xfrm>
            <a:off x="677334" y="2555421"/>
            <a:ext cx="8596668" cy="3967634"/>
          </a:xfrm>
        </p:spPr>
        <p:txBody>
          <a:bodyPr/>
          <a:lstStyle/>
          <a:p>
            <a:r>
              <a:rPr lang="tr-TR" dirty="0"/>
              <a:t>Çatışma; bireyler ya da gruplar arasında </a:t>
            </a:r>
            <a:r>
              <a:rPr lang="tr-TR" b="1" dirty="0"/>
              <a:t>çıkar, değer, ihtiyaç, algı veya beklentilerin uyuşmaması</a:t>
            </a:r>
            <a:r>
              <a:rPr lang="tr-TR" dirty="0"/>
              <a:t> sonucunda ortaya çıkan anlaşmazlık durumudur. Günlük yaşamda, iş hayatında, aile ilişkilerinde ve toplumsal ortamlarda çatışmalar kaçınılmazdır. Önemli olan çatışmanın varlığı değil, </a:t>
            </a:r>
            <a:r>
              <a:rPr lang="tr-TR" b="1" dirty="0"/>
              <a:t>nasıl yönetildiğidir</a:t>
            </a:r>
            <a:r>
              <a:rPr lang="tr-TR" dirty="0"/>
              <a:t>.</a:t>
            </a:r>
          </a:p>
          <a:p>
            <a:endParaRPr lang="tr-TR" dirty="0"/>
          </a:p>
        </p:txBody>
      </p:sp>
      <p:pic>
        <p:nvPicPr>
          <p:cNvPr id="13314" name="Picture 2" descr="Çatışma Yönetimi Eğitimi - PLI Turkey">
            <a:extLst>
              <a:ext uri="{FF2B5EF4-FFF2-40B4-BE49-F238E27FC236}">
                <a16:creationId xmlns:a16="http://schemas.microsoft.com/office/drawing/2014/main" id="{E1FB2A30-413D-428E-87FC-40B63A20EC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2185" y="4227059"/>
            <a:ext cx="2543175" cy="180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677949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81B8B20-3AC8-427E-BA29-C9E076DBF966}"/>
              </a:ext>
            </a:extLst>
          </p:cNvPr>
          <p:cNvSpPr>
            <a:spLocks noGrp="1"/>
          </p:cNvSpPr>
          <p:nvPr>
            <p:ph idx="1"/>
          </p:nvPr>
        </p:nvSpPr>
        <p:spPr/>
        <p:txBody>
          <a:bodyPr/>
          <a:lstStyle/>
          <a:p>
            <a:r>
              <a:rPr lang="tr-TR" b="1" dirty="0"/>
              <a:t>Çatışma Yönetimi Nedir?</a:t>
            </a:r>
          </a:p>
          <a:p>
            <a:r>
              <a:rPr lang="tr-TR" dirty="0"/>
              <a:t>Çatışma yönetimi; çatışmanın </a:t>
            </a:r>
            <a:r>
              <a:rPr lang="tr-TR" b="1" dirty="0"/>
              <a:t>olumsuz etkilerini azaltmayı</a:t>
            </a:r>
            <a:r>
              <a:rPr lang="tr-TR" dirty="0"/>
              <a:t>, taraflar arasındaki iletişimi güçlendirmeyi ve sorunu </a:t>
            </a:r>
            <a:r>
              <a:rPr lang="tr-TR" b="1" dirty="0"/>
              <a:t>yapıcı yollarla çözmeyi</a:t>
            </a:r>
            <a:r>
              <a:rPr lang="tr-TR" dirty="0"/>
              <a:t> amaçlayan süreçtir. Etkili çatışma yönetimi, ilişkilerin zarar görmesini önlerken, bireylerin kendilerini ifade edebilmesine olanak tanır.</a:t>
            </a:r>
          </a:p>
          <a:p>
            <a:endParaRPr lang="tr-TR" dirty="0"/>
          </a:p>
        </p:txBody>
      </p:sp>
      <p:pic>
        <p:nvPicPr>
          <p:cNvPr id="14338" name="Picture 2" descr="KİŞİLERARASI İLETİŞİM ÇATIŞMALARI ve YÖNETİMİ">
            <a:extLst>
              <a:ext uri="{FF2B5EF4-FFF2-40B4-BE49-F238E27FC236}">
                <a16:creationId xmlns:a16="http://schemas.microsoft.com/office/drawing/2014/main" id="{D0BB9FC3-9B30-497E-A0D9-8E35159CB4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7998" y="3910013"/>
            <a:ext cx="3466473" cy="2490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250205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E32ABA8-AB61-4910-A8C7-49C72945D7A8}"/>
              </a:ext>
            </a:extLst>
          </p:cNvPr>
          <p:cNvSpPr>
            <a:spLocks noGrp="1"/>
          </p:cNvSpPr>
          <p:nvPr>
            <p:ph idx="1"/>
          </p:nvPr>
        </p:nvSpPr>
        <p:spPr>
          <a:xfrm>
            <a:off x="677334" y="644979"/>
            <a:ext cx="8596668" cy="6090557"/>
          </a:xfrm>
        </p:spPr>
        <p:txBody>
          <a:bodyPr>
            <a:normAutofit fontScale="32500" lnSpcReduction="20000"/>
          </a:bodyPr>
          <a:lstStyle/>
          <a:p>
            <a:r>
              <a:rPr lang="tr-TR" sz="8000" b="1" dirty="0"/>
              <a:t>Çatışmanın Nedenleri</a:t>
            </a:r>
          </a:p>
          <a:p>
            <a:r>
              <a:rPr lang="tr-TR" sz="8000" dirty="0"/>
              <a:t>Çatışmalar farklı nedenlerden kaynaklanabilir. Başlıca çatışma nedenleri şunlardır:</a:t>
            </a:r>
          </a:p>
          <a:p>
            <a:r>
              <a:rPr lang="tr-TR" sz="8000" b="1" dirty="0"/>
              <a:t>a) İletişim Eksikliği ve Yanlış Anlaşılmalar</a:t>
            </a:r>
          </a:p>
          <a:p>
            <a:r>
              <a:rPr lang="tr-TR" sz="8000" dirty="0"/>
              <a:t>Açık ve net iletişim kurulmaması</a:t>
            </a:r>
          </a:p>
          <a:p>
            <a:r>
              <a:rPr lang="tr-TR" sz="8000" dirty="0"/>
              <a:t>Dinleme eksikliği</a:t>
            </a:r>
          </a:p>
          <a:p>
            <a:r>
              <a:rPr lang="tr-TR" sz="8000" dirty="0"/>
              <a:t>Yanlış yorumlanan söz ve davranışlar</a:t>
            </a:r>
          </a:p>
          <a:p>
            <a:r>
              <a:rPr lang="tr-TR" sz="8000" b="1" dirty="0"/>
              <a:t>b) Algı ve Bakış Açısı Farklılıkları</a:t>
            </a:r>
          </a:p>
          <a:p>
            <a:r>
              <a:rPr lang="tr-TR" sz="8000" dirty="0"/>
              <a:t>Olaylara farklı pencerelerden bakılması</a:t>
            </a:r>
          </a:p>
          <a:p>
            <a:r>
              <a:rPr lang="tr-TR" sz="8000" dirty="0"/>
              <a:t>Ön yargılar ve kalıplaşmış düşünceler</a:t>
            </a:r>
          </a:p>
          <a:p>
            <a:r>
              <a:rPr lang="tr-TR" sz="8000" b="1" dirty="0"/>
              <a:t>c) Çıkar ve İhtiyaç Çatışmaları</a:t>
            </a:r>
          </a:p>
          <a:p>
            <a:r>
              <a:rPr lang="tr-TR" sz="8000" dirty="0"/>
              <a:t>Sınırlı kaynaklar (zaman, para, yetki)</a:t>
            </a:r>
          </a:p>
          <a:p>
            <a:r>
              <a:rPr lang="tr-TR" sz="8000" dirty="0"/>
              <a:t>Bireysel beklentilerin uyuşmaması</a:t>
            </a:r>
          </a:p>
          <a:p>
            <a:pPr marL="0" indent="0">
              <a:buNone/>
            </a:pPr>
            <a:endParaRPr lang="tr-TR" dirty="0"/>
          </a:p>
        </p:txBody>
      </p:sp>
    </p:spTree>
    <p:extLst>
      <p:ext uri="{BB962C8B-B14F-4D97-AF65-F5344CB8AC3E}">
        <p14:creationId xmlns:p14="http://schemas.microsoft.com/office/powerpoint/2010/main" val="265497429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CED1B58-F230-41B0-889F-D1780F83012E}"/>
              </a:ext>
            </a:extLst>
          </p:cNvPr>
          <p:cNvSpPr>
            <a:spLocks noGrp="1"/>
          </p:cNvSpPr>
          <p:nvPr>
            <p:ph idx="1"/>
          </p:nvPr>
        </p:nvSpPr>
        <p:spPr>
          <a:xfrm>
            <a:off x="677334" y="1420587"/>
            <a:ext cx="8596668" cy="4620776"/>
          </a:xfrm>
        </p:spPr>
        <p:txBody>
          <a:bodyPr/>
          <a:lstStyle/>
          <a:p>
            <a:r>
              <a:rPr lang="tr-TR" b="1" dirty="0"/>
              <a:t>d) Değer ve İnanç Farklılıkları</a:t>
            </a:r>
          </a:p>
          <a:p>
            <a:r>
              <a:rPr lang="tr-TR" dirty="0"/>
              <a:t>Kültürel, ahlaki ve etik değerlerin farklı olması</a:t>
            </a:r>
          </a:p>
          <a:p>
            <a:r>
              <a:rPr lang="tr-TR" dirty="0"/>
              <a:t>Gelenek ve yaşam tarzı ayrılıkları</a:t>
            </a:r>
          </a:p>
          <a:p>
            <a:r>
              <a:rPr lang="tr-TR" b="1" dirty="0"/>
              <a:t>e) Kişilik Özellikleri</a:t>
            </a:r>
          </a:p>
          <a:p>
            <a:r>
              <a:rPr lang="tr-TR" dirty="0"/>
              <a:t>Sabırsızlık, öfke kontrolü sorunları</a:t>
            </a:r>
          </a:p>
          <a:p>
            <a:r>
              <a:rPr lang="tr-TR" dirty="0"/>
              <a:t>Baskın veya çekingen kişilik yapıları</a:t>
            </a:r>
          </a:p>
          <a:p>
            <a:r>
              <a:rPr lang="tr-TR" b="1" dirty="0"/>
              <a:t>f) Stres ve Duygusal Faktörler</a:t>
            </a:r>
          </a:p>
          <a:p>
            <a:r>
              <a:rPr lang="tr-TR" dirty="0"/>
              <a:t>İş yükü, yorgunluk</a:t>
            </a:r>
          </a:p>
          <a:p>
            <a:r>
              <a:rPr lang="tr-TR" dirty="0"/>
              <a:t>Psikolojik baskı ve kaygı</a:t>
            </a:r>
          </a:p>
          <a:p>
            <a:endParaRPr lang="tr-TR" dirty="0"/>
          </a:p>
        </p:txBody>
      </p:sp>
      <p:pic>
        <p:nvPicPr>
          <p:cNvPr id="15362" name="Picture 2" descr="İş Hayatında Çatışma - Acar Baltaş | Psikolog">
            <a:extLst>
              <a:ext uri="{FF2B5EF4-FFF2-40B4-BE49-F238E27FC236}">
                <a16:creationId xmlns:a16="http://schemas.microsoft.com/office/drawing/2014/main" id="{01A920E1-1A10-4AB6-8D13-399DF5C50F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1422" y="2859437"/>
            <a:ext cx="3873954" cy="2986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30579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F2545650-B288-4072-BC0E-D3F66177D722}"/>
              </a:ext>
            </a:extLst>
          </p:cNvPr>
          <p:cNvSpPr>
            <a:spLocks noGrp="1"/>
          </p:cNvSpPr>
          <p:nvPr>
            <p:ph type="title"/>
          </p:nvPr>
        </p:nvSpPr>
        <p:spPr/>
        <p:txBody>
          <a:bodyPr/>
          <a:lstStyle/>
          <a:p>
            <a:r>
              <a:rPr lang="tr-TR" b="1" dirty="0"/>
              <a:t>Çatışmanın Olumlu ve Olumsuz Yönleri</a:t>
            </a:r>
            <a:br>
              <a:rPr lang="tr-TR" b="1" dirty="0"/>
            </a:br>
            <a:endParaRPr lang="tr-TR" dirty="0"/>
          </a:p>
        </p:txBody>
      </p:sp>
      <p:sp>
        <p:nvSpPr>
          <p:cNvPr id="3" name="İçerik Yer Tutucusu 2">
            <a:extLst>
              <a:ext uri="{FF2B5EF4-FFF2-40B4-BE49-F238E27FC236}">
                <a16:creationId xmlns:a16="http://schemas.microsoft.com/office/drawing/2014/main" id="{73E7D111-9719-45BA-B9BD-CAFAF89AE696}"/>
              </a:ext>
            </a:extLst>
          </p:cNvPr>
          <p:cNvSpPr>
            <a:spLocks noGrp="1"/>
          </p:cNvSpPr>
          <p:nvPr>
            <p:ph idx="1"/>
          </p:nvPr>
        </p:nvSpPr>
        <p:spPr>
          <a:xfrm>
            <a:off x="677334" y="1665515"/>
            <a:ext cx="8596668" cy="4375848"/>
          </a:xfrm>
        </p:spPr>
        <p:txBody>
          <a:bodyPr>
            <a:normAutofit/>
          </a:bodyPr>
          <a:lstStyle/>
          <a:p>
            <a:r>
              <a:rPr lang="tr-TR" b="1" dirty="0"/>
              <a:t>Olumsuz Yönleri</a:t>
            </a:r>
          </a:p>
          <a:p>
            <a:r>
              <a:rPr lang="tr-TR" dirty="0"/>
              <a:t>İletişim kopukluğu</a:t>
            </a:r>
          </a:p>
          <a:p>
            <a:r>
              <a:rPr lang="tr-TR" dirty="0"/>
              <a:t>Güven kaybı</a:t>
            </a:r>
          </a:p>
          <a:p>
            <a:r>
              <a:rPr lang="tr-TR" dirty="0"/>
              <a:t>Stres ve verim düşüklüğü</a:t>
            </a:r>
          </a:p>
          <a:p>
            <a:r>
              <a:rPr lang="tr-TR" dirty="0"/>
              <a:t>İlişkilerin zarar görmesi</a:t>
            </a:r>
          </a:p>
          <a:p>
            <a:r>
              <a:rPr lang="tr-TR" b="1" dirty="0"/>
              <a:t>Olumlu Yönleri</a:t>
            </a:r>
          </a:p>
          <a:p>
            <a:r>
              <a:rPr lang="tr-TR" dirty="0"/>
              <a:t>Sorunların görünür hâle gelmesi</a:t>
            </a:r>
          </a:p>
          <a:p>
            <a:r>
              <a:rPr lang="tr-TR" dirty="0"/>
              <a:t>Farklı bakış açılarının ortaya çıkması</a:t>
            </a:r>
          </a:p>
          <a:p>
            <a:r>
              <a:rPr lang="tr-TR" dirty="0"/>
              <a:t>Gelişim ve değişim fırsatı yaratması</a:t>
            </a:r>
          </a:p>
          <a:p>
            <a:r>
              <a:rPr lang="tr-TR" dirty="0"/>
              <a:t>Daha güçlü çözümlerin üretilmesi</a:t>
            </a:r>
          </a:p>
          <a:p>
            <a:endParaRPr lang="tr-TR" dirty="0"/>
          </a:p>
        </p:txBody>
      </p:sp>
      <p:pic>
        <p:nvPicPr>
          <p:cNvPr id="16386" name="Picture 2" descr="İşyerinde Çatışma Yönetimi Eğitimi Stratejiler, Teknikler">
            <a:extLst>
              <a:ext uri="{FF2B5EF4-FFF2-40B4-BE49-F238E27FC236}">
                <a16:creationId xmlns:a16="http://schemas.microsoft.com/office/drawing/2014/main" id="{AF45C0A5-F5F8-4BF7-AC09-17AD783F77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7620" y="2023164"/>
            <a:ext cx="3729037" cy="3275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02253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0E158F34-CB6D-4E31-9985-1BFC3128E329}"/>
              </a:ext>
            </a:extLst>
          </p:cNvPr>
          <p:cNvSpPr>
            <a:spLocks noGrp="1"/>
          </p:cNvSpPr>
          <p:nvPr>
            <p:ph type="title"/>
          </p:nvPr>
        </p:nvSpPr>
        <p:spPr>
          <a:xfrm>
            <a:off x="677334" y="609600"/>
            <a:ext cx="8596668" cy="1550989"/>
          </a:xfrm>
        </p:spPr>
        <p:txBody>
          <a:bodyPr>
            <a:normAutofit fontScale="90000"/>
          </a:bodyPr>
          <a:lstStyle/>
          <a:p>
            <a:r>
              <a:rPr lang="tr-TR" b="1" dirty="0"/>
              <a:t>Çatışma Çözme Yöntemleri</a:t>
            </a:r>
            <a:br>
              <a:rPr lang="tr-TR" b="1" dirty="0"/>
            </a:br>
            <a:r>
              <a:rPr lang="tr-TR" sz="2700" dirty="0"/>
              <a:t>Çatışmaları çözmek için kullanılan başlıca yöntemler şunlardır:</a:t>
            </a:r>
            <a:br>
              <a:rPr lang="tr-TR" sz="2700" dirty="0"/>
            </a:br>
            <a:endParaRPr lang="tr-TR" sz="2700" dirty="0"/>
          </a:p>
        </p:txBody>
      </p:sp>
      <p:sp>
        <p:nvSpPr>
          <p:cNvPr id="3" name="İçerik Yer Tutucusu 2">
            <a:extLst>
              <a:ext uri="{FF2B5EF4-FFF2-40B4-BE49-F238E27FC236}">
                <a16:creationId xmlns:a16="http://schemas.microsoft.com/office/drawing/2014/main" id="{9816003D-B0D4-4F62-B5A5-314AF64270D8}"/>
              </a:ext>
            </a:extLst>
          </p:cNvPr>
          <p:cNvSpPr>
            <a:spLocks noGrp="1"/>
          </p:cNvSpPr>
          <p:nvPr>
            <p:ph idx="1"/>
          </p:nvPr>
        </p:nvSpPr>
        <p:spPr/>
        <p:txBody>
          <a:bodyPr>
            <a:normAutofit/>
          </a:bodyPr>
          <a:lstStyle/>
          <a:p>
            <a:r>
              <a:rPr lang="tr-TR" b="1" dirty="0"/>
              <a:t>a) Kaçınma</a:t>
            </a:r>
          </a:p>
          <a:p>
            <a:r>
              <a:rPr lang="tr-TR" dirty="0"/>
              <a:t>Çatışmadan uzak durma</a:t>
            </a:r>
          </a:p>
          <a:p>
            <a:r>
              <a:rPr lang="tr-TR" dirty="0"/>
              <a:t>Geçici bir çözüm sağlar</a:t>
            </a:r>
          </a:p>
          <a:p>
            <a:r>
              <a:rPr lang="tr-TR" dirty="0"/>
              <a:t>Küçük ve önemsiz sorunlarda tercih edilebilir</a:t>
            </a:r>
          </a:p>
          <a:p>
            <a:r>
              <a:rPr lang="tr-TR" b="1" dirty="0"/>
              <a:t>b) Uyma (Ödün Verme)</a:t>
            </a:r>
          </a:p>
          <a:p>
            <a:r>
              <a:rPr lang="tr-TR" dirty="0"/>
              <a:t>Bir tarafın geri adım atması</a:t>
            </a:r>
          </a:p>
          <a:p>
            <a:r>
              <a:rPr lang="tr-TR" dirty="0"/>
              <a:t>İlişkinin korunması amaçlanır</a:t>
            </a:r>
          </a:p>
          <a:p>
            <a:r>
              <a:rPr lang="tr-TR" dirty="0"/>
              <a:t>Sürekli uygulanması uzun vadede sorun yaratabilir</a:t>
            </a:r>
          </a:p>
          <a:p>
            <a:endParaRPr lang="tr-TR" dirty="0"/>
          </a:p>
        </p:txBody>
      </p:sp>
    </p:spTree>
    <p:extLst>
      <p:ext uri="{BB962C8B-B14F-4D97-AF65-F5344CB8AC3E}">
        <p14:creationId xmlns:p14="http://schemas.microsoft.com/office/powerpoint/2010/main" val="318294682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DF08FC1-449C-45D8-A06E-2EE0AF5B2798}"/>
              </a:ext>
            </a:extLst>
          </p:cNvPr>
          <p:cNvSpPr>
            <a:spLocks noGrp="1"/>
          </p:cNvSpPr>
          <p:nvPr>
            <p:ph idx="1"/>
          </p:nvPr>
        </p:nvSpPr>
        <p:spPr>
          <a:xfrm>
            <a:off x="677334" y="1167493"/>
            <a:ext cx="8596668" cy="4873869"/>
          </a:xfrm>
        </p:spPr>
        <p:txBody>
          <a:bodyPr>
            <a:normAutofit/>
          </a:bodyPr>
          <a:lstStyle/>
          <a:p>
            <a:r>
              <a:rPr lang="tr-TR" b="1" dirty="0"/>
              <a:t>Zorlama (Rekabet)</a:t>
            </a:r>
          </a:p>
          <a:p>
            <a:r>
              <a:rPr lang="tr-TR" dirty="0"/>
              <a:t>Güç ve otorite kullanımı</a:t>
            </a:r>
          </a:p>
          <a:p>
            <a:r>
              <a:rPr lang="tr-TR" dirty="0"/>
              <a:t>Hızlı karar gereken durumlarda etkili olabilir</a:t>
            </a:r>
          </a:p>
          <a:p>
            <a:r>
              <a:rPr lang="tr-TR" dirty="0"/>
              <a:t>İlişkileri zedeleyebilir</a:t>
            </a:r>
          </a:p>
          <a:p>
            <a:r>
              <a:rPr lang="tr-TR" b="1" dirty="0"/>
              <a:t>d) Uzlaşma</a:t>
            </a:r>
          </a:p>
          <a:p>
            <a:r>
              <a:rPr lang="tr-TR" dirty="0"/>
              <a:t>Tarafların karşılıklı ödün vermesi</a:t>
            </a:r>
          </a:p>
          <a:p>
            <a:r>
              <a:rPr lang="tr-TR" dirty="0"/>
              <a:t>Orta yol bulunur</a:t>
            </a:r>
          </a:p>
          <a:p>
            <a:r>
              <a:rPr lang="tr-TR" dirty="0"/>
              <a:t>Kısa vadede etkili bir yöntemdir</a:t>
            </a:r>
          </a:p>
          <a:p>
            <a:r>
              <a:rPr lang="tr-TR" b="1" dirty="0"/>
              <a:t>e) İş Birliği (Kazan–Kazan)</a:t>
            </a:r>
          </a:p>
          <a:p>
            <a:r>
              <a:rPr lang="tr-TR" dirty="0"/>
              <a:t>Tarafların ihtiyaçlarını dikkate alan çözüm</a:t>
            </a:r>
          </a:p>
          <a:p>
            <a:r>
              <a:rPr lang="tr-TR" dirty="0"/>
              <a:t>Açık iletişim ve empati gerektirir</a:t>
            </a:r>
          </a:p>
          <a:p>
            <a:r>
              <a:rPr lang="tr-TR" dirty="0"/>
              <a:t>En sağlıklı ve kalıcı yöntemdir</a:t>
            </a:r>
          </a:p>
          <a:p>
            <a:endParaRPr lang="tr-TR" dirty="0"/>
          </a:p>
        </p:txBody>
      </p:sp>
    </p:spTree>
    <p:extLst>
      <p:ext uri="{BB962C8B-B14F-4D97-AF65-F5344CB8AC3E}">
        <p14:creationId xmlns:p14="http://schemas.microsoft.com/office/powerpoint/2010/main" val="182030687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FE4C3D1B-0669-410A-B466-FE1087C91468}"/>
              </a:ext>
            </a:extLst>
          </p:cNvPr>
          <p:cNvSpPr>
            <a:spLocks noGrp="1"/>
          </p:cNvSpPr>
          <p:nvPr>
            <p:ph type="title"/>
          </p:nvPr>
        </p:nvSpPr>
        <p:spPr/>
        <p:txBody>
          <a:bodyPr/>
          <a:lstStyle/>
          <a:p>
            <a:r>
              <a:rPr lang="tr-TR" dirty="0"/>
              <a:t>Yapıcı ve Uzlaştırıcı İletişim Nedir?</a:t>
            </a:r>
          </a:p>
        </p:txBody>
      </p:sp>
      <p:sp>
        <p:nvSpPr>
          <p:cNvPr id="3" name="İçerik Yer Tutucusu 2">
            <a:extLst>
              <a:ext uri="{FF2B5EF4-FFF2-40B4-BE49-F238E27FC236}">
                <a16:creationId xmlns:a16="http://schemas.microsoft.com/office/drawing/2014/main" id="{F81D4A88-89B0-40FC-9F80-C373D452A7AC}"/>
              </a:ext>
            </a:extLst>
          </p:cNvPr>
          <p:cNvSpPr>
            <a:spLocks noGrp="1"/>
          </p:cNvSpPr>
          <p:nvPr>
            <p:ph idx="1"/>
          </p:nvPr>
        </p:nvSpPr>
        <p:spPr>
          <a:xfrm>
            <a:off x="505884" y="1262518"/>
            <a:ext cx="8596668" cy="3880773"/>
          </a:xfrm>
        </p:spPr>
        <p:txBody>
          <a:bodyPr/>
          <a:lstStyle/>
          <a:p>
            <a:endParaRPr lang="tr-TR" dirty="0"/>
          </a:p>
          <a:p>
            <a:endParaRPr lang="tr-TR" dirty="0"/>
          </a:p>
          <a:p>
            <a:r>
              <a:rPr lang="tr-TR" dirty="0"/>
              <a:t>Yapıcı ve uzlaştırıcı iletişim; çatışma sırasında </a:t>
            </a:r>
            <a:r>
              <a:rPr lang="tr-TR" b="1" dirty="0"/>
              <a:t>suçlayıcı, kırıcı ve yıkıcı dilden kaçınılarak</a:t>
            </a:r>
            <a:r>
              <a:rPr lang="tr-TR" dirty="0"/>
              <a:t>, anlayış, empati ve çözüm odaklı bir yaklaşım benimsenmesidir. Amaç, haklı çıkmak değil, </a:t>
            </a:r>
            <a:r>
              <a:rPr lang="tr-TR" b="1" dirty="0"/>
              <a:t>sorunu çözmektir</a:t>
            </a:r>
            <a:r>
              <a:rPr lang="tr-TR" dirty="0"/>
              <a:t>.</a:t>
            </a:r>
          </a:p>
        </p:txBody>
      </p:sp>
      <p:pic>
        <p:nvPicPr>
          <p:cNvPr id="17410" name="Picture 2" descr="Psikon Kurumsal Psikoterapi Psikolojik Destek ve Terapi Merkezi | İş  Yerinde İyi İletişim Kurmanın Faydaları">
            <a:extLst>
              <a:ext uri="{FF2B5EF4-FFF2-40B4-BE49-F238E27FC236}">
                <a16:creationId xmlns:a16="http://schemas.microsoft.com/office/drawing/2014/main" id="{6E87557B-2FA3-43BA-A023-893ABCC6F6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886" y="3428999"/>
            <a:ext cx="4474028" cy="2367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889436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DB9F9A8-0900-4A32-8C15-3CDEF64108A0}"/>
              </a:ext>
            </a:extLst>
          </p:cNvPr>
          <p:cNvSpPr>
            <a:spLocks noGrp="1"/>
          </p:cNvSpPr>
          <p:nvPr>
            <p:ph idx="1"/>
          </p:nvPr>
        </p:nvSpPr>
        <p:spPr>
          <a:xfrm>
            <a:off x="677333" y="1485900"/>
            <a:ext cx="11354747" cy="6575047"/>
          </a:xfrm>
        </p:spPr>
        <p:txBody>
          <a:bodyPr/>
          <a:lstStyle/>
          <a:p>
            <a:r>
              <a:rPr lang="tr-TR" b="1" dirty="0"/>
              <a:t>Yapıcı ve Uzlaştırıcı İletişimin Temel Unsurları</a:t>
            </a:r>
          </a:p>
          <a:p>
            <a:r>
              <a:rPr lang="tr-TR" dirty="0"/>
              <a:t>Etkin dinleme</a:t>
            </a:r>
          </a:p>
          <a:p>
            <a:r>
              <a:rPr lang="tr-TR" dirty="0"/>
              <a:t>Empati kurma</a:t>
            </a:r>
          </a:p>
          <a:p>
            <a:r>
              <a:rPr lang="tr-TR" dirty="0"/>
              <a:t>Ben dili kullanma</a:t>
            </a:r>
          </a:p>
          <a:p>
            <a:r>
              <a:rPr lang="tr-TR" dirty="0"/>
              <a:t>Saygılı ve sakin üslup</a:t>
            </a:r>
          </a:p>
          <a:p>
            <a:r>
              <a:rPr lang="tr-TR" dirty="0"/>
              <a:t>Açık ve net ifade</a:t>
            </a:r>
          </a:p>
          <a:p>
            <a:r>
              <a:rPr lang="tr-TR" dirty="0"/>
              <a:t>Ortak noktaları vurgulama</a:t>
            </a:r>
          </a:p>
          <a:p>
            <a:endParaRPr lang="tr-TR" dirty="0"/>
          </a:p>
        </p:txBody>
      </p:sp>
      <p:pic>
        <p:nvPicPr>
          <p:cNvPr id="18434" name="Picture 2" descr="İletişim Yoluyla Kendimizi Var Ediyoruz">
            <a:extLst>
              <a:ext uri="{FF2B5EF4-FFF2-40B4-BE49-F238E27FC236}">
                <a16:creationId xmlns:a16="http://schemas.microsoft.com/office/drawing/2014/main" id="{9DAD604E-665B-4F87-A2DF-17214C6DD8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5348" y="1959428"/>
            <a:ext cx="4414837" cy="24329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53613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B4019FB-7EAD-4DF1-9F8B-052A42B1D4CA}"/>
              </a:ext>
            </a:extLst>
          </p:cNvPr>
          <p:cNvSpPr>
            <a:spLocks noGrp="1"/>
          </p:cNvSpPr>
          <p:nvPr>
            <p:ph idx="1"/>
          </p:nvPr>
        </p:nvSpPr>
        <p:spPr/>
        <p:txBody>
          <a:bodyPr/>
          <a:lstStyle/>
          <a:p>
            <a:r>
              <a:rPr lang="tr-TR" b="1" dirty="0"/>
              <a:t>Yapıcı İletişimde Kullanılan Teknikler</a:t>
            </a:r>
          </a:p>
          <a:p>
            <a:r>
              <a:rPr lang="tr-TR" b="1" dirty="0"/>
              <a:t>a) Ben Dili</a:t>
            </a:r>
          </a:p>
          <a:p>
            <a:r>
              <a:rPr lang="tr-TR" dirty="0"/>
              <a:t>“Sen hep böylesin” yerine</a:t>
            </a:r>
            <a:br>
              <a:rPr lang="tr-TR" dirty="0"/>
            </a:br>
            <a:r>
              <a:rPr lang="tr-TR" dirty="0"/>
              <a:t>“Bu durum beni rahatsız ediyor” demek</a:t>
            </a:r>
          </a:p>
          <a:p>
            <a:endParaRPr lang="tr-TR" dirty="0"/>
          </a:p>
        </p:txBody>
      </p:sp>
      <p:pic>
        <p:nvPicPr>
          <p:cNvPr id="19458" name="Picture 2" descr="Beden Dilinde Ellerin Yüz İle Olan İlgisi » Bilgiustam">
            <a:extLst>
              <a:ext uri="{FF2B5EF4-FFF2-40B4-BE49-F238E27FC236}">
                <a16:creationId xmlns:a16="http://schemas.microsoft.com/office/drawing/2014/main" id="{17E2160D-C705-4A53-A70C-AEA405837A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0185" y="1839686"/>
            <a:ext cx="2439079" cy="201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97248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6884679F-8DFB-4282-9F5B-C7B6924C11A4}"/>
              </a:ext>
            </a:extLst>
          </p:cNvPr>
          <p:cNvSpPr>
            <a:spLocks noGrp="1"/>
          </p:cNvSpPr>
          <p:nvPr>
            <p:ph idx="1"/>
          </p:nvPr>
        </p:nvSpPr>
        <p:spPr/>
        <p:txBody>
          <a:bodyPr/>
          <a:lstStyle/>
          <a:p>
            <a:r>
              <a:rPr lang="tr-TR" b="1" dirty="0"/>
              <a:t>Etkin Dinleme</a:t>
            </a:r>
          </a:p>
          <a:p>
            <a:r>
              <a:rPr lang="tr-TR" dirty="0"/>
              <a:t>Karşı tarafı sözünü kesmeden dinlemek</a:t>
            </a:r>
          </a:p>
          <a:p>
            <a:r>
              <a:rPr lang="tr-TR" dirty="0"/>
              <a:t>Anlaşıldığını hissettirmek</a:t>
            </a:r>
          </a:p>
          <a:p>
            <a:endParaRPr lang="tr-TR" dirty="0"/>
          </a:p>
        </p:txBody>
      </p:sp>
      <p:pic>
        <p:nvPicPr>
          <p:cNvPr id="20482" name="Picture 2" descr="Etkili Dinleme Teknikleri Nelerdir? | IIENSTITU">
            <a:extLst>
              <a:ext uri="{FF2B5EF4-FFF2-40B4-BE49-F238E27FC236}">
                <a16:creationId xmlns:a16="http://schemas.microsoft.com/office/drawing/2014/main" id="{AD59D328-C94B-4E19-AF5A-E8D44DFED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2267" y="1469571"/>
            <a:ext cx="3661735" cy="3151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255830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A1B2656-04A3-4E25-B6D2-B9D747CC7E17}"/>
              </a:ext>
            </a:extLst>
          </p:cNvPr>
          <p:cNvSpPr>
            <a:spLocks noGrp="1"/>
          </p:cNvSpPr>
          <p:nvPr>
            <p:ph idx="1"/>
          </p:nvPr>
        </p:nvSpPr>
        <p:spPr/>
        <p:txBody>
          <a:bodyPr/>
          <a:lstStyle/>
          <a:p>
            <a:r>
              <a:rPr lang="tr-TR" b="1" dirty="0"/>
              <a:t>Empati</a:t>
            </a:r>
          </a:p>
          <a:p>
            <a:r>
              <a:rPr lang="tr-TR" dirty="0"/>
              <a:t>Karşı tarafın duygularını anlamaya çalışmak</a:t>
            </a:r>
          </a:p>
          <a:p>
            <a:r>
              <a:rPr lang="tr-TR" dirty="0"/>
              <a:t>Yargılamadan yaklaşmak</a:t>
            </a:r>
          </a:p>
          <a:p>
            <a:endParaRPr lang="tr-TR" dirty="0"/>
          </a:p>
        </p:txBody>
      </p:sp>
      <p:pic>
        <p:nvPicPr>
          <p:cNvPr id="21506" name="Picture 2" descr="Sınav Eğitim Kurumları">
            <a:extLst>
              <a:ext uri="{FF2B5EF4-FFF2-40B4-BE49-F238E27FC236}">
                <a16:creationId xmlns:a16="http://schemas.microsoft.com/office/drawing/2014/main" id="{41F03CB3-CC62-4BC6-83F0-3FB3F6F940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776413"/>
            <a:ext cx="2999014" cy="2713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397969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E462F84-C182-4D94-BCBA-FA5FDE66CE06}"/>
              </a:ext>
            </a:extLst>
          </p:cNvPr>
          <p:cNvSpPr>
            <a:spLocks noGrp="1"/>
          </p:cNvSpPr>
          <p:nvPr>
            <p:ph idx="1"/>
          </p:nvPr>
        </p:nvSpPr>
        <p:spPr/>
        <p:txBody>
          <a:bodyPr/>
          <a:lstStyle/>
          <a:p>
            <a:r>
              <a:rPr lang="tr-TR" b="1" dirty="0"/>
              <a:t>Duyguları Kontrol Etme</a:t>
            </a:r>
          </a:p>
          <a:p>
            <a:r>
              <a:rPr lang="tr-TR" dirty="0"/>
              <a:t>Öfkeyle konuşmamak</a:t>
            </a:r>
          </a:p>
          <a:p>
            <a:r>
              <a:rPr lang="tr-TR" dirty="0"/>
              <a:t>Sakin kalmaya özen göstermek</a:t>
            </a:r>
          </a:p>
          <a:p>
            <a:endParaRPr lang="tr-TR" dirty="0"/>
          </a:p>
        </p:txBody>
      </p:sp>
      <p:pic>
        <p:nvPicPr>
          <p:cNvPr id="22530" name="Picture 2" descr="Öfke | Sima Psikoloji">
            <a:extLst>
              <a:ext uri="{FF2B5EF4-FFF2-40B4-BE49-F238E27FC236}">
                <a16:creationId xmlns:a16="http://schemas.microsoft.com/office/drawing/2014/main" id="{DBCF6DF2-F36C-492C-AE3E-F7B78A1E8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0789" y="1812472"/>
            <a:ext cx="3943349"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506295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E8DBFFD-AB8E-4281-B46D-B4FA305A07ED}"/>
              </a:ext>
            </a:extLst>
          </p:cNvPr>
          <p:cNvSpPr>
            <a:spLocks noGrp="1"/>
          </p:cNvSpPr>
          <p:nvPr>
            <p:ph idx="1"/>
          </p:nvPr>
        </p:nvSpPr>
        <p:spPr/>
        <p:txBody>
          <a:bodyPr/>
          <a:lstStyle/>
          <a:p>
            <a:r>
              <a:rPr lang="tr-TR" b="1" dirty="0"/>
              <a:t>Uzlaştırıcı İletişimin Çatışma Yönetimine Katkıları</a:t>
            </a:r>
          </a:p>
          <a:p>
            <a:r>
              <a:rPr lang="tr-TR" dirty="0"/>
              <a:t>Taraflar arasındaki gerginliği azaltır</a:t>
            </a:r>
          </a:p>
          <a:p>
            <a:r>
              <a:rPr lang="tr-TR" dirty="0"/>
              <a:t>Güven ortamı oluşturur</a:t>
            </a:r>
          </a:p>
          <a:p>
            <a:r>
              <a:rPr lang="tr-TR" dirty="0"/>
              <a:t>Kalıcı çözümler üretir</a:t>
            </a:r>
          </a:p>
          <a:p>
            <a:r>
              <a:rPr lang="tr-TR" dirty="0"/>
              <a:t>İlişkilerin güçlenmesini sağlar</a:t>
            </a:r>
          </a:p>
          <a:p>
            <a:r>
              <a:rPr lang="tr-TR" dirty="0"/>
              <a:t>Çatışmanın tekrarını önler</a:t>
            </a:r>
          </a:p>
          <a:p>
            <a:endParaRPr lang="tr-TR" dirty="0"/>
          </a:p>
        </p:txBody>
      </p:sp>
      <p:pic>
        <p:nvPicPr>
          <p:cNvPr id="23554" name="Picture 2" descr="İletişim Formu - Onarıcı Adalette Uzlaşma ve Uzlaştırma">
            <a:extLst>
              <a:ext uri="{FF2B5EF4-FFF2-40B4-BE49-F238E27FC236}">
                <a16:creationId xmlns:a16="http://schemas.microsoft.com/office/drawing/2014/main" id="{BD12316B-81B7-4E58-8527-B95C831545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2974" y="3177948"/>
            <a:ext cx="4521027" cy="2357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579089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9430B15-735C-4CC3-8A6D-CA911E244A5B}"/>
              </a:ext>
            </a:extLst>
          </p:cNvPr>
          <p:cNvSpPr>
            <a:spLocks noGrp="1"/>
          </p:cNvSpPr>
          <p:nvPr>
            <p:ph idx="1"/>
          </p:nvPr>
        </p:nvSpPr>
        <p:spPr/>
        <p:txBody>
          <a:bodyPr/>
          <a:lstStyle/>
          <a:p>
            <a:r>
              <a:rPr lang="tr-TR" b="1" dirty="0"/>
              <a:t>Sonuç</a:t>
            </a:r>
          </a:p>
          <a:p>
            <a:r>
              <a:rPr lang="tr-TR" dirty="0"/>
              <a:t>Çatışma, hayatın kaçınılmaz bir parçasıdır. Ancak doğru yönetildiğinde, çatışmalar </a:t>
            </a:r>
            <a:r>
              <a:rPr lang="tr-TR" b="1" dirty="0"/>
              <a:t>yıkıcı değil, yapıcı</a:t>
            </a:r>
            <a:r>
              <a:rPr lang="tr-TR" dirty="0"/>
              <a:t> hâle gelebilir. Çatışmanın nedenlerini doğru analiz etmek, uygun çözüm yöntemlerini seçmek ve yapıcı–uzlaştırıcı iletişim becerilerini kullanmak, bireyler ve toplum için sağlıklı ilişkilerin temelini oluşturur. Etkili çatışma yönetimi, sadece sorunları çözmekle kalmaz; </a:t>
            </a:r>
            <a:r>
              <a:rPr lang="tr-TR" b="1" dirty="0"/>
              <a:t>anlayışı, saygıyı ve iş birliğini</a:t>
            </a:r>
            <a:r>
              <a:rPr lang="tr-TR" dirty="0"/>
              <a:t> de güçlendirir.</a:t>
            </a:r>
          </a:p>
          <a:p>
            <a:endParaRPr lang="tr-TR" dirty="0"/>
          </a:p>
        </p:txBody>
      </p:sp>
    </p:spTree>
    <p:extLst>
      <p:ext uri="{BB962C8B-B14F-4D97-AF65-F5344CB8AC3E}">
        <p14:creationId xmlns:p14="http://schemas.microsoft.com/office/powerpoint/2010/main" val="280963863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2B9CBDF7-892F-4AE3-BAD1-59C7F636125F}"/>
              </a:ext>
            </a:extLst>
          </p:cNvPr>
          <p:cNvSpPr>
            <a:spLocks noGrp="1"/>
          </p:cNvSpPr>
          <p:nvPr>
            <p:ph type="title"/>
          </p:nvPr>
        </p:nvSpPr>
        <p:spPr/>
        <p:txBody>
          <a:bodyPr/>
          <a:lstStyle/>
          <a:p>
            <a:r>
              <a:rPr lang="tr-TR" dirty="0"/>
              <a:t>İKNA ve ETKİLİ İLETİŞİM </a:t>
            </a:r>
          </a:p>
        </p:txBody>
      </p:sp>
      <p:sp>
        <p:nvSpPr>
          <p:cNvPr id="3" name="İçerik Yer Tutucusu 2">
            <a:extLst>
              <a:ext uri="{FF2B5EF4-FFF2-40B4-BE49-F238E27FC236}">
                <a16:creationId xmlns:a16="http://schemas.microsoft.com/office/drawing/2014/main" id="{D124DDB2-B8B6-45E0-A5E9-A4886E4EC808}"/>
              </a:ext>
            </a:extLst>
          </p:cNvPr>
          <p:cNvSpPr>
            <a:spLocks noGrp="1"/>
          </p:cNvSpPr>
          <p:nvPr>
            <p:ph idx="1"/>
          </p:nvPr>
        </p:nvSpPr>
        <p:spPr/>
        <p:txBody>
          <a:bodyPr/>
          <a:lstStyle/>
          <a:p>
            <a:r>
              <a:rPr lang="tr-TR" b="1" dirty="0"/>
              <a:t>İkna Nedir?</a:t>
            </a:r>
          </a:p>
          <a:p>
            <a:r>
              <a:rPr lang="tr-TR" dirty="0"/>
              <a:t>İkna; bir bireyin, karşısındaki kişi veya grubu </a:t>
            </a:r>
            <a:r>
              <a:rPr lang="tr-TR" b="1" dirty="0"/>
              <a:t>baskı kurmadan, zorlamadan</a:t>
            </a:r>
            <a:r>
              <a:rPr lang="tr-TR" dirty="0"/>
              <a:t>, mantıklı gerekçeler, duygusal bağ ve güven oluşturarak belirli bir düşünceye, tutuma veya davranışa yönlendirmesidir. İkna sürecinde amaç, karşı tarafı zorlamak değil; </a:t>
            </a:r>
            <a:r>
              <a:rPr lang="tr-TR" b="1" dirty="0"/>
              <a:t>anlamasını ve gönüllü olarak kabul etmesini</a:t>
            </a:r>
            <a:r>
              <a:rPr lang="tr-TR" dirty="0"/>
              <a:t> sağlamaktır.</a:t>
            </a:r>
          </a:p>
          <a:p>
            <a:endParaRPr lang="tr-TR" dirty="0"/>
          </a:p>
        </p:txBody>
      </p:sp>
      <p:pic>
        <p:nvPicPr>
          <p:cNvPr id="24578" name="Picture 2" descr="İkna Edici İletişim Nasıl Kurulur?">
            <a:extLst>
              <a:ext uri="{FF2B5EF4-FFF2-40B4-BE49-F238E27FC236}">
                <a16:creationId xmlns:a16="http://schemas.microsoft.com/office/drawing/2014/main" id="{8E139258-4D63-4379-9A74-C21BC74848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7998" y="4167867"/>
            <a:ext cx="3972659" cy="2306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81658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63E3CA6-13A0-4D04-9840-FC2A2980E741}"/>
              </a:ext>
            </a:extLst>
          </p:cNvPr>
          <p:cNvSpPr>
            <a:spLocks noGrp="1"/>
          </p:cNvSpPr>
          <p:nvPr>
            <p:ph idx="1"/>
          </p:nvPr>
        </p:nvSpPr>
        <p:spPr>
          <a:xfrm>
            <a:off x="677334" y="587829"/>
            <a:ext cx="8596668" cy="5453533"/>
          </a:xfrm>
        </p:spPr>
        <p:txBody>
          <a:bodyPr/>
          <a:lstStyle/>
          <a:p>
            <a:r>
              <a:rPr lang="tr-TR" dirty="0"/>
              <a:t>Tutum ve davranışların, düşüncelerin değiştirilmesine yönelik yapılacak olan iletişim, sıradan ve tesadüfi kurulan iletişimlerden farklılık gösterir. Böyle bir iletişim süreci maddi veya manevi kazanımlar içerir. Bu şekilde yapılan iletişimde ikna unsuru n plana çıkar. İkna sürecinde kazanım beklentisi içerisinde olan insanlar daha profesyonelce süreci takip etmek zorundadırlar. İkna edici olabilmek için, mevcut bilgiyi ve kanıtları iyi yapılandırmalı, örgütlemeli, kontrol değişkenlerini dikkate almalı, aynı zamanda, dış görünüşe, konuşma tarzına ve beden diline kadar iletişim bağlamıyla ilgili birçok faktörün de göz önünde bulundurulması gerekmektedir </a:t>
            </a:r>
          </a:p>
        </p:txBody>
      </p:sp>
      <p:pic>
        <p:nvPicPr>
          <p:cNvPr id="25602" name="Picture 2" descr="İkna Edici İletişim Nasıl Kurulur?">
            <a:extLst>
              <a:ext uri="{FF2B5EF4-FFF2-40B4-BE49-F238E27FC236}">
                <a16:creationId xmlns:a16="http://schemas.microsoft.com/office/drawing/2014/main" id="{E0A256DB-0628-46E2-ADDF-93C18603E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6884" y="3429000"/>
            <a:ext cx="4120923" cy="2612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492271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53A52ED-E59F-45D3-A15F-0AA55E88A111}"/>
              </a:ext>
            </a:extLst>
          </p:cNvPr>
          <p:cNvSpPr>
            <a:spLocks noGrp="1"/>
          </p:cNvSpPr>
          <p:nvPr>
            <p:ph idx="1"/>
          </p:nvPr>
        </p:nvSpPr>
        <p:spPr>
          <a:xfrm>
            <a:off x="677334" y="824593"/>
            <a:ext cx="8596668" cy="5216769"/>
          </a:xfrm>
        </p:spPr>
        <p:txBody>
          <a:bodyPr/>
          <a:lstStyle/>
          <a:p>
            <a:r>
              <a:rPr lang="tr-TR" dirty="0"/>
              <a:t>İkna etmek isteyen kişi alıcının isteklerine, beklentilerine net cevap verdiği ya da hitap ettiği oranda alıcıyı kendine yakınlaştırabilir. Bunun için de ikna eden taraf alıncının kodlarını bilmeli ve kendi iletisini ona göre kodlamalıdır. Bunun önemi, ikna edicinin başarıya ulaşması için sadece içerik ve amaç açısından değil, aynı zamanda kod olarak da, kavram olarak da, biçim olarak da hedefi (alıcıyı), ikna açısından tatmin etmesinden geçer. Kaynağın hedeflediği anlamın, alıcının aklında oluşturulması için kodlanan anlam ile alıcının kodları birbiriyle uyumlu olmalıdır</a:t>
            </a:r>
          </a:p>
        </p:txBody>
      </p:sp>
      <p:pic>
        <p:nvPicPr>
          <p:cNvPr id="26626" name="Picture 2" descr="ikna stratejileri nelerdir?">
            <a:extLst>
              <a:ext uri="{FF2B5EF4-FFF2-40B4-BE49-F238E27FC236}">
                <a16:creationId xmlns:a16="http://schemas.microsoft.com/office/drawing/2014/main" id="{E217B8CE-3532-49CD-8664-72F201F13F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5256" y="3642631"/>
            <a:ext cx="5546951" cy="2056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772074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35804ED-0C7F-42D9-ABD3-1DA7DB9F6BC1}"/>
              </a:ext>
            </a:extLst>
          </p:cNvPr>
          <p:cNvSpPr>
            <a:spLocks noGrp="1"/>
          </p:cNvSpPr>
          <p:nvPr>
            <p:ph idx="1"/>
          </p:nvPr>
        </p:nvSpPr>
        <p:spPr>
          <a:xfrm>
            <a:off x="677334" y="563337"/>
            <a:ext cx="8596668" cy="5478026"/>
          </a:xfrm>
        </p:spPr>
        <p:txBody>
          <a:bodyPr/>
          <a:lstStyle/>
          <a:p>
            <a:r>
              <a:rPr lang="tr-TR" dirty="0"/>
              <a:t>Kişiyi ikna etme sürecinin başında etkileme gelmektedir. İknacının etkileme açısından yeterli olması gerekmektedir. Etkileme süreci sözlü iletişime başlamadan önce aktif hale geçer. İknacının statüsü, giyimi, beden duruşu, ilk izlenimde etkilemek için önemli bir faktördür. En basit anlamda etkiyi, herhangi bir konu ile alakalı olarak bireyin tutum, davranış ve düşüncesinde olumlu ya da olumsuz bir izlenim oluşması olarak tanımlanabilir. Etkileme konusunda birçok tanım bulunmaktadır. Bu tanımlar etkileme sürecindeki üç ana kavram üzerinde durmaktadırlar. </a:t>
            </a:r>
          </a:p>
        </p:txBody>
      </p:sp>
      <p:pic>
        <p:nvPicPr>
          <p:cNvPr id="27650" name="Picture 2" descr="Etkili İletişim: İnsanlar Arasında Bağ Kurmanın Anahtarı">
            <a:extLst>
              <a:ext uri="{FF2B5EF4-FFF2-40B4-BE49-F238E27FC236}">
                <a16:creationId xmlns:a16="http://schemas.microsoft.com/office/drawing/2014/main" id="{F062400C-3121-440D-ADF0-C8E2BAB1BB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002" y="3234417"/>
            <a:ext cx="3653519" cy="3060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53530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D3A9401-CE19-49D0-891F-978498FD1B5F}"/>
              </a:ext>
            </a:extLst>
          </p:cNvPr>
          <p:cNvSpPr>
            <a:spLocks noGrp="1"/>
          </p:cNvSpPr>
          <p:nvPr>
            <p:ph idx="1"/>
          </p:nvPr>
        </p:nvSpPr>
        <p:spPr>
          <a:xfrm>
            <a:off x="677334" y="563337"/>
            <a:ext cx="8596668" cy="5478026"/>
          </a:xfrm>
        </p:spPr>
        <p:txBody>
          <a:bodyPr/>
          <a:lstStyle/>
          <a:p>
            <a:r>
              <a:rPr lang="tr-TR" dirty="0"/>
              <a:t>Bunlardan birincisi, etkileyen kavramıdır. Etkileyen kavramı bir anlamda kaynağın güvenirliliği ve saygınlığı gibi özellikleri üzerinde yoğunlaşmaktadır. Diğer tanımlamalar ise mesaj üzerinde yoğunlaşmaktadır. Bu tanımlamalar ne söylendiği ve nasıl söylendiği üzerinde yoğunlaşmaktadır. Üçüncü üzerinde durulan konu ise süreçten etkilenen yani alıcılar  üzerinde ve davranışları üzerinde yoğunlaşmaktadırlar. İkna edici iletişimde etkileme olgusu ile ilgili birçok çalışma yapılmıştır. Bu çalışmalardan biri </a:t>
            </a:r>
            <a:r>
              <a:rPr lang="tr-TR" dirty="0" err="1"/>
              <a:t>Yukl</a:t>
            </a:r>
            <a:r>
              <a:rPr lang="tr-TR" dirty="0"/>
              <a:t> ve arkadaşları tarafından ortaya konmuştur. </a:t>
            </a:r>
            <a:r>
              <a:rPr lang="tr-TR" dirty="0" err="1"/>
              <a:t>Yukl</a:t>
            </a:r>
            <a:r>
              <a:rPr lang="tr-TR" dirty="0"/>
              <a:t> ve arkadaşları iknada </a:t>
            </a:r>
            <a:r>
              <a:rPr lang="tr-TR" b="1" dirty="0"/>
              <a:t>dokuz farklı etkileme modeli </a:t>
            </a:r>
            <a:r>
              <a:rPr lang="tr-TR" dirty="0"/>
              <a:t>ortaya koymuşlardır </a:t>
            </a:r>
          </a:p>
        </p:txBody>
      </p:sp>
      <p:pic>
        <p:nvPicPr>
          <p:cNvPr id="28674" name="Picture 2" descr="Etkili İletişimde Etkili Dinleme - TUNÇ VİDİNLİ">
            <a:extLst>
              <a:ext uri="{FF2B5EF4-FFF2-40B4-BE49-F238E27FC236}">
                <a16:creationId xmlns:a16="http://schemas.microsoft.com/office/drawing/2014/main" id="{2DBE6088-19C9-4BA1-BBDC-346209DCBB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6549" y="3553506"/>
            <a:ext cx="3712708" cy="2487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88400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DFFD4F2-9CE0-481B-AA62-569A60013DF6}"/>
              </a:ext>
            </a:extLst>
          </p:cNvPr>
          <p:cNvSpPr>
            <a:spLocks noGrp="1"/>
          </p:cNvSpPr>
          <p:nvPr>
            <p:ph idx="1"/>
          </p:nvPr>
        </p:nvSpPr>
        <p:spPr>
          <a:xfrm>
            <a:off x="677334" y="718457"/>
            <a:ext cx="8596668" cy="5322905"/>
          </a:xfrm>
        </p:spPr>
        <p:txBody>
          <a:bodyPr/>
          <a:lstStyle/>
          <a:p>
            <a:r>
              <a:rPr lang="tr-TR" b="1" dirty="0"/>
              <a:t>Rasyonel İkna</a:t>
            </a:r>
            <a:r>
              <a:rPr lang="tr-TR" dirty="0"/>
              <a:t>: Kişiyi ikna etmek için, ricanın uygunluğu ve görev amaçlarının olası sonuçlarına erişim için mantıklı argümanlar ve gerçek kanıtlar kullanılır.</a:t>
            </a:r>
          </a:p>
          <a:p>
            <a:endParaRPr lang="tr-TR" dirty="0"/>
          </a:p>
          <a:p>
            <a:r>
              <a:rPr lang="tr-TR" dirty="0"/>
              <a:t> </a:t>
            </a:r>
            <a:r>
              <a:rPr lang="tr-TR" b="1" dirty="0"/>
              <a:t>İlham Vericilik: </a:t>
            </a:r>
            <a:r>
              <a:rPr lang="tr-TR" dirty="0"/>
              <a:t>Kişinin ideallerine, değerlerine, düşlerine uygun olarak heyecanlar doğuracak veya işi yapabileceğine dair güveni arttıracak bir rica veya teklifte bulunmak. </a:t>
            </a:r>
          </a:p>
          <a:p>
            <a:endParaRPr lang="tr-TR" b="1" dirty="0"/>
          </a:p>
          <a:p>
            <a:r>
              <a:rPr lang="tr-TR" b="1" dirty="0"/>
              <a:t>Müzakere- Danışma: </a:t>
            </a:r>
            <a:r>
              <a:rPr lang="tr-TR" dirty="0"/>
              <a:t>Kişinin ilgileri ve önerileri ile ilgili bir teklif düzenlemek. Kendini Beğendirmek: 	İknacı kişiye bir şey yaptırmadan önce, kendisi hakkında olumlu düşünmesi için onu iyi bir ruh haline yöneltmek. </a:t>
            </a:r>
          </a:p>
          <a:p>
            <a:endParaRPr lang="tr-TR" dirty="0"/>
          </a:p>
          <a:p>
            <a:r>
              <a:rPr lang="tr-TR" b="1" dirty="0"/>
              <a:t>Değişim: </a:t>
            </a:r>
            <a:r>
              <a:rPr lang="tr-TR" dirty="0"/>
              <a:t>Kişiye, görevin yapılmasına yardımcı olduğu takdirde daha sonra yapılacak bir iş için birlikte hareket etme arzusu içinde olunduğu belirtilir.</a:t>
            </a:r>
          </a:p>
        </p:txBody>
      </p:sp>
    </p:spTree>
    <p:extLst>
      <p:ext uri="{BB962C8B-B14F-4D97-AF65-F5344CB8AC3E}">
        <p14:creationId xmlns:p14="http://schemas.microsoft.com/office/powerpoint/2010/main" val="146043567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25E123A-3FCB-4089-90A2-3A8877674937}"/>
              </a:ext>
            </a:extLst>
          </p:cNvPr>
          <p:cNvSpPr>
            <a:spLocks noGrp="1"/>
          </p:cNvSpPr>
          <p:nvPr>
            <p:ph idx="1"/>
          </p:nvPr>
        </p:nvSpPr>
        <p:spPr>
          <a:xfrm>
            <a:off x="693663" y="1678897"/>
            <a:ext cx="8596668" cy="3880773"/>
          </a:xfrm>
        </p:spPr>
        <p:txBody>
          <a:bodyPr/>
          <a:lstStyle/>
          <a:p>
            <a:r>
              <a:rPr lang="tr-TR" b="1" dirty="0"/>
              <a:t>Kişisel Çekicilik: </a:t>
            </a:r>
            <a:r>
              <a:rPr lang="tr-TR" dirty="0"/>
              <a:t>Kişiye bir şey yaptırmadan önce kendisine olan arkadaşça ve sadakatli hislerinin oluşturulması için bir çekicilik sunulması. </a:t>
            </a:r>
          </a:p>
          <a:p>
            <a:endParaRPr lang="tr-TR" dirty="0"/>
          </a:p>
          <a:p>
            <a:r>
              <a:rPr lang="tr-TR" b="1" dirty="0"/>
              <a:t>Koalisyon: </a:t>
            </a:r>
            <a:r>
              <a:rPr lang="tr-TR" dirty="0"/>
              <a:t>Kişi ikna etmeye çalışılırken, üçüncü kişiden de yardım istenmesi veya ikna etmek için üçüncü kişinin desteğinin bir neden olarak kullanılması.</a:t>
            </a:r>
          </a:p>
          <a:p>
            <a:endParaRPr lang="tr-TR" dirty="0"/>
          </a:p>
          <a:p>
            <a:r>
              <a:rPr lang="tr-TR" b="1" dirty="0"/>
              <a:t>Yasal Dayanak Sunmak: </a:t>
            </a:r>
            <a:r>
              <a:rPr lang="tr-TR" dirty="0"/>
              <a:t>Kişiyi ikna için isteğin yasal dayanağı, politikalar, kurallar ve örgütsel gelenekler içinde sunulması.</a:t>
            </a:r>
          </a:p>
          <a:p>
            <a:endParaRPr lang="tr-TR" dirty="0"/>
          </a:p>
          <a:p>
            <a:r>
              <a:rPr lang="tr-TR" b="1" dirty="0"/>
              <a:t>Baskı:</a:t>
            </a:r>
            <a:r>
              <a:rPr lang="tr-TR" dirty="0"/>
              <a:t> Talepler, tehditler veya ısrar eden hatırlatmalar, </a:t>
            </a:r>
            <a:r>
              <a:rPr lang="tr-TR" dirty="0" err="1"/>
              <a:t>kiĢiyi</a:t>
            </a:r>
            <a:r>
              <a:rPr lang="tr-TR" dirty="0"/>
              <a:t> etkilemek amacıyla kullanılması. </a:t>
            </a:r>
          </a:p>
        </p:txBody>
      </p:sp>
    </p:spTree>
    <p:extLst>
      <p:ext uri="{BB962C8B-B14F-4D97-AF65-F5344CB8AC3E}">
        <p14:creationId xmlns:p14="http://schemas.microsoft.com/office/powerpoint/2010/main" val="84178663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18DB048-FC51-4C3D-A048-E406FC97F760}"/>
              </a:ext>
            </a:extLst>
          </p:cNvPr>
          <p:cNvSpPr>
            <a:spLocks noGrp="1"/>
          </p:cNvSpPr>
          <p:nvPr>
            <p:ph idx="1"/>
          </p:nvPr>
        </p:nvSpPr>
        <p:spPr>
          <a:xfrm>
            <a:off x="677334" y="1551214"/>
            <a:ext cx="8596668" cy="4841421"/>
          </a:xfrm>
        </p:spPr>
        <p:txBody>
          <a:bodyPr/>
          <a:lstStyle/>
          <a:p>
            <a:r>
              <a:rPr lang="tr-TR" dirty="0"/>
              <a:t>Dolayısıyla bu süreçte, ikna ve etkileme aynı paralelde devam etmektedir. Şahsı ikna etmenin temelinde etkileme gelmektedir. İşte bu bağlamda yine iletişim unsurları ön plana çıkmaktadır. Sözlü iletişim ve sözsüz iletişim Şahsı etkilemek, güvenirlik kazanmak, inandırmak için etkilidir. Mülakat yapacak kişi ilk izlenimle iletişime 84 başlamış olur. Göstergelerle birlikte sözsüz iletişime başlayan mülakatçı, iletişim unsurları ile devam eder. Empati kurar, karşılıklı konuşmalar ile devam eder. Konuştukça beden dili gerçekleri anlatmaya başlar. Muhatabın doğru söyleyip söylemediği, sözsüz iletişim ile tasdik edilir ve konuşma sürecinde, mülakatçı ne tür ikna yöntemi kullanacağına karar verir. Bu karar tamamen süreç içerisinde gerçekleşmiş olur. Yukarıda belirtilen dokuz unsur sürekli olarak kendini yeniler. Çünkü mülakat sırasında konuşmanın her aşamasında yeni bir olgu ortaya çıkabilir.</a:t>
            </a:r>
          </a:p>
        </p:txBody>
      </p:sp>
    </p:spTree>
    <p:extLst>
      <p:ext uri="{BB962C8B-B14F-4D97-AF65-F5344CB8AC3E}">
        <p14:creationId xmlns:p14="http://schemas.microsoft.com/office/powerpoint/2010/main" val="85619749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4B4350B-1591-4BB1-9C8D-485870F5E25D}"/>
              </a:ext>
            </a:extLst>
          </p:cNvPr>
          <p:cNvSpPr>
            <a:spLocks noGrp="1"/>
          </p:cNvSpPr>
          <p:nvPr>
            <p:ph idx="1"/>
          </p:nvPr>
        </p:nvSpPr>
        <p:spPr>
          <a:xfrm>
            <a:off x="897769" y="571498"/>
            <a:ext cx="8596668" cy="5910943"/>
          </a:xfrm>
        </p:spPr>
        <p:txBody>
          <a:bodyPr>
            <a:normAutofit fontScale="85000" lnSpcReduction="20000"/>
          </a:bodyPr>
          <a:lstStyle/>
          <a:p>
            <a:r>
              <a:rPr lang="tr-TR" b="1" dirty="0"/>
              <a:t>İkna Süreci</a:t>
            </a:r>
          </a:p>
          <a:p>
            <a:r>
              <a:rPr lang="tr-TR" dirty="0"/>
              <a:t>İkna, planlı ve aşamalı bir süreçtir. Bu süreç şu temel aşamalardan oluşur:</a:t>
            </a:r>
          </a:p>
          <a:p>
            <a:r>
              <a:rPr lang="tr-TR" b="1" dirty="0"/>
              <a:t>a) Hedef Kitleyi Tanıma</a:t>
            </a:r>
          </a:p>
          <a:p>
            <a:r>
              <a:rPr lang="tr-TR" dirty="0"/>
              <a:t>Karşı tarafın ihtiyaçlarını, beklentilerini ve değerlerini anlamak</a:t>
            </a:r>
          </a:p>
          <a:p>
            <a:r>
              <a:rPr lang="tr-TR" dirty="0"/>
              <a:t>Kültürel ve psikolojik özellikleri dikkate almak</a:t>
            </a:r>
          </a:p>
          <a:p>
            <a:r>
              <a:rPr lang="tr-TR" b="1" dirty="0"/>
              <a:t>b) Güven Oluşturma</a:t>
            </a:r>
          </a:p>
          <a:p>
            <a:r>
              <a:rPr lang="tr-TR" dirty="0"/>
              <a:t>Samimi ve tutarlı bir iletişim kurmak</a:t>
            </a:r>
          </a:p>
          <a:p>
            <a:r>
              <a:rPr lang="tr-TR" dirty="0"/>
              <a:t>Söz ve davranışlarda tutarlılık sağlamak</a:t>
            </a:r>
          </a:p>
          <a:p>
            <a:r>
              <a:rPr lang="tr-TR" b="1" dirty="0"/>
              <a:t>c) Mesajı Oluşturma</a:t>
            </a:r>
          </a:p>
          <a:p>
            <a:r>
              <a:rPr lang="tr-TR" dirty="0"/>
              <a:t>Açık, net ve anlaşılır ifadeler kullanmak</a:t>
            </a:r>
          </a:p>
          <a:p>
            <a:r>
              <a:rPr lang="tr-TR" dirty="0"/>
              <a:t>Mantıklı gerekçeler sunmak</a:t>
            </a:r>
          </a:p>
          <a:p>
            <a:r>
              <a:rPr lang="tr-TR" dirty="0"/>
              <a:t>Duygusal unsurlarla mesajı desteklemek</a:t>
            </a:r>
          </a:p>
          <a:p>
            <a:r>
              <a:rPr lang="tr-TR" b="1" dirty="0"/>
              <a:t>d) Mesajı Aktarma</a:t>
            </a:r>
          </a:p>
          <a:p>
            <a:r>
              <a:rPr lang="tr-TR" dirty="0"/>
              <a:t>Uygun zaman ve iletişim kanalını seçmek</a:t>
            </a:r>
          </a:p>
          <a:p>
            <a:r>
              <a:rPr lang="tr-TR" dirty="0"/>
              <a:t>Ses tonu, beden dili ve göz temasını etkili kullanmak</a:t>
            </a:r>
          </a:p>
          <a:p>
            <a:r>
              <a:rPr lang="tr-TR" b="1" dirty="0"/>
              <a:t>e) Geri Bildirim ve Değerlendirme</a:t>
            </a:r>
          </a:p>
          <a:p>
            <a:r>
              <a:rPr lang="tr-TR" dirty="0"/>
              <a:t>Karşı tarafın tepkilerini gözlemlemek</a:t>
            </a:r>
          </a:p>
          <a:p>
            <a:r>
              <a:rPr lang="tr-TR" dirty="0"/>
              <a:t>Gerekirse yaklaşımı yeniden düzenlemek</a:t>
            </a:r>
          </a:p>
          <a:p>
            <a:endParaRPr lang="tr-TR" dirty="0"/>
          </a:p>
        </p:txBody>
      </p:sp>
      <p:pic>
        <p:nvPicPr>
          <p:cNvPr id="31746" name="Picture 2" descr="Etkili İletişim Eğitimi | ARC Enstitü — İkna, Dinleme ve Kriz Yönetimi">
            <a:extLst>
              <a:ext uri="{FF2B5EF4-FFF2-40B4-BE49-F238E27FC236}">
                <a16:creationId xmlns:a16="http://schemas.microsoft.com/office/drawing/2014/main" id="{E9AFFDD8-D391-4A4C-B3F8-93B3954CF6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881" y="2233612"/>
            <a:ext cx="4221990" cy="2689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76613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1302AFD-4A70-4F3C-B64B-9C02BF581D4E}"/>
              </a:ext>
            </a:extLst>
          </p:cNvPr>
          <p:cNvSpPr>
            <a:spLocks noGrp="1"/>
          </p:cNvSpPr>
          <p:nvPr>
            <p:ph idx="1"/>
          </p:nvPr>
        </p:nvSpPr>
        <p:spPr>
          <a:xfrm>
            <a:off x="677334" y="595993"/>
            <a:ext cx="8596668" cy="5445369"/>
          </a:xfrm>
        </p:spPr>
        <p:txBody>
          <a:bodyPr/>
          <a:lstStyle/>
          <a:p>
            <a:r>
              <a:rPr lang="tr-TR" b="1" dirty="0"/>
              <a:t>Etkileyici İletişim Nedir?</a:t>
            </a:r>
          </a:p>
          <a:p>
            <a:r>
              <a:rPr lang="tr-TR" dirty="0"/>
              <a:t>Etkileyici iletişim; iletilen mesajın karşı taraf üzerinde </a:t>
            </a:r>
            <a:r>
              <a:rPr lang="tr-TR" b="1" dirty="0"/>
              <a:t>kalıcı bir etki bırakması</a:t>
            </a:r>
            <a:r>
              <a:rPr lang="tr-TR" dirty="0"/>
              <a:t>, ilgi uyandırması ve davranış değişikliğine yol açmasıdır. Etkileyici iletişimde hem </a:t>
            </a:r>
            <a:r>
              <a:rPr lang="tr-TR" b="1" dirty="0"/>
              <a:t>söylenen sözler</a:t>
            </a:r>
            <a:r>
              <a:rPr lang="tr-TR" dirty="0"/>
              <a:t> hem de </a:t>
            </a:r>
            <a:r>
              <a:rPr lang="tr-TR" b="1" dirty="0"/>
              <a:t>nasıl söylendiği</a:t>
            </a:r>
            <a:r>
              <a:rPr lang="tr-TR" dirty="0"/>
              <a:t> büyük önem taşır.</a:t>
            </a:r>
          </a:p>
          <a:p>
            <a:endParaRPr lang="tr-TR" dirty="0"/>
          </a:p>
        </p:txBody>
      </p:sp>
      <p:pic>
        <p:nvPicPr>
          <p:cNvPr id="29702" name="Picture 6" descr="Etkili İletişim Becerileri ,Kendimizi Tanıma,İletişimin Fonksiyonu ,Anlama  ve Anlaşma,Algılama Farklılıkları,Olumlu Beden Dili,Ekip İletişimi - ISO  BELGESİ ıso 9001 2015 KALİTE BELGELERİ DANIŞMANLIK EĞİTİMİ YAZILIM ANKARA  İSTANBUL">
            <a:extLst>
              <a:ext uri="{FF2B5EF4-FFF2-40B4-BE49-F238E27FC236}">
                <a16:creationId xmlns:a16="http://schemas.microsoft.com/office/drawing/2014/main" id="{320E73C6-7390-4CCC-9955-57DA010C6B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7693" y="2652031"/>
            <a:ext cx="4122964" cy="29078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00652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8B50497-9C46-46CD-A769-C6CDB5EAD5E4}"/>
              </a:ext>
            </a:extLst>
          </p:cNvPr>
          <p:cNvSpPr>
            <a:spLocks noGrp="1"/>
          </p:cNvSpPr>
          <p:nvPr>
            <p:ph idx="1"/>
          </p:nvPr>
        </p:nvSpPr>
        <p:spPr>
          <a:xfrm>
            <a:off x="677334" y="318407"/>
            <a:ext cx="8596668" cy="6351814"/>
          </a:xfrm>
        </p:spPr>
        <p:txBody>
          <a:bodyPr>
            <a:normAutofit fontScale="92500" lnSpcReduction="20000"/>
          </a:bodyPr>
          <a:lstStyle/>
          <a:p>
            <a:pPr marL="0" indent="0">
              <a:buNone/>
            </a:pPr>
            <a:r>
              <a:rPr lang="tr-TR" b="1" dirty="0"/>
              <a:t>Etkileyici İletişim Teknikleri</a:t>
            </a:r>
          </a:p>
          <a:p>
            <a:pPr marL="0" indent="0">
              <a:buNone/>
            </a:pPr>
            <a:endParaRPr lang="tr-TR" b="1" dirty="0"/>
          </a:p>
          <a:p>
            <a:r>
              <a:rPr lang="tr-TR" b="1" dirty="0"/>
              <a:t>a) Açık ve Net İfade</a:t>
            </a:r>
          </a:p>
          <a:p>
            <a:r>
              <a:rPr lang="tr-TR" dirty="0"/>
              <a:t>Karmaşık ve uzun cümlelerden kaçınmak</a:t>
            </a:r>
          </a:p>
          <a:p>
            <a:r>
              <a:rPr lang="tr-TR" dirty="0"/>
              <a:t>Mesajı sade ve anlaşılır sunmak</a:t>
            </a:r>
          </a:p>
          <a:p>
            <a:r>
              <a:rPr lang="tr-TR" b="1" dirty="0"/>
              <a:t>b) Beden Dilini Etkili Kullanma</a:t>
            </a:r>
          </a:p>
          <a:p>
            <a:r>
              <a:rPr lang="tr-TR" dirty="0"/>
              <a:t>Göz teması kurmak</a:t>
            </a:r>
          </a:p>
          <a:p>
            <a:r>
              <a:rPr lang="tr-TR" dirty="0"/>
              <a:t>Jest ve mimikleri mesajla uyumlu kullanmak</a:t>
            </a:r>
          </a:p>
          <a:p>
            <a:r>
              <a:rPr lang="tr-TR" dirty="0"/>
              <a:t>Dik ve özgüvenli duruş sergilemek</a:t>
            </a:r>
          </a:p>
          <a:p>
            <a:r>
              <a:rPr lang="tr-TR" b="1" dirty="0"/>
              <a:t>c) Ses Tonu ve Vurgu</a:t>
            </a:r>
          </a:p>
          <a:p>
            <a:r>
              <a:rPr lang="tr-TR" dirty="0"/>
              <a:t>Monotonluktan kaçınmak</a:t>
            </a:r>
          </a:p>
          <a:p>
            <a:r>
              <a:rPr lang="tr-TR" dirty="0"/>
              <a:t>Önemli noktaları vurgulamak</a:t>
            </a:r>
          </a:p>
          <a:p>
            <a:r>
              <a:rPr lang="tr-TR" dirty="0"/>
              <a:t>Duyguya uygun tonlama yapmak</a:t>
            </a:r>
          </a:p>
          <a:p>
            <a:r>
              <a:rPr lang="tr-TR" b="1" dirty="0"/>
              <a:t>d) </a:t>
            </a:r>
            <a:r>
              <a:rPr lang="tr-TR" b="1" dirty="0" err="1"/>
              <a:t>Hikâyeleştirme</a:t>
            </a:r>
            <a:r>
              <a:rPr lang="tr-TR" b="1" dirty="0"/>
              <a:t> (Örnekleme)</a:t>
            </a:r>
          </a:p>
          <a:p>
            <a:r>
              <a:rPr lang="tr-TR" dirty="0"/>
              <a:t>Somut örnekler vermek</a:t>
            </a:r>
          </a:p>
          <a:p>
            <a:r>
              <a:rPr lang="tr-TR" dirty="0"/>
              <a:t>Gerçek yaşamdan hikâyelerle mesajı güçlendirmek</a:t>
            </a:r>
          </a:p>
          <a:p>
            <a:r>
              <a:rPr lang="tr-TR" b="1" dirty="0"/>
              <a:t>e) Empati Kurma</a:t>
            </a:r>
          </a:p>
          <a:p>
            <a:r>
              <a:rPr lang="tr-TR" dirty="0"/>
              <a:t>Karşı tarafın duygularını anlamaya çalışmak</a:t>
            </a:r>
          </a:p>
          <a:p>
            <a:r>
              <a:rPr lang="tr-TR" dirty="0"/>
              <a:t>Onun bakış açısından düşünmek</a:t>
            </a:r>
          </a:p>
          <a:p>
            <a:endParaRPr lang="tr-TR" dirty="0"/>
          </a:p>
        </p:txBody>
      </p:sp>
      <p:pic>
        <p:nvPicPr>
          <p:cNvPr id="30722" name="Picture 2" descr="Kadın, popüler bir blog yazarı ve etkileyici olmak isteyerek sosyal  ağlardan beğeni kovalıyor | Premium vektör">
            <a:extLst>
              <a:ext uri="{FF2B5EF4-FFF2-40B4-BE49-F238E27FC236}">
                <a16:creationId xmlns:a16="http://schemas.microsoft.com/office/drawing/2014/main" id="{8EDE73BB-0CDE-4296-A42C-236BDEACC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8465" y="1944120"/>
            <a:ext cx="3415393" cy="2969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74009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BCE0AEB-14DF-4513-8739-2385C735DC37}"/>
              </a:ext>
            </a:extLst>
          </p:cNvPr>
          <p:cNvSpPr>
            <a:spLocks noGrp="1"/>
          </p:cNvSpPr>
          <p:nvPr>
            <p:ph idx="1"/>
          </p:nvPr>
        </p:nvSpPr>
        <p:spPr>
          <a:xfrm>
            <a:off x="677334" y="1804307"/>
            <a:ext cx="8596668" cy="4237055"/>
          </a:xfrm>
        </p:spPr>
        <p:txBody>
          <a:bodyPr/>
          <a:lstStyle/>
          <a:p>
            <a:r>
              <a:rPr lang="tr-TR" b="1" dirty="0"/>
              <a:t>Güven Oluşturmanın Önemi</a:t>
            </a:r>
          </a:p>
          <a:p>
            <a:r>
              <a:rPr lang="tr-TR" dirty="0"/>
              <a:t>Güven, ikna sürecinin temelidir. Güvenin olmadığı bir ortamda ikna mümkün değildir. Karşı taraf, kendisini güvende hissetmediği bir kişiye karşı direnç gösterir.</a:t>
            </a:r>
          </a:p>
          <a:p>
            <a:endParaRPr lang="tr-TR" dirty="0"/>
          </a:p>
        </p:txBody>
      </p:sp>
      <p:pic>
        <p:nvPicPr>
          <p:cNvPr id="1043" name="Picture 19" descr="Güven Fark Yaratır - Acar Baltaş | Psikolog">
            <a:extLst>
              <a:ext uri="{FF2B5EF4-FFF2-40B4-BE49-F238E27FC236}">
                <a16:creationId xmlns:a16="http://schemas.microsoft.com/office/drawing/2014/main" id="{58597797-51B2-4D9F-A46F-49279CC166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7998" y="3429000"/>
            <a:ext cx="4429859" cy="2677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664780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2E3F6A7-921A-4BE9-A17D-7BC28A1BD371}"/>
              </a:ext>
            </a:extLst>
          </p:cNvPr>
          <p:cNvSpPr>
            <a:spLocks noGrp="1"/>
          </p:cNvSpPr>
          <p:nvPr>
            <p:ph idx="1"/>
          </p:nvPr>
        </p:nvSpPr>
        <p:spPr/>
        <p:txBody>
          <a:bodyPr/>
          <a:lstStyle/>
          <a:p>
            <a:r>
              <a:rPr lang="tr-TR" dirty="0"/>
              <a:t>Güven Oluşturmanın Yolları</a:t>
            </a:r>
          </a:p>
          <a:p>
            <a:r>
              <a:rPr lang="tr-TR" dirty="0"/>
              <a:t>Dürüst ve açık olmak</a:t>
            </a:r>
          </a:p>
          <a:p>
            <a:r>
              <a:rPr lang="tr-TR" dirty="0"/>
              <a:t>Tutarlı davranışlar sergilemek</a:t>
            </a:r>
          </a:p>
          <a:p>
            <a:r>
              <a:rPr lang="tr-TR" dirty="0"/>
              <a:t>Sözünü tutmak</a:t>
            </a:r>
          </a:p>
          <a:p>
            <a:r>
              <a:rPr lang="tr-TR" dirty="0"/>
              <a:t>Saygılı ve yargılamayan bir dil kullanmak</a:t>
            </a:r>
          </a:p>
          <a:p>
            <a:r>
              <a:rPr lang="tr-TR" dirty="0"/>
              <a:t>Karşı tarafın görüşlerine değer vermek</a:t>
            </a:r>
          </a:p>
        </p:txBody>
      </p:sp>
      <p:pic>
        <p:nvPicPr>
          <p:cNvPr id="2072" name="Picture 24" descr="İletişim Becerilerini Geliştirmek için Öz Güvenin Önemi">
            <a:extLst>
              <a:ext uri="{FF2B5EF4-FFF2-40B4-BE49-F238E27FC236}">
                <a16:creationId xmlns:a16="http://schemas.microsoft.com/office/drawing/2014/main" id="{B3B81FE6-1FF1-4499-A517-88823CD643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8684" y="1959428"/>
            <a:ext cx="3851502" cy="2563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262528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B8E17E99-7A8E-4A73-A3E0-1AFD58678D17}"/>
              </a:ext>
            </a:extLst>
          </p:cNvPr>
          <p:cNvSpPr>
            <a:spLocks noGrp="1"/>
          </p:cNvSpPr>
          <p:nvPr>
            <p:ph type="title"/>
          </p:nvPr>
        </p:nvSpPr>
        <p:spPr>
          <a:xfrm>
            <a:off x="677334" y="1641021"/>
            <a:ext cx="8596668" cy="3061607"/>
          </a:xfrm>
        </p:spPr>
        <p:txBody>
          <a:bodyPr/>
          <a:lstStyle/>
          <a:p>
            <a:br>
              <a:rPr lang="tr-TR" dirty="0"/>
            </a:br>
            <a:br>
              <a:rPr lang="tr-TR" dirty="0"/>
            </a:br>
            <a:r>
              <a:rPr lang="tr-TR" dirty="0"/>
              <a:t>              GENEL DEĞERLENDİRME</a:t>
            </a:r>
          </a:p>
        </p:txBody>
      </p:sp>
    </p:spTree>
    <p:extLst>
      <p:ext uri="{BB962C8B-B14F-4D97-AF65-F5344CB8AC3E}">
        <p14:creationId xmlns:p14="http://schemas.microsoft.com/office/powerpoint/2010/main" val="394825211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122329A4-2116-44DF-8040-FEB76187A25D}"/>
              </a:ext>
            </a:extLst>
          </p:cNvPr>
          <p:cNvSpPr>
            <a:spLocks noGrp="1"/>
          </p:cNvSpPr>
          <p:nvPr>
            <p:ph type="title"/>
          </p:nvPr>
        </p:nvSpPr>
        <p:spPr>
          <a:xfrm>
            <a:off x="677334" y="609600"/>
            <a:ext cx="8596668" cy="5113564"/>
          </a:xfrm>
        </p:spPr>
        <p:txBody>
          <a:bodyPr>
            <a:normAutofit/>
          </a:bodyPr>
          <a:lstStyle/>
          <a:p>
            <a:r>
              <a:rPr lang="tr-TR" dirty="0"/>
              <a:t>                   </a:t>
            </a:r>
            <a:br>
              <a:rPr lang="tr-TR" dirty="0"/>
            </a:br>
            <a:br>
              <a:rPr lang="tr-TR" dirty="0"/>
            </a:br>
            <a:br>
              <a:rPr lang="tr-TR" dirty="0"/>
            </a:br>
            <a:br>
              <a:rPr lang="tr-TR" dirty="0"/>
            </a:br>
            <a:r>
              <a:rPr lang="tr-TR" dirty="0"/>
              <a:t>                   TEŞEKKÜRLER</a:t>
            </a:r>
          </a:p>
        </p:txBody>
      </p:sp>
    </p:spTree>
    <p:extLst>
      <p:ext uri="{BB962C8B-B14F-4D97-AF65-F5344CB8AC3E}">
        <p14:creationId xmlns:p14="http://schemas.microsoft.com/office/powerpoint/2010/main" val="143186043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0D4D9050-B3DE-42A4-8F14-FFEE64646AD5}"/>
              </a:ext>
            </a:extLst>
          </p:cNvPr>
          <p:cNvSpPr>
            <a:spLocks noGrp="1"/>
          </p:cNvSpPr>
          <p:nvPr>
            <p:ph type="title"/>
          </p:nvPr>
        </p:nvSpPr>
        <p:spPr>
          <a:xfrm>
            <a:off x="677334" y="609600"/>
            <a:ext cx="8596668" cy="2819400"/>
          </a:xfrm>
        </p:spPr>
        <p:txBody>
          <a:bodyPr>
            <a:normAutofit/>
          </a:bodyPr>
          <a:lstStyle/>
          <a:p>
            <a:pPr algn="ctr"/>
            <a:br>
              <a:rPr lang="tr-TR" dirty="0"/>
            </a:br>
            <a:br>
              <a:rPr lang="tr-TR" dirty="0"/>
            </a:br>
            <a:r>
              <a:rPr lang="tr-TR" dirty="0"/>
              <a:t>Hazırlayan </a:t>
            </a:r>
          </a:p>
        </p:txBody>
      </p:sp>
      <p:sp>
        <p:nvSpPr>
          <p:cNvPr id="3" name="İçerik Yer Tutucusu 2">
            <a:extLst>
              <a:ext uri="{FF2B5EF4-FFF2-40B4-BE49-F238E27FC236}">
                <a16:creationId xmlns:a16="http://schemas.microsoft.com/office/drawing/2014/main" id="{CD70FF6D-6300-4E9C-9815-28DED85995DA}"/>
              </a:ext>
            </a:extLst>
          </p:cNvPr>
          <p:cNvSpPr>
            <a:spLocks noGrp="1"/>
          </p:cNvSpPr>
          <p:nvPr>
            <p:ph idx="1"/>
          </p:nvPr>
        </p:nvSpPr>
        <p:spPr>
          <a:xfrm>
            <a:off x="677334" y="2136097"/>
            <a:ext cx="8596668" cy="3880773"/>
          </a:xfrm>
        </p:spPr>
        <p:txBody>
          <a:bodyPr/>
          <a:lstStyle/>
          <a:p>
            <a:pPr marL="0" indent="0" algn="ctr">
              <a:buNone/>
            </a:pPr>
            <a:endParaRPr lang="tr-TR" dirty="0"/>
          </a:p>
          <a:p>
            <a:pPr marL="0" indent="0" algn="ctr">
              <a:buNone/>
            </a:pPr>
            <a:endParaRPr lang="tr-TR" dirty="0"/>
          </a:p>
          <a:p>
            <a:pPr marL="0" indent="0" algn="ctr">
              <a:buNone/>
            </a:pPr>
            <a:endParaRPr lang="tr-TR" dirty="0"/>
          </a:p>
          <a:p>
            <a:pPr marL="0" indent="0" algn="ctr">
              <a:buNone/>
            </a:pPr>
            <a:endParaRPr lang="tr-TR" dirty="0"/>
          </a:p>
          <a:p>
            <a:pPr marL="0" indent="0" algn="ctr">
              <a:buNone/>
            </a:pPr>
            <a:endParaRPr lang="tr-TR" dirty="0"/>
          </a:p>
          <a:p>
            <a:pPr marL="0" indent="0" algn="ctr">
              <a:buNone/>
            </a:pPr>
            <a:r>
              <a:rPr lang="tr-TR" dirty="0"/>
              <a:t>Melek KURT AYYILDIZ</a:t>
            </a:r>
          </a:p>
          <a:p>
            <a:pPr marL="0" indent="0" algn="ctr">
              <a:buNone/>
            </a:pPr>
            <a:r>
              <a:rPr lang="tr-TR" dirty="0"/>
              <a:t>Ders Koordinatörü</a:t>
            </a:r>
          </a:p>
          <a:p>
            <a:pPr marL="0" indent="0" algn="ctr">
              <a:buNone/>
            </a:pPr>
            <a:r>
              <a:rPr lang="tr-TR" dirty="0"/>
              <a:t>Emniyet Amiri </a:t>
            </a:r>
          </a:p>
          <a:p>
            <a:endParaRPr lang="tr-TR" dirty="0"/>
          </a:p>
        </p:txBody>
      </p:sp>
    </p:spTree>
    <p:extLst>
      <p:ext uri="{BB962C8B-B14F-4D97-AF65-F5344CB8AC3E}">
        <p14:creationId xmlns:p14="http://schemas.microsoft.com/office/powerpoint/2010/main" val="3815010707"/>
      </p:ext>
    </p:extLst>
  </p:cSld>
  <p:clrMapOvr>
    <a:masterClrMapping/>
  </p:clrMapOvr>
</p:sld>
</file>

<file path=ppt/theme/theme1.xml><?xml version="1.0" encoding="utf-8"?>
<a:theme xmlns:a="http://schemas.openxmlformats.org/drawingml/2006/main" name="Yüzeyler">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1308</TotalTime>
  <Words>11653</Words>
  <Application>Microsoft Office PowerPoint</Application>
  <PresentationFormat>Geniş ekran</PresentationFormat>
  <Paragraphs>600</Paragraphs>
  <Slides>170</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170</vt:i4>
      </vt:variant>
    </vt:vector>
  </HeadingPairs>
  <TitlesOfParts>
    <vt:vector size="175" baseType="lpstr">
      <vt:lpstr>Arial</vt:lpstr>
      <vt:lpstr>Symbol</vt:lpstr>
      <vt:lpstr>Trebuchet MS</vt:lpstr>
      <vt:lpstr>Wingdings 3</vt:lpstr>
      <vt:lpstr>Yüzeyler</vt:lpstr>
      <vt:lpstr>POLİSLİK MESLEĞİNDE ETKİLİ İLETİŞİM </vt:lpstr>
      <vt:lpstr>İLETİŞİM NEDİR?</vt:lpstr>
      <vt:lpstr>PowerPoint Sunusu</vt:lpstr>
      <vt:lpstr>PowerPoint Sunusu</vt:lpstr>
      <vt:lpstr>İletişimin temel özellikleri:</vt:lpstr>
      <vt:lpstr>PowerPoint Sunusu</vt:lpstr>
      <vt:lpstr>İLETİŞİM NEDEN ÖNEMLİDİR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İLETİŞİM TÜRLERİ</vt:lpstr>
      <vt:lpstr>SÖZSÜZ İLETİŞİM</vt:lpstr>
      <vt:lpstr>PowerPoint Sunusu</vt:lpstr>
      <vt:lpstr>PowerPoint Sunusu</vt:lpstr>
      <vt:lpstr>PowerPoint Sunusu</vt:lpstr>
      <vt:lpstr>PowerPoint Sunusu</vt:lpstr>
      <vt:lpstr>PowerPoint Sunusu</vt:lpstr>
      <vt:lpstr>PowerPoint Sunusu</vt:lpstr>
      <vt:lpstr>PowerPoint Sunusu</vt:lpstr>
      <vt:lpstr>SÖZLÜ İLETİŞİM </vt:lpstr>
      <vt:lpstr>PowerPoint Sunusu</vt:lpstr>
      <vt:lpstr>PowerPoint Sunusu</vt:lpstr>
      <vt:lpstr>PowerPoint Sunusu</vt:lpstr>
      <vt:lpstr>PowerPoint Sunusu</vt:lpstr>
      <vt:lpstr>PowerPoint Sunusu</vt:lpstr>
      <vt:lpstr>YAZILI İLETİŞİM  </vt:lpstr>
      <vt:lpstr>GÖRSEL İLETİŞİM </vt:lpstr>
      <vt:lpstr>İLETİŞİMİN TEMEL ÖĞELERİ </vt:lpstr>
      <vt:lpstr>PowerPoint Sunusu</vt:lpstr>
      <vt:lpstr>PowerPoint Sunusu</vt:lpstr>
      <vt:lpstr>PowerPoint Sunusu</vt:lpstr>
      <vt:lpstr>PowerPoint Sunusu</vt:lpstr>
      <vt:lpstr>PowerPoint Sunusu</vt:lpstr>
      <vt:lpstr>PowerPoint Sunusu</vt:lpstr>
      <vt:lpstr>PowerPoint Sunusu</vt:lpstr>
      <vt:lpstr>PowerPoint Sunusu</vt:lpstr>
      <vt:lpstr>MESAJ</vt:lpstr>
      <vt:lpstr>Mesajın iletişim sürecinde istenilen etkiyi yaratabilmesi için temel olarak aşağıdaki özellikleri taşıması beklenmektedir. </vt:lpstr>
      <vt:lpstr>PowerPoint Sunusu</vt:lpstr>
      <vt:lpstr>PowerPoint Sunusu</vt:lpstr>
      <vt:lpstr>PowerPoint Sunusu</vt:lpstr>
      <vt:lpstr>PowerPoint Sunusu</vt:lpstr>
      <vt:lpstr>KANAL</vt:lpstr>
      <vt:lpstr>ALICI/HEDEF</vt:lpstr>
      <vt:lpstr>PowerPoint Sunusu</vt:lpstr>
      <vt:lpstr>PowerPoint Sunusu</vt:lpstr>
      <vt:lpstr>GERİ BİLDİRİM </vt:lpstr>
      <vt:lpstr>PowerPoint Sunusu</vt:lpstr>
      <vt:lpstr>PowerPoint Sunusu</vt:lpstr>
      <vt:lpstr>GÜRÜLTÜ</vt:lpstr>
      <vt:lpstr>PowerPoint Sunusu</vt:lpstr>
      <vt:lpstr>PowerPoint Sunusu</vt:lpstr>
      <vt:lpstr>GÜRÜLTÜNÜN İLETİŞİM ÜZERİNDEKİ OLIUMSUZ ETKİLERİ ŞUNLARDIR </vt:lpstr>
      <vt:lpstr>PowerPoint Sunusu</vt:lpstr>
      <vt:lpstr>SÖZLÜ İLETİŞİM BECERİLERİ DİKSİYON VE TONLAMA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SÖZSÜZ İLETİŞİM  JEST VE MİMİKLER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İLETİŞİMDE DİNLEME ve EMPATİ</vt:lpstr>
      <vt:lpstr>PowerPoint Sunusu</vt:lpstr>
      <vt:lpstr>PowerPoint Sunusu</vt:lpstr>
      <vt:lpstr>PowerPoint Sunusu</vt:lpstr>
      <vt:lpstr>PowerPoint Sunusu</vt:lpstr>
      <vt:lpstr>PowerPoint Sunusu</vt:lpstr>
      <vt:lpstr>PowerPoint Sunusu</vt:lpstr>
      <vt:lpstr>Son olarak dinleme becerisinin niteliğini artıran ya da azaltan etkili ve etkisiz sözel olmayan davranışlar aşağıdaki tabloda yer almaktadır: </vt:lpstr>
      <vt:lpstr>PowerPoint Sunusu</vt:lpstr>
      <vt:lpstr>EMPATİ VE İLETİŞİM</vt:lpstr>
      <vt:lpstr>PowerPoint Sunusu</vt:lpstr>
      <vt:lpstr>PowerPoint Sunusu</vt:lpstr>
      <vt:lpstr>PowerPoint Sunusu</vt:lpstr>
      <vt:lpstr>PowerPoint Sunusu</vt:lpstr>
      <vt:lpstr>PowerPoint Sunusu</vt:lpstr>
      <vt:lpstr>PowerPoint Sunusu</vt:lpstr>
      <vt:lpstr>PowerPoint Sunusu</vt:lpstr>
      <vt:lpstr>POLİSLİK MESLEĞİNDE EMPATİNİN ÖNEMİ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ETKİLİ İLETİŞİMİN ÖNÜNDEKİ ENGELLER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  DUYGULAR, STRES VE İLETİŞİM </vt:lpstr>
      <vt:lpstr>PowerPoint Sunusu</vt:lpstr>
      <vt:lpstr>   STRES ALTINDA İLETİŞİM KURMA</vt:lpstr>
      <vt:lpstr>PowerPoint Sunusu</vt:lpstr>
      <vt:lpstr>PowerPoint Sunusu</vt:lpstr>
      <vt:lpstr>ÇATIŞMA YÖNETİMİ  ÇATIŞMA NEDİR </vt:lpstr>
      <vt:lpstr>PowerPoint Sunusu</vt:lpstr>
      <vt:lpstr>PowerPoint Sunusu</vt:lpstr>
      <vt:lpstr>PowerPoint Sunusu</vt:lpstr>
      <vt:lpstr>Çatışmanın Olumlu ve Olumsuz Yönleri </vt:lpstr>
      <vt:lpstr>Çatışma Çözme Yöntemleri Çatışmaları çözmek için kullanılan başlıca yöntemler şunlardır: </vt:lpstr>
      <vt:lpstr>PowerPoint Sunusu</vt:lpstr>
      <vt:lpstr>Yapıcı ve Uzlaştırıcı İletişim Nedir?</vt:lpstr>
      <vt:lpstr>PowerPoint Sunusu</vt:lpstr>
      <vt:lpstr>PowerPoint Sunusu</vt:lpstr>
      <vt:lpstr>PowerPoint Sunusu</vt:lpstr>
      <vt:lpstr>PowerPoint Sunusu</vt:lpstr>
      <vt:lpstr>PowerPoint Sunusu</vt:lpstr>
      <vt:lpstr>PowerPoint Sunusu</vt:lpstr>
      <vt:lpstr>PowerPoint Sunusu</vt:lpstr>
      <vt:lpstr>İKNA ve ETKİLİ İLETİŞİM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                GENEL DEĞERLENDİRME</vt:lpstr>
      <vt:lpstr>                                          TEŞEKKÜRLER</vt:lpstr>
      <vt:lpstr>  Hazırlayan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İLETİŞİM NEDİR?</dc:title>
  <dc:creator>Hakan AYYILDIZ</dc:creator>
  <cp:lastModifiedBy>Hakan AYYILDIZ</cp:lastModifiedBy>
  <cp:revision>145</cp:revision>
  <dcterms:created xsi:type="dcterms:W3CDTF">2026-01-13T07:56:17Z</dcterms:created>
  <dcterms:modified xsi:type="dcterms:W3CDTF">2026-03-29T20:12:56Z</dcterms:modified>
</cp:coreProperties>
</file>
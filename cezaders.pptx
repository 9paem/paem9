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7"/>
  </p:notesMasterIdLst>
  <p:sldIdLst>
    <p:sldId id="256" r:id="rId2"/>
    <p:sldId id="38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377" r:id="rId20"/>
    <p:sldId id="274" r:id="rId21"/>
    <p:sldId id="275" r:id="rId22"/>
    <p:sldId id="276" r:id="rId23"/>
    <p:sldId id="277" r:id="rId24"/>
    <p:sldId id="278" r:id="rId25"/>
    <p:sldId id="279" r:id="rId26"/>
    <p:sldId id="378" r:id="rId27"/>
    <p:sldId id="281" r:id="rId28"/>
    <p:sldId id="379" r:id="rId29"/>
    <p:sldId id="283" r:id="rId30"/>
    <p:sldId id="284" r:id="rId31"/>
    <p:sldId id="285" r:id="rId32"/>
    <p:sldId id="286" r:id="rId33"/>
    <p:sldId id="287" r:id="rId34"/>
    <p:sldId id="288" r:id="rId35"/>
    <p:sldId id="289" r:id="rId36"/>
    <p:sldId id="290" r:id="rId37"/>
    <p:sldId id="291" r:id="rId38"/>
    <p:sldId id="292" r:id="rId39"/>
    <p:sldId id="293" r:id="rId40"/>
    <p:sldId id="375"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30" r:id="rId71"/>
    <p:sldId id="331" r:id="rId72"/>
    <p:sldId id="332" r:id="rId73"/>
    <p:sldId id="333" r:id="rId74"/>
    <p:sldId id="334" r:id="rId75"/>
    <p:sldId id="376" r:id="rId76"/>
    <p:sldId id="369" r:id="rId77"/>
    <p:sldId id="370" r:id="rId78"/>
    <p:sldId id="371" r:id="rId79"/>
    <p:sldId id="372" r:id="rId80"/>
    <p:sldId id="373" r:id="rId81"/>
    <p:sldId id="37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67"/>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308A11-A329-4D49-A456-EA782B9F7F8D}" type="datetimeFigureOut">
              <a:rPr lang="tr-TR" smtClean="0"/>
              <a:t>1.04.2026</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DF1AA5-1775-4916-911B-7F294530E157}" type="slidenum">
              <a:rPr lang="tr-TR" smtClean="0"/>
              <a:t>‹#›</a:t>
            </a:fld>
            <a:endParaRPr lang="tr-TR"/>
          </a:p>
        </p:txBody>
      </p:sp>
    </p:spTree>
    <p:extLst>
      <p:ext uri="{BB962C8B-B14F-4D97-AF65-F5344CB8AC3E}">
        <p14:creationId xmlns:p14="http://schemas.microsoft.com/office/powerpoint/2010/main" val="950653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smtClean="0"/>
              <a:t>Asıl başlık stili için tıklatın</a:t>
            </a:r>
            <a:endParaRPr lang="tr-T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tıklayın</a:t>
            </a:r>
            <a:endParaRPr lang="tr-TR"/>
          </a:p>
        </p:txBody>
      </p:sp>
      <p:sp>
        <p:nvSpPr>
          <p:cNvPr id="4" name="Veri Yer Tutucusu 3"/>
          <p:cNvSpPr>
            <a:spLocks noGrp="1"/>
          </p:cNvSpPr>
          <p:nvPr>
            <p:ph type="dt" sz="half" idx="10"/>
          </p:nvPr>
        </p:nvSpPr>
        <p:spPr/>
        <p:txBody>
          <a:bodyPr/>
          <a:lstStyle/>
          <a:p>
            <a:fld id="{797F9024-AE1A-4C3C-9309-EED12B0D8E5A}" type="datetime1">
              <a:rPr lang="tr-TR" smtClean="0"/>
              <a:t>1.04.2026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9F9BA00-44CD-41D4-A3D8-F864C744DC1F}" type="slidenum">
              <a:rPr lang="tr-TR" smtClean="0"/>
              <a:t>‹#›</a:t>
            </a:fld>
            <a:endParaRPr lang="tr-TR"/>
          </a:p>
        </p:txBody>
      </p:sp>
    </p:spTree>
    <p:extLst>
      <p:ext uri="{BB962C8B-B14F-4D97-AF65-F5344CB8AC3E}">
        <p14:creationId xmlns:p14="http://schemas.microsoft.com/office/powerpoint/2010/main" val="1194537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3F39841-56F8-4C83-927B-7BA498F1D260}" type="datetime1">
              <a:rPr lang="tr-TR" smtClean="0"/>
              <a:t>1.04.2026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9F9BA00-44CD-41D4-A3D8-F864C744DC1F}" type="slidenum">
              <a:rPr lang="tr-TR" smtClean="0"/>
              <a:t>‹#›</a:t>
            </a:fld>
            <a:endParaRPr lang="tr-TR"/>
          </a:p>
        </p:txBody>
      </p:sp>
    </p:spTree>
    <p:extLst>
      <p:ext uri="{BB962C8B-B14F-4D97-AF65-F5344CB8AC3E}">
        <p14:creationId xmlns:p14="http://schemas.microsoft.com/office/powerpoint/2010/main" val="1286549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smtClean="0"/>
              <a:t>Asıl başlık stili için tıklatın</a:t>
            </a:r>
            <a:endParaRPr lang="tr-T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a:t>
            </a:r>
          </a:p>
        </p:txBody>
      </p:sp>
      <p:sp>
        <p:nvSpPr>
          <p:cNvPr id="4" name="Veri Yer Tutucusu 3"/>
          <p:cNvSpPr>
            <a:spLocks noGrp="1"/>
          </p:cNvSpPr>
          <p:nvPr>
            <p:ph type="dt" sz="half" idx="10"/>
          </p:nvPr>
        </p:nvSpPr>
        <p:spPr/>
        <p:txBody>
          <a:bodyPr/>
          <a:lstStyle/>
          <a:p>
            <a:fld id="{D8A4335D-3639-420F-BC1B-E176A7A103BA}" type="datetime1">
              <a:rPr lang="tr-TR" smtClean="0"/>
              <a:t>1.04.2026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9F9BA00-44CD-41D4-A3D8-F864C744DC1F}" type="slidenum">
              <a:rPr lang="tr-TR" smtClean="0"/>
              <a:t>‹#›</a:t>
            </a:fld>
            <a:endParaRPr lang="tr-TR"/>
          </a:p>
        </p:txBody>
      </p:sp>
    </p:spTree>
    <p:extLst>
      <p:ext uri="{BB962C8B-B14F-4D97-AF65-F5344CB8AC3E}">
        <p14:creationId xmlns:p14="http://schemas.microsoft.com/office/powerpoint/2010/main" val="1759370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838200" y="1825625"/>
            <a:ext cx="51816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6172200" y="1825625"/>
            <a:ext cx="51816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A59CEB1C-EA00-4312-B068-F0582F0AD73C}" type="datetime1">
              <a:rPr lang="tr-TR" smtClean="0"/>
              <a:t>1.04.2026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9F9BA00-44CD-41D4-A3D8-F864C744DC1F}" type="slidenum">
              <a:rPr lang="tr-TR" smtClean="0"/>
              <a:t>‹#›</a:t>
            </a:fld>
            <a:endParaRPr lang="tr-TR"/>
          </a:p>
        </p:txBody>
      </p:sp>
    </p:spTree>
    <p:extLst>
      <p:ext uri="{BB962C8B-B14F-4D97-AF65-F5344CB8AC3E}">
        <p14:creationId xmlns:p14="http://schemas.microsoft.com/office/powerpoint/2010/main" val="2365861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smtClean="0"/>
              <a:t>Asıl başlık stili için tıklatın</a:t>
            </a:r>
            <a:endParaRPr lang="tr-T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İçerik Yer Tutucusu 3"/>
          <p:cNvSpPr>
            <a:spLocks noGrp="1"/>
          </p:cNvSpPr>
          <p:nvPr>
            <p:ph sz="half" idx="2"/>
          </p:nvPr>
        </p:nvSpPr>
        <p:spPr>
          <a:xfrm>
            <a:off x="839788" y="2505075"/>
            <a:ext cx="5157787"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İçerik Yer Tutucusu 5"/>
          <p:cNvSpPr>
            <a:spLocks noGrp="1"/>
          </p:cNvSpPr>
          <p:nvPr>
            <p:ph sz="quarter" idx="4"/>
          </p:nvPr>
        </p:nvSpPr>
        <p:spPr>
          <a:xfrm>
            <a:off x="6172200" y="2505075"/>
            <a:ext cx="5183188"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7E6A632F-DD12-497F-BA7B-BDCB5D4C0401}" type="datetime1">
              <a:rPr lang="tr-TR" smtClean="0"/>
              <a:t>1.04.2026</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39F9BA00-44CD-41D4-A3D8-F864C744DC1F}" type="slidenum">
              <a:rPr lang="tr-TR" smtClean="0"/>
              <a:t>‹#›</a:t>
            </a:fld>
            <a:endParaRPr lang="tr-TR"/>
          </a:p>
        </p:txBody>
      </p:sp>
    </p:spTree>
    <p:extLst>
      <p:ext uri="{BB962C8B-B14F-4D97-AF65-F5344CB8AC3E}">
        <p14:creationId xmlns:p14="http://schemas.microsoft.com/office/powerpoint/2010/main" val="164768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86D5AC5B-9C21-474D-8C7F-4D2B80BDAC6F}" type="datetime1">
              <a:rPr lang="tr-TR" smtClean="0"/>
              <a:t>1.04.2026</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39F9BA00-44CD-41D4-A3D8-F864C744DC1F}" type="slidenum">
              <a:rPr lang="tr-TR" smtClean="0"/>
              <a:t>‹#›</a:t>
            </a:fld>
            <a:endParaRPr lang="tr-TR"/>
          </a:p>
        </p:txBody>
      </p:sp>
    </p:spTree>
    <p:extLst>
      <p:ext uri="{BB962C8B-B14F-4D97-AF65-F5344CB8AC3E}">
        <p14:creationId xmlns:p14="http://schemas.microsoft.com/office/powerpoint/2010/main" val="2177687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5FB8E396-1114-437B-9C12-2E1236DE8121}" type="datetime1">
              <a:rPr lang="tr-TR" smtClean="0"/>
              <a:t>1.04.2026</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39F9BA00-44CD-41D4-A3D8-F864C744DC1F}" type="slidenum">
              <a:rPr lang="tr-TR" smtClean="0"/>
              <a:t>‹#›</a:t>
            </a:fld>
            <a:endParaRPr lang="tr-TR"/>
          </a:p>
        </p:txBody>
      </p:sp>
    </p:spTree>
    <p:extLst>
      <p:ext uri="{BB962C8B-B14F-4D97-AF65-F5344CB8AC3E}">
        <p14:creationId xmlns:p14="http://schemas.microsoft.com/office/powerpoint/2010/main" val="3317003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Veri Yer Tutucusu 4"/>
          <p:cNvSpPr>
            <a:spLocks noGrp="1"/>
          </p:cNvSpPr>
          <p:nvPr>
            <p:ph type="dt" sz="half" idx="10"/>
          </p:nvPr>
        </p:nvSpPr>
        <p:spPr/>
        <p:txBody>
          <a:bodyPr/>
          <a:lstStyle/>
          <a:p>
            <a:fld id="{DE3B2BF3-6EEE-415B-8B08-B7EEC9258502}" type="datetime1">
              <a:rPr lang="tr-TR" smtClean="0"/>
              <a:t>1.04.2026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9F9BA00-44CD-41D4-A3D8-F864C744DC1F}" type="slidenum">
              <a:rPr lang="tr-TR" smtClean="0"/>
              <a:t>‹#›</a:t>
            </a:fld>
            <a:endParaRPr lang="tr-TR"/>
          </a:p>
        </p:txBody>
      </p:sp>
    </p:spTree>
    <p:extLst>
      <p:ext uri="{BB962C8B-B14F-4D97-AF65-F5344CB8AC3E}">
        <p14:creationId xmlns:p14="http://schemas.microsoft.com/office/powerpoint/2010/main" val="3702417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Veri Yer Tutucusu 4"/>
          <p:cNvSpPr>
            <a:spLocks noGrp="1"/>
          </p:cNvSpPr>
          <p:nvPr>
            <p:ph type="dt" sz="half" idx="10"/>
          </p:nvPr>
        </p:nvSpPr>
        <p:spPr/>
        <p:txBody>
          <a:bodyPr/>
          <a:lstStyle/>
          <a:p>
            <a:fld id="{5924E6F4-B473-4B00-8139-B603EB75DBED}" type="datetime1">
              <a:rPr lang="tr-TR" smtClean="0"/>
              <a:t>1.04.2026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9F9BA00-44CD-41D4-A3D8-F864C744DC1F}" type="slidenum">
              <a:rPr lang="tr-TR" smtClean="0"/>
              <a:t>‹#›</a:t>
            </a:fld>
            <a:endParaRPr lang="tr-TR"/>
          </a:p>
        </p:txBody>
      </p:sp>
    </p:spTree>
    <p:extLst>
      <p:ext uri="{BB962C8B-B14F-4D97-AF65-F5344CB8AC3E}">
        <p14:creationId xmlns:p14="http://schemas.microsoft.com/office/powerpoint/2010/main" val="2043041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F2DE2D7E-E054-4BBD-94AD-E79C145DD2D7}" type="datetime1">
              <a:rPr lang="tr-TR" smtClean="0"/>
              <a:t>1.04.2026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9F9BA00-44CD-41D4-A3D8-F864C744DC1F}" type="slidenum">
              <a:rPr lang="tr-TR" smtClean="0"/>
              <a:t>‹#›</a:t>
            </a:fld>
            <a:endParaRPr lang="tr-TR"/>
          </a:p>
        </p:txBody>
      </p:sp>
    </p:spTree>
    <p:extLst>
      <p:ext uri="{BB962C8B-B14F-4D97-AF65-F5344CB8AC3E}">
        <p14:creationId xmlns:p14="http://schemas.microsoft.com/office/powerpoint/2010/main" val="617394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AA23B229-9DCA-4384-B90B-979AB63D17DF}" type="datetime1">
              <a:rPr lang="tr-TR" smtClean="0"/>
              <a:t>1.04.2026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9F9BA00-44CD-41D4-A3D8-F864C744DC1F}" type="slidenum">
              <a:rPr lang="tr-TR" smtClean="0"/>
              <a:t>‹#›</a:t>
            </a:fld>
            <a:endParaRPr lang="tr-TR"/>
          </a:p>
        </p:txBody>
      </p:sp>
    </p:spTree>
    <p:extLst>
      <p:ext uri="{BB962C8B-B14F-4D97-AF65-F5344CB8AC3E}">
        <p14:creationId xmlns:p14="http://schemas.microsoft.com/office/powerpoint/2010/main" val="13791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87D004-9936-4F7C-AE6C-9647FFF7EA3B}" type="datetime1">
              <a:rPr lang="tr-TR" smtClean="0"/>
              <a:t>1.04.2026</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F9BA00-44CD-41D4-A3D8-F864C744DC1F}" type="slidenum">
              <a:rPr lang="tr-TR" smtClean="0"/>
              <a:t>‹#›</a:t>
            </a:fld>
            <a:endParaRPr lang="tr-TR"/>
          </a:p>
        </p:txBody>
      </p:sp>
    </p:spTree>
    <p:extLst>
      <p:ext uri="{BB962C8B-B14F-4D97-AF65-F5344CB8AC3E}">
        <p14:creationId xmlns:p14="http://schemas.microsoft.com/office/powerpoint/2010/main" val="6432718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872950" y="202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a:t>Ceza Hukukunun Amacı, Kaynaklar ve İlkeleri</a:t>
            </a:r>
            <a:r>
              <a:rPr lang="tr-TR" b="1" smtClean="0"/>
              <a:t>	</a:t>
            </a:r>
            <a:endParaRPr lang="tr-TR" b="1"/>
          </a:p>
        </p:txBody>
      </p:sp>
      <p:sp>
        <p:nvSpPr>
          <p:cNvPr id="16"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3200" b="1" i="1" spc="300" smtClean="0">
                <a:effectLst>
                  <a:outerShdw blurRad="38100" dist="38100" dir="2700000" algn="tl">
                    <a:srgbClr val="000000">
                      <a:alpha val="43137"/>
                    </a:srgbClr>
                  </a:outerShdw>
                </a:effectLst>
              </a:rPr>
              <a:t>Ceza Hukukunun Genel Hükümleri ve Fonksiyonu</a:t>
            </a:r>
            <a:endParaRPr lang="tr-TR" sz="2600" b="1" i="1" spc="300">
              <a:effectLst>
                <a:outerShdw blurRad="38100" dist="38100" dir="2700000" algn="tl">
                  <a:srgbClr val="000000">
                    <a:alpha val="43137"/>
                  </a:srgbClr>
                </a:outerShdw>
              </a:effectLst>
            </a:endParaRPr>
          </a:p>
        </p:txBody>
      </p:sp>
      <p:sp>
        <p:nvSpPr>
          <p:cNvPr id="7" name="Alt Başlık 2"/>
          <p:cNvSpPr txBox="1">
            <a:spLocks/>
          </p:cNvSpPr>
          <p:nvPr/>
        </p:nvSpPr>
        <p:spPr>
          <a:xfrm>
            <a:off x="1069599" y="2521034"/>
            <a:ext cx="9144000" cy="517036"/>
          </a:xfrm>
          <a:prstGeom prst="rect">
            <a:avLst/>
          </a:prstGeom>
        </p:spPr>
        <p:txBody>
          <a:bodyPr vert="horz" lIns="91440" tIns="45720" rIns="91440" bIns="45720" rtlCol="0">
            <a:noAutofit/>
          </a:bodyPr>
          <a:lstStyle>
            <a:defPPr>
              <a:defRPr lang="tr-TR"/>
            </a:defPPr>
            <a:lvl1pPr indent="0">
              <a:lnSpc>
                <a:spcPct val="90000"/>
              </a:lnSpc>
              <a:spcBef>
                <a:spcPts val="1000"/>
              </a:spcBef>
              <a:buFont typeface="Arial" panose="020B0604020202020204" pitchFamily="34" charset="0"/>
              <a:buNone/>
              <a:defRPr sz="2400" b="1">
                <a:effectLst>
                  <a:outerShdw blurRad="38100" dist="38100" dir="2700000" algn="tl">
                    <a:srgbClr val="000000">
                      <a:alpha val="43137"/>
                    </a:srgbClr>
                  </a:outerShdw>
                </a:effectLst>
              </a:defRPr>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r>
              <a:rPr lang="tr-TR">
                <a:effectLst/>
              </a:rPr>
              <a:t>Suçun Unsurları (Tipiklik)	</a:t>
            </a:r>
          </a:p>
        </p:txBody>
      </p:sp>
      <p:sp>
        <p:nvSpPr>
          <p:cNvPr id="9" name="Alt Başlık 2"/>
          <p:cNvSpPr txBox="1">
            <a:spLocks/>
          </p:cNvSpPr>
          <p:nvPr/>
        </p:nvSpPr>
        <p:spPr>
          <a:xfrm>
            <a:off x="1299947" y="2959454"/>
            <a:ext cx="9144000" cy="517036"/>
          </a:xfrm>
          <a:prstGeom prst="rect">
            <a:avLst/>
          </a:prstGeom>
        </p:spPr>
        <p:txBody>
          <a:bodyPr vert="horz" lIns="91440" tIns="45720" rIns="91440" bIns="45720" rtlCol="0">
            <a:noAutofit/>
          </a:bodyPr>
          <a:lstStyle>
            <a:defPPr>
              <a:defRPr lang="tr-TR"/>
            </a:defPPr>
            <a:lvl1pPr indent="0">
              <a:lnSpc>
                <a:spcPct val="90000"/>
              </a:lnSpc>
              <a:spcBef>
                <a:spcPts val="1000"/>
              </a:spcBef>
              <a:buFont typeface="Arial" panose="020B0604020202020204" pitchFamily="34" charset="0"/>
              <a:buNone/>
              <a:defRPr sz="2400" b="1">
                <a:effectLst>
                  <a:outerShdw blurRad="38100" dist="38100" dir="2700000" algn="tl">
                    <a:srgbClr val="000000">
                      <a:alpha val="43137"/>
                    </a:srgbClr>
                  </a:outerShdw>
                </a:effectLst>
              </a:defRPr>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r>
              <a:rPr lang="tr-TR">
                <a:effectLst/>
              </a:rPr>
              <a:t>Hukuka Aykırılık, Hukuka Uygunluk, Kusur ve Hata Kavramları	</a:t>
            </a:r>
          </a:p>
        </p:txBody>
      </p:sp>
      <p:sp>
        <p:nvSpPr>
          <p:cNvPr id="11" name="Alt Başlık 2"/>
          <p:cNvSpPr txBox="1">
            <a:spLocks/>
          </p:cNvSpPr>
          <p:nvPr/>
        </p:nvSpPr>
        <p:spPr>
          <a:xfrm>
            <a:off x="1511338" y="3436310"/>
            <a:ext cx="10196947" cy="517036"/>
          </a:xfrm>
          <a:prstGeom prst="rect">
            <a:avLst/>
          </a:prstGeom>
        </p:spPr>
        <p:txBody>
          <a:bodyPr vert="horz" lIns="91440" tIns="45720" rIns="91440" bIns="45720" rtlCol="0">
            <a:noAutofit/>
          </a:bodyPr>
          <a:lstStyle>
            <a:defPPr>
              <a:defRPr lang="tr-TR"/>
            </a:defPPr>
            <a:lvl1pPr indent="0">
              <a:lnSpc>
                <a:spcPct val="90000"/>
              </a:lnSpc>
              <a:spcBef>
                <a:spcPts val="1000"/>
              </a:spcBef>
              <a:buFont typeface="Arial" panose="020B0604020202020204" pitchFamily="34" charset="0"/>
              <a:buNone/>
              <a:defRPr sz="2400" b="1">
                <a:effectLst>
                  <a:outerShdw blurRad="38100" dist="38100" dir="2700000" algn="tl">
                    <a:srgbClr val="000000">
                      <a:alpha val="43137"/>
                    </a:srgbClr>
                  </a:outerShdw>
                </a:effectLst>
              </a:defRPr>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r>
              <a:rPr lang="tr-TR">
                <a:effectLst/>
              </a:rPr>
              <a:t>Cezalandırılmaya Etkili Olan Şartlar (Haksızlık ve Kusur Dışında Kalan Hususlar)	</a:t>
            </a:r>
          </a:p>
        </p:txBody>
      </p:sp>
      <p:sp>
        <p:nvSpPr>
          <p:cNvPr id="13" name="Alt Başlık 2"/>
          <p:cNvSpPr txBox="1">
            <a:spLocks/>
          </p:cNvSpPr>
          <p:nvPr/>
        </p:nvSpPr>
        <p:spPr>
          <a:xfrm>
            <a:off x="1717811" y="3908267"/>
            <a:ext cx="9144000" cy="517036"/>
          </a:xfrm>
          <a:prstGeom prst="rect">
            <a:avLst/>
          </a:prstGeom>
        </p:spPr>
        <p:txBody>
          <a:bodyPr vert="horz" lIns="91440" tIns="45720" rIns="91440" bIns="45720" rtlCol="0">
            <a:noAutofit/>
          </a:bodyPr>
          <a:lstStyle>
            <a:defPPr>
              <a:defRPr lang="tr-TR"/>
            </a:defPPr>
            <a:lvl1pPr indent="0">
              <a:lnSpc>
                <a:spcPct val="90000"/>
              </a:lnSpc>
              <a:spcBef>
                <a:spcPts val="1000"/>
              </a:spcBef>
              <a:buFont typeface="Arial" panose="020B0604020202020204" pitchFamily="34" charset="0"/>
              <a:buNone/>
              <a:defRPr sz="2400" b="1">
                <a:effectLst>
                  <a:outerShdw blurRad="38100" dist="38100" dir="2700000" algn="tl">
                    <a:srgbClr val="000000">
                      <a:alpha val="43137"/>
                    </a:srgbClr>
                  </a:outerShdw>
                </a:effectLst>
              </a:defRPr>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r>
              <a:rPr lang="tr-TR">
                <a:effectLst/>
              </a:rPr>
              <a:t>Suçun Özel Görünüş Biçimleri</a:t>
            </a:r>
          </a:p>
        </p:txBody>
      </p:sp>
      <p:sp>
        <p:nvSpPr>
          <p:cNvPr id="17" name="Alt Başlık 2"/>
          <p:cNvSpPr txBox="1">
            <a:spLocks/>
          </p:cNvSpPr>
          <p:nvPr/>
        </p:nvSpPr>
        <p:spPr>
          <a:xfrm>
            <a:off x="1880039" y="4425242"/>
            <a:ext cx="9144000" cy="517036"/>
          </a:xfrm>
          <a:prstGeom prst="rect">
            <a:avLst/>
          </a:prstGeom>
        </p:spPr>
        <p:txBody>
          <a:bodyPr vert="horz" lIns="91440" tIns="45720" rIns="91440" bIns="45720" rtlCol="0">
            <a:noAutofit/>
          </a:bodyPr>
          <a:lstStyle>
            <a:defPPr>
              <a:defRPr lang="tr-TR"/>
            </a:defPPr>
            <a:lvl1pPr indent="0">
              <a:lnSpc>
                <a:spcPct val="90000"/>
              </a:lnSpc>
              <a:spcBef>
                <a:spcPts val="1000"/>
              </a:spcBef>
              <a:buFont typeface="Arial" panose="020B0604020202020204" pitchFamily="34" charset="0"/>
              <a:buNone/>
              <a:defRPr sz="2400" b="1">
                <a:effectLst>
                  <a:outerShdw blurRad="38100" dist="38100" dir="2700000" algn="tl">
                    <a:srgbClr val="000000">
                      <a:alpha val="43137"/>
                    </a:srgbClr>
                  </a:outerShdw>
                </a:effectLst>
              </a:defRPr>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r>
              <a:rPr lang="tr-TR">
                <a:effectLst/>
              </a:rPr>
              <a:t>Yaptırım Teorisi</a:t>
            </a:r>
          </a:p>
        </p:txBody>
      </p:sp>
      <p:sp>
        <p:nvSpPr>
          <p:cNvPr id="3" name="Slayt Numarası Yer Tutucusu 2"/>
          <p:cNvSpPr>
            <a:spLocks noGrp="1"/>
          </p:cNvSpPr>
          <p:nvPr>
            <p:ph type="sldNum" sz="quarter" idx="12"/>
          </p:nvPr>
        </p:nvSpPr>
        <p:spPr/>
        <p:txBody>
          <a:bodyPr/>
          <a:lstStyle/>
          <a:p>
            <a:fld id="{39F9BA00-44CD-41D4-A3D8-F864C744DC1F}" type="slidenum">
              <a:rPr lang="tr-TR" smtClean="0"/>
              <a:t>1</a:t>
            </a:fld>
            <a:r>
              <a:rPr lang="tr-TR" smtClean="0"/>
              <a:t>/116</a:t>
            </a:r>
            <a:endParaRPr lang="tr-TR"/>
          </a:p>
        </p:txBody>
      </p:sp>
    </p:spTree>
    <p:extLst>
      <p:ext uri="{BB962C8B-B14F-4D97-AF65-F5344CB8AC3E}">
        <p14:creationId xmlns:p14="http://schemas.microsoft.com/office/powerpoint/2010/main" val="37634956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Ceza Hukukunun Amacı</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14" name="Metin kutusu 13"/>
          <p:cNvSpPr txBox="1"/>
          <p:nvPr/>
        </p:nvSpPr>
        <p:spPr>
          <a:xfrm>
            <a:off x="2264508" y="2751985"/>
            <a:ext cx="9089292" cy="1169551"/>
          </a:xfrm>
          <a:prstGeom prst="rect">
            <a:avLst/>
          </a:prstGeom>
          <a:noFill/>
        </p:spPr>
        <p:txBody>
          <a:bodyPr wrap="square" rtlCol="0">
            <a:spAutoFit/>
          </a:bodyPr>
          <a:lstStyle/>
          <a:p>
            <a:r>
              <a:rPr lang="tr-TR" sz="1400" b="1" smtClean="0"/>
              <a:t>Türk Ceza Kanunu</a:t>
            </a:r>
            <a:r>
              <a:rPr lang="tr-TR" sz="1400" smtClean="0"/>
              <a:t> </a:t>
            </a:r>
          </a:p>
          <a:p>
            <a:r>
              <a:rPr lang="es-ES" sz="1400" b="1"/>
              <a:t>Ceza Kanununun </a:t>
            </a:r>
            <a:r>
              <a:rPr lang="es-ES" sz="1400" b="1" smtClean="0"/>
              <a:t>amacı</a:t>
            </a:r>
            <a:endParaRPr lang="tr-TR" sz="1400" b="1" smtClean="0"/>
          </a:p>
          <a:p>
            <a:pPr algn="just"/>
            <a:r>
              <a:rPr lang="tr-TR" sz="1400" b="1" smtClean="0"/>
              <a:t>Madde 1 </a:t>
            </a:r>
            <a:r>
              <a:rPr lang="tr-TR" sz="1400" b="1"/>
              <a:t>–</a:t>
            </a:r>
            <a:r>
              <a:rPr lang="tr-TR" sz="1400"/>
              <a:t> </a:t>
            </a:r>
            <a:r>
              <a:rPr lang="tr-TR" sz="1400" smtClean="0"/>
              <a:t>(</a:t>
            </a:r>
            <a:r>
              <a:rPr lang="tr-TR" sz="1400"/>
              <a:t>1) Ceza Kanununun amacı; kişi hak ve özgürlüklerini, </a:t>
            </a:r>
            <a:r>
              <a:rPr lang="tr-TR" sz="1400" u="sng"/>
              <a:t>kamu düzen ve </a:t>
            </a:r>
            <a:r>
              <a:rPr lang="tr-TR" sz="1400" u="sng" smtClean="0"/>
              <a:t> güvenliğini</a:t>
            </a:r>
            <a:r>
              <a:rPr lang="tr-TR" sz="1400" smtClean="0"/>
              <a:t>, hukuk </a:t>
            </a:r>
            <a:r>
              <a:rPr lang="tr-TR" sz="1400"/>
              <a:t>devletini, kamu sağlığını ve çevreyi, toplum barışını korumak, suç </a:t>
            </a:r>
            <a:r>
              <a:rPr lang="tr-TR" sz="1400" smtClean="0"/>
              <a:t>işlenmesini </a:t>
            </a:r>
            <a:r>
              <a:rPr lang="tr-TR" sz="1400"/>
              <a:t>önlemektir. Kanunda, bu amacın gerçekleştirilmesi için ceza sorumluluğunun </a:t>
            </a:r>
            <a:r>
              <a:rPr lang="tr-TR" sz="1400" smtClean="0"/>
              <a:t>temel </a:t>
            </a:r>
            <a:r>
              <a:rPr lang="tr-TR" sz="1400"/>
              <a:t>esasları ile suçlar, ceza ve güvenlik tedbirlerinin türleri düzenlenmiştir.</a:t>
            </a:r>
          </a:p>
        </p:txBody>
      </p:sp>
      <p:sp>
        <p:nvSpPr>
          <p:cNvPr id="3" name="Dikdörtgen 2"/>
          <p:cNvSpPr/>
          <p:nvPr/>
        </p:nvSpPr>
        <p:spPr>
          <a:xfrm>
            <a:off x="1035183" y="2250831"/>
            <a:ext cx="10621108" cy="369332"/>
          </a:xfrm>
          <a:prstGeom prst="rect">
            <a:avLst/>
          </a:prstGeom>
        </p:spPr>
        <p:txBody>
          <a:bodyPr wrap="square">
            <a:spAutoFit/>
          </a:bodyPr>
          <a:lstStyle/>
          <a:p>
            <a:pPr marL="285750" indent="-285750" algn="just">
              <a:buFont typeface="Arial" panose="020B0604020202020204" pitchFamily="34" charset="0"/>
              <a:buChar char="•"/>
            </a:pPr>
            <a:r>
              <a:rPr lang="tr-TR" smtClean="0"/>
              <a:t>Hukukun amacı temel </a:t>
            </a:r>
            <a:r>
              <a:rPr lang="tr-TR" i="1" smtClean="0">
                <a:effectLst>
                  <a:outerShdw blurRad="38100" dist="38100" dir="2700000" algn="tl">
                    <a:srgbClr val="000000">
                      <a:alpha val="43137"/>
                    </a:srgbClr>
                  </a:outerShdw>
                </a:effectLst>
              </a:rPr>
              <a:t>bireysel/toplumsal çıkar çatışmalarını gidererek toplumsal düzen ve barışı</a:t>
            </a:r>
            <a:r>
              <a:rPr lang="tr-TR" smtClean="0"/>
              <a:t> sağlamak</a:t>
            </a:r>
          </a:p>
        </p:txBody>
      </p:sp>
      <p:sp>
        <p:nvSpPr>
          <p:cNvPr id="15" name="Dikdörtgen 14"/>
          <p:cNvSpPr/>
          <p:nvPr/>
        </p:nvSpPr>
        <p:spPr>
          <a:xfrm>
            <a:off x="1035183" y="4682441"/>
            <a:ext cx="10621108" cy="646331"/>
          </a:xfrm>
          <a:prstGeom prst="rect">
            <a:avLst/>
          </a:prstGeom>
        </p:spPr>
        <p:txBody>
          <a:bodyPr wrap="square">
            <a:spAutoFit/>
          </a:bodyPr>
          <a:lstStyle/>
          <a:p>
            <a:pPr marL="285750" indent="-285750" algn="just">
              <a:buFont typeface="Arial" panose="020B0604020202020204" pitchFamily="34" charset="0"/>
              <a:buChar char="•"/>
            </a:pPr>
            <a:r>
              <a:rPr lang="tr-TR" b="1" smtClean="0"/>
              <a:t>Ceza</a:t>
            </a:r>
            <a:r>
              <a:rPr lang="tr-TR" smtClean="0"/>
              <a:t>;  kelime anlamı = KARŞILIK</a:t>
            </a:r>
          </a:p>
          <a:p>
            <a:pPr algn="just"/>
            <a:r>
              <a:rPr lang="tr-TR"/>
              <a:t>	</a:t>
            </a:r>
            <a:r>
              <a:rPr lang="tr-TR" smtClean="0"/>
              <a:t>hukuki anlamı = Kişinin yaşantısına, özgürlüğüne ve mallarına yönelik YAPTIRIM</a:t>
            </a:r>
          </a:p>
        </p:txBody>
      </p:sp>
      <p:sp>
        <p:nvSpPr>
          <p:cNvPr id="7" name="Unvan 1"/>
          <p:cNvSpPr>
            <a:spLocks noGrp="1"/>
          </p:cNvSpPr>
          <p:nvPr>
            <p:ph type="ctrTitle"/>
          </p:nvPr>
        </p:nvSpPr>
        <p:spPr>
          <a:xfrm>
            <a:off x="286326" y="176701"/>
            <a:ext cx="11554691" cy="1239229"/>
          </a:xfrm>
        </p:spPr>
        <p:txBody>
          <a:bodyPr>
            <a:noAutofit/>
          </a:body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Ceza Hukukunun Amacı, Kaynaklar ve İlkeleri</a:t>
            </a:r>
          </a:p>
        </p:txBody>
      </p:sp>
      <p:sp>
        <p:nvSpPr>
          <p:cNvPr id="4" name="Slayt Numarası Yer Tutucusu 3"/>
          <p:cNvSpPr>
            <a:spLocks noGrp="1"/>
          </p:cNvSpPr>
          <p:nvPr>
            <p:ph type="sldNum" sz="quarter" idx="12"/>
          </p:nvPr>
        </p:nvSpPr>
        <p:spPr/>
        <p:txBody>
          <a:bodyPr/>
          <a:lstStyle/>
          <a:p>
            <a:fld id="{39F9BA00-44CD-41D4-A3D8-F864C744DC1F}" type="slidenum">
              <a:rPr lang="tr-TR" smtClean="0"/>
              <a:t>2</a:t>
            </a:fld>
            <a:r>
              <a:rPr lang="tr-TR" smtClean="0"/>
              <a:t>/116</a:t>
            </a:r>
            <a:endParaRPr lang="tr-TR"/>
          </a:p>
        </p:txBody>
      </p:sp>
    </p:spTree>
    <p:extLst>
      <p:ext uri="{BB962C8B-B14F-4D97-AF65-F5344CB8AC3E}">
        <p14:creationId xmlns:p14="http://schemas.microsoft.com/office/powerpoint/2010/main" val="30375334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Ceza Hukukunun Amacı</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Dikdörtgen 2"/>
          <p:cNvSpPr/>
          <p:nvPr/>
        </p:nvSpPr>
        <p:spPr>
          <a:xfrm>
            <a:off x="1035183" y="2433060"/>
            <a:ext cx="10621108" cy="369332"/>
          </a:xfrm>
          <a:prstGeom prst="rect">
            <a:avLst/>
          </a:prstGeom>
        </p:spPr>
        <p:txBody>
          <a:bodyPr wrap="square">
            <a:spAutoFit/>
          </a:bodyPr>
          <a:lstStyle/>
          <a:p>
            <a:pPr marL="285750" indent="-285750" algn="just">
              <a:buFont typeface="Arial" panose="020B0604020202020204" pitchFamily="34" charset="0"/>
              <a:buChar char="•"/>
            </a:pPr>
            <a:r>
              <a:rPr lang="tr-TR" smtClean="0"/>
              <a:t>Ceza Hukuku, hukuki değerleri korumayı hedefler</a:t>
            </a:r>
          </a:p>
        </p:txBody>
      </p:sp>
      <p:sp>
        <p:nvSpPr>
          <p:cNvPr id="8" name="Dikdörtgen 7"/>
          <p:cNvSpPr/>
          <p:nvPr/>
        </p:nvSpPr>
        <p:spPr>
          <a:xfrm>
            <a:off x="1035183" y="3131898"/>
            <a:ext cx="10621108" cy="646331"/>
          </a:xfrm>
          <a:prstGeom prst="rect">
            <a:avLst/>
          </a:prstGeom>
        </p:spPr>
        <p:txBody>
          <a:bodyPr wrap="square">
            <a:spAutoFit/>
          </a:bodyPr>
          <a:lstStyle/>
          <a:p>
            <a:pPr marL="285750" indent="-285750" algn="just">
              <a:buFont typeface="Arial" panose="020B0604020202020204" pitchFamily="34" charset="0"/>
              <a:buChar char="•"/>
            </a:pPr>
            <a:r>
              <a:rPr lang="tr-TR" smtClean="0"/>
              <a:t>Ceza Hukuku, toplumsal yaşamın ihlal edildiği her durumda değil, </a:t>
            </a:r>
            <a:r>
              <a:rPr lang="tr-TR" b="1" i="1" u="sng" smtClean="0">
                <a:effectLst>
                  <a:outerShdw blurRad="38100" dist="38100" dir="2700000" algn="tl">
                    <a:srgbClr val="000000">
                      <a:alpha val="43137"/>
                    </a:srgbClr>
                  </a:outerShdw>
                </a:effectLst>
              </a:rPr>
              <a:t>TEMEL</a:t>
            </a:r>
            <a:r>
              <a:rPr lang="tr-TR" i="1" smtClean="0"/>
              <a:t> </a:t>
            </a:r>
            <a:r>
              <a:rPr lang="tr-TR" smtClean="0"/>
              <a:t>toplumsal değerlerin ihlal edildiği durumlarda devreye girer</a:t>
            </a:r>
          </a:p>
        </p:txBody>
      </p:sp>
      <p:sp>
        <p:nvSpPr>
          <p:cNvPr id="9" name="Dikdörtgen 8"/>
          <p:cNvSpPr/>
          <p:nvPr/>
        </p:nvSpPr>
        <p:spPr>
          <a:xfrm>
            <a:off x="1035183" y="4107735"/>
            <a:ext cx="10621108" cy="646331"/>
          </a:xfrm>
          <a:prstGeom prst="rect">
            <a:avLst/>
          </a:prstGeom>
        </p:spPr>
        <p:txBody>
          <a:bodyPr wrap="square">
            <a:spAutoFit/>
          </a:bodyPr>
          <a:lstStyle/>
          <a:p>
            <a:pPr marL="285750" indent="-285750" algn="just">
              <a:buFont typeface="Arial" panose="020B0604020202020204" pitchFamily="34" charset="0"/>
              <a:buChar char="•"/>
            </a:pPr>
            <a:r>
              <a:rPr lang="tr-TR" smtClean="0"/>
              <a:t>Ceza Hukuku </a:t>
            </a:r>
            <a:r>
              <a:rPr lang="tr-TR" b="1" smtClean="0"/>
              <a:t>ikincil karakterdedir</a:t>
            </a:r>
            <a:r>
              <a:rPr lang="tr-TR" smtClean="0"/>
              <a:t>, haksızlık karşısında her zaman başvurulacak bir araç olmayıp, kanun koyucunun çok ağır gördüğü ihlaller bakımından </a:t>
            </a:r>
            <a:r>
              <a:rPr lang="tr-TR" b="1" i="1" smtClean="0">
                <a:effectLst>
                  <a:outerShdw blurRad="38100" dist="38100" dir="2700000" algn="tl">
                    <a:srgbClr val="000000">
                      <a:alpha val="43137"/>
                    </a:srgbClr>
                  </a:outerShdw>
                </a:effectLst>
              </a:rPr>
              <a:t>SON ÇARE (</a:t>
            </a:r>
            <a:r>
              <a:rPr lang="tr-TR" b="1" i="1" err="1" smtClean="0">
                <a:effectLst>
                  <a:outerShdw blurRad="38100" dist="38100" dir="2700000" algn="tl">
                    <a:srgbClr val="000000">
                      <a:alpha val="43137"/>
                    </a:srgbClr>
                  </a:outerShdw>
                </a:effectLst>
              </a:rPr>
              <a:t>Ultima</a:t>
            </a:r>
            <a:r>
              <a:rPr lang="tr-TR" b="1" i="1" smtClean="0">
                <a:effectLst>
                  <a:outerShdw blurRad="38100" dist="38100" dir="2700000" algn="tl">
                    <a:srgbClr val="000000">
                      <a:alpha val="43137"/>
                    </a:srgbClr>
                  </a:outerShdw>
                </a:effectLst>
              </a:rPr>
              <a:t> </a:t>
            </a:r>
            <a:r>
              <a:rPr lang="tr-TR" b="1" i="1" err="1">
                <a:effectLst>
                  <a:outerShdw blurRad="38100" dist="38100" dir="2700000" algn="tl">
                    <a:srgbClr val="000000">
                      <a:alpha val="43137"/>
                    </a:srgbClr>
                  </a:outerShdw>
                </a:effectLst>
              </a:rPr>
              <a:t>R</a:t>
            </a:r>
            <a:r>
              <a:rPr lang="tr-TR" b="1" i="1" err="1" smtClean="0">
                <a:effectLst>
                  <a:outerShdw blurRad="38100" dist="38100" dir="2700000" algn="tl">
                    <a:srgbClr val="000000">
                      <a:alpha val="43137"/>
                    </a:srgbClr>
                  </a:outerShdw>
                </a:effectLst>
              </a:rPr>
              <a:t>atio</a:t>
            </a:r>
            <a:r>
              <a:rPr lang="tr-TR" b="1" i="1" smtClean="0">
                <a:effectLst>
                  <a:outerShdw blurRad="38100" dist="38100" dir="2700000" algn="tl">
                    <a:srgbClr val="000000">
                      <a:alpha val="43137"/>
                    </a:srgbClr>
                  </a:outerShdw>
                </a:effectLst>
              </a:rPr>
              <a:t>)</a:t>
            </a:r>
            <a:r>
              <a:rPr lang="tr-TR" smtClean="0"/>
              <a:t> niteliğindedir</a:t>
            </a:r>
          </a:p>
        </p:txBody>
      </p:sp>
      <p:sp>
        <p:nvSpPr>
          <p:cNvPr id="10"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3</a:t>
            </a:fld>
            <a:r>
              <a:rPr lang="tr-TR" smtClean="0"/>
              <a:t>/116</a:t>
            </a:r>
            <a:endParaRPr lang="tr-TR"/>
          </a:p>
        </p:txBody>
      </p:sp>
    </p:spTree>
    <p:extLst>
      <p:ext uri="{BB962C8B-B14F-4D97-AF65-F5344CB8AC3E}">
        <p14:creationId xmlns:p14="http://schemas.microsoft.com/office/powerpoint/2010/main" val="35939258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286326" y="176701"/>
            <a:ext cx="11554691" cy="1239229"/>
          </a:xfrm>
        </p:spPr>
        <p:txBody>
          <a:bodyPr>
            <a:noAutofit/>
          </a:body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Ceza Hukukunun Amacı, Kaynaklar ve İlkeleri</a:t>
            </a:r>
          </a:p>
        </p:txBody>
      </p:sp>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Ceza Hukukunun Hukuk Disiplinleri İçindeki Yeri ve Bölümleri</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Dikdörtgen 2"/>
          <p:cNvSpPr/>
          <p:nvPr/>
        </p:nvSpPr>
        <p:spPr>
          <a:xfrm>
            <a:off x="1035183" y="2654001"/>
            <a:ext cx="10621108" cy="369332"/>
          </a:xfrm>
          <a:prstGeom prst="rect">
            <a:avLst/>
          </a:prstGeom>
        </p:spPr>
        <p:txBody>
          <a:bodyPr wrap="square">
            <a:spAutoFit/>
          </a:bodyPr>
          <a:lstStyle/>
          <a:p>
            <a:pPr marL="285750" indent="-285750" algn="just">
              <a:buFont typeface="Arial" panose="020B0604020202020204" pitchFamily="34" charset="0"/>
              <a:buChar char="•"/>
            </a:pPr>
            <a:r>
              <a:rPr lang="tr-TR" smtClean="0"/>
              <a:t>Kamu Hukuku – Özel Hukuk</a:t>
            </a:r>
          </a:p>
        </p:txBody>
      </p:sp>
      <p:sp>
        <p:nvSpPr>
          <p:cNvPr id="8" name="Dikdörtgen 7"/>
          <p:cNvSpPr/>
          <p:nvPr/>
        </p:nvSpPr>
        <p:spPr>
          <a:xfrm>
            <a:off x="1035183" y="3283896"/>
            <a:ext cx="10621108" cy="369332"/>
          </a:xfrm>
          <a:prstGeom prst="rect">
            <a:avLst/>
          </a:prstGeom>
        </p:spPr>
        <p:txBody>
          <a:bodyPr wrap="square">
            <a:spAutoFit/>
          </a:bodyPr>
          <a:lstStyle/>
          <a:p>
            <a:pPr marL="285750" indent="-285750" algn="just">
              <a:buFont typeface="Arial" panose="020B0604020202020204" pitchFamily="34" charset="0"/>
              <a:buChar char="•"/>
            </a:pPr>
            <a:r>
              <a:rPr lang="tr-TR" smtClean="0"/>
              <a:t>Ceza Hukuku, Kamu hukuku içerisinde yer almaktadır</a:t>
            </a:r>
          </a:p>
        </p:txBody>
      </p:sp>
      <p:sp>
        <p:nvSpPr>
          <p:cNvPr id="9" name="Dikdörtgen 8"/>
          <p:cNvSpPr/>
          <p:nvPr/>
        </p:nvSpPr>
        <p:spPr>
          <a:xfrm>
            <a:off x="1035183" y="4025373"/>
            <a:ext cx="10621108" cy="369332"/>
          </a:xfrm>
          <a:prstGeom prst="rect">
            <a:avLst/>
          </a:prstGeom>
        </p:spPr>
        <p:txBody>
          <a:bodyPr wrap="square">
            <a:spAutoFit/>
          </a:bodyPr>
          <a:lstStyle/>
          <a:p>
            <a:pPr marL="285750" indent="-285750" algn="just">
              <a:buFont typeface="Arial" panose="020B0604020202020204" pitchFamily="34" charset="0"/>
              <a:buChar char="•"/>
            </a:pPr>
            <a:r>
              <a:rPr lang="tr-TR" smtClean="0"/>
              <a:t>Ceza Hukuku = Maddi Ceza Hukuku   </a:t>
            </a:r>
            <a:r>
              <a:rPr lang="tr-TR" b="1" smtClean="0"/>
              <a:t>+</a:t>
            </a:r>
            <a:r>
              <a:rPr lang="tr-TR" smtClean="0"/>
              <a:t>      Şekli Ceza Hukuku    </a:t>
            </a:r>
            <a:r>
              <a:rPr lang="tr-TR" b="1" smtClean="0"/>
              <a:t>+</a:t>
            </a:r>
            <a:r>
              <a:rPr lang="tr-TR" b="1" smtClean="0">
                <a:solidFill>
                  <a:srgbClr val="FF0000"/>
                </a:solidFill>
              </a:rPr>
              <a:t>  </a:t>
            </a:r>
            <a:r>
              <a:rPr lang="tr-TR" smtClean="0"/>
              <a:t>   İnfaz Hukuku</a:t>
            </a:r>
          </a:p>
        </p:txBody>
      </p:sp>
      <p:sp>
        <p:nvSpPr>
          <p:cNvPr id="11" name="Dikdörtgen 10"/>
          <p:cNvSpPr/>
          <p:nvPr/>
        </p:nvSpPr>
        <p:spPr>
          <a:xfrm>
            <a:off x="6981447" y="4523491"/>
            <a:ext cx="2393462" cy="461665"/>
          </a:xfrm>
          <a:prstGeom prst="rect">
            <a:avLst/>
          </a:prstGeom>
        </p:spPr>
        <p:txBody>
          <a:bodyPr wrap="square">
            <a:spAutoFit/>
          </a:bodyPr>
          <a:lstStyle/>
          <a:p>
            <a:pPr algn="ctr"/>
            <a:r>
              <a:rPr lang="tr-TR" sz="1200" smtClean="0"/>
              <a:t>5275 s.</a:t>
            </a:r>
          </a:p>
          <a:p>
            <a:pPr algn="ctr"/>
            <a:r>
              <a:rPr lang="tr-TR" sz="1200" smtClean="0"/>
              <a:t> </a:t>
            </a:r>
            <a:r>
              <a:rPr lang="tr-TR" sz="1200" smtClean="0">
                <a:effectLst>
                  <a:outerShdw blurRad="38100" dist="38100" dir="2700000" algn="tl">
                    <a:srgbClr val="000000">
                      <a:alpha val="43137"/>
                    </a:srgbClr>
                  </a:outerShdw>
                </a:effectLst>
              </a:rPr>
              <a:t>Ceza ve </a:t>
            </a:r>
            <a:r>
              <a:rPr lang="tr-TR" sz="1200" err="1" smtClean="0">
                <a:effectLst>
                  <a:outerShdw blurRad="38100" dist="38100" dir="2700000" algn="tl">
                    <a:srgbClr val="000000">
                      <a:alpha val="43137"/>
                    </a:srgbClr>
                  </a:outerShdw>
                </a:effectLst>
              </a:rPr>
              <a:t>Güv</a:t>
            </a:r>
            <a:r>
              <a:rPr lang="tr-TR" sz="1200" smtClean="0">
                <a:effectLst>
                  <a:outerShdw blurRad="38100" dist="38100" dir="2700000" algn="tl">
                    <a:srgbClr val="000000">
                      <a:alpha val="43137"/>
                    </a:srgbClr>
                  </a:outerShdw>
                </a:effectLst>
              </a:rPr>
              <a:t>. </a:t>
            </a:r>
            <a:r>
              <a:rPr lang="tr-TR" sz="1200" err="1" smtClean="0">
                <a:effectLst>
                  <a:outerShdw blurRad="38100" dist="38100" dir="2700000" algn="tl">
                    <a:srgbClr val="000000">
                      <a:alpha val="43137"/>
                    </a:srgbClr>
                  </a:outerShdw>
                </a:effectLst>
              </a:rPr>
              <a:t>Ted</a:t>
            </a:r>
            <a:r>
              <a:rPr lang="tr-TR" sz="1200" smtClean="0">
                <a:effectLst>
                  <a:outerShdw blurRad="38100" dist="38100" dir="2700000" algn="tl">
                    <a:srgbClr val="000000">
                      <a:alpha val="43137"/>
                    </a:srgbClr>
                  </a:outerShdw>
                </a:effectLst>
              </a:rPr>
              <a:t>. İnfazı Hak. Kanun</a:t>
            </a:r>
          </a:p>
        </p:txBody>
      </p:sp>
      <p:sp>
        <p:nvSpPr>
          <p:cNvPr id="13" name="Dikdörtgen 12"/>
          <p:cNvSpPr/>
          <p:nvPr/>
        </p:nvSpPr>
        <p:spPr>
          <a:xfrm>
            <a:off x="2730056" y="4568926"/>
            <a:ext cx="1869653" cy="461665"/>
          </a:xfrm>
          <a:prstGeom prst="rect">
            <a:avLst/>
          </a:prstGeom>
        </p:spPr>
        <p:txBody>
          <a:bodyPr wrap="square">
            <a:spAutoFit/>
          </a:bodyPr>
          <a:lstStyle/>
          <a:p>
            <a:pPr algn="ctr"/>
            <a:r>
              <a:rPr lang="tr-TR" sz="1200" smtClean="0"/>
              <a:t>5237 s.</a:t>
            </a:r>
          </a:p>
          <a:p>
            <a:pPr algn="ctr"/>
            <a:r>
              <a:rPr lang="tr-TR" sz="1200" smtClean="0">
                <a:effectLst>
                  <a:outerShdw blurRad="38100" dist="38100" dir="2700000" algn="tl">
                    <a:srgbClr val="000000">
                      <a:alpha val="43137"/>
                    </a:srgbClr>
                  </a:outerShdw>
                </a:effectLst>
              </a:rPr>
              <a:t>Türk Ceza Kanunu</a:t>
            </a:r>
          </a:p>
        </p:txBody>
      </p:sp>
      <p:sp>
        <p:nvSpPr>
          <p:cNvPr id="14" name="Dikdörtgen 13"/>
          <p:cNvSpPr/>
          <p:nvPr/>
        </p:nvSpPr>
        <p:spPr>
          <a:xfrm>
            <a:off x="5111794" y="4568926"/>
            <a:ext cx="1869653" cy="461665"/>
          </a:xfrm>
          <a:prstGeom prst="rect">
            <a:avLst/>
          </a:prstGeom>
        </p:spPr>
        <p:txBody>
          <a:bodyPr wrap="square">
            <a:spAutoFit/>
          </a:bodyPr>
          <a:lstStyle/>
          <a:p>
            <a:pPr algn="ctr"/>
            <a:r>
              <a:rPr lang="tr-TR" sz="1200" smtClean="0"/>
              <a:t>5271 s.</a:t>
            </a:r>
          </a:p>
          <a:p>
            <a:pPr algn="ctr"/>
            <a:r>
              <a:rPr lang="tr-TR" sz="1200" smtClean="0">
                <a:effectLst>
                  <a:outerShdw blurRad="38100" dist="38100" dir="2700000" algn="tl">
                    <a:srgbClr val="000000">
                      <a:alpha val="43137"/>
                    </a:srgbClr>
                  </a:outerShdw>
                </a:effectLst>
              </a:rPr>
              <a:t>Ceza Muhakemesi Kanunu</a:t>
            </a:r>
          </a:p>
        </p:txBody>
      </p:sp>
      <p:sp>
        <p:nvSpPr>
          <p:cNvPr id="6" name="Yukarı Aşağı Ok 5"/>
          <p:cNvSpPr/>
          <p:nvPr/>
        </p:nvSpPr>
        <p:spPr>
          <a:xfrm>
            <a:off x="3590925" y="4394705"/>
            <a:ext cx="45719" cy="174221"/>
          </a:xfrm>
          <a:prstGeom prst="up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Yukarı Aşağı Ok 11"/>
          <p:cNvSpPr/>
          <p:nvPr/>
        </p:nvSpPr>
        <p:spPr>
          <a:xfrm>
            <a:off x="5934075" y="4399770"/>
            <a:ext cx="45719" cy="174221"/>
          </a:xfrm>
          <a:prstGeom prst="up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Yukarı Aşağı Ok 14"/>
          <p:cNvSpPr/>
          <p:nvPr/>
        </p:nvSpPr>
        <p:spPr>
          <a:xfrm>
            <a:off x="8067675" y="4390945"/>
            <a:ext cx="45719" cy="174221"/>
          </a:xfrm>
          <a:prstGeom prst="up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Slayt Numarası Yer Tutucusu 6"/>
          <p:cNvSpPr>
            <a:spLocks noGrp="1"/>
          </p:cNvSpPr>
          <p:nvPr>
            <p:ph type="sldNum" sz="quarter" idx="12"/>
          </p:nvPr>
        </p:nvSpPr>
        <p:spPr/>
        <p:txBody>
          <a:bodyPr/>
          <a:lstStyle/>
          <a:p>
            <a:fld id="{39F9BA00-44CD-41D4-A3D8-F864C744DC1F}" type="slidenum">
              <a:rPr lang="tr-TR" smtClean="0"/>
              <a:t>4</a:t>
            </a:fld>
            <a:r>
              <a:rPr lang="tr-TR" smtClean="0"/>
              <a:t>/116</a:t>
            </a:r>
            <a:endParaRPr lang="tr-TR"/>
          </a:p>
        </p:txBody>
      </p:sp>
    </p:spTree>
    <p:extLst>
      <p:ext uri="{BB962C8B-B14F-4D97-AF65-F5344CB8AC3E}">
        <p14:creationId xmlns:p14="http://schemas.microsoft.com/office/powerpoint/2010/main" val="28246227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Ceza Hukukunun Temel Kavramları</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Dikdörtgen 2"/>
          <p:cNvSpPr/>
          <p:nvPr/>
        </p:nvSpPr>
        <p:spPr>
          <a:xfrm>
            <a:off x="1035183" y="2244236"/>
            <a:ext cx="10621108" cy="369332"/>
          </a:xfrm>
          <a:prstGeom prst="rect">
            <a:avLst/>
          </a:prstGeom>
        </p:spPr>
        <p:txBody>
          <a:bodyPr wrap="square">
            <a:spAutoFit/>
          </a:bodyPr>
          <a:lstStyle/>
          <a:p>
            <a:pPr marL="285750" indent="-285750" algn="just">
              <a:buFont typeface="Arial" panose="020B0604020202020204" pitchFamily="34" charset="0"/>
              <a:buChar char="•"/>
            </a:pPr>
            <a:r>
              <a:rPr lang="tr-TR" b="1" smtClean="0"/>
              <a:t>Suç</a:t>
            </a:r>
            <a:r>
              <a:rPr lang="tr-TR" smtClean="0"/>
              <a:t>; Hukuk düzeni tarafından ceza/güvenlik tedbiriyle karşılanan </a:t>
            </a:r>
            <a:r>
              <a:rPr lang="tr-TR" u="sng" smtClean="0"/>
              <a:t>insan</a:t>
            </a:r>
            <a:r>
              <a:rPr lang="tr-TR" smtClean="0"/>
              <a:t> davranışı</a:t>
            </a:r>
          </a:p>
        </p:txBody>
      </p:sp>
      <p:sp>
        <p:nvSpPr>
          <p:cNvPr id="9" name="Dikdörtgen 8"/>
          <p:cNvSpPr/>
          <p:nvPr/>
        </p:nvSpPr>
        <p:spPr>
          <a:xfrm>
            <a:off x="1035183" y="3388265"/>
            <a:ext cx="10621108" cy="646331"/>
          </a:xfrm>
          <a:prstGeom prst="rect">
            <a:avLst/>
          </a:prstGeom>
        </p:spPr>
        <p:txBody>
          <a:bodyPr wrap="square">
            <a:spAutoFit/>
          </a:bodyPr>
          <a:lstStyle/>
          <a:p>
            <a:pPr marL="285750" indent="-285750" algn="just">
              <a:buFont typeface="Arial" panose="020B0604020202020204" pitchFamily="34" charset="0"/>
              <a:buChar char="•"/>
            </a:pPr>
            <a:r>
              <a:rPr lang="tr-TR" smtClean="0"/>
              <a:t>Türk Ceza Hukukunda Yaptırım, </a:t>
            </a:r>
            <a:r>
              <a:rPr lang="tr-TR" b="1" i="1" u="sng" smtClean="0"/>
              <a:t>Ceza</a:t>
            </a:r>
            <a:r>
              <a:rPr lang="tr-TR" i="1" u="sng" smtClean="0"/>
              <a:t> (</a:t>
            </a:r>
            <a:r>
              <a:rPr lang="tr-TR" i="1" u="sng" smtClean="0">
                <a:effectLst>
                  <a:outerShdw blurRad="38100" dist="38100" dir="2700000" algn="tl">
                    <a:srgbClr val="000000">
                      <a:alpha val="43137"/>
                    </a:srgbClr>
                  </a:outerShdw>
                </a:effectLst>
              </a:rPr>
              <a:t>Hapis ve Adli Para cezası)</a:t>
            </a:r>
            <a:r>
              <a:rPr lang="tr-TR" smtClean="0">
                <a:effectLst>
                  <a:outerShdw blurRad="38100" dist="38100" dir="2700000" algn="tl">
                    <a:srgbClr val="000000">
                      <a:alpha val="43137"/>
                    </a:srgbClr>
                  </a:outerShdw>
                </a:effectLst>
              </a:rPr>
              <a:t> </a:t>
            </a:r>
            <a:r>
              <a:rPr lang="tr-TR" smtClean="0"/>
              <a:t>ve </a:t>
            </a:r>
            <a:r>
              <a:rPr lang="tr-TR" i="1" u="sng" smtClean="0">
                <a:effectLst>
                  <a:outerShdw blurRad="38100" dist="38100" dir="2700000" algn="tl">
                    <a:srgbClr val="000000">
                      <a:alpha val="43137"/>
                    </a:srgbClr>
                  </a:outerShdw>
                </a:effectLst>
              </a:rPr>
              <a:t>Güvenlik Tedbiri</a:t>
            </a:r>
            <a:r>
              <a:rPr lang="tr-TR" smtClean="0"/>
              <a:t> olmak üzere 2 şekilde uygulanmaktadır.</a:t>
            </a:r>
          </a:p>
        </p:txBody>
      </p:sp>
      <p:sp>
        <p:nvSpPr>
          <p:cNvPr id="13" name="Dikdörtgen 12"/>
          <p:cNvSpPr/>
          <p:nvPr/>
        </p:nvSpPr>
        <p:spPr>
          <a:xfrm>
            <a:off x="1035183" y="2695768"/>
            <a:ext cx="10621108" cy="646331"/>
          </a:xfrm>
          <a:prstGeom prst="rect">
            <a:avLst/>
          </a:prstGeom>
        </p:spPr>
        <p:txBody>
          <a:bodyPr wrap="square">
            <a:spAutoFit/>
          </a:bodyPr>
          <a:lstStyle/>
          <a:p>
            <a:pPr marL="285750" indent="-285750" algn="just">
              <a:buFont typeface="Arial" panose="020B0604020202020204" pitchFamily="34" charset="0"/>
              <a:buChar char="•"/>
            </a:pPr>
            <a:r>
              <a:rPr lang="tr-TR" b="1" smtClean="0"/>
              <a:t>Ceza</a:t>
            </a:r>
            <a:r>
              <a:rPr lang="tr-TR" smtClean="0"/>
              <a:t>;  kelime anlamı = KARŞILIK</a:t>
            </a:r>
          </a:p>
          <a:p>
            <a:pPr algn="just"/>
            <a:r>
              <a:rPr lang="tr-TR"/>
              <a:t>	</a:t>
            </a:r>
            <a:r>
              <a:rPr lang="tr-TR" smtClean="0"/>
              <a:t>hukuki anlamı = Kişinin yaşantısına, özgürlüğüne ve mallarına yönelik YAPTIRIM</a:t>
            </a:r>
          </a:p>
        </p:txBody>
      </p:sp>
      <p:sp>
        <p:nvSpPr>
          <p:cNvPr id="15" name="Metin kutusu 14"/>
          <p:cNvSpPr txBox="1"/>
          <p:nvPr/>
        </p:nvSpPr>
        <p:spPr>
          <a:xfrm>
            <a:off x="1671782" y="5149702"/>
            <a:ext cx="7132782" cy="1574277"/>
          </a:xfrm>
          <a:prstGeom prst="rect">
            <a:avLst/>
          </a:prstGeom>
          <a:noFill/>
        </p:spPr>
        <p:txBody>
          <a:bodyPr wrap="square" rtlCol="0">
            <a:spAutoFit/>
          </a:bodyPr>
          <a:lstStyle/>
          <a:p>
            <a:pPr>
              <a:lnSpc>
                <a:spcPct val="107000"/>
              </a:lnSpc>
            </a:pPr>
            <a:r>
              <a:rPr lang="tr-TR" sz="1000" b="1" smtClean="0">
                <a:latin typeface="Calibri" panose="020F0502020204030204" pitchFamily="34" charset="0"/>
                <a:ea typeface="Calibri" panose="020F0502020204030204" pitchFamily="34" charset="0"/>
                <a:cs typeface="Times New Roman" panose="02020603050405020304" pitchFamily="18" charset="0"/>
              </a:rPr>
              <a:t>Türk Ceza Kanununda Yer alan Güvenlik Tedbirleri</a:t>
            </a:r>
          </a:p>
          <a:p>
            <a:pPr>
              <a:lnSpc>
                <a:spcPct val="107000"/>
              </a:lnSpc>
            </a:pPr>
            <a:r>
              <a:rPr lang="tr-TR" sz="1000" smtClean="0">
                <a:latin typeface="Calibri" panose="020F0502020204030204" pitchFamily="34" charset="0"/>
                <a:ea typeface="Calibri" panose="020F0502020204030204" pitchFamily="34" charset="0"/>
                <a:cs typeface="Times New Roman" panose="02020603050405020304" pitchFamily="18" charset="0"/>
              </a:rPr>
              <a:t>Belli hakları kullanmaktan yoksun bırakılma (TCK m.53),</a:t>
            </a:r>
            <a:endParaRPr lang="fr-FR" sz="100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tr-TR" sz="1000" smtClean="0">
                <a:latin typeface="Calibri" panose="020F0502020204030204" pitchFamily="34" charset="0"/>
                <a:ea typeface="Calibri" panose="020F0502020204030204" pitchFamily="34" charset="0"/>
                <a:cs typeface="Times New Roman" panose="02020603050405020304" pitchFamily="18" charset="0"/>
              </a:rPr>
              <a:t>Eşya müsaderesi (TCK m.54),</a:t>
            </a:r>
            <a:endParaRPr lang="fr-FR" sz="100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tr-TR" sz="1000" smtClean="0">
                <a:latin typeface="Calibri" panose="020F0502020204030204" pitchFamily="34" charset="0"/>
                <a:ea typeface="Calibri" panose="020F0502020204030204" pitchFamily="34" charset="0"/>
                <a:cs typeface="Times New Roman" panose="02020603050405020304" pitchFamily="18" charset="0"/>
              </a:rPr>
              <a:t>Kazanç müsaderesi (TCK m.55),</a:t>
            </a:r>
            <a:endParaRPr lang="fr-FR" sz="100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tr-TR" sz="1000" smtClean="0">
                <a:latin typeface="Calibri" panose="020F0502020204030204" pitchFamily="34" charset="0"/>
                <a:ea typeface="Calibri" panose="020F0502020204030204" pitchFamily="34" charset="0"/>
                <a:cs typeface="Times New Roman" panose="02020603050405020304" pitchFamily="18" charset="0"/>
              </a:rPr>
              <a:t>Çocuklara özgü güvenlik tedbirleri (TCK m.56),</a:t>
            </a:r>
            <a:endParaRPr lang="fr-FR" sz="100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tr-TR" sz="1000" smtClean="0">
                <a:latin typeface="Calibri" panose="020F0502020204030204" pitchFamily="34" charset="0"/>
                <a:ea typeface="Calibri" panose="020F0502020204030204" pitchFamily="34" charset="0"/>
                <a:cs typeface="Times New Roman" panose="02020603050405020304" pitchFamily="18" charset="0"/>
              </a:rPr>
              <a:t>Akıl hastalarına özgü güvenlik tedbirleri (TCK m.57),</a:t>
            </a:r>
            <a:endParaRPr lang="fr-FR" sz="100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tr-TR" sz="1000" smtClean="0">
                <a:latin typeface="Calibri" panose="020F0502020204030204" pitchFamily="34" charset="0"/>
                <a:ea typeface="Calibri" panose="020F0502020204030204" pitchFamily="34" charset="0"/>
                <a:cs typeface="Times New Roman" panose="02020603050405020304" pitchFamily="18" charset="0"/>
              </a:rPr>
              <a:t>Suçta tekerrür ve özel tehlikeli suçlular (TCK m.58),</a:t>
            </a:r>
            <a:endParaRPr lang="fr-FR" sz="100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tr-TR" sz="1000" smtClean="0">
                <a:latin typeface="Calibri" panose="020F0502020204030204" pitchFamily="34" charset="0"/>
                <a:ea typeface="Calibri" panose="020F0502020204030204" pitchFamily="34" charset="0"/>
                <a:cs typeface="Times New Roman" panose="02020603050405020304" pitchFamily="18" charset="0"/>
              </a:rPr>
              <a:t>Sınır dışı edilme (TCK m.59),</a:t>
            </a:r>
            <a:endParaRPr lang="fr-FR" sz="100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tr-TR" sz="1000" smtClean="0">
                <a:latin typeface="Calibri" panose="020F0502020204030204" pitchFamily="34" charset="0"/>
                <a:ea typeface="Calibri" panose="020F0502020204030204" pitchFamily="34" charset="0"/>
                <a:cs typeface="Times New Roman" panose="02020603050405020304" pitchFamily="18" charset="0"/>
              </a:rPr>
              <a:t>Tüzel kişiler hakkında güvenlik tedbirleri (TCK m.60).</a:t>
            </a:r>
            <a:endParaRPr lang="fr-FR" sz="1000">
              <a:latin typeface="Calibri" panose="020F0502020204030204" pitchFamily="34" charset="0"/>
              <a:ea typeface="Calibri" panose="020F0502020204030204" pitchFamily="34" charset="0"/>
              <a:cs typeface="Times New Roman" panose="02020603050405020304" pitchFamily="18" charset="0"/>
            </a:endParaRPr>
          </a:p>
        </p:txBody>
      </p:sp>
      <p:sp>
        <p:nvSpPr>
          <p:cNvPr id="16" name="Dikdörtgen 15"/>
          <p:cNvSpPr/>
          <p:nvPr/>
        </p:nvSpPr>
        <p:spPr>
          <a:xfrm>
            <a:off x="1035183" y="4780370"/>
            <a:ext cx="10621108" cy="369332"/>
          </a:xfrm>
          <a:prstGeom prst="rect">
            <a:avLst/>
          </a:prstGeom>
        </p:spPr>
        <p:txBody>
          <a:bodyPr wrap="square">
            <a:spAutoFit/>
          </a:bodyPr>
          <a:lstStyle/>
          <a:p>
            <a:pPr marL="285750" indent="-285750" algn="just">
              <a:buFont typeface="Arial" panose="020B0604020202020204" pitchFamily="34" charset="0"/>
              <a:buChar char="•"/>
            </a:pPr>
            <a:r>
              <a:rPr lang="tr-TR" smtClean="0"/>
              <a:t>Güvenlik Tedbiri: İşlenen suçla ilgili uygulanan Koruma ve İyileştirme amacına yönelik yaptırımlardır</a:t>
            </a:r>
          </a:p>
        </p:txBody>
      </p:sp>
      <p:sp>
        <p:nvSpPr>
          <p:cNvPr id="6" name="Dikdörtgen 5"/>
          <p:cNvSpPr/>
          <p:nvPr/>
        </p:nvSpPr>
        <p:spPr>
          <a:xfrm>
            <a:off x="3630745" y="3865636"/>
            <a:ext cx="3952875" cy="400110"/>
          </a:xfrm>
          <a:prstGeom prst="rect">
            <a:avLst/>
          </a:prstGeom>
        </p:spPr>
        <p:txBody>
          <a:bodyPr wrap="square">
            <a:spAutoFit/>
          </a:bodyPr>
          <a:lstStyle/>
          <a:p>
            <a:pPr algn="ctr"/>
            <a:r>
              <a:rPr lang="tr-TR" sz="1000" i="1" smtClean="0"/>
              <a:t>C</a:t>
            </a:r>
            <a:r>
              <a:rPr lang="fr-FR" sz="1000" i="1" err="1" smtClean="0"/>
              <a:t>eza</a:t>
            </a:r>
            <a:r>
              <a:rPr lang="fr-FR" sz="1000" i="1" smtClean="0"/>
              <a:t> </a:t>
            </a:r>
            <a:r>
              <a:rPr lang="fr-FR" sz="1000" i="1" err="1"/>
              <a:t>yaptırımı</a:t>
            </a:r>
            <a:r>
              <a:rPr lang="fr-FR" sz="1000" i="1"/>
              <a:t> </a:t>
            </a:r>
            <a:r>
              <a:rPr lang="fr-FR" sz="1000" i="1" err="1"/>
              <a:t>ancak</a:t>
            </a:r>
            <a:r>
              <a:rPr lang="fr-FR" sz="1000" i="1"/>
              <a:t> işlediği </a:t>
            </a:r>
            <a:r>
              <a:rPr lang="fr-FR" sz="1000" i="1" err="1"/>
              <a:t>haksızlıktan</a:t>
            </a:r>
            <a:r>
              <a:rPr lang="fr-FR" sz="1000" i="1"/>
              <a:t> dolayı </a:t>
            </a:r>
            <a:r>
              <a:rPr lang="fr-FR" sz="1000" i="1" err="1"/>
              <a:t>kusurlu</a:t>
            </a:r>
            <a:r>
              <a:rPr lang="fr-FR" sz="1000" i="1"/>
              <a:t> bulunan </a:t>
            </a:r>
            <a:r>
              <a:rPr lang="fr-FR" sz="1000" i="1" err="1"/>
              <a:t>kişiye</a:t>
            </a:r>
            <a:r>
              <a:rPr lang="fr-FR" sz="1000" i="1"/>
              <a:t> </a:t>
            </a:r>
            <a:r>
              <a:rPr lang="fr-FR" sz="1000" i="1" err="1"/>
              <a:t>uygulanabilir</a:t>
            </a:r>
            <a:endParaRPr lang="fr-FR" sz="1000" i="1"/>
          </a:p>
        </p:txBody>
      </p:sp>
      <p:sp>
        <p:nvSpPr>
          <p:cNvPr id="7" name="Dikdörtgen 6"/>
          <p:cNvSpPr/>
          <p:nvPr/>
        </p:nvSpPr>
        <p:spPr>
          <a:xfrm>
            <a:off x="6691679" y="4179415"/>
            <a:ext cx="4964612" cy="553998"/>
          </a:xfrm>
          <a:prstGeom prst="rect">
            <a:avLst/>
          </a:prstGeom>
        </p:spPr>
        <p:txBody>
          <a:bodyPr wrap="square">
            <a:spAutoFit/>
          </a:bodyPr>
          <a:lstStyle/>
          <a:p>
            <a:pPr algn="ctr"/>
            <a:r>
              <a:rPr lang="tr-TR" sz="1000" i="1" smtClean="0"/>
              <a:t>H</a:t>
            </a:r>
            <a:r>
              <a:rPr lang="fr-FR" sz="1000" i="1" err="1" smtClean="0"/>
              <a:t>aksızlığı</a:t>
            </a:r>
            <a:r>
              <a:rPr lang="fr-FR" sz="1000" i="1" smtClean="0"/>
              <a:t> </a:t>
            </a:r>
            <a:r>
              <a:rPr lang="fr-FR" sz="1000" i="1" err="1"/>
              <a:t>gerçekleştiren</a:t>
            </a:r>
            <a:r>
              <a:rPr lang="fr-FR" sz="1000" i="1"/>
              <a:t> </a:t>
            </a:r>
            <a:r>
              <a:rPr lang="fr-FR" sz="1000" i="1" err="1"/>
              <a:t>kişiye</a:t>
            </a:r>
            <a:r>
              <a:rPr lang="fr-FR" sz="1000" i="1"/>
              <a:t>, </a:t>
            </a:r>
            <a:r>
              <a:rPr lang="fr-FR" sz="1000" i="1" err="1"/>
              <a:t>gerek</a:t>
            </a:r>
            <a:r>
              <a:rPr lang="fr-FR" sz="1000" i="1"/>
              <a:t> </a:t>
            </a:r>
            <a:r>
              <a:rPr lang="fr-FR" sz="1000" i="1" err="1"/>
              <a:t>kendisini</a:t>
            </a:r>
            <a:r>
              <a:rPr lang="fr-FR" sz="1000" i="1"/>
              <a:t> </a:t>
            </a:r>
            <a:r>
              <a:rPr lang="fr-FR" sz="1000" i="1" err="1"/>
              <a:t>gerek</a:t>
            </a:r>
            <a:r>
              <a:rPr lang="fr-FR" sz="1000" i="1"/>
              <a:t> </a:t>
            </a:r>
            <a:r>
              <a:rPr lang="fr-FR" sz="1000" i="1" err="1"/>
              <a:t>toplumu</a:t>
            </a:r>
            <a:r>
              <a:rPr lang="fr-FR" sz="1000" i="1"/>
              <a:t> belli </a:t>
            </a:r>
            <a:r>
              <a:rPr lang="fr-FR" sz="1000" i="1" err="1" smtClean="0"/>
              <a:t>tehli</a:t>
            </a:r>
            <a:r>
              <a:rPr lang="fr-FR" sz="1000" err="1"/>
              <a:t>kelerden</a:t>
            </a:r>
            <a:r>
              <a:rPr lang="fr-FR" sz="1000"/>
              <a:t> </a:t>
            </a:r>
            <a:r>
              <a:rPr lang="fr-FR" sz="1000" b="1" err="1"/>
              <a:t>korumak</a:t>
            </a:r>
            <a:r>
              <a:rPr lang="fr-FR" sz="1000"/>
              <a:t> </a:t>
            </a:r>
            <a:r>
              <a:rPr lang="fr-FR" sz="1000" err="1" smtClean="0"/>
              <a:t>amacı</a:t>
            </a:r>
            <a:r>
              <a:rPr lang="tr-TR" sz="1000" err="1" smtClean="0"/>
              <a:t>yl</a:t>
            </a:r>
            <a:r>
              <a:rPr lang="fr-FR" sz="1000" smtClean="0"/>
              <a:t>a </a:t>
            </a:r>
            <a:r>
              <a:rPr lang="fr-FR" sz="1000" err="1" smtClean="0"/>
              <a:t>uygulanabilmektedir</a:t>
            </a:r>
            <a:r>
              <a:rPr lang="fr-FR" sz="1000"/>
              <a:t>. </a:t>
            </a:r>
            <a:r>
              <a:rPr lang="fr-FR" sz="1000" err="1"/>
              <a:t>Ceza</a:t>
            </a:r>
            <a:r>
              <a:rPr lang="fr-FR" sz="1000"/>
              <a:t> </a:t>
            </a:r>
            <a:r>
              <a:rPr lang="fr-FR" sz="1000" err="1"/>
              <a:t>yaptırımının</a:t>
            </a:r>
            <a:r>
              <a:rPr lang="fr-FR" sz="1000"/>
              <a:t> </a:t>
            </a:r>
            <a:r>
              <a:rPr lang="fr-FR" sz="1000" err="1"/>
              <a:t>aksine</a:t>
            </a:r>
            <a:r>
              <a:rPr lang="fr-FR" sz="1000"/>
              <a:t>, </a:t>
            </a:r>
            <a:r>
              <a:rPr lang="fr-FR" sz="1000" err="1"/>
              <a:t>güvenlik</a:t>
            </a:r>
            <a:r>
              <a:rPr lang="fr-FR" sz="1000"/>
              <a:t> </a:t>
            </a:r>
            <a:r>
              <a:rPr lang="fr-FR" sz="1000" err="1"/>
              <a:t>tedbirine</a:t>
            </a:r>
            <a:r>
              <a:rPr lang="fr-FR" sz="1000"/>
              <a:t> </a:t>
            </a:r>
            <a:r>
              <a:rPr lang="fr-FR" sz="1000" err="1"/>
              <a:t>hükmedilebilmesi</a:t>
            </a:r>
            <a:r>
              <a:rPr lang="fr-FR" sz="1000"/>
              <a:t> için </a:t>
            </a:r>
            <a:r>
              <a:rPr lang="fr-FR" sz="1000" err="1"/>
              <a:t>gerçekleştirdiği</a:t>
            </a:r>
            <a:r>
              <a:rPr lang="fr-FR" sz="1000"/>
              <a:t> </a:t>
            </a:r>
            <a:r>
              <a:rPr lang="fr-FR" sz="1000" err="1"/>
              <a:t>haksızlık</a:t>
            </a:r>
            <a:r>
              <a:rPr lang="fr-FR" sz="1000"/>
              <a:t> </a:t>
            </a:r>
            <a:r>
              <a:rPr lang="fr-FR" sz="1000" err="1"/>
              <a:t>dolayısıyla</a:t>
            </a:r>
            <a:r>
              <a:rPr lang="fr-FR" sz="1000"/>
              <a:t> </a:t>
            </a:r>
            <a:r>
              <a:rPr lang="fr-FR" sz="1000" err="1"/>
              <a:t>kişinin</a:t>
            </a:r>
            <a:r>
              <a:rPr lang="fr-FR" sz="1000"/>
              <a:t> </a:t>
            </a:r>
            <a:r>
              <a:rPr lang="fr-FR" sz="1000" b="1" err="1"/>
              <a:t>kusurlu</a:t>
            </a:r>
            <a:r>
              <a:rPr lang="fr-FR" sz="1000" b="1"/>
              <a:t> </a:t>
            </a:r>
            <a:r>
              <a:rPr lang="fr-FR" sz="1000" b="1" err="1"/>
              <a:t>sayılması</a:t>
            </a:r>
            <a:r>
              <a:rPr lang="fr-FR" sz="1000" b="1"/>
              <a:t> </a:t>
            </a:r>
            <a:r>
              <a:rPr lang="fr-FR" sz="1000" b="1" err="1"/>
              <a:t>zorunlu</a:t>
            </a:r>
            <a:r>
              <a:rPr lang="fr-FR" sz="1000" b="1"/>
              <a:t> </a:t>
            </a:r>
            <a:r>
              <a:rPr lang="fr-FR" sz="1000" b="1" err="1"/>
              <a:t>değildir</a:t>
            </a:r>
            <a:endParaRPr lang="tr-TR" sz="1000" b="1" i="1" smtClean="0"/>
          </a:p>
        </p:txBody>
      </p:sp>
      <p:sp>
        <p:nvSpPr>
          <p:cNvPr id="8" name="Aşağı Ok 7"/>
          <p:cNvSpPr/>
          <p:nvPr/>
        </p:nvSpPr>
        <p:spPr>
          <a:xfrm>
            <a:off x="8610600" y="3743325"/>
            <a:ext cx="140400" cy="436090"/>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Aşağı Ok 13"/>
          <p:cNvSpPr/>
          <p:nvPr/>
        </p:nvSpPr>
        <p:spPr>
          <a:xfrm>
            <a:off x="5622059" y="3714081"/>
            <a:ext cx="140566" cy="229269"/>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5</a:t>
            </a:fld>
            <a:r>
              <a:rPr lang="tr-TR" smtClean="0"/>
              <a:t>/116</a:t>
            </a:r>
            <a:endParaRPr lang="tr-TR"/>
          </a:p>
        </p:txBody>
      </p:sp>
    </p:spTree>
    <p:extLst>
      <p:ext uri="{BB962C8B-B14F-4D97-AF65-F5344CB8AC3E}">
        <p14:creationId xmlns:p14="http://schemas.microsoft.com/office/powerpoint/2010/main" val="2034997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Ceza Hukukunun Temel Kavramları</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Dikdörtgen 2"/>
          <p:cNvSpPr/>
          <p:nvPr/>
        </p:nvSpPr>
        <p:spPr>
          <a:xfrm>
            <a:off x="1450819" y="3127181"/>
            <a:ext cx="10621108" cy="369332"/>
          </a:xfrm>
          <a:prstGeom prst="rect">
            <a:avLst/>
          </a:prstGeom>
        </p:spPr>
        <p:txBody>
          <a:bodyPr wrap="square">
            <a:spAutoFit/>
          </a:bodyPr>
          <a:lstStyle/>
          <a:p>
            <a:pPr marL="285750" indent="-285750" algn="just">
              <a:buFont typeface="Arial" panose="020B0604020202020204" pitchFamily="34" charset="0"/>
              <a:buChar char="•"/>
            </a:pPr>
            <a:r>
              <a:rPr lang="tr-TR" smtClean="0"/>
              <a:t>Hukuka aykırı her fiil, ceza hukuku anlamında suç değildir.</a:t>
            </a:r>
          </a:p>
        </p:txBody>
      </p:sp>
      <p:sp>
        <p:nvSpPr>
          <p:cNvPr id="10" name="Dikdörtgen 9"/>
          <p:cNvSpPr/>
          <p:nvPr/>
        </p:nvSpPr>
        <p:spPr>
          <a:xfrm>
            <a:off x="1035183" y="2606821"/>
            <a:ext cx="10621108" cy="369332"/>
          </a:xfrm>
          <a:prstGeom prst="rect">
            <a:avLst/>
          </a:prstGeom>
        </p:spPr>
        <p:txBody>
          <a:bodyPr wrap="square">
            <a:spAutoFit/>
          </a:bodyPr>
          <a:lstStyle/>
          <a:p>
            <a:pPr algn="just"/>
            <a:r>
              <a:rPr lang="tr-TR" b="1" smtClean="0"/>
              <a:t>Suçlar ve Diğer Haksızlık Oluşturan Fiiller</a:t>
            </a:r>
            <a:endParaRPr lang="tr-TR" smtClean="0"/>
          </a:p>
        </p:txBody>
      </p:sp>
      <p:sp>
        <p:nvSpPr>
          <p:cNvPr id="11" name="Dikdörtgen 10"/>
          <p:cNvSpPr/>
          <p:nvPr/>
        </p:nvSpPr>
        <p:spPr>
          <a:xfrm>
            <a:off x="1450819" y="3616329"/>
            <a:ext cx="10621108" cy="369332"/>
          </a:xfrm>
          <a:prstGeom prst="rect">
            <a:avLst/>
          </a:prstGeom>
        </p:spPr>
        <p:txBody>
          <a:bodyPr wrap="square">
            <a:spAutoFit/>
          </a:bodyPr>
          <a:lstStyle/>
          <a:p>
            <a:pPr marL="285750" indent="-285750" algn="just">
              <a:buFont typeface="Arial" panose="020B0604020202020204" pitchFamily="34" charset="0"/>
              <a:buChar char="•"/>
            </a:pPr>
            <a:r>
              <a:rPr lang="tr-TR" smtClean="0"/>
              <a:t>Hukuka aykırı fiiller = Suç teşkil eden hukuka aykırılıklar </a:t>
            </a:r>
            <a:r>
              <a:rPr lang="tr-TR" b="1" smtClean="0"/>
              <a:t>+</a:t>
            </a:r>
            <a:r>
              <a:rPr lang="tr-TR" smtClean="0"/>
              <a:t> suç teşkil etmeyen hukuka aykırılıklar</a:t>
            </a:r>
          </a:p>
        </p:txBody>
      </p:sp>
      <p:sp>
        <p:nvSpPr>
          <p:cNvPr id="12" name="Dikdörtgen 11"/>
          <p:cNvSpPr/>
          <p:nvPr/>
        </p:nvSpPr>
        <p:spPr>
          <a:xfrm>
            <a:off x="7301701" y="3946054"/>
            <a:ext cx="3292408" cy="430887"/>
          </a:xfrm>
          <a:prstGeom prst="rect">
            <a:avLst/>
          </a:prstGeom>
        </p:spPr>
        <p:txBody>
          <a:bodyPr wrap="square">
            <a:spAutoFit/>
          </a:bodyPr>
          <a:lstStyle/>
          <a:p>
            <a:pPr marL="285750" indent="-285750" algn="just">
              <a:buFont typeface="Arial" panose="020B0604020202020204" pitchFamily="34" charset="0"/>
              <a:buChar char="•"/>
            </a:pPr>
            <a:r>
              <a:rPr lang="tr-TR" sz="1050" i="1" smtClean="0"/>
              <a:t>Memurların salt disiplin cezası gerektiren eylemleri</a:t>
            </a:r>
          </a:p>
          <a:p>
            <a:pPr marL="285750" indent="-285750" algn="just">
              <a:buFont typeface="Arial" panose="020B0604020202020204" pitchFamily="34" charset="0"/>
              <a:buChar char="•"/>
            </a:pPr>
            <a:r>
              <a:rPr lang="tr-TR" sz="1050" i="1" smtClean="0"/>
              <a:t>Kabahatler (Dilencilik, sarhoşluk)</a:t>
            </a:r>
          </a:p>
        </p:txBody>
      </p:sp>
      <p:sp>
        <p:nvSpPr>
          <p:cNvPr id="9"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6</a:t>
            </a:fld>
            <a:r>
              <a:rPr lang="tr-TR" smtClean="0"/>
              <a:t>/116</a:t>
            </a:r>
            <a:endParaRPr lang="tr-TR"/>
          </a:p>
        </p:txBody>
      </p:sp>
    </p:spTree>
    <p:extLst>
      <p:ext uri="{BB962C8B-B14F-4D97-AF65-F5344CB8AC3E}">
        <p14:creationId xmlns:p14="http://schemas.microsoft.com/office/powerpoint/2010/main" val="28773721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tr-TR" b="1" smtClean="0">
                <a:effectLst>
                  <a:outerShdw blurRad="38100" dist="38100" dir="2700000" algn="tl">
                    <a:srgbClr val="000000">
                      <a:alpha val="43137"/>
                    </a:srgbClr>
                  </a:outerShdw>
                </a:effectLst>
              </a:rPr>
              <a:t>Ceza Hukukunun Kaynakları</a:t>
            </a:r>
          </a:p>
          <a:p>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10" name="Dikdörtgen 9"/>
          <p:cNvSpPr/>
          <p:nvPr/>
        </p:nvSpPr>
        <p:spPr>
          <a:xfrm>
            <a:off x="2114549" y="2493612"/>
            <a:ext cx="8486775" cy="369332"/>
          </a:xfrm>
          <a:prstGeom prst="rect">
            <a:avLst/>
          </a:prstGeom>
        </p:spPr>
        <p:txBody>
          <a:bodyPr wrap="square">
            <a:spAutoFit/>
          </a:bodyPr>
          <a:lstStyle/>
          <a:p>
            <a:pPr algn="just"/>
            <a:r>
              <a:rPr lang="tr-TR" b="1" smtClean="0"/>
              <a:t>Doğrudan Kaynaklar                                           Dolayısıyla Kaynaklar</a:t>
            </a:r>
            <a:endParaRPr lang="tr-TR" smtClean="0"/>
          </a:p>
        </p:txBody>
      </p:sp>
      <p:sp>
        <p:nvSpPr>
          <p:cNvPr id="12" name="Dikdörtgen 11"/>
          <p:cNvSpPr/>
          <p:nvPr/>
        </p:nvSpPr>
        <p:spPr>
          <a:xfrm>
            <a:off x="2114549" y="3174829"/>
            <a:ext cx="2676526" cy="830997"/>
          </a:xfrm>
          <a:prstGeom prst="rect">
            <a:avLst/>
          </a:prstGeom>
        </p:spPr>
        <p:txBody>
          <a:bodyPr wrap="square">
            <a:spAutoFit/>
          </a:bodyPr>
          <a:lstStyle/>
          <a:p>
            <a:pPr marL="285750" indent="-285750" algn="just">
              <a:buFont typeface="Arial" panose="020B0604020202020204" pitchFamily="34" charset="0"/>
              <a:buChar char="•"/>
            </a:pPr>
            <a:r>
              <a:rPr lang="tr-TR" sz="1600" smtClean="0"/>
              <a:t>Anayasa</a:t>
            </a:r>
          </a:p>
          <a:p>
            <a:pPr marL="285750" indent="-285750" algn="just">
              <a:buFont typeface="Arial" panose="020B0604020202020204" pitchFamily="34" charset="0"/>
              <a:buChar char="•"/>
            </a:pPr>
            <a:r>
              <a:rPr lang="tr-TR" sz="1600" smtClean="0"/>
              <a:t>Kanunlar</a:t>
            </a:r>
          </a:p>
          <a:p>
            <a:pPr marL="285750" indent="-285750" algn="just">
              <a:buFont typeface="Arial" panose="020B0604020202020204" pitchFamily="34" charset="0"/>
              <a:buChar char="•"/>
            </a:pPr>
            <a:r>
              <a:rPr lang="tr-TR" sz="1600" smtClean="0"/>
              <a:t>Uluslararası Antlaşmalar</a:t>
            </a:r>
          </a:p>
        </p:txBody>
      </p:sp>
      <p:sp>
        <p:nvSpPr>
          <p:cNvPr id="9" name="Dikdörtgen 8"/>
          <p:cNvSpPr/>
          <p:nvPr/>
        </p:nvSpPr>
        <p:spPr>
          <a:xfrm>
            <a:off x="6215929" y="3174829"/>
            <a:ext cx="3156671" cy="584775"/>
          </a:xfrm>
          <a:prstGeom prst="rect">
            <a:avLst/>
          </a:prstGeom>
        </p:spPr>
        <p:txBody>
          <a:bodyPr wrap="square">
            <a:spAutoFit/>
          </a:bodyPr>
          <a:lstStyle/>
          <a:p>
            <a:pPr marL="285750" indent="-285750" algn="just">
              <a:buFont typeface="Arial" panose="020B0604020202020204" pitchFamily="34" charset="0"/>
              <a:buChar char="•"/>
            </a:pPr>
            <a:r>
              <a:rPr lang="tr-TR" sz="1600" smtClean="0"/>
              <a:t>Yüksek Mahkeme Kararları</a:t>
            </a:r>
          </a:p>
          <a:p>
            <a:pPr marL="285750" indent="-285750" algn="just">
              <a:buFont typeface="Arial" panose="020B0604020202020204" pitchFamily="34" charset="0"/>
              <a:buChar char="•"/>
            </a:pPr>
            <a:r>
              <a:rPr lang="tr-TR" sz="1600" smtClean="0"/>
              <a:t>Doktrin</a:t>
            </a:r>
          </a:p>
        </p:txBody>
      </p:sp>
      <p:sp>
        <p:nvSpPr>
          <p:cNvPr id="6" name="Metin kutusu 5"/>
          <p:cNvSpPr txBox="1"/>
          <p:nvPr/>
        </p:nvSpPr>
        <p:spPr>
          <a:xfrm>
            <a:off x="2114549" y="4297276"/>
            <a:ext cx="3644321" cy="307777"/>
          </a:xfrm>
          <a:prstGeom prst="rect">
            <a:avLst/>
          </a:prstGeom>
          <a:noFill/>
        </p:spPr>
        <p:txBody>
          <a:bodyPr wrap="square" rtlCol="0">
            <a:spAutoFit/>
          </a:bodyPr>
          <a:lstStyle/>
          <a:p>
            <a:r>
              <a:rPr lang="tr-TR" sz="1400" smtClean="0"/>
              <a:t>Somut olaya doğrudan uygulanırlar</a:t>
            </a:r>
            <a:endParaRPr lang="fr-FR" sz="1400"/>
          </a:p>
        </p:txBody>
      </p:sp>
      <p:sp>
        <p:nvSpPr>
          <p:cNvPr id="13" name="Metin kutusu 12"/>
          <p:cNvSpPr txBox="1"/>
          <p:nvPr/>
        </p:nvSpPr>
        <p:spPr>
          <a:xfrm>
            <a:off x="6178381" y="4290479"/>
            <a:ext cx="4466358" cy="307777"/>
          </a:xfrm>
          <a:prstGeom prst="rect">
            <a:avLst/>
          </a:prstGeom>
          <a:noFill/>
        </p:spPr>
        <p:txBody>
          <a:bodyPr wrap="square" rtlCol="0">
            <a:spAutoFit/>
          </a:bodyPr>
          <a:lstStyle/>
          <a:p>
            <a:r>
              <a:rPr lang="tr-TR" sz="1400" smtClean="0"/>
              <a:t>Doğrudan uygulanmaz, yorumlayıcı ve yardımcıdır</a:t>
            </a:r>
            <a:endParaRPr lang="fr-FR" sz="1400"/>
          </a:p>
        </p:txBody>
      </p:sp>
      <p:sp>
        <p:nvSpPr>
          <p:cNvPr id="14" name="Metin kutusu 13"/>
          <p:cNvSpPr txBox="1"/>
          <p:nvPr/>
        </p:nvSpPr>
        <p:spPr>
          <a:xfrm>
            <a:off x="2119816" y="4586803"/>
            <a:ext cx="1309829" cy="307777"/>
          </a:xfrm>
          <a:prstGeom prst="rect">
            <a:avLst/>
          </a:prstGeom>
          <a:noFill/>
        </p:spPr>
        <p:txBody>
          <a:bodyPr wrap="square" rtlCol="0">
            <a:spAutoFit/>
          </a:bodyPr>
          <a:lstStyle>
            <a:defPPr>
              <a:defRPr lang="tr-TR"/>
            </a:defPPr>
            <a:lvl1pPr>
              <a:defRPr sz="1600"/>
            </a:lvl1pPr>
          </a:lstStyle>
          <a:p>
            <a:r>
              <a:rPr lang="tr-TR" sz="1400"/>
              <a:t>Bağlayıcıdır</a:t>
            </a:r>
            <a:endParaRPr lang="fr-FR" sz="1400"/>
          </a:p>
        </p:txBody>
      </p:sp>
      <p:sp>
        <p:nvSpPr>
          <p:cNvPr id="15" name="Metin kutusu 14"/>
          <p:cNvSpPr txBox="1"/>
          <p:nvPr/>
        </p:nvSpPr>
        <p:spPr>
          <a:xfrm>
            <a:off x="6173887" y="4544528"/>
            <a:ext cx="2570882" cy="307777"/>
          </a:xfrm>
          <a:prstGeom prst="rect">
            <a:avLst/>
          </a:prstGeom>
          <a:noFill/>
        </p:spPr>
        <p:txBody>
          <a:bodyPr wrap="square" rtlCol="0">
            <a:spAutoFit/>
          </a:bodyPr>
          <a:lstStyle>
            <a:defPPr>
              <a:defRPr lang="tr-TR"/>
            </a:defPPr>
            <a:lvl1pPr>
              <a:defRPr sz="1600"/>
            </a:lvl1pPr>
          </a:lstStyle>
          <a:p>
            <a:r>
              <a:rPr lang="tr-TR" sz="1400" smtClean="0"/>
              <a:t>Bağlayıcı değildir</a:t>
            </a:r>
            <a:endParaRPr lang="fr-FR" sz="1400"/>
          </a:p>
        </p:txBody>
      </p:sp>
      <p:sp>
        <p:nvSpPr>
          <p:cNvPr id="3" name="Aşağı Ok 2"/>
          <p:cNvSpPr/>
          <p:nvPr/>
        </p:nvSpPr>
        <p:spPr>
          <a:xfrm rot="3431919" flipH="1">
            <a:off x="5008930" y="1936790"/>
            <a:ext cx="158539" cy="8087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Aşağı Ok 15"/>
          <p:cNvSpPr/>
          <p:nvPr/>
        </p:nvSpPr>
        <p:spPr>
          <a:xfrm rot="18584667" flipH="1">
            <a:off x="5740903" y="1961799"/>
            <a:ext cx="158646" cy="79968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Aşağı Ok 16"/>
          <p:cNvSpPr/>
          <p:nvPr/>
        </p:nvSpPr>
        <p:spPr>
          <a:xfrm rot="3431919" flipH="1">
            <a:off x="5008928" y="1936792"/>
            <a:ext cx="158539" cy="808770"/>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Aşağı Ok 17"/>
          <p:cNvSpPr/>
          <p:nvPr/>
        </p:nvSpPr>
        <p:spPr>
          <a:xfrm rot="18584667" flipH="1">
            <a:off x="5740902" y="1961800"/>
            <a:ext cx="158646" cy="799683"/>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Yukarı Aşağı Ok 6"/>
          <p:cNvSpPr/>
          <p:nvPr/>
        </p:nvSpPr>
        <p:spPr>
          <a:xfrm>
            <a:off x="2774731" y="2860084"/>
            <a:ext cx="105103" cy="292387"/>
          </a:xfrm>
          <a:prstGeom prst="up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Yukarı Aşağı Ok 18"/>
          <p:cNvSpPr/>
          <p:nvPr/>
        </p:nvSpPr>
        <p:spPr>
          <a:xfrm>
            <a:off x="7354225" y="2872536"/>
            <a:ext cx="105103" cy="292387"/>
          </a:xfrm>
          <a:prstGeom prst="up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7</a:t>
            </a:fld>
            <a:r>
              <a:rPr lang="tr-TR" smtClean="0"/>
              <a:t>/116</a:t>
            </a:r>
            <a:endParaRPr lang="tr-TR"/>
          </a:p>
        </p:txBody>
      </p:sp>
    </p:spTree>
    <p:extLst>
      <p:ext uri="{BB962C8B-B14F-4D97-AF65-F5344CB8AC3E}">
        <p14:creationId xmlns:p14="http://schemas.microsoft.com/office/powerpoint/2010/main" val="14295583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Ceza Hukukunun Kaynakları</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10" name="Dikdörtgen 9"/>
          <p:cNvSpPr/>
          <p:nvPr/>
        </p:nvSpPr>
        <p:spPr>
          <a:xfrm>
            <a:off x="286326" y="5402243"/>
            <a:ext cx="2086708" cy="954107"/>
          </a:xfrm>
          <a:prstGeom prst="rect">
            <a:avLst/>
          </a:prstGeom>
        </p:spPr>
        <p:txBody>
          <a:bodyPr wrap="square">
            <a:spAutoFit/>
          </a:bodyPr>
          <a:lstStyle/>
          <a:p>
            <a:pPr algn="just"/>
            <a:r>
              <a:rPr lang="tr-TR" sz="1400" b="1" smtClean="0"/>
              <a:t>Doğrudan Kaynaklar</a:t>
            </a:r>
          </a:p>
          <a:p>
            <a:pPr algn="just"/>
            <a:r>
              <a:rPr lang="tr-TR" sz="1400" u="sng" smtClean="0">
                <a:effectLst>
                  <a:outerShdw blurRad="38100" dist="38100" dir="2700000" algn="tl">
                    <a:srgbClr val="000000">
                      <a:alpha val="43137"/>
                    </a:srgbClr>
                  </a:outerShdw>
                </a:effectLst>
              </a:rPr>
              <a:t>Anayasa</a:t>
            </a:r>
          </a:p>
          <a:p>
            <a:pPr algn="just"/>
            <a:r>
              <a:rPr lang="tr-TR" sz="1400" smtClean="0"/>
              <a:t>Kanunlar</a:t>
            </a:r>
          </a:p>
          <a:p>
            <a:pPr algn="just"/>
            <a:r>
              <a:rPr lang="tr-TR" sz="1400" smtClean="0"/>
              <a:t>Uluslararası Antlaşmalar</a:t>
            </a:r>
          </a:p>
        </p:txBody>
      </p:sp>
      <p:sp>
        <p:nvSpPr>
          <p:cNvPr id="3" name="Dikdörtgen 2"/>
          <p:cNvSpPr/>
          <p:nvPr/>
        </p:nvSpPr>
        <p:spPr>
          <a:xfrm>
            <a:off x="1986016" y="2410242"/>
            <a:ext cx="2345642" cy="400110"/>
          </a:xfrm>
          <a:prstGeom prst="rect">
            <a:avLst/>
          </a:prstGeom>
        </p:spPr>
        <p:txBody>
          <a:bodyPr wrap="none">
            <a:spAutoFit/>
          </a:bodyPr>
          <a:lstStyle/>
          <a:p>
            <a:pPr algn="just"/>
            <a:r>
              <a:rPr lang="tr-TR" sz="2000" b="1"/>
              <a:t>Doğrudan Kaynaklar</a:t>
            </a:r>
          </a:p>
        </p:txBody>
      </p:sp>
      <p:sp>
        <p:nvSpPr>
          <p:cNvPr id="6" name="Dikdörtgen 5"/>
          <p:cNvSpPr/>
          <p:nvPr/>
        </p:nvSpPr>
        <p:spPr>
          <a:xfrm>
            <a:off x="3249855" y="2884194"/>
            <a:ext cx="981744" cy="369332"/>
          </a:xfrm>
          <a:prstGeom prst="rect">
            <a:avLst/>
          </a:prstGeom>
        </p:spPr>
        <p:txBody>
          <a:bodyPr wrap="none">
            <a:spAutoFit/>
          </a:bodyPr>
          <a:lstStyle/>
          <a:p>
            <a:pPr algn="just"/>
            <a:r>
              <a:rPr lang="tr-TR" b="1" smtClean="0"/>
              <a:t>Anayasa</a:t>
            </a:r>
            <a:endParaRPr lang="tr-TR" b="1"/>
          </a:p>
        </p:txBody>
      </p:sp>
      <p:sp>
        <p:nvSpPr>
          <p:cNvPr id="7" name="Metin kutusu 6"/>
          <p:cNvSpPr txBox="1"/>
          <p:nvPr/>
        </p:nvSpPr>
        <p:spPr>
          <a:xfrm>
            <a:off x="3602181" y="3343564"/>
            <a:ext cx="7860145" cy="2400657"/>
          </a:xfrm>
          <a:prstGeom prst="rect">
            <a:avLst/>
          </a:prstGeom>
          <a:noFill/>
        </p:spPr>
        <p:txBody>
          <a:bodyPr wrap="square" rtlCol="0">
            <a:spAutoFit/>
          </a:bodyPr>
          <a:lstStyle/>
          <a:p>
            <a:pPr lvl="0"/>
            <a:r>
              <a:rPr lang="tr-TR" sz="1000" b="1">
                <a:solidFill>
                  <a:prstClr val="black"/>
                </a:solidFill>
              </a:rPr>
              <a:t>Anayasa</a:t>
            </a:r>
            <a:r>
              <a:rPr lang="tr-TR" sz="1000">
                <a:solidFill>
                  <a:prstClr val="black"/>
                </a:solidFill>
              </a:rPr>
              <a:t> </a:t>
            </a:r>
          </a:p>
          <a:p>
            <a:pPr lvl="0"/>
            <a:r>
              <a:rPr lang="es-ES" sz="1000" b="1">
                <a:solidFill>
                  <a:prstClr val="black"/>
                </a:solidFill>
              </a:rPr>
              <a:t>Suç ve cezalara ilişkin esaslar</a:t>
            </a:r>
            <a:endParaRPr lang="tr-TR" sz="1000" b="1">
              <a:solidFill>
                <a:prstClr val="black"/>
              </a:solidFill>
            </a:endParaRPr>
          </a:p>
          <a:p>
            <a:pPr lvl="0" algn="just"/>
            <a:r>
              <a:rPr lang="tr-TR" sz="1000" b="1">
                <a:solidFill>
                  <a:prstClr val="black"/>
                </a:solidFill>
              </a:rPr>
              <a:t>Madde 38 </a:t>
            </a:r>
            <a:r>
              <a:rPr lang="tr-TR" sz="1000" b="1" smtClean="0">
                <a:solidFill>
                  <a:prstClr val="black"/>
                </a:solidFill>
              </a:rPr>
              <a:t>–</a:t>
            </a:r>
            <a:r>
              <a:rPr lang="fr-FR" sz="1000"/>
              <a:t>Kimse, işlendiği zaman yürürlükte bulunan kanunun suç saymadığı bir fiilden dolayı cezalandırılamaz; kimseye suçu işlediği zaman kanunda o suç için </a:t>
            </a:r>
            <a:r>
              <a:rPr lang="fr-FR" sz="1000" err="1"/>
              <a:t>konulmuş</a:t>
            </a:r>
            <a:r>
              <a:rPr lang="fr-FR" sz="1000"/>
              <a:t> </a:t>
            </a:r>
            <a:r>
              <a:rPr lang="fr-FR" sz="1000" err="1"/>
              <a:t>olan</a:t>
            </a:r>
            <a:r>
              <a:rPr lang="fr-FR" sz="1000"/>
              <a:t> </a:t>
            </a:r>
            <a:r>
              <a:rPr lang="fr-FR" sz="1000" err="1"/>
              <a:t>cezadan</a:t>
            </a:r>
            <a:r>
              <a:rPr lang="fr-FR" sz="1000"/>
              <a:t> </a:t>
            </a:r>
            <a:r>
              <a:rPr lang="fr-FR" sz="1000" err="1"/>
              <a:t>daha</a:t>
            </a:r>
            <a:r>
              <a:rPr lang="fr-FR" sz="1000"/>
              <a:t> </a:t>
            </a:r>
            <a:r>
              <a:rPr lang="fr-FR" sz="1000" err="1"/>
              <a:t>ağır</a:t>
            </a:r>
            <a:r>
              <a:rPr lang="fr-FR" sz="1000"/>
              <a:t> bir </a:t>
            </a:r>
            <a:r>
              <a:rPr lang="fr-FR" sz="1000" err="1"/>
              <a:t>ceza</a:t>
            </a:r>
            <a:r>
              <a:rPr lang="fr-FR" sz="1000"/>
              <a:t> </a:t>
            </a:r>
            <a:r>
              <a:rPr lang="fr-FR" sz="1000" err="1"/>
              <a:t>verilemez</a:t>
            </a:r>
            <a:r>
              <a:rPr lang="fr-FR" sz="1000"/>
              <a:t>. </a:t>
            </a:r>
            <a:endParaRPr lang="tr-TR" sz="1000" smtClean="0"/>
          </a:p>
          <a:p>
            <a:pPr lvl="0" algn="just"/>
            <a:r>
              <a:rPr lang="fr-FR" sz="1000" smtClean="0"/>
              <a:t>Suç </a:t>
            </a:r>
            <a:r>
              <a:rPr lang="fr-FR" sz="1000" err="1"/>
              <a:t>ve</a:t>
            </a:r>
            <a:r>
              <a:rPr lang="fr-FR" sz="1000"/>
              <a:t> </a:t>
            </a:r>
            <a:r>
              <a:rPr lang="fr-FR" sz="1000" err="1"/>
              <a:t>ceza</a:t>
            </a:r>
            <a:r>
              <a:rPr lang="fr-FR" sz="1000"/>
              <a:t> </a:t>
            </a:r>
            <a:r>
              <a:rPr lang="fr-FR" sz="1000" err="1"/>
              <a:t>zamanaşımı</a:t>
            </a:r>
            <a:r>
              <a:rPr lang="fr-FR" sz="1000"/>
              <a:t> ile </a:t>
            </a:r>
            <a:r>
              <a:rPr lang="fr-FR" sz="1000" err="1"/>
              <a:t>ceza</a:t>
            </a:r>
            <a:r>
              <a:rPr lang="fr-FR" sz="1000"/>
              <a:t> </a:t>
            </a:r>
            <a:r>
              <a:rPr lang="fr-FR" sz="1000" err="1"/>
              <a:t>mahkumiyetinin</a:t>
            </a:r>
            <a:r>
              <a:rPr lang="fr-FR" sz="1000"/>
              <a:t> </a:t>
            </a:r>
            <a:r>
              <a:rPr lang="fr-FR" sz="1000" err="1"/>
              <a:t>sonuçları</a:t>
            </a:r>
            <a:r>
              <a:rPr lang="fr-FR" sz="1000"/>
              <a:t> </a:t>
            </a:r>
            <a:r>
              <a:rPr lang="fr-FR" sz="1000" err="1"/>
              <a:t>konusunda</a:t>
            </a:r>
            <a:r>
              <a:rPr lang="fr-FR" sz="1000"/>
              <a:t> da </a:t>
            </a:r>
            <a:r>
              <a:rPr lang="fr-FR" sz="1000" err="1"/>
              <a:t>yukarıdaki</a:t>
            </a:r>
            <a:r>
              <a:rPr lang="fr-FR" sz="1000"/>
              <a:t> </a:t>
            </a:r>
            <a:r>
              <a:rPr lang="fr-FR" sz="1000" err="1"/>
              <a:t>fıkra</a:t>
            </a:r>
            <a:r>
              <a:rPr lang="fr-FR" sz="1000"/>
              <a:t> </a:t>
            </a:r>
            <a:r>
              <a:rPr lang="fr-FR" sz="1000" err="1"/>
              <a:t>uygulanır</a:t>
            </a:r>
            <a:r>
              <a:rPr lang="fr-FR" sz="1000"/>
              <a:t>. </a:t>
            </a:r>
            <a:endParaRPr lang="tr-TR" sz="1000" smtClean="0"/>
          </a:p>
          <a:p>
            <a:pPr lvl="0" algn="just"/>
            <a:r>
              <a:rPr lang="fr-FR" sz="1000" err="1" smtClean="0"/>
              <a:t>Ceza</a:t>
            </a:r>
            <a:r>
              <a:rPr lang="fr-FR" sz="1000" smtClean="0"/>
              <a:t> </a:t>
            </a:r>
            <a:r>
              <a:rPr lang="fr-FR" sz="1000" err="1"/>
              <a:t>ve</a:t>
            </a:r>
            <a:r>
              <a:rPr lang="fr-FR" sz="1000"/>
              <a:t> </a:t>
            </a:r>
            <a:r>
              <a:rPr lang="fr-FR" sz="1000" err="1"/>
              <a:t>ceza</a:t>
            </a:r>
            <a:r>
              <a:rPr lang="fr-FR" sz="1000"/>
              <a:t> </a:t>
            </a:r>
            <a:r>
              <a:rPr lang="fr-FR" sz="1000" err="1"/>
              <a:t>yerine</a:t>
            </a:r>
            <a:r>
              <a:rPr lang="fr-FR" sz="1000"/>
              <a:t> </a:t>
            </a:r>
            <a:r>
              <a:rPr lang="fr-FR" sz="1000" err="1"/>
              <a:t>geçen</a:t>
            </a:r>
            <a:r>
              <a:rPr lang="fr-FR" sz="1000"/>
              <a:t> </a:t>
            </a:r>
            <a:r>
              <a:rPr lang="fr-FR" sz="1000" err="1"/>
              <a:t>güvenlik</a:t>
            </a:r>
            <a:r>
              <a:rPr lang="fr-FR" sz="1000"/>
              <a:t> </a:t>
            </a:r>
            <a:r>
              <a:rPr lang="fr-FR" sz="1000" err="1"/>
              <a:t>tedbirleri</a:t>
            </a:r>
            <a:r>
              <a:rPr lang="fr-FR" sz="1000"/>
              <a:t> </a:t>
            </a:r>
            <a:r>
              <a:rPr lang="fr-FR" sz="1000" err="1"/>
              <a:t>ancak</a:t>
            </a:r>
            <a:r>
              <a:rPr lang="fr-FR" sz="1000"/>
              <a:t> </a:t>
            </a:r>
            <a:r>
              <a:rPr lang="fr-FR" sz="1000" err="1"/>
              <a:t>kanunla</a:t>
            </a:r>
            <a:r>
              <a:rPr lang="fr-FR" sz="1000"/>
              <a:t> </a:t>
            </a:r>
            <a:r>
              <a:rPr lang="fr-FR" sz="1000" err="1"/>
              <a:t>konulur</a:t>
            </a:r>
            <a:r>
              <a:rPr lang="fr-FR" sz="1000"/>
              <a:t>. </a:t>
            </a:r>
            <a:endParaRPr lang="tr-TR" sz="1000" smtClean="0"/>
          </a:p>
          <a:p>
            <a:pPr lvl="0" algn="just"/>
            <a:r>
              <a:rPr lang="fr-FR" sz="1000" err="1" smtClean="0"/>
              <a:t>Suçluluğu</a:t>
            </a:r>
            <a:r>
              <a:rPr lang="fr-FR" sz="1000" smtClean="0"/>
              <a:t> </a:t>
            </a:r>
            <a:r>
              <a:rPr lang="fr-FR" sz="1000" err="1"/>
              <a:t>hükmen</a:t>
            </a:r>
            <a:r>
              <a:rPr lang="fr-FR" sz="1000"/>
              <a:t> </a:t>
            </a:r>
            <a:r>
              <a:rPr lang="fr-FR" sz="1000" err="1"/>
              <a:t>sabit</a:t>
            </a:r>
            <a:r>
              <a:rPr lang="fr-FR" sz="1000"/>
              <a:t> </a:t>
            </a:r>
            <a:r>
              <a:rPr lang="fr-FR" sz="1000" err="1"/>
              <a:t>oluncaya</a:t>
            </a:r>
            <a:r>
              <a:rPr lang="fr-FR" sz="1000"/>
              <a:t> </a:t>
            </a:r>
            <a:r>
              <a:rPr lang="fr-FR" sz="1000" err="1"/>
              <a:t>kadar</a:t>
            </a:r>
            <a:r>
              <a:rPr lang="fr-FR" sz="1000"/>
              <a:t>, </a:t>
            </a:r>
            <a:r>
              <a:rPr lang="fr-FR" sz="1000" err="1"/>
              <a:t>kimse</a:t>
            </a:r>
            <a:r>
              <a:rPr lang="fr-FR" sz="1000"/>
              <a:t> </a:t>
            </a:r>
            <a:r>
              <a:rPr lang="fr-FR" sz="1000" err="1"/>
              <a:t>suçlu</a:t>
            </a:r>
            <a:r>
              <a:rPr lang="fr-FR" sz="1000"/>
              <a:t> </a:t>
            </a:r>
            <a:r>
              <a:rPr lang="fr-FR" sz="1000" err="1"/>
              <a:t>sayılamaz</a:t>
            </a:r>
            <a:r>
              <a:rPr lang="fr-FR" sz="1000"/>
              <a:t>. </a:t>
            </a:r>
            <a:endParaRPr lang="tr-TR" sz="1000" smtClean="0"/>
          </a:p>
          <a:p>
            <a:pPr lvl="0" algn="just"/>
            <a:r>
              <a:rPr lang="fr-FR" sz="1000" err="1" smtClean="0"/>
              <a:t>Hiç</a:t>
            </a:r>
            <a:r>
              <a:rPr lang="fr-FR" sz="1000" smtClean="0"/>
              <a:t> </a:t>
            </a:r>
            <a:r>
              <a:rPr lang="fr-FR" sz="1000" err="1"/>
              <a:t>kimse</a:t>
            </a:r>
            <a:r>
              <a:rPr lang="fr-FR" sz="1000"/>
              <a:t> </a:t>
            </a:r>
            <a:r>
              <a:rPr lang="fr-FR" sz="1000" err="1"/>
              <a:t>kendisini</a:t>
            </a:r>
            <a:r>
              <a:rPr lang="fr-FR" sz="1000"/>
              <a:t> </a:t>
            </a:r>
            <a:r>
              <a:rPr lang="fr-FR" sz="1000" err="1"/>
              <a:t>ve</a:t>
            </a:r>
            <a:r>
              <a:rPr lang="fr-FR" sz="1000"/>
              <a:t> kanunda </a:t>
            </a:r>
            <a:r>
              <a:rPr lang="fr-FR" sz="1000" err="1"/>
              <a:t>gösterilen</a:t>
            </a:r>
            <a:r>
              <a:rPr lang="fr-FR" sz="1000"/>
              <a:t> </a:t>
            </a:r>
            <a:r>
              <a:rPr lang="fr-FR" sz="1000" err="1"/>
              <a:t>yakınlarını</a:t>
            </a:r>
            <a:r>
              <a:rPr lang="fr-FR" sz="1000"/>
              <a:t> </a:t>
            </a:r>
            <a:r>
              <a:rPr lang="fr-FR" sz="1000" err="1"/>
              <a:t>suçlayan</a:t>
            </a:r>
            <a:r>
              <a:rPr lang="fr-FR" sz="1000"/>
              <a:t> bir </a:t>
            </a:r>
            <a:r>
              <a:rPr lang="fr-FR" sz="1000" err="1"/>
              <a:t>beyanda</a:t>
            </a:r>
            <a:r>
              <a:rPr lang="fr-FR" sz="1000"/>
              <a:t> </a:t>
            </a:r>
            <a:r>
              <a:rPr lang="fr-FR" sz="1000" err="1"/>
              <a:t>bulunmaya</a:t>
            </a:r>
            <a:r>
              <a:rPr lang="fr-FR" sz="1000"/>
              <a:t> </a:t>
            </a:r>
            <a:r>
              <a:rPr lang="fr-FR" sz="1000" err="1"/>
              <a:t>veya</a:t>
            </a:r>
            <a:r>
              <a:rPr lang="fr-FR" sz="1000"/>
              <a:t> bu </a:t>
            </a:r>
            <a:r>
              <a:rPr lang="fr-FR" sz="1000" err="1"/>
              <a:t>yolda</a:t>
            </a:r>
            <a:r>
              <a:rPr lang="fr-FR" sz="1000"/>
              <a:t> </a:t>
            </a:r>
            <a:r>
              <a:rPr lang="fr-FR" sz="1000" err="1"/>
              <a:t>delil</a:t>
            </a:r>
            <a:r>
              <a:rPr lang="fr-FR" sz="1000"/>
              <a:t> </a:t>
            </a:r>
            <a:r>
              <a:rPr lang="fr-FR" sz="1000" err="1"/>
              <a:t>göstermeye</a:t>
            </a:r>
            <a:r>
              <a:rPr lang="fr-FR" sz="1000"/>
              <a:t> </a:t>
            </a:r>
            <a:r>
              <a:rPr lang="fr-FR" sz="1000" err="1"/>
              <a:t>zorlanamaz</a:t>
            </a:r>
            <a:r>
              <a:rPr lang="fr-FR" sz="1000"/>
              <a:t>. </a:t>
            </a:r>
            <a:endParaRPr lang="tr-TR" sz="1000" smtClean="0"/>
          </a:p>
          <a:p>
            <a:pPr lvl="0" algn="just"/>
            <a:r>
              <a:rPr lang="fr-FR" sz="1000" err="1" smtClean="0"/>
              <a:t>Kanuna</a:t>
            </a:r>
            <a:r>
              <a:rPr lang="fr-FR" sz="1000" smtClean="0"/>
              <a:t> </a:t>
            </a:r>
            <a:r>
              <a:rPr lang="fr-FR" sz="1000" err="1"/>
              <a:t>aykırı</a:t>
            </a:r>
            <a:r>
              <a:rPr lang="fr-FR" sz="1000"/>
              <a:t> </a:t>
            </a:r>
            <a:r>
              <a:rPr lang="fr-FR" sz="1000" err="1"/>
              <a:t>olarak</a:t>
            </a:r>
            <a:r>
              <a:rPr lang="fr-FR" sz="1000"/>
              <a:t> </a:t>
            </a:r>
            <a:r>
              <a:rPr lang="fr-FR" sz="1000" err="1"/>
              <a:t>elde</a:t>
            </a:r>
            <a:r>
              <a:rPr lang="fr-FR" sz="1000"/>
              <a:t> </a:t>
            </a:r>
            <a:r>
              <a:rPr lang="fr-FR" sz="1000" err="1"/>
              <a:t>edilmiş</a:t>
            </a:r>
            <a:r>
              <a:rPr lang="fr-FR" sz="1000"/>
              <a:t> </a:t>
            </a:r>
            <a:r>
              <a:rPr lang="fr-FR" sz="1000" err="1"/>
              <a:t>bulgular</a:t>
            </a:r>
            <a:r>
              <a:rPr lang="fr-FR" sz="1000"/>
              <a:t>, </a:t>
            </a:r>
            <a:r>
              <a:rPr lang="fr-FR" sz="1000" err="1"/>
              <a:t>delil</a:t>
            </a:r>
            <a:r>
              <a:rPr lang="fr-FR" sz="1000"/>
              <a:t> </a:t>
            </a:r>
            <a:r>
              <a:rPr lang="fr-FR" sz="1000" err="1"/>
              <a:t>olarak</a:t>
            </a:r>
            <a:r>
              <a:rPr lang="fr-FR" sz="1000"/>
              <a:t> </a:t>
            </a:r>
            <a:r>
              <a:rPr lang="fr-FR" sz="1000" err="1"/>
              <a:t>kabul</a:t>
            </a:r>
            <a:r>
              <a:rPr lang="fr-FR" sz="1000"/>
              <a:t> </a:t>
            </a:r>
            <a:r>
              <a:rPr lang="fr-FR" sz="1000" err="1"/>
              <a:t>edilemez</a:t>
            </a:r>
            <a:r>
              <a:rPr lang="fr-FR" sz="1000"/>
              <a:t>. </a:t>
            </a:r>
            <a:endParaRPr lang="tr-TR" sz="1000" smtClean="0"/>
          </a:p>
          <a:p>
            <a:pPr lvl="0" algn="just"/>
            <a:r>
              <a:rPr lang="fr-FR" sz="1000" err="1" smtClean="0"/>
              <a:t>Ceza</a:t>
            </a:r>
            <a:r>
              <a:rPr lang="fr-FR" sz="1000" smtClean="0"/>
              <a:t> </a:t>
            </a:r>
            <a:r>
              <a:rPr lang="fr-FR" sz="1000" err="1"/>
              <a:t>sorumluluğu</a:t>
            </a:r>
            <a:r>
              <a:rPr lang="fr-FR" sz="1000"/>
              <a:t> </a:t>
            </a:r>
            <a:r>
              <a:rPr lang="fr-FR" sz="1000" err="1"/>
              <a:t>şahsidir</a:t>
            </a:r>
            <a:r>
              <a:rPr lang="fr-FR" sz="1000"/>
              <a:t>. </a:t>
            </a:r>
            <a:endParaRPr lang="tr-TR" sz="1000" smtClean="0"/>
          </a:p>
          <a:p>
            <a:pPr lvl="0" algn="just"/>
            <a:r>
              <a:rPr lang="fr-FR" sz="1000" err="1" smtClean="0"/>
              <a:t>Hiç</a:t>
            </a:r>
            <a:r>
              <a:rPr lang="fr-FR" sz="1000" smtClean="0"/>
              <a:t> </a:t>
            </a:r>
            <a:r>
              <a:rPr lang="fr-FR" sz="1000" err="1"/>
              <a:t>kimse</a:t>
            </a:r>
            <a:r>
              <a:rPr lang="fr-FR" sz="1000"/>
              <a:t>, </a:t>
            </a:r>
            <a:r>
              <a:rPr lang="fr-FR" sz="1000" err="1"/>
              <a:t>yalnızca</a:t>
            </a:r>
            <a:r>
              <a:rPr lang="fr-FR" sz="1000"/>
              <a:t> </a:t>
            </a:r>
            <a:r>
              <a:rPr lang="fr-FR" sz="1000" err="1"/>
              <a:t>sözleşmeden</a:t>
            </a:r>
            <a:r>
              <a:rPr lang="fr-FR" sz="1000"/>
              <a:t> </a:t>
            </a:r>
            <a:r>
              <a:rPr lang="fr-FR" sz="1000" err="1"/>
              <a:t>doğan</a:t>
            </a:r>
            <a:r>
              <a:rPr lang="fr-FR" sz="1000"/>
              <a:t> bir </a:t>
            </a:r>
            <a:r>
              <a:rPr lang="fr-FR" sz="1000" err="1"/>
              <a:t>yükümlülüğü</a:t>
            </a:r>
            <a:r>
              <a:rPr lang="fr-FR" sz="1000"/>
              <a:t> </a:t>
            </a:r>
            <a:r>
              <a:rPr lang="fr-FR" sz="1000" err="1"/>
              <a:t>yerine</a:t>
            </a:r>
            <a:r>
              <a:rPr lang="fr-FR" sz="1000"/>
              <a:t> </a:t>
            </a:r>
            <a:r>
              <a:rPr lang="fr-FR" sz="1000" err="1"/>
              <a:t>getirememesinden</a:t>
            </a:r>
            <a:r>
              <a:rPr lang="fr-FR" sz="1000"/>
              <a:t> dolayı </a:t>
            </a:r>
            <a:r>
              <a:rPr lang="fr-FR" sz="1000" err="1"/>
              <a:t>özgürlüğünden</a:t>
            </a:r>
            <a:r>
              <a:rPr lang="fr-FR" sz="1000"/>
              <a:t> </a:t>
            </a:r>
            <a:r>
              <a:rPr lang="fr-FR" sz="1000" err="1"/>
              <a:t>alıkonulamaz</a:t>
            </a:r>
            <a:r>
              <a:rPr lang="fr-FR" sz="1000"/>
              <a:t>. </a:t>
            </a:r>
            <a:endParaRPr lang="tr-TR" sz="1000" smtClean="0"/>
          </a:p>
          <a:p>
            <a:pPr lvl="0" algn="just"/>
            <a:r>
              <a:rPr lang="fr-FR" sz="1000" err="1" smtClean="0"/>
              <a:t>Ölüm</a:t>
            </a:r>
            <a:r>
              <a:rPr lang="fr-FR" sz="1000" smtClean="0"/>
              <a:t> </a:t>
            </a:r>
            <a:r>
              <a:rPr lang="fr-FR" sz="1000" err="1"/>
              <a:t>cezası</a:t>
            </a:r>
            <a:r>
              <a:rPr lang="fr-FR" sz="1000"/>
              <a:t> </a:t>
            </a:r>
            <a:r>
              <a:rPr lang="fr-FR" sz="1000" err="1"/>
              <a:t>ve</a:t>
            </a:r>
            <a:r>
              <a:rPr lang="fr-FR" sz="1000"/>
              <a:t> </a:t>
            </a:r>
            <a:r>
              <a:rPr lang="fr-FR" sz="1000" err="1"/>
              <a:t>genel</a:t>
            </a:r>
            <a:r>
              <a:rPr lang="fr-FR" sz="1000"/>
              <a:t> </a:t>
            </a:r>
            <a:r>
              <a:rPr lang="fr-FR" sz="1000" err="1"/>
              <a:t>müsadere</a:t>
            </a:r>
            <a:r>
              <a:rPr lang="fr-FR" sz="1000"/>
              <a:t> </a:t>
            </a:r>
            <a:r>
              <a:rPr lang="fr-FR" sz="1000" err="1"/>
              <a:t>cezası</a:t>
            </a:r>
            <a:r>
              <a:rPr lang="fr-FR" sz="1000"/>
              <a:t> </a:t>
            </a:r>
            <a:r>
              <a:rPr lang="fr-FR" sz="1000" err="1"/>
              <a:t>verilemez</a:t>
            </a:r>
            <a:r>
              <a:rPr lang="fr-FR" sz="1000"/>
              <a:t>. </a:t>
            </a:r>
            <a:endParaRPr lang="tr-TR" sz="1000" smtClean="0"/>
          </a:p>
          <a:p>
            <a:pPr lvl="0" algn="just"/>
            <a:r>
              <a:rPr lang="fr-FR" sz="1000" err="1" smtClean="0"/>
              <a:t>İdare</a:t>
            </a:r>
            <a:r>
              <a:rPr lang="fr-FR" sz="1000"/>
              <a:t>, </a:t>
            </a:r>
            <a:r>
              <a:rPr lang="fr-FR" sz="1000" err="1"/>
              <a:t>kişi</a:t>
            </a:r>
            <a:r>
              <a:rPr lang="fr-FR" sz="1000"/>
              <a:t> </a:t>
            </a:r>
            <a:r>
              <a:rPr lang="fr-FR" sz="1000" err="1"/>
              <a:t>hürriyetinin</a:t>
            </a:r>
            <a:r>
              <a:rPr lang="fr-FR" sz="1000"/>
              <a:t> </a:t>
            </a:r>
            <a:r>
              <a:rPr lang="fr-FR" sz="1000" err="1"/>
              <a:t>kısıtlanması</a:t>
            </a:r>
            <a:r>
              <a:rPr lang="fr-FR" sz="1000"/>
              <a:t> </a:t>
            </a:r>
            <a:r>
              <a:rPr lang="fr-FR" sz="1000" err="1"/>
              <a:t>sonucunu</a:t>
            </a:r>
            <a:r>
              <a:rPr lang="fr-FR" sz="1000"/>
              <a:t> </a:t>
            </a:r>
            <a:r>
              <a:rPr lang="fr-FR" sz="1000" err="1"/>
              <a:t>doğuran</a:t>
            </a:r>
            <a:r>
              <a:rPr lang="fr-FR" sz="1000"/>
              <a:t> bir </a:t>
            </a:r>
            <a:r>
              <a:rPr lang="fr-FR" sz="1000" err="1"/>
              <a:t>müeyyide</a:t>
            </a:r>
            <a:r>
              <a:rPr lang="fr-FR" sz="1000"/>
              <a:t> </a:t>
            </a:r>
            <a:r>
              <a:rPr lang="fr-FR" sz="1000" err="1"/>
              <a:t>uygulayamaz</a:t>
            </a:r>
            <a:r>
              <a:rPr lang="fr-FR" sz="1000"/>
              <a:t>. </a:t>
            </a:r>
            <a:r>
              <a:rPr lang="fr-FR" sz="1000" err="1"/>
              <a:t>Silahlı</a:t>
            </a:r>
            <a:r>
              <a:rPr lang="fr-FR" sz="1000"/>
              <a:t> </a:t>
            </a:r>
            <a:r>
              <a:rPr lang="fr-FR" sz="1000" err="1"/>
              <a:t>Kuvvetlerin</a:t>
            </a:r>
            <a:r>
              <a:rPr lang="fr-FR" sz="1000"/>
              <a:t> </a:t>
            </a:r>
            <a:r>
              <a:rPr lang="fr-FR" sz="1000" err="1"/>
              <a:t>iç</a:t>
            </a:r>
            <a:r>
              <a:rPr lang="fr-FR" sz="1000"/>
              <a:t> </a:t>
            </a:r>
            <a:r>
              <a:rPr lang="fr-FR" sz="1000" err="1"/>
              <a:t>düzeni</a:t>
            </a:r>
            <a:r>
              <a:rPr lang="fr-FR" sz="1000"/>
              <a:t> </a:t>
            </a:r>
            <a:r>
              <a:rPr lang="fr-FR" sz="1000" err="1"/>
              <a:t>bakımından</a:t>
            </a:r>
            <a:r>
              <a:rPr lang="fr-FR" sz="1000"/>
              <a:t> bu </a:t>
            </a:r>
            <a:r>
              <a:rPr lang="fr-FR" sz="1000" err="1"/>
              <a:t>hükme</a:t>
            </a:r>
            <a:r>
              <a:rPr lang="fr-FR" sz="1000"/>
              <a:t> </a:t>
            </a:r>
            <a:r>
              <a:rPr lang="fr-FR" sz="1000" err="1"/>
              <a:t>kanunla</a:t>
            </a:r>
            <a:r>
              <a:rPr lang="fr-FR" sz="1000"/>
              <a:t> </a:t>
            </a:r>
            <a:r>
              <a:rPr lang="fr-FR" sz="1000" err="1"/>
              <a:t>istisnalar</a:t>
            </a:r>
            <a:r>
              <a:rPr lang="fr-FR" sz="1000"/>
              <a:t> </a:t>
            </a:r>
            <a:r>
              <a:rPr lang="fr-FR" sz="1000" err="1"/>
              <a:t>getirilebilir</a:t>
            </a:r>
            <a:r>
              <a:rPr lang="fr-FR" sz="1000" smtClean="0"/>
              <a:t>.</a:t>
            </a:r>
            <a:endParaRPr lang="tr-TR" sz="1000" smtClean="0"/>
          </a:p>
          <a:p>
            <a:pPr lvl="0" algn="just"/>
            <a:r>
              <a:rPr lang="fr-FR" sz="1000" err="1" smtClean="0"/>
              <a:t>Uluslararası</a:t>
            </a:r>
            <a:r>
              <a:rPr lang="fr-FR" sz="1000" smtClean="0"/>
              <a:t> </a:t>
            </a:r>
            <a:r>
              <a:rPr lang="fr-FR" sz="1000" err="1"/>
              <a:t>Ceza</a:t>
            </a:r>
            <a:r>
              <a:rPr lang="fr-FR" sz="1000"/>
              <a:t> </a:t>
            </a:r>
            <a:r>
              <a:rPr lang="fr-FR" sz="1000" err="1"/>
              <a:t>Divanına</a:t>
            </a:r>
            <a:r>
              <a:rPr lang="fr-FR" sz="1000"/>
              <a:t> taraf </a:t>
            </a:r>
            <a:r>
              <a:rPr lang="fr-FR" sz="1000" err="1"/>
              <a:t>olmanın</a:t>
            </a:r>
            <a:r>
              <a:rPr lang="fr-FR" sz="1000"/>
              <a:t> </a:t>
            </a:r>
            <a:r>
              <a:rPr lang="fr-FR" sz="1000" err="1"/>
              <a:t>gerektirdiği</a:t>
            </a:r>
            <a:r>
              <a:rPr lang="fr-FR" sz="1000"/>
              <a:t> </a:t>
            </a:r>
            <a:r>
              <a:rPr lang="fr-FR" sz="1000" err="1"/>
              <a:t>yükümlülükler</a:t>
            </a:r>
            <a:r>
              <a:rPr lang="fr-FR" sz="1000"/>
              <a:t> </a:t>
            </a:r>
            <a:r>
              <a:rPr lang="fr-FR" sz="1000" err="1"/>
              <a:t>hariç</a:t>
            </a:r>
            <a:r>
              <a:rPr lang="fr-FR" sz="1000"/>
              <a:t> </a:t>
            </a:r>
            <a:r>
              <a:rPr lang="fr-FR" sz="1000" err="1"/>
              <a:t>olmak</a:t>
            </a:r>
            <a:r>
              <a:rPr lang="fr-FR" sz="1000"/>
              <a:t> </a:t>
            </a:r>
            <a:r>
              <a:rPr lang="fr-FR" sz="1000" err="1"/>
              <a:t>üzere</a:t>
            </a:r>
            <a:r>
              <a:rPr lang="fr-FR" sz="1000"/>
              <a:t> </a:t>
            </a:r>
            <a:r>
              <a:rPr lang="fr-FR" sz="1000" err="1"/>
              <a:t>vatandaş</a:t>
            </a:r>
            <a:r>
              <a:rPr lang="fr-FR" sz="1000"/>
              <a:t>, suç </a:t>
            </a:r>
            <a:r>
              <a:rPr lang="fr-FR" sz="1000" err="1"/>
              <a:t>sebebiyle</a:t>
            </a:r>
            <a:r>
              <a:rPr lang="fr-FR" sz="1000"/>
              <a:t> </a:t>
            </a:r>
            <a:r>
              <a:rPr lang="fr-FR" sz="1000" err="1"/>
              <a:t>yabancı</a:t>
            </a:r>
            <a:r>
              <a:rPr lang="fr-FR" sz="1000"/>
              <a:t> bir </a:t>
            </a:r>
            <a:r>
              <a:rPr lang="fr-FR" sz="1000" err="1"/>
              <a:t>ülkeye</a:t>
            </a:r>
            <a:r>
              <a:rPr lang="fr-FR" sz="1000"/>
              <a:t> </a:t>
            </a:r>
            <a:r>
              <a:rPr lang="fr-FR" sz="1000" err="1"/>
              <a:t>verilemez</a:t>
            </a:r>
            <a:r>
              <a:rPr lang="fr-FR" sz="1000"/>
              <a:t>. </a:t>
            </a:r>
          </a:p>
        </p:txBody>
      </p:sp>
      <p:sp>
        <p:nvSpPr>
          <p:cNvPr id="9"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8</a:t>
            </a:fld>
            <a:r>
              <a:rPr lang="tr-TR"/>
              <a:t>/116</a:t>
            </a:r>
          </a:p>
        </p:txBody>
      </p:sp>
    </p:spTree>
    <p:extLst>
      <p:ext uri="{BB962C8B-B14F-4D97-AF65-F5344CB8AC3E}">
        <p14:creationId xmlns:p14="http://schemas.microsoft.com/office/powerpoint/2010/main" val="30393769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Ceza Hukukunun Kaynakları</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10" name="Dikdörtgen 9"/>
          <p:cNvSpPr/>
          <p:nvPr/>
        </p:nvSpPr>
        <p:spPr>
          <a:xfrm>
            <a:off x="286326" y="5402243"/>
            <a:ext cx="2086708" cy="954107"/>
          </a:xfrm>
          <a:prstGeom prst="rect">
            <a:avLst/>
          </a:prstGeom>
        </p:spPr>
        <p:txBody>
          <a:bodyPr wrap="square">
            <a:spAutoFit/>
          </a:bodyPr>
          <a:lstStyle/>
          <a:p>
            <a:pPr algn="just"/>
            <a:r>
              <a:rPr lang="tr-TR" sz="1400" b="1" smtClean="0"/>
              <a:t>Doğrudan Kaynaklar</a:t>
            </a:r>
          </a:p>
          <a:p>
            <a:pPr algn="just"/>
            <a:r>
              <a:rPr lang="tr-TR" sz="1400" smtClean="0"/>
              <a:t>Anayasa</a:t>
            </a:r>
          </a:p>
          <a:p>
            <a:pPr algn="just"/>
            <a:r>
              <a:rPr lang="tr-TR" sz="1400" u="sng" smtClean="0">
                <a:effectLst>
                  <a:outerShdw blurRad="38100" dist="38100" dir="2700000" algn="tl">
                    <a:srgbClr val="000000">
                      <a:alpha val="43137"/>
                    </a:srgbClr>
                  </a:outerShdw>
                </a:effectLst>
              </a:rPr>
              <a:t>Kanunlar</a:t>
            </a:r>
          </a:p>
          <a:p>
            <a:pPr algn="just"/>
            <a:r>
              <a:rPr lang="tr-TR" sz="1400" smtClean="0"/>
              <a:t>Uluslararası Antlaşmalar</a:t>
            </a:r>
          </a:p>
        </p:txBody>
      </p:sp>
      <p:sp>
        <p:nvSpPr>
          <p:cNvPr id="3" name="Dikdörtgen 2"/>
          <p:cNvSpPr/>
          <p:nvPr/>
        </p:nvSpPr>
        <p:spPr>
          <a:xfrm>
            <a:off x="1986016" y="2410242"/>
            <a:ext cx="2345642" cy="400110"/>
          </a:xfrm>
          <a:prstGeom prst="rect">
            <a:avLst/>
          </a:prstGeom>
        </p:spPr>
        <p:txBody>
          <a:bodyPr wrap="none">
            <a:spAutoFit/>
          </a:bodyPr>
          <a:lstStyle/>
          <a:p>
            <a:pPr algn="just"/>
            <a:r>
              <a:rPr lang="tr-TR" sz="2000" b="1"/>
              <a:t>Doğrudan Kaynaklar</a:t>
            </a:r>
          </a:p>
        </p:txBody>
      </p:sp>
      <p:sp>
        <p:nvSpPr>
          <p:cNvPr id="6" name="Dikdörtgen 5"/>
          <p:cNvSpPr/>
          <p:nvPr/>
        </p:nvSpPr>
        <p:spPr>
          <a:xfrm>
            <a:off x="3218663" y="2884194"/>
            <a:ext cx="1044132" cy="369332"/>
          </a:xfrm>
          <a:prstGeom prst="rect">
            <a:avLst/>
          </a:prstGeom>
        </p:spPr>
        <p:txBody>
          <a:bodyPr wrap="none">
            <a:spAutoFit/>
          </a:bodyPr>
          <a:lstStyle/>
          <a:p>
            <a:pPr algn="just"/>
            <a:r>
              <a:rPr lang="tr-TR" b="1" smtClean="0"/>
              <a:t>Kanunlar</a:t>
            </a:r>
            <a:endParaRPr lang="tr-TR" b="1"/>
          </a:p>
        </p:txBody>
      </p:sp>
      <p:sp>
        <p:nvSpPr>
          <p:cNvPr id="7" name="Metin kutusu 6"/>
          <p:cNvSpPr txBox="1"/>
          <p:nvPr/>
        </p:nvSpPr>
        <p:spPr>
          <a:xfrm>
            <a:off x="3602181" y="3343564"/>
            <a:ext cx="7860145" cy="1077218"/>
          </a:xfrm>
          <a:prstGeom prst="rect">
            <a:avLst/>
          </a:prstGeom>
          <a:noFill/>
        </p:spPr>
        <p:txBody>
          <a:bodyPr wrap="square" rtlCol="0">
            <a:spAutoFit/>
          </a:bodyPr>
          <a:lstStyle/>
          <a:p>
            <a:pPr lvl="0"/>
            <a:r>
              <a:rPr lang="tr-TR" sz="1600" smtClean="0">
                <a:solidFill>
                  <a:prstClr val="black"/>
                </a:solidFill>
              </a:rPr>
              <a:t>5237 sayılı Türk Ceza Kanunu</a:t>
            </a:r>
          </a:p>
          <a:p>
            <a:pPr lvl="0"/>
            <a:r>
              <a:rPr lang="tr-TR" sz="1600" smtClean="0">
                <a:solidFill>
                  <a:prstClr val="black"/>
                </a:solidFill>
              </a:rPr>
              <a:t>5271 sayılı Ceza Muhakemesi Kanunu</a:t>
            </a:r>
          </a:p>
          <a:p>
            <a:pPr lvl="0"/>
            <a:r>
              <a:rPr lang="tr-TR" sz="1600" smtClean="0">
                <a:solidFill>
                  <a:prstClr val="black"/>
                </a:solidFill>
              </a:rPr>
              <a:t>5275 sayılı Ceza ve Güvenlik Tedbirlerinin İnfazı Hakkında Kanun</a:t>
            </a:r>
          </a:p>
          <a:p>
            <a:pPr lvl="0"/>
            <a:r>
              <a:rPr lang="tr-TR" sz="1600" smtClean="0">
                <a:solidFill>
                  <a:prstClr val="black"/>
                </a:solidFill>
              </a:rPr>
              <a:t>……</a:t>
            </a:r>
            <a:endParaRPr lang="tr-TR" sz="1600">
              <a:solidFill>
                <a:prstClr val="black"/>
              </a:solidFill>
            </a:endParaRPr>
          </a:p>
        </p:txBody>
      </p:sp>
      <p:sp>
        <p:nvSpPr>
          <p:cNvPr id="9"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9</a:t>
            </a:fld>
            <a:r>
              <a:rPr lang="tr-TR"/>
              <a:t>/116</a:t>
            </a:r>
          </a:p>
        </p:txBody>
      </p:sp>
    </p:spTree>
    <p:extLst>
      <p:ext uri="{BB962C8B-B14F-4D97-AF65-F5344CB8AC3E}">
        <p14:creationId xmlns:p14="http://schemas.microsoft.com/office/powerpoint/2010/main" val="21264830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Ceza Hukukunun Kaynakları</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10" name="Dikdörtgen 9"/>
          <p:cNvSpPr/>
          <p:nvPr/>
        </p:nvSpPr>
        <p:spPr>
          <a:xfrm>
            <a:off x="286326" y="5402243"/>
            <a:ext cx="2086708" cy="954107"/>
          </a:xfrm>
          <a:prstGeom prst="rect">
            <a:avLst/>
          </a:prstGeom>
        </p:spPr>
        <p:txBody>
          <a:bodyPr wrap="square">
            <a:spAutoFit/>
          </a:bodyPr>
          <a:lstStyle/>
          <a:p>
            <a:pPr algn="just"/>
            <a:r>
              <a:rPr lang="tr-TR" sz="1400" b="1" smtClean="0"/>
              <a:t>Doğrudan Kaynaklar</a:t>
            </a:r>
          </a:p>
          <a:p>
            <a:pPr algn="just"/>
            <a:r>
              <a:rPr lang="tr-TR" sz="1400" smtClean="0"/>
              <a:t>Anayasa</a:t>
            </a:r>
          </a:p>
          <a:p>
            <a:pPr algn="just"/>
            <a:r>
              <a:rPr lang="tr-TR" sz="1400" smtClean="0"/>
              <a:t>Kanunlar</a:t>
            </a:r>
          </a:p>
          <a:p>
            <a:pPr algn="just"/>
            <a:r>
              <a:rPr lang="tr-TR" sz="1400" u="sng" smtClean="0">
                <a:effectLst>
                  <a:outerShdw blurRad="38100" dist="38100" dir="2700000" algn="tl">
                    <a:srgbClr val="000000">
                      <a:alpha val="43137"/>
                    </a:srgbClr>
                  </a:outerShdw>
                </a:effectLst>
              </a:rPr>
              <a:t>Uluslararası Antlaşmalar</a:t>
            </a:r>
          </a:p>
        </p:txBody>
      </p:sp>
      <p:sp>
        <p:nvSpPr>
          <p:cNvPr id="3" name="Dikdörtgen 2"/>
          <p:cNvSpPr/>
          <p:nvPr/>
        </p:nvSpPr>
        <p:spPr>
          <a:xfrm>
            <a:off x="1986016" y="2410242"/>
            <a:ext cx="2345642" cy="400110"/>
          </a:xfrm>
          <a:prstGeom prst="rect">
            <a:avLst/>
          </a:prstGeom>
        </p:spPr>
        <p:txBody>
          <a:bodyPr wrap="none">
            <a:spAutoFit/>
          </a:bodyPr>
          <a:lstStyle/>
          <a:p>
            <a:pPr algn="just"/>
            <a:r>
              <a:rPr lang="tr-TR" sz="2000" b="1"/>
              <a:t>Doğrudan Kaynaklar</a:t>
            </a:r>
          </a:p>
        </p:txBody>
      </p:sp>
      <p:sp>
        <p:nvSpPr>
          <p:cNvPr id="6" name="Dikdörtgen 5"/>
          <p:cNvSpPr/>
          <p:nvPr/>
        </p:nvSpPr>
        <p:spPr>
          <a:xfrm>
            <a:off x="2484332" y="2884194"/>
            <a:ext cx="2512804" cy="369332"/>
          </a:xfrm>
          <a:prstGeom prst="rect">
            <a:avLst/>
          </a:prstGeom>
        </p:spPr>
        <p:txBody>
          <a:bodyPr wrap="none">
            <a:spAutoFit/>
          </a:bodyPr>
          <a:lstStyle/>
          <a:p>
            <a:pPr algn="just"/>
            <a:r>
              <a:rPr lang="tr-TR" b="1" smtClean="0"/>
              <a:t>Uluslararası Antlaşmalar</a:t>
            </a:r>
            <a:endParaRPr lang="tr-TR" b="1"/>
          </a:p>
        </p:txBody>
      </p:sp>
      <p:sp>
        <p:nvSpPr>
          <p:cNvPr id="9" name="Metin kutusu 8"/>
          <p:cNvSpPr txBox="1"/>
          <p:nvPr/>
        </p:nvSpPr>
        <p:spPr>
          <a:xfrm>
            <a:off x="3602181" y="3343564"/>
            <a:ext cx="7860145" cy="1107996"/>
          </a:xfrm>
          <a:prstGeom prst="rect">
            <a:avLst/>
          </a:prstGeom>
          <a:noFill/>
        </p:spPr>
        <p:txBody>
          <a:bodyPr wrap="square" rtlCol="0">
            <a:spAutoFit/>
          </a:bodyPr>
          <a:lstStyle/>
          <a:p>
            <a:pPr lvl="0"/>
            <a:r>
              <a:rPr lang="tr-TR" sz="1100" b="1">
                <a:solidFill>
                  <a:prstClr val="black"/>
                </a:solidFill>
              </a:rPr>
              <a:t>Anayasa</a:t>
            </a:r>
            <a:r>
              <a:rPr lang="tr-TR" sz="1100">
                <a:solidFill>
                  <a:prstClr val="black"/>
                </a:solidFill>
              </a:rPr>
              <a:t> </a:t>
            </a:r>
          </a:p>
          <a:p>
            <a:pPr lvl="0"/>
            <a:r>
              <a:rPr lang="es-ES" sz="1100" b="1">
                <a:solidFill>
                  <a:prstClr val="black"/>
                </a:solidFill>
              </a:rPr>
              <a:t>Milletlerarası andlaşmaları uygun </a:t>
            </a:r>
            <a:r>
              <a:rPr lang="es-ES" sz="1100" b="1" smtClean="0">
                <a:solidFill>
                  <a:prstClr val="black"/>
                </a:solidFill>
              </a:rPr>
              <a:t>bulma</a:t>
            </a:r>
            <a:endParaRPr lang="tr-TR" sz="1100" b="1" smtClean="0">
              <a:solidFill>
                <a:prstClr val="black"/>
              </a:solidFill>
            </a:endParaRPr>
          </a:p>
          <a:p>
            <a:pPr lvl="0"/>
            <a:r>
              <a:rPr lang="tr-TR" sz="1100" b="1" smtClean="0">
                <a:solidFill>
                  <a:prstClr val="black"/>
                </a:solidFill>
              </a:rPr>
              <a:t>Madde 90 –</a:t>
            </a:r>
            <a:r>
              <a:rPr lang="fr-FR" sz="1100" smtClean="0"/>
              <a:t> </a:t>
            </a:r>
            <a:r>
              <a:rPr lang="tr-TR" sz="1100" smtClean="0"/>
              <a:t>..</a:t>
            </a:r>
            <a:r>
              <a:rPr lang="fr-FR" sz="1100" smtClean="0"/>
              <a:t>.</a:t>
            </a:r>
            <a:endParaRPr lang="tr-TR" sz="1100" smtClean="0"/>
          </a:p>
          <a:p>
            <a:pPr lvl="0" algn="just"/>
            <a:r>
              <a:rPr lang="fr-FR" sz="1100" smtClean="0"/>
              <a:t>Usulüne </a:t>
            </a:r>
            <a:r>
              <a:rPr lang="fr-FR" sz="1100" err="1"/>
              <a:t>göre</a:t>
            </a:r>
            <a:r>
              <a:rPr lang="fr-FR" sz="1100"/>
              <a:t> </a:t>
            </a:r>
            <a:r>
              <a:rPr lang="fr-FR" sz="1100" err="1"/>
              <a:t>yürürlüğe</a:t>
            </a:r>
            <a:r>
              <a:rPr lang="fr-FR" sz="1100"/>
              <a:t> </a:t>
            </a:r>
            <a:r>
              <a:rPr lang="fr-FR" sz="1100" err="1"/>
              <a:t>konulmuş</a:t>
            </a:r>
            <a:r>
              <a:rPr lang="fr-FR" sz="1100"/>
              <a:t> </a:t>
            </a:r>
            <a:r>
              <a:rPr lang="fr-FR" sz="1100" err="1"/>
              <a:t>Milletlerarası</a:t>
            </a:r>
            <a:r>
              <a:rPr lang="fr-FR" sz="1100"/>
              <a:t> </a:t>
            </a:r>
            <a:r>
              <a:rPr lang="fr-FR" sz="1100" err="1"/>
              <a:t>andlaşmalar</a:t>
            </a:r>
            <a:r>
              <a:rPr lang="fr-FR" sz="1100"/>
              <a:t> </a:t>
            </a:r>
            <a:r>
              <a:rPr lang="fr-FR" sz="1100" err="1"/>
              <a:t>kanun</a:t>
            </a:r>
            <a:r>
              <a:rPr lang="fr-FR" sz="1100"/>
              <a:t> </a:t>
            </a:r>
            <a:r>
              <a:rPr lang="fr-FR" sz="1100" err="1"/>
              <a:t>hükmündedir</a:t>
            </a:r>
            <a:r>
              <a:rPr lang="fr-FR" sz="1100"/>
              <a:t>. </a:t>
            </a:r>
            <a:r>
              <a:rPr lang="fr-FR" sz="1100" err="1"/>
              <a:t>Bunlar</a:t>
            </a:r>
            <a:r>
              <a:rPr lang="fr-FR" sz="1100"/>
              <a:t> </a:t>
            </a:r>
            <a:r>
              <a:rPr lang="fr-FR" sz="1100" err="1"/>
              <a:t>hakkında</a:t>
            </a:r>
            <a:r>
              <a:rPr lang="fr-FR" sz="1100"/>
              <a:t> </a:t>
            </a:r>
            <a:r>
              <a:rPr lang="fr-FR" sz="1100" err="1"/>
              <a:t>Anayasaya</a:t>
            </a:r>
            <a:r>
              <a:rPr lang="fr-FR" sz="1100"/>
              <a:t> </a:t>
            </a:r>
            <a:r>
              <a:rPr lang="fr-FR" sz="1100" err="1"/>
              <a:t>aykırılık</a:t>
            </a:r>
            <a:r>
              <a:rPr lang="fr-FR" sz="1100"/>
              <a:t> </a:t>
            </a:r>
            <a:r>
              <a:rPr lang="fr-FR" sz="1100" err="1"/>
              <a:t>iddiası</a:t>
            </a:r>
            <a:r>
              <a:rPr lang="fr-FR" sz="1100"/>
              <a:t> ile </a:t>
            </a:r>
            <a:r>
              <a:rPr lang="fr-FR" sz="1100" err="1"/>
              <a:t>Anayasa</a:t>
            </a:r>
            <a:r>
              <a:rPr lang="fr-FR" sz="1100"/>
              <a:t> </a:t>
            </a:r>
            <a:r>
              <a:rPr lang="fr-FR" sz="1100" err="1"/>
              <a:t>Mahkemesine</a:t>
            </a:r>
            <a:r>
              <a:rPr lang="fr-FR" sz="1100"/>
              <a:t> </a:t>
            </a:r>
            <a:r>
              <a:rPr lang="fr-FR" sz="1100" err="1"/>
              <a:t>başvurulamaz</a:t>
            </a:r>
            <a:r>
              <a:rPr lang="fr-FR" sz="1100"/>
              <a:t>. </a:t>
            </a:r>
            <a:r>
              <a:rPr lang="fr-FR" sz="1100" smtClean="0"/>
              <a:t>Usulüne </a:t>
            </a:r>
            <a:r>
              <a:rPr lang="fr-FR" sz="1100" err="1"/>
              <a:t>göre</a:t>
            </a:r>
            <a:r>
              <a:rPr lang="fr-FR" sz="1100"/>
              <a:t> </a:t>
            </a:r>
            <a:r>
              <a:rPr lang="fr-FR" sz="1100" err="1"/>
              <a:t>yürürlüğe</a:t>
            </a:r>
            <a:r>
              <a:rPr lang="fr-FR" sz="1100"/>
              <a:t> </a:t>
            </a:r>
            <a:r>
              <a:rPr lang="fr-FR" sz="1100" err="1"/>
              <a:t>konulmuş</a:t>
            </a:r>
            <a:r>
              <a:rPr lang="fr-FR" sz="1100"/>
              <a:t> </a:t>
            </a:r>
            <a:r>
              <a:rPr lang="fr-FR" sz="1100" err="1"/>
              <a:t>temel</a:t>
            </a:r>
            <a:r>
              <a:rPr lang="fr-FR" sz="1100"/>
              <a:t> </a:t>
            </a:r>
            <a:r>
              <a:rPr lang="fr-FR" sz="1100" err="1"/>
              <a:t>hak</a:t>
            </a:r>
            <a:r>
              <a:rPr lang="fr-FR" sz="1100"/>
              <a:t> </a:t>
            </a:r>
            <a:r>
              <a:rPr lang="fr-FR" sz="1100" err="1"/>
              <a:t>ve</a:t>
            </a:r>
            <a:r>
              <a:rPr lang="fr-FR" sz="1100"/>
              <a:t> </a:t>
            </a:r>
            <a:r>
              <a:rPr lang="fr-FR" sz="1100" err="1"/>
              <a:t>özgürlüklere</a:t>
            </a:r>
            <a:r>
              <a:rPr lang="fr-FR" sz="1100"/>
              <a:t> </a:t>
            </a:r>
            <a:r>
              <a:rPr lang="fr-FR" sz="1100" err="1"/>
              <a:t>ilişkin</a:t>
            </a:r>
            <a:r>
              <a:rPr lang="fr-FR" sz="1100"/>
              <a:t> </a:t>
            </a:r>
            <a:r>
              <a:rPr lang="fr-FR" sz="1100" err="1"/>
              <a:t>milletlerarası</a:t>
            </a:r>
            <a:r>
              <a:rPr lang="fr-FR" sz="1100"/>
              <a:t> </a:t>
            </a:r>
            <a:r>
              <a:rPr lang="fr-FR" sz="1100" err="1"/>
              <a:t>andlaşmalarla</a:t>
            </a:r>
            <a:r>
              <a:rPr lang="fr-FR" sz="1100"/>
              <a:t> </a:t>
            </a:r>
            <a:r>
              <a:rPr lang="fr-FR" sz="1100" err="1"/>
              <a:t>kanunların</a:t>
            </a:r>
            <a:r>
              <a:rPr lang="fr-FR" sz="1100"/>
              <a:t> </a:t>
            </a:r>
            <a:r>
              <a:rPr lang="fr-FR" sz="1100" err="1"/>
              <a:t>aynı</a:t>
            </a:r>
            <a:r>
              <a:rPr lang="fr-FR" sz="1100"/>
              <a:t> </a:t>
            </a:r>
            <a:r>
              <a:rPr lang="fr-FR" sz="1100" err="1"/>
              <a:t>konuda</a:t>
            </a:r>
            <a:r>
              <a:rPr lang="fr-FR" sz="1100"/>
              <a:t> </a:t>
            </a:r>
            <a:r>
              <a:rPr lang="fr-FR" sz="1100" err="1"/>
              <a:t>farklı</a:t>
            </a:r>
            <a:r>
              <a:rPr lang="fr-FR" sz="1100"/>
              <a:t> </a:t>
            </a:r>
            <a:r>
              <a:rPr lang="fr-FR" sz="1100" err="1"/>
              <a:t>hükümler</a:t>
            </a:r>
            <a:r>
              <a:rPr lang="fr-FR" sz="1100"/>
              <a:t> </a:t>
            </a:r>
            <a:r>
              <a:rPr lang="fr-FR" sz="1100" err="1"/>
              <a:t>içermesi</a:t>
            </a:r>
            <a:r>
              <a:rPr lang="fr-FR" sz="1100"/>
              <a:t> </a:t>
            </a:r>
            <a:r>
              <a:rPr lang="fr-FR" sz="1100" err="1"/>
              <a:t>nedeniyle</a:t>
            </a:r>
            <a:r>
              <a:rPr lang="fr-FR" sz="1100"/>
              <a:t> </a:t>
            </a:r>
            <a:r>
              <a:rPr lang="fr-FR" sz="1100" err="1"/>
              <a:t>çıkabilecek</a:t>
            </a:r>
            <a:r>
              <a:rPr lang="fr-FR" sz="1100"/>
              <a:t> </a:t>
            </a:r>
            <a:r>
              <a:rPr lang="fr-FR" sz="1100" err="1"/>
              <a:t>uyuşmazlıklarda</a:t>
            </a:r>
            <a:r>
              <a:rPr lang="fr-FR" sz="1100"/>
              <a:t> </a:t>
            </a:r>
            <a:r>
              <a:rPr lang="fr-FR" sz="1100" err="1"/>
              <a:t>milletlerarası</a:t>
            </a:r>
            <a:r>
              <a:rPr lang="fr-FR" sz="1100"/>
              <a:t> </a:t>
            </a:r>
            <a:r>
              <a:rPr lang="fr-FR" sz="1100" err="1"/>
              <a:t>andlaşma</a:t>
            </a:r>
            <a:r>
              <a:rPr lang="fr-FR" sz="1100"/>
              <a:t> </a:t>
            </a:r>
            <a:r>
              <a:rPr lang="fr-FR" sz="1100" err="1"/>
              <a:t>hükümleri</a:t>
            </a:r>
            <a:r>
              <a:rPr lang="fr-FR" sz="1100"/>
              <a:t> </a:t>
            </a:r>
            <a:r>
              <a:rPr lang="fr-FR" sz="1100" err="1"/>
              <a:t>esas</a:t>
            </a:r>
            <a:r>
              <a:rPr lang="fr-FR" sz="1100"/>
              <a:t> </a:t>
            </a:r>
            <a:r>
              <a:rPr lang="fr-FR" sz="1100" err="1"/>
              <a:t>alınır</a:t>
            </a:r>
            <a:r>
              <a:rPr lang="fr-FR" sz="1100"/>
              <a:t>.</a:t>
            </a:r>
          </a:p>
        </p:txBody>
      </p:sp>
      <p:sp>
        <p:nvSpPr>
          <p:cNvPr id="11"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10</a:t>
            </a:fld>
            <a:r>
              <a:rPr lang="tr-TR"/>
              <a:t>/116</a:t>
            </a:r>
          </a:p>
        </p:txBody>
      </p:sp>
    </p:spTree>
    <p:extLst>
      <p:ext uri="{BB962C8B-B14F-4D97-AF65-F5344CB8AC3E}">
        <p14:creationId xmlns:p14="http://schemas.microsoft.com/office/powerpoint/2010/main" val="16386541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Ceza Hukukunun Kaynakları</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Dikdörtgen 2"/>
          <p:cNvSpPr/>
          <p:nvPr/>
        </p:nvSpPr>
        <p:spPr>
          <a:xfrm>
            <a:off x="1940237" y="2410242"/>
            <a:ext cx="2437206" cy="400110"/>
          </a:xfrm>
          <a:prstGeom prst="rect">
            <a:avLst/>
          </a:prstGeom>
        </p:spPr>
        <p:txBody>
          <a:bodyPr wrap="none">
            <a:spAutoFit/>
          </a:bodyPr>
          <a:lstStyle/>
          <a:p>
            <a:pPr algn="just"/>
            <a:r>
              <a:rPr lang="tr-TR" sz="2000" b="1" smtClean="0"/>
              <a:t>Dolayısıyla Kaynaklar</a:t>
            </a:r>
            <a:endParaRPr lang="tr-TR" sz="2000" b="1"/>
          </a:p>
        </p:txBody>
      </p:sp>
      <p:sp>
        <p:nvSpPr>
          <p:cNvPr id="6" name="Dikdörtgen 5"/>
          <p:cNvSpPr/>
          <p:nvPr/>
        </p:nvSpPr>
        <p:spPr>
          <a:xfrm>
            <a:off x="2232282" y="2884194"/>
            <a:ext cx="3016916" cy="369332"/>
          </a:xfrm>
          <a:prstGeom prst="rect">
            <a:avLst/>
          </a:prstGeom>
        </p:spPr>
        <p:txBody>
          <a:bodyPr wrap="none">
            <a:spAutoFit/>
          </a:bodyPr>
          <a:lstStyle/>
          <a:p>
            <a:pPr marL="285750" indent="-285750" algn="just">
              <a:buFont typeface="Arial" panose="020B0604020202020204" pitchFamily="34" charset="0"/>
              <a:buChar char="•"/>
            </a:pPr>
            <a:r>
              <a:rPr lang="tr-TR" b="1" smtClean="0"/>
              <a:t>Yüksek Mahkeme Kararları</a:t>
            </a:r>
            <a:endParaRPr lang="tr-TR" b="1"/>
          </a:p>
        </p:txBody>
      </p:sp>
      <p:sp>
        <p:nvSpPr>
          <p:cNvPr id="9" name="Metin kutusu 8"/>
          <p:cNvSpPr txBox="1"/>
          <p:nvPr/>
        </p:nvSpPr>
        <p:spPr>
          <a:xfrm>
            <a:off x="3255530" y="3959779"/>
            <a:ext cx="7860145" cy="1107996"/>
          </a:xfrm>
          <a:prstGeom prst="rect">
            <a:avLst/>
          </a:prstGeom>
          <a:noFill/>
        </p:spPr>
        <p:txBody>
          <a:bodyPr wrap="square" rtlCol="0">
            <a:spAutoFit/>
          </a:bodyPr>
          <a:lstStyle/>
          <a:p>
            <a:pPr lvl="0"/>
            <a:r>
              <a:rPr lang="tr-TR" sz="1100" b="1" u="sng" smtClean="0">
                <a:effectLst>
                  <a:outerShdw blurRad="38100" dist="38100" dir="2700000" algn="tl">
                    <a:srgbClr val="000000">
                      <a:alpha val="43137"/>
                    </a:srgbClr>
                  </a:outerShdw>
                </a:effectLst>
              </a:rPr>
              <a:t>İSTİSNA</a:t>
            </a:r>
          </a:p>
          <a:p>
            <a:pPr lvl="0"/>
            <a:r>
              <a:rPr lang="tr-TR" sz="1100" b="1" smtClean="0">
                <a:solidFill>
                  <a:prstClr val="black"/>
                </a:solidFill>
              </a:rPr>
              <a:t>Yargıtay Kanunu</a:t>
            </a:r>
            <a:endParaRPr lang="tr-TR" sz="1100">
              <a:solidFill>
                <a:prstClr val="black"/>
              </a:solidFill>
            </a:endParaRPr>
          </a:p>
          <a:p>
            <a:pPr lvl="0"/>
            <a:r>
              <a:rPr lang="es-ES" sz="1100" b="1">
                <a:solidFill>
                  <a:prstClr val="black"/>
                </a:solidFill>
              </a:rPr>
              <a:t>İçtihadların birleştirilmesini istemek yetkisi ve bağlayıcılığı</a:t>
            </a:r>
            <a:r>
              <a:rPr lang="es-ES" sz="1100" b="1" smtClean="0">
                <a:solidFill>
                  <a:prstClr val="black"/>
                </a:solidFill>
              </a:rPr>
              <a:t>:</a:t>
            </a:r>
            <a:endParaRPr lang="tr-TR" sz="1100" b="1" smtClean="0">
              <a:solidFill>
                <a:prstClr val="black"/>
              </a:solidFill>
            </a:endParaRPr>
          </a:p>
          <a:p>
            <a:pPr lvl="0"/>
            <a:r>
              <a:rPr lang="tr-TR" sz="1100" b="1" smtClean="0">
                <a:solidFill>
                  <a:prstClr val="black"/>
                </a:solidFill>
              </a:rPr>
              <a:t>Madde 45 –</a:t>
            </a:r>
            <a:r>
              <a:rPr lang="fr-FR" sz="1100" smtClean="0"/>
              <a:t> </a:t>
            </a:r>
            <a:r>
              <a:rPr lang="tr-TR" sz="1100" smtClean="0"/>
              <a:t>..</a:t>
            </a:r>
            <a:r>
              <a:rPr lang="fr-FR" sz="1100" smtClean="0"/>
              <a:t>.</a:t>
            </a:r>
            <a:endParaRPr lang="tr-TR" sz="1100" smtClean="0"/>
          </a:p>
          <a:p>
            <a:pPr lvl="0" algn="just"/>
            <a:r>
              <a:rPr lang="fr-FR" sz="1100" b="1" u="sng" err="1"/>
              <a:t>İçtihadı</a:t>
            </a:r>
            <a:r>
              <a:rPr lang="fr-FR" sz="1100" b="1" u="sng"/>
              <a:t> </a:t>
            </a:r>
            <a:r>
              <a:rPr lang="fr-FR" sz="1100" b="1" u="sng" err="1"/>
              <a:t>birleştirme</a:t>
            </a:r>
            <a:r>
              <a:rPr lang="fr-FR" sz="1100" b="1" u="sng"/>
              <a:t> </a:t>
            </a:r>
            <a:r>
              <a:rPr lang="fr-FR" sz="1100" b="1" u="sng" err="1"/>
              <a:t>kararları</a:t>
            </a:r>
            <a:r>
              <a:rPr lang="fr-FR" sz="1100"/>
              <a:t> </a:t>
            </a:r>
            <a:r>
              <a:rPr lang="fr-FR" sz="1100" err="1"/>
              <a:t>benzer</a:t>
            </a:r>
            <a:r>
              <a:rPr lang="fr-FR" sz="1100"/>
              <a:t> </a:t>
            </a:r>
            <a:r>
              <a:rPr lang="fr-FR" sz="1100" err="1"/>
              <a:t>hukuki</a:t>
            </a:r>
            <a:r>
              <a:rPr lang="fr-FR" sz="1100"/>
              <a:t> </a:t>
            </a:r>
            <a:r>
              <a:rPr lang="fr-FR" sz="1100" err="1"/>
              <a:t>konularda</a:t>
            </a:r>
            <a:r>
              <a:rPr lang="fr-FR" sz="1100"/>
              <a:t> </a:t>
            </a:r>
            <a:r>
              <a:rPr lang="fr-FR" sz="1100" err="1"/>
              <a:t>Yargıtay</a:t>
            </a:r>
            <a:r>
              <a:rPr lang="fr-FR" sz="1100"/>
              <a:t> </a:t>
            </a:r>
            <a:r>
              <a:rPr lang="fr-FR" sz="1100" err="1"/>
              <a:t>Genel</a:t>
            </a:r>
            <a:r>
              <a:rPr lang="fr-FR" sz="1100"/>
              <a:t> </a:t>
            </a:r>
            <a:r>
              <a:rPr lang="fr-FR" sz="1100" err="1"/>
              <a:t>Kurullarını</a:t>
            </a:r>
            <a:r>
              <a:rPr lang="fr-FR" sz="1100"/>
              <a:t>, </a:t>
            </a:r>
            <a:r>
              <a:rPr lang="fr-FR" sz="1100" err="1"/>
              <a:t>dairelerini</a:t>
            </a:r>
            <a:r>
              <a:rPr lang="fr-FR" sz="1100"/>
              <a:t> </a:t>
            </a:r>
            <a:r>
              <a:rPr lang="fr-FR" sz="1100" err="1"/>
              <a:t>ve</a:t>
            </a:r>
            <a:r>
              <a:rPr lang="fr-FR" sz="1100"/>
              <a:t> </a:t>
            </a:r>
            <a:r>
              <a:rPr lang="fr-FR" sz="1100" err="1"/>
              <a:t>adliye</a:t>
            </a:r>
            <a:r>
              <a:rPr lang="fr-FR" sz="1100"/>
              <a:t> </a:t>
            </a:r>
            <a:r>
              <a:rPr lang="fr-FR" sz="1100" err="1"/>
              <a:t>mahkemelerini</a:t>
            </a:r>
            <a:r>
              <a:rPr lang="fr-FR" sz="1100"/>
              <a:t> </a:t>
            </a:r>
            <a:r>
              <a:rPr lang="fr-FR" sz="1100" err="1"/>
              <a:t>bağlar</a:t>
            </a:r>
            <a:r>
              <a:rPr lang="fr-FR" sz="1100" smtClean="0"/>
              <a:t>.</a:t>
            </a:r>
            <a:endParaRPr lang="tr-TR" sz="1100" smtClean="0"/>
          </a:p>
          <a:p>
            <a:pPr lvl="0" algn="just"/>
            <a:r>
              <a:rPr lang="tr-TR" sz="1100" smtClean="0"/>
              <a:t>…</a:t>
            </a:r>
            <a:endParaRPr lang="fr-FR" sz="1100"/>
          </a:p>
        </p:txBody>
      </p:sp>
      <p:sp>
        <p:nvSpPr>
          <p:cNvPr id="8" name="Metin kutusu 7"/>
          <p:cNvSpPr txBox="1"/>
          <p:nvPr/>
        </p:nvSpPr>
        <p:spPr>
          <a:xfrm>
            <a:off x="2895600" y="3253526"/>
            <a:ext cx="1552575" cy="338554"/>
          </a:xfrm>
          <a:prstGeom prst="rect">
            <a:avLst/>
          </a:prstGeom>
          <a:noFill/>
        </p:spPr>
        <p:txBody>
          <a:bodyPr wrap="square" rtlCol="0">
            <a:spAutoFit/>
          </a:bodyPr>
          <a:lstStyle/>
          <a:p>
            <a:r>
              <a:rPr lang="tr-TR" sz="1600" err="1" smtClean="0"/>
              <a:t>İçtihadi</a:t>
            </a:r>
            <a:r>
              <a:rPr lang="tr-TR" sz="1600" smtClean="0"/>
              <a:t> Hukuk</a:t>
            </a:r>
            <a:endParaRPr lang="fr-FR" sz="1600"/>
          </a:p>
        </p:txBody>
      </p:sp>
      <p:sp>
        <p:nvSpPr>
          <p:cNvPr id="11" name="Dikdörtgen 10"/>
          <p:cNvSpPr/>
          <p:nvPr/>
        </p:nvSpPr>
        <p:spPr>
          <a:xfrm>
            <a:off x="2232282" y="5061571"/>
            <a:ext cx="1193404" cy="369332"/>
          </a:xfrm>
          <a:prstGeom prst="rect">
            <a:avLst/>
          </a:prstGeom>
        </p:spPr>
        <p:txBody>
          <a:bodyPr wrap="none">
            <a:spAutoFit/>
          </a:bodyPr>
          <a:lstStyle/>
          <a:p>
            <a:pPr marL="285750" indent="-285750" algn="just">
              <a:buFont typeface="Arial" panose="020B0604020202020204" pitchFamily="34" charset="0"/>
              <a:buChar char="•"/>
            </a:pPr>
            <a:r>
              <a:rPr lang="tr-TR" b="1" smtClean="0"/>
              <a:t>Doktrin</a:t>
            </a:r>
            <a:endParaRPr lang="tr-TR" b="1"/>
          </a:p>
        </p:txBody>
      </p:sp>
      <p:sp>
        <p:nvSpPr>
          <p:cNvPr id="10" name="Metin kutusu 9"/>
          <p:cNvSpPr txBox="1"/>
          <p:nvPr/>
        </p:nvSpPr>
        <p:spPr>
          <a:xfrm>
            <a:off x="3158840" y="3618421"/>
            <a:ext cx="8194960" cy="338554"/>
          </a:xfrm>
          <a:prstGeom prst="rect">
            <a:avLst/>
          </a:prstGeom>
          <a:noFill/>
        </p:spPr>
        <p:txBody>
          <a:bodyPr wrap="square" rtlCol="0">
            <a:spAutoFit/>
          </a:bodyPr>
          <a:lstStyle/>
          <a:p>
            <a:r>
              <a:rPr lang="tr-TR" sz="1600"/>
              <a:t>K</a:t>
            </a:r>
            <a:r>
              <a:rPr lang="tr-TR" sz="1600" smtClean="0"/>
              <a:t>ural olarak içtihatlar bağlayıcı değildir.</a:t>
            </a:r>
            <a:endParaRPr lang="fr-FR" sz="1600"/>
          </a:p>
        </p:txBody>
      </p:sp>
      <p:sp>
        <p:nvSpPr>
          <p:cNvPr id="12"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11</a:t>
            </a:fld>
            <a:r>
              <a:rPr lang="tr-TR"/>
              <a:t>/116</a:t>
            </a:r>
          </a:p>
        </p:txBody>
      </p:sp>
    </p:spTree>
    <p:extLst>
      <p:ext uri="{BB962C8B-B14F-4D97-AF65-F5344CB8AC3E}">
        <p14:creationId xmlns:p14="http://schemas.microsoft.com/office/powerpoint/2010/main" val="38743395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367693" y="2438365"/>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smtClean="0">
                <a:effectLst>
                  <a:outerShdw blurRad="38100" dist="38100" dir="2700000" algn="tl">
                    <a:srgbClr val="000000">
                      <a:alpha val="43137"/>
                    </a:srgbClr>
                  </a:outerShdw>
                </a:effectLst>
              </a:rPr>
              <a:t>Hukuk Devleti İlkesi</a:t>
            </a: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8" name="Alt Başlık 2"/>
          <p:cNvSpPr txBox="1">
            <a:spLocks/>
          </p:cNvSpPr>
          <p:nvPr/>
        </p:nvSpPr>
        <p:spPr>
          <a:xfrm>
            <a:off x="1367693" y="2955401"/>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smtClean="0">
                <a:effectLst>
                  <a:outerShdw blurRad="38100" dist="38100" dir="2700000" algn="tl">
                    <a:srgbClr val="000000">
                      <a:alpha val="43137"/>
                    </a:srgbClr>
                  </a:outerShdw>
                </a:effectLst>
              </a:rPr>
              <a:t>İnsan Onuruna </a:t>
            </a:r>
            <a:r>
              <a:rPr lang="tr-TR" dirty="0" err="1" smtClean="0">
                <a:effectLst>
                  <a:outerShdw blurRad="38100" dist="38100" dir="2700000" algn="tl">
                    <a:srgbClr val="000000">
                      <a:alpha val="43137"/>
                    </a:srgbClr>
                  </a:outerShdw>
                </a:effectLst>
              </a:rPr>
              <a:t>Yaraşırlık</a:t>
            </a:r>
            <a:r>
              <a:rPr lang="tr-TR" dirty="0" smtClean="0">
                <a:effectLst>
                  <a:outerShdw blurRad="38100" dist="38100" dir="2700000" algn="tl">
                    <a:srgbClr val="000000">
                      <a:alpha val="43137"/>
                    </a:srgbClr>
                  </a:outerShdw>
                </a:effectLst>
              </a:rPr>
              <a:t> (İnsanilik-Hümanizm) İlkesi</a:t>
            </a: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9" name="Alt Başlık 2"/>
          <p:cNvSpPr txBox="1">
            <a:spLocks/>
          </p:cNvSpPr>
          <p:nvPr/>
        </p:nvSpPr>
        <p:spPr>
          <a:xfrm>
            <a:off x="1367693" y="3472437"/>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smtClean="0">
                <a:effectLst>
                  <a:outerShdw blurRad="38100" dist="38100" dir="2700000" algn="tl">
                    <a:srgbClr val="000000">
                      <a:alpha val="43137"/>
                    </a:srgbClr>
                  </a:outerShdw>
                </a:effectLst>
              </a:rPr>
              <a:t>Kusursuz Ceza Olmaz İlkesi</a:t>
            </a: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10" name="Alt Başlık 2"/>
          <p:cNvSpPr txBox="1">
            <a:spLocks/>
          </p:cNvSpPr>
          <p:nvPr/>
        </p:nvSpPr>
        <p:spPr>
          <a:xfrm>
            <a:off x="1367693" y="4065128"/>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smtClean="0">
                <a:effectLst>
                  <a:outerShdw blurRad="38100" dist="38100" dir="2700000" algn="tl">
                    <a:srgbClr val="000000">
                      <a:alpha val="43137"/>
                    </a:srgbClr>
                  </a:outerShdw>
                </a:effectLst>
              </a:rPr>
              <a:t>Ceza Sorumluluğunun Şahsiliği İlkesi</a:t>
            </a: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11" name="Alt Başlık 2"/>
          <p:cNvSpPr txBox="1">
            <a:spLocks/>
          </p:cNvSpPr>
          <p:nvPr/>
        </p:nvSpPr>
        <p:spPr>
          <a:xfrm>
            <a:off x="1367693" y="4666174"/>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smtClean="0">
                <a:effectLst>
                  <a:outerShdw blurRad="38100" dist="38100" dir="2700000" algn="tl">
                    <a:srgbClr val="000000">
                      <a:alpha val="43137"/>
                    </a:srgbClr>
                  </a:outerShdw>
                </a:effectLst>
              </a:rPr>
              <a:t>Kanun Önünde Eşitlik İlkesi</a:t>
            </a: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12" name="Alt Başlık 2"/>
          <p:cNvSpPr txBox="1">
            <a:spLocks/>
          </p:cNvSpPr>
          <p:nvPr/>
        </p:nvSpPr>
        <p:spPr>
          <a:xfrm>
            <a:off x="1367693" y="5183210"/>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smtClean="0">
                <a:effectLst>
                  <a:outerShdw blurRad="38100" dist="38100" dir="2700000" algn="tl">
                    <a:srgbClr val="000000">
                      <a:alpha val="43137"/>
                    </a:srgbClr>
                  </a:outerShdw>
                </a:effectLst>
              </a:rPr>
              <a:t>Orantılılık (Ölçülülük) ve Son Çare İlkesi</a:t>
            </a: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13" name="Alt Başlık 2"/>
          <p:cNvSpPr txBox="1">
            <a:spLocks/>
          </p:cNvSpPr>
          <p:nvPr/>
        </p:nvSpPr>
        <p:spPr>
          <a:xfrm>
            <a:off x="1367693" y="5700246"/>
            <a:ext cx="9558215"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smtClean="0">
                <a:effectLst>
                  <a:outerShdw blurRad="38100" dist="38100" dir="2700000" algn="tl">
                    <a:srgbClr val="000000">
                      <a:alpha val="43137"/>
                    </a:srgbClr>
                  </a:outerShdw>
                </a:effectLst>
              </a:rPr>
              <a:t>Suçta ve Cezada Kanunilik İlkesi (Ceza Hukukunun Güvence Fonksiyonu)</a:t>
            </a: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14"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1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İlkeler</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12</a:t>
            </a:fld>
            <a:r>
              <a:rPr lang="tr-TR"/>
              <a:t>/116</a:t>
            </a:r>
          </a:p>
        </p:txBody>
      </p:sp>
    </p:spTree>
    <p:extLst>
      <p:ext uri="{BB962C8B-B14F-4D97-AF65-F5344CB8AC3E}">
        <p14:creationId xmlns:p14="http://schemas.microsoft.com/office/powerpoint/2010/main" val="37634956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367693" y="2427807"/>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smtClean="0">
                <a:effectLst>
                  <a:outerShdw blurRad="38100" dist="38100" dir="2700000" algn="tl">
                    <a:srgbClr val="000000">
                      <a:alpha val="43137"/>
                    </a:srgbClr>
                  </a:outerShdw>
                </a:effectLst>
              </a:rPr>
              <a:t>Hukuk Devleti İlkesi</a:t>
            </a: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6" name="Metin kutusu 5"/>
          <p:cNvSpPr txBox="1"/>
          <p:nvPr/>
        </p:nvSpPr>
        <p:spPr>
          <a:xfrm>
            <a:off x="2367818" y="2944843"/>
            <a:ext cx="9089292" cy="954107"/>
          </a:xfrm>
          <a:prstGeom prst="rect">
            <a:avLst/>
          </a:prstGeom>
          <a:noFill/>
        </p:spPr>
        <p:txBody>
          <a:bodyPr wrap="square" rtlCol="0">
            <a:spAutoFit/>
          </a:bodyPr>
          <a:lstStyle/>
          <a:p>
            <a:r>
              <a:rPr lang="tr-TR" sz="1400" b="1" dirty="0"/>
              <a:t>Anayasa</a:t>
            </a:r>
            <a:r>
              <a:rPr lang="tr-TR" sz="1400" dirty="0"/>
              <a:t> </a:t>
            </a:r>
            <a:endParaRPr lang="tr-TR" sz="1400" dirty="0" smtClean="0"/>
          </a:p>
          <a:p>
            <a:r>
              <a:rPr lang="tr-TR" sz="1400" b="1" dirty="0" smtClean="0"/>
              <a:t>Cumhuriyetin </a:t>
            </a:r>
            <a:r>
              <a:rPr lang="tr-TR" sz="1400" b="1" dirty="0"/>
              <a:t>nitelikleri</a:t>
            </a:r>
          </a:p>
          <a:p>
            <a:pPr algn="just"/>
            <a:r>
              <a:rPr lang="tr-TR" sz="1400" b="1" dirty="0"/>
              <a:t>Madde 2 –</a:t>
            </a:r>
            <a:r>
              <a:rPr lang="tr-TR" sz="1400" dirty="0"/>
              <a:t> Türkiye Cumhuriyeti, toplumun huzuru, milli dayanışma ve adalet anlayışı </a:t>
            </a:r>
            <a:r>
              <a:rPr lang="tr-TR" sz="1400" dirty="0" smtClean="0"/>
              <a:t>içinde, insan </a:t>
            </a:r>
            <a:r>
              <a:rPr lang="tr-TR" sz="1400" dirty="0"/>
              <a:t>haklarına saygılı, Atatürk milliyetçiliğine bağlı, başlangıçta belirtilen temel ilkelere </a:t>
            </a:r>
            <a:r>
              <a:rPr lang="tr-TR" sz="1400" dirty="0" smtClean="0"/>
              <a:t>dayanan, demokratik</a:t>
            </a:r>
            <a:r>
              <a:rPr lang="tr-TR" sz="1400" dirty="0"/>
              <a:t>, laik ve sosyal bir </a:t>
            </a:r>
            <a:r>
              <a:rPr lang="tr-TR" sz="1400" i="1" dirty="0">
                <a:effectLst>
                  <a:outerShdw blurRad="38100" dist="38100" dir="2700000" algn="tl">
                    <a:srgbClr val="000000">
                      <a:alpha val="43137"/>
                    </a:srgbClr>
                  </a:outerShdw>
                </a:effectLst>
              </a:rPr>
              <a:t>hukuk Devleti</a:t>
            </a:r>
            <a:r>
              <a:rPr lang="tr-TR" sz="1400" dirty="0"/>
              <a:t>dir.  </a:t>
            </a:r>
          </a:p>
        </p:txBody>
      </p:sp>
      <p:sp>
        <p:nvSpPr>
          <p:cNvPr id="14" name="Metin kutusu 13"/>
          <p:cNvSpPr txBox="1"/>
          <p:nvPr/>
        </p:nvSpPr>
        <p:spPr>
          <a:xfrm>
            <a:off x="1367693" y="4687893"/>
            <a:ext cx="9089292" cy="369332"/>
          </a:xfrm>
          <a:prstGeom prst="rect">
            <a:avLst/>
          </a:prstGeom>
          <a:noFill/>
        </p:spPr>
        <p:txBody>
          <a:bodyPr wrap="square" rtlCol="0">
            <a:spAutoFit/>
          </a:bodyPr>
          <a:lstStyle/>
          <a:p>
            <a:r>
              <a:rPr lang="tr-TR" b="1" dirty="0" smtClean="0"/>
              <a:t>Hukuk Devleti </a:t>
            </a:r>
            <a:r>
              <a:rPr lang="tr-TR" dirty="0" smtClean="0"/>
              <a:t>= Hukuki Dayanak + Hukuka Uygunluk</a:t>
            </a:r>
          </a:p>
        </p:txBody>
      </p:sp>
      <p:sp>
        <p:nvSpPr>
          <p:cNvPr id="7"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8"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İlkeler</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13</a:t>
            </a:fld>
            <a:r>
              <a:rPr lang="tr-TR"/>
              <a:t>/116</a:t>
            </a:r>
          </a:p>
        </p:txBody>
      </p:sp>
    </p:spTree>
    <p:extLst>
      <p:ext uri="{BB962C8B-B14F-4D97-AF65-F5344CB8AC3E}">
        <p14:creationId xmlns:p14="http://schemas.microsoft.com/office/powerpoint/2010/main" val="42626220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367693" y="2554158"/>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a:effectLst>
                  <a:outerShdw blurRad="38100" dist="38100" dir="2700000" algn="tl">
                    <a:srgbClr val="000000">
                      <a:alpha val="43137"/>
                    </a:srgbClr>
                  </a:outerShdw>
                </a:effectLst>
              </a:rPr>
              <a:t>İnsan Onuruna </a:t>
            </a:r>
            <a:r>
              <a:rPr lang="tr-TR" dirty="0" err="1">
                <a:effectLst>
                  <a:outerShdw blurRad="38100" dist="38100" dir="2700000" algn="tl">
                    <a:srgbClr val="000000">
                      <a:alpha val="43137"/>
                    </a:srgbClr>
                  </a:outerShdw>
                </a:effectLst>
              </a:rPr>
              <a:t>Yaraşırlık</a:t>
            </a:r>
            <a:r>
              <a:rPr lang="tr-TR" dirty="0">
                <a:effectLst>
                  <a:outerShdw blurRad="38100" dist="38100" dir="2700000" algn="tl">
                    <a:srgbClr val="000000">
                      <a:alpha val="43137"/>
                    </a:srgbClr>
                  </a:outerShdw>
                </a:effectLst>
              </a:rPr>
              <a:t> (İnsanilik-Hümanizm) İlkesi</a:t>
            </a:r>
            <a:endParaRPr lang="tr-TR" dirty="0" smtClean="0">
              <a:effectLst>
                <a:outerShdw blurRad="38100" dist="38100" dir="2700000" algn="tl">
                  <a:srgbClr val="000000">
                    <a:alpha val="43137"/>
                  </a:srgbClr>
                </a:outerShdw>
              </a:effectLst>
            </a:endParaRP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6" name="Metin kutusu 5"/>
          <p:cNvSpPr txBox="1"/>
          <p:nvPr/>
        </p:nvSpPr>
        <p:spPr>
          <a:xfrm>
            <a:off x="2264508" y="3038484"/>
            <a:ext cx="9089292" cy="1169551"/>
          </a:xfrm>
          <a:prstGeom prst="rect">
            <a:avLst/>
          </a:prstGeom>
          <a:noFill/>
        </p:spPr>
        <p:txBody>
          <a:bodyPr wrap="square" rtlCol="0">
            <a:spAutoFit/>
          </a:bodyPr>
          <a:lstStyle/>
          <a:p>
            <a:r>
              <a:rPr lang="tr-TR" sz="1400" b="1" dirty="0"/>
              <a:t>Anayasa</a:t>
            </a:r>
            <a:r>
              <a:rPr lang="tr-TR" sz="1400" dirty="0"/>
              <a:t> </a:t>
            </a:r>
            <a:endParaRPr lang="tr-TR" sz="1400" dirty="0" smtClean="0"/>
          </a:p>
          <a:p>
            <a:r>
              <a:rPr lang="tr-TR" sz="1400" b="1" dirty="0"/>
              <a:t>Kişinin dokunulmazlığı, maddi ve manevi varlığı</a:t>
            </a:r>
          </a:p>
          <a:p>
            <a:pPr algn="just"/>
            <a:r>
              <a:rPr lang="tr-TR" sz="1400" b="1" dirty="0"/>
              <a:t>Madde </a:t>
            </a:r>
            <a:r>
              <a:rPr lang="tr-TR" sz="1400" b="1" dirty="0" smtClean="0"/>
              <a:t>17 </a:t>
            </a:r>
            <a:r>
              <a:rPr lang="tr-TR" sz="1400" b="1" dirty="0"/>
              <a:t>–</a:t>
            </a:r>
            <a:r>
              <a:rPr lang="tr-TR" sz="1400" dirty="0"/>
              <a:t> </a:t>
            </a:r>
            <a:r>
              <a:rPr lang="tr-TR" sz="1400" dirty="0" smtClean="0"/>
              <a:t>…</a:t>
            </a:r>
          </a:p>
          <a:p>
            <a:pPr algn="just"/>
            <a:r>
              <a:rPr lang="tr-TR" sz="1400" dirty="0"/>
              <a:t>Kimseye işkence ve eziyet yapılamaz; kimse insan haysiyetiyle bağdaşmayan bir cezaya </a:t>
            </a:r>
            <a:r>
              <a:rPr lang="tr-TR" sz="1400" dirty="0" smtClean="0"/>
              <a:t>veya muameleye </a:t>
            </a:r>
            <a:r>
              <a:rPr lang="tr-TR" sz="1400" dirty="0"/>
              <a:t>tabi </a:t>
            </a:r>
            <a:r>
              <a:rPr lang="tr-TR" sz="1400" dirty="0" smtClean="0"/>
              <a:t>tutulamaz</a:t>
            </a:r>
          </a:p>
          <a:p>
            <a:pPr algn="just"/>
            <a:r>
              <a:rPr lang="tr-TR" sz="1400" dirty="0" smtClean="0"/>
              <a:t>…..</a:t>
            </a:r>
            <a:endParaRPr lang="tr-TR" sz="1400" dirty="0"/>
          </a:p>
        </p:txBody>
      </p:sp>
      <p:sp>
        <p:nvSpPr>
          <p:cNvPr id="14" name="Metin kutusu 13"/>
          <p:cNvSpPr txBox="1"/>
          <p:nvPr/>
        </p:nvSpPr>
        <p:spPr>
          <a:xfrm>
            <a:off x="1367693" y="4394025"/>
            <a:ext cx="9089292" cy="369332"/>
          </a:xfrm>
          <a:prstGeom prst="rect">
            <a:avLst/>
          </a:prstGeom>
          <a:noFill/>
        </p:spPr>
        <p:txBody>
          <a:bodyPr wrap="square" rtlCol="0">
            <a:spAutoFit/>
          </a:bodyPr>
          <a:lstStyle/>
          <a:p>
            <a:r>
              <a:rPr lang="tr-TR" b="1" dirty="0" smtClean="0"/>
              <a:t>İnsan obje değildir</a:t>
            </a:r>
            <a:endParaRPr lang="tr-TR" dirty="0" smtClean="0"/>
          </a:p>
        </p:txBody>
      </p:sp>
      <p:sp>
        <p:nvSpPr>
          <p:cNvPr id="7" name="Metin kutusu 6"/>
          <p:cNvSpPr txBox="1"/>
          <p:nvPr/>
        </p:nvSpPr>
        <p:spPr>
          <a:xfrm>
            <a:off x="1367693" y="4984691"/>
            <a:ext cx="9089292" cy="369332"/>
          </a:xfrm>
          <a:prstGeom prst="rect">
            <a:avLst/>
          </a:prstGeom>
          <a:noFill/>
        </p:spPr>
        <p:txBody>
          <a:bodyPr wrap="square" rtlCol="0">
            <a:spAutoFit/>
          </a:bodyPr>
          <a:lstStyle/>
          <a:p>
            <a:r>
              <a:rPr lang="tr-TR" b="1" dirty="0" smtClean="0"/>
              <a:t>İnsan onurundan vazgeçilmesi mümkün değildir</a:t>
            </a:r>
            <a:endParaRPr lang="tr-TR" dirty="0" smtClean="0"/>
          </a:p>
        </p:txBody>
      </p:sp>
      <p:sp>
        <p:nvSpPr>
          <p:cNvPr id="8" name="Metin kutusu 7"/>
          <p:cNvSpPr txBox="1"/>
          <p:nvPr/>
        </p:nvSpPr>
        <p:spPr>
          <a:xfrm>
            <a:off x="1367693" y="5575357"/>
            <a:ext cx="9089292" cy="369332"/>
          </a:xfrm>
          <a:prstGeom prst="rect">
            <a:avLst/>
          </a:prstGeom>
          <a:noFill/>
        </p:spPr>
        <p:txBody>
          <a:bodyPr wrap="square" rtlCol="0">
            <a:spAutoFit/>
          </a:bodyPr>
          <a:lstStyle/>
          <a:p>
            <a:r>
              <a:rPr lang="tr-TR" b="1" dirty="0" smtClean="0"/>
              <a:t>İnsan onuruyla bağdaşmayan cezalara hükmedilemez</a:t>
            </a:r>
            <a:endParaRPr lang="tr-TR" dirty="0" smtClean="0"/>
          </a:p>
        </p:txBody>
      </p:sp>
      <p:sp>
        <p:nvSpPr>
          <p:cNvPr id="9"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10"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İlkeler</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14</a:t>
            </a:fld>
            <a:r>
              <a:rPr lang="tr-TR"/>
              <a:t>/116</a:t>
            </a:r>
          </a:p>
        </p:txBody>
      </p:sp>
    </p:spTree>
    <p:extLst>
      <p:ext uri="{BB962C8B-B14F-4D97-AF65-F5344CB8AC3E}">
        <p14:creationId xmlns:p14="http://schemas.microsoft.com/office/powerpoint/2010/main" val="37762669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367693" y="2351038"/>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a:effectLst>
                  <a:outerShdw blurRad="38100" dist="38100" dir="2700000" algn="tl">
                    <a:srgbClr val="000000">
                      <a:alpha val="43137"/>
                    </a:srgbClr>
                  </a:outerShdw>
                </a:effectLst>
              </a:rPr>
              <a:t>Kusursuz Ceza Olmaz </a:t>
            </a:r>
            <a:r>
              <a:rPr lang="tr-TR" dirty="0" smtClean="0">
                <a:effectLst>
                  <a:outerShdw blurRad="38100" dist="38100" dir="2700000" algn="tl">
                    <a:srgbClr val="000000">
                      <a:alpha val="43137"/>
                    </a:srgbClr>
                  </a:outerShdw>
                </a:effectLst>
              </a:rPr>
              <a:t>İlkesi (Kusur İlkesi)</a:t>
            </a: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14" name="Metin kutusu 13"/>
          <p:cNvSpPr txBox="1"/>
          <p:nvPr/>
        </p:nvSpPr>
        <p:spPr>
          <a:xfrm>
            <a:off x="1367693" y="2791036"/>
            <a:ext cx="9089292" cy="369332"/>
          </a:xfrm>
          <a:prstGeom prst="rect">
            <a:avLst/>
          </a:prstGeom>
          <a:noFill/>
        </p:spPr>
        <p:txBody>
          <a:bodyPr wrap="square" rtlCol="0">
            <a:spAutoFit/>
          </a:bodyPr>
          <a:lstStyle/>
          <a:p>
            <a:r>
              <a:rPr lang="tr-TR" b="1" dirty="0" smtClean="0"/>
              <a:t>Ceza yaptırımı ancak kişinin KINANABİLDİĞİ durumlarda uygulanabilir</a:t>
            </a:r>
            <a:endParaRPr lang="tr-TR" dirty="0" smtClean="0"/>
          </a:p>
        </p:txBody>
      </p:sp>
      <p:sp>
        <p:nvSpPr>
          <p:cNvPr id="7" name="Metin kutusu 6"/>
          <p:cNvSpPr txBox="1"/>
          <p:nvPr/>
        </p:nvSpPr>
        <p:spPr>
          <a:xfrm>
            <a:off x="1367693" y="3127370"/>
            <a:ext cx="9089292" cy="369332"/>
          </a:xfrm>
          <a:prstGeom prst="rect">
            <a:avLst/>
          </a:prstGeom>
          <a:noFill/>
        </p:spPr>
        <p:txBody>
          <a:bodyPr wrap="square" rtlCol="0">
            <a:spAutoFit/>
          </a:bodyPr>
          <a:lstStyle>
            <a:defPPr>
              <a:defRPr lang="tr-TR"/>
            </a:defPPr>
            <a:lvl1pPr>
              <a:defRPr b="1"/>
            </a:lvl1pPr>
          </a:lstStyle>
          <a:p>
            <a:r>
              <a:rPr lang="tr-TR" dirty="0"/>
              <a:t>Bu ilkenin 3 önemli </a:t>
            </a:r>
            <a:r>
              <a:rPr lang="tr-TR" dirty="0" smtClean="0"/>
              <a:t>sonucu;</a:t>
            </a:r>
            <a:endParaRPr lang="tr-TR" dirty="0"/>
          </a:p>
        </p:txBody>
      </p:sp>
      <p:sp>
        <p:nvSpPr>
          <p:cNvPr id="8" name="Metin kutusu 7"/>
          <p:cNvSpPr txBox="1"/>
          <p:nvPr/>
        </p:nvSpPr>
        <p:spPr>
          <a:xfrm>
            <a:off x="1367693" y="4529321"/>
            <a:ext cx="9089292" cy="646331"/>
          </a:xfrm>
          <a:prstGeom prst="rect">
            <a:avLst/>
          </a:prstGeom>
          <a:noFill/>
        </p:spPr>
        <p:txBody>
          <a:bodyPr wrap="square" rtlCol="0">
            <a:spAutoFit/>
          </a:bodyPr>
          <a:lstStyle/>
          <a:p>
            <a:pPr algn="just"/>
            <a:r>
              <a:rPr lang="tr-TR" b="1" dirty="0" smtClean="0"/>
              <a:t>Ceza hukukunda </a:t>
            </a:r>
            <a:r>
              <a:rPr lang="tr-TR" b="1" u="sng" dirty="0" smtClean="0"/>
              <a:t>objektif sorumluluk </a:t>
            </a:r>
            <a:r>
              <a:rPr lang="tr-TR" b="1" u="sng" smtClean="0"/>
              <a:t>değil</a:t>
            </a:r>
            <a:r>
              <a:rPr lang="tr-TR" b="1" smtClean="0"/>
              <a:t> </a:t>
            </a:r>
            <a:r>
              <a:rPr lang="tr-TR" b="1" u="sng" smtClean="0"/>
              <a:t>subjektif </a:t>
            </a:r>
            <a:r>
              <a:rPr lang="tr-TR" b="1" u="sng" dirty="0" smtClean="0"/>
              <a:t>sorumluluk geçerlidir</a:t>
            </a:r>
            <a:r>
              <a:rPr lang="tr-TR" b="1" dirty="0" smtClean="0"/>
              <a:t>. Sonuçtan kaynaklanan sorumluluk değil, kusura </a:t>
            </a:r>
            <a:r>
              <a:rPr lang="tr-TR" b="1" smtClean="0"/>
              <a:t>dayanan subjektif </a:t>
            </a:r>
            <a:r>
              <a:rPr lang="tr-TR" b="1" dirty="0" smtClean="0"/>
              <a:t>sorumluluk geçerlidir</a:t>
            </a:r>
            <a:endParaRPr lang="tr-TR" dirty="0" smtClean="0"/>
          </a:p>
        </p:txBody>
      </p:sp>
      <p:sp>
        <p:nvSpPr>
          <p:cNvPr id="9" name="Metin kutusu 8"/>
          <p:cNvSpPr txBox="1"/>
          <p:nvPr/>
        </p:nvSpPr>
        <p:spPr>
          <a:xfrm>
            <a:off x="1809263" y="3501011"/>
            <a:ext cx="9089292" cy="338554"/>
          </a:xfrm>
          <a:prstGeom prst="rect">
            <a:avLst/>
          </a:prstGeom>
          <a:noFill/>
        </p:spPr>
        <p:txBody>
          <a:bodyPr wrap="square" rtlCol="0">
            <a:spAutoFit/>
          </a:bodyPr>
          <a:lstStyle>
            <a:defPPr>
              <a:defRPr lang="tr-TR"/>
            </a:defPPr>
            <a:lvl1pPr>
              <a:defRPr b="1"/>
            </a:lvl1pPr>
          </a:lstStyle>
          <a:p>
            <a:r>
              <a:rPr lang="tr-TR" sz="1600" b="0" dirty="0" smtClean="0"/>
              <a:t>Kusursuz fiil cezalandırılamaz</a:t>
            </a:r>
            <a:endParaRPr lang="tr-TR" sz="1600" b="0" dirty="0"/>
          </a:p>
        </p:txBody>
      </p:sp>
      <p:sp>
        <p:nvSpPr>
          <p:cNvPr id="10" name="Metin kutusu 9"/>
          <p:cNvSpPr txBox="1"/>
          <p:nvPr/>
        </p:nvSpPr>
        <p:spPr>
          <a:xfrm>
            <a:off x="1809263" y="3846484"/>
            <a:ext cx="9089292" cy="338554"/>
          </a:xfrm>
          <a:prstGeom prst="rect">
            <a:avLst/>
          </a:prstGeom>
          <a:noFill/>
        </p:spPr>
        <p:txBody>
          <a:bodyPr wrap="square" rtlCol="0">
            <a:spAutoFit/>
          </a:bodyPr>
          <a:lstStyle>
            <a:defPPr>
              <a:defRPr lang="tr-TR"/>
            </a:defPPr>
            <a:lvl1pPr>
              <a:defRPr sz="1600" b="1"/>
            </a:lvl1pPr>
          </a:lstStyle>
          <a:p>
            <a:r>
              <a:rPr lang="tr-TR" b="0" dirty="0"/>
              <a:t>Verilecek ceza, failin kusur derecesini aşamaz</a:t>
            </a:r>
          </a:p>
        </p:txBody>
      </p:sp>
      <p:sp>
        <p:nvSpPr>
          <p:cNvPr id="11" name="Metin kutusu 10"/>
          <p:cNvSpPr txBox="1"/>
          <p:nvPr/>
        </p:nvSpPr>
        <p:spPr>
          <a:xfrm>
            <a:off x="1809263" y="4191958"/>
            <a:ext cx="9089292" cy="338554"/>
          </a:xfrm>
          <a:prstGeom prst="rect">
            <a:avLst/>
          </a:prstGeom>
          <a:noFill/>
        </p:spPr>
        <p:txBody>
          <a:bodyPr wrap="square" rtlCol="0">
            <a:spAutoFit/>
          </a:bodyPr>
          <a:lstStyle>
            <a:defPPr>
              <a:defRPr lang="tr-TR"/>
            </a:defPPr>
            <a:lvl1pPr>
              <a:defRPr sz="1600" b="1"/>
            </a:lvl1pPr>
          </a:lstStyle>
          <a:p>
            <a:r>
              <a:rPr lang="tr-TR" b="0" dirty="0"/>
              <a:t>Verilecek ceza, failin </a:t>
            </a:r>
            <a:r>
              <a:rPr lang="tr-TR" b="0" dirty="0" smtClean="0"/>
              <a:t>hak ettiğinden az olamaz</a:t>
            </a:r>
            <a:endParaRPr lang="tr-TR" b="0" dirty="0"/>
          </a:p>
        </p:txBody>
      </p:sp>
      <p:sp>
        <p:nvSpPr>
          <p:cNvPr id="12" name="Metin kutusu 11"/>
          <p:cNvSpPr txBox="1"/>
          <p:nvPr/>
        </p:nvSpPr>
        <p:spPr>
          <a:xfrm>
            <a:off x="1367693" y="5776288"/>
            <a:ext cx="9089292" cy="369332"/>
          </a:xfrm>
          <a:prstGeom prst="rect">
            <a:avLst/>
          </a:prstGeom>
          <a:noFill/>
        </p:spPr>
        <p:txBody>
          <a:bodyPr wrap="square" rtlCol="0">
            <a:spAutoFit/>
          </a:bodyPr>
          <a:lstStyle>
            <a:defPPr>
              <a:defRPr lang="tr-TR"/>
            </a:defPPr>
            <a:lvl1pPr algn="just">
              <a:defRPr b="1"/>
            </a:lvl1pPr>
          </a:lstStyle>
          <a:p>
            <a:r>
              <a:rPr lang="tr-TR" dirty="0"/>
              <a:t>Fail ceza hukuku </a:t>
            </a:r>
            <a:r>
              <a:rPr lang="tr-TR" dirty="0" smtClean="0"/>
              <a:t>değil, </a:t>
            </a:r>
            <a:r>
              <a:rPr lang="tr-TR" dirty="0"/>
              <a:t>fiil ceza hukuku anlayışı</a:t>
            </a:r>
          </a:p>
        </p:txBody>
      </p:sp>
      <p:sp>
        <p:nvSpPr>
          <p:cNvPr id="13" name="Metin kutusu 12"/>
          <p:cNvSpPr txBox="1"/>
          <p:nvPr/>
        </p:nvSpPr>
        <p:spPr>
          <a:xfrm>
            <a:off x="1367693" y="5270007"/>
            <a:ext cx="9089292" cy="369332"/>
          </a:xfrm>
          <a:prstGeom prst="rect">
            <a:avLst/>
          </a:prstGeom>
          <a:noFill/>
        </p:spPr>
        <p:txBody>
          <a:bodyPr wrap="square" rtlCol="0">
            <a:spAutoFit/>
          </a:bodyPr>
          <a:lstStyle>
            <a:defPPr>
              <a:defRPr lang="tr-TR"/>
            </a:defPPr>
            <a:lvl1pPr algn="just">
              <a:defRPr b="1"/>
            </a:lvl1pPr>
          </a:lstStyle>
          <a:p>
            <a:r>
              <a:rPr lang="tr-TR" dirty="0" smtClean="0"/>
              <a:t>Nedensellik (İlliyet)</a:t>
            </a:r>
            <a:endParaRPr lang="tr-TR" dirty="0"/>
          </a:p>
        </p:txBody>
      </p:sp>
      <p:sp>
        <p:nvSpPr>
          <p:cNvPr id="15"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16"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İlkeler</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15</a:t>
            </a:fld>
            <a:r>
              <a:rPr lang="tr-TR"/>
              <a:t>/116</a:t>
            </a:r>
          </a:p>
        </p:txBody>
      </p:sp>
    </p:spTree>
    <p:extLst>
      <p:ext uri="{BB962C8B-B14F-4D97-AF65-F5344CB8AC3E}">
        <p14:creationId xmlns:p14="http://schemas.microsoft.com/office/powerpoint/2010/main" val="34023214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367693" y="2412203"/>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a:effectLst>
                  <a:outerShdw blurRad="38100" dist="38100" dir="2700000" algn="tl">
                    <a:srgbClr val="000000">
                      <a:alpha val="43137"/>
                    </a:srgbClr>
                  </a:outerShdw>
                </a:effectLst>
              </a:rPr>
              <a:t>Ceza Sorumluluğunun Şahsiliği İlkesi</a:t>
            </a:r>
            <a:endParaRPr lang="tr-TR" dirty="0" smtClean="0">
              <a:effectLst>
                <a:outerShdw blurRad="38100" dist="38100" dir="2700000" algn="tl">
                  <a:srgbClr val="000000">
                    <a:alpha val="43137"/>
                  </a:srgbClr>
                </a:outerShdw>
              </a:effectLst>
            </a:endParaRP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15" name="Metin kutusu 14"/>
          <p:cNvSpPr txBox="1"/>
          <p:nvPr/>
        </p:nvSpPr>
        <p:spPr>
          <a:xfrm>
            <a:off x="2264508" y="3040632"/>
            <a:ext cx="9089292" cy="1169551"/>
          </a:xfrm>
          <a:prstGeom prst="rect">
            <a:avLst/>
          </a:prstGeom>
          <a:noFill/>
        </p:spPr>
        <p:txBody>
          <a:bodyPr wrap="square" rtlCol="0">
            <a:spAutoFit/>
          </a:bodyPr>
          <a:lstStyle/>
          <a:p>
            <a:r>
              <a:rPr lang="tr-TR" sz="1400" b="1" dirty="0"/>
              <a:t>Anayasa</a:t>
            </a:r>
            <a:r>
              <a:rPr lang="tr-TR" sz="1400" dirty="0"/>
              <a:t> </a:t>
            </a:r>
            <a:endParaRPr lang="tr-TR" sz="1400" dirty="0" smtClean="0"/>
          </a:p>
          <a:p>
            <a:r>
              <a:rPr lang="es-ES" sz="1400" b="1" dirty="0"/>
              <a:t>Suç ve cezalara ilişkin </a:t>
            </a:r>
            <a:r>
              <a:rPr lang="es-ES" sz="1400" b="1" dirty="0" smtClean="0"/>
              <a:t>esaslar</a:t>
            </a:r>
            <a:endParaRPr lang="tr-TR" sz="1400" b="1" dirty="0"/>
          </a:p>
          <a:p>
            <a:pPr algn="just"/>
            <a:r>
              <a:rPr lang="tr-TR" sz="1400" b="1" dirty="0"/>
              <a:t>Madde </a:t>
            </a:r>
            <a:r>
              <a:rPr lang="tr-TR" sz="1400" b="1" dirty="0" smtClean="0"/>
              <a:t>38 </a:t>
            </a:r>
            <a:r>
              <a:rPr lang="tr-TR" sz="1400" b="1" dirty="0"/>
              <a:t>–</a:t>
            </a:r>
            <a:r>
              <a:rPr lang="tr-TR" sz="1400" dirty="0"/>
              <a:t> </a:t>
            </a:r>
            <a:r>
              <a:rPr lang="tr-TR" sz="1400" dirty="0" smtClean="0"/>
              <a:t>…</a:t>
            </a:r>
          </a:p>
          <a:p>
            <a:pPr algn="just"/>
            <a:r>
              <a:rPr lang="tr-TR" sz="1400" dirty="0"/>
              <a:t>Ceza sorumluluğu şahsidir</a:t>
            </a:r>
          </a:p>
          <a:p>
            <a:pPr algn="just"/>
            <a:r>
              <a:rPr lang="tr-TR" sz="1400" dirty="0" smtClean="0"/>
              <a:t>…</a:t>
            </a:r>
            <a:endParaRPr lang="tr-TR" sz="1400" dirty="0"/>
          </a:p>
        </p:txBody>
      </p:sp>
      <p:sp>
        <p:nvSpPr>
          <p:cNvPr id="16" name="Metin kutusu 15"/>
          <p:cNvSpPr txBox="1"/>
          <p:nvPr/>
        </p:nvSpPr>
        <p:spPr>
          <a:xfrm>
            <a:off x="2264508" y="4633321"/>
            <a:ext cx="9089292" cy="1169551"/>
          </a:xfrm>
          <a:prstGeom prst="rect">
            <a:avLst/>
          </a:prstGeom>
          <a:noFill/>
        </p:spPr>
        <p:txBody>
          <a:bodyPr wrap="square" rtlCol="0">
            <a:spAutoFit/>
          </a:bodyPr>
          <a:lstStyle/>
          <a:p>
            <a:r>
              <a:rPr lang="tr-TR" sz="1400" b="1" dirty="0" smtClean="0"/>
              <a:t>Türk Ceza Kanunu</a:t>
            </a:r>
            <a:r>
              <a:rPr lang="tr-TR" sz="1400" dirty="0" smtClean="0"/>
              <a:t> </a:t>
            </a:r>
          </a:p>
          <a:p>
            <a:r>
              <a:rPr lang="es-ES" sz="1400" b="1" dirty="0"/>
              <a:t>Ceza sorumluluğunun </a:t>
            </a:r>
            <a:r>
              <a:rPr lang="es-ES" sz="1400" b="1" dirty="0" smtClean="0"/>
              <a:t>şahsiliği</a:t>
            </a:r>
            <a:endParaRPr lang="tr-TR" sz="1400" b="1" dirty="0" smtClean="0"/>
          </a:p>
          <a:p>
            <a:pPr algn="just"/>
            <a:r>
              <a:rPr lang="tr-TR" sz="1400" b="1" dirty="0" smtClean="0"/>
              <a:t>Madde 20 </a:t>
            </a:r>
            <a:r>
              <a:rPr lang="tr-TR" sz="1400" b="1" dirty="0"/>
              <a:t>–</a:t>
            </a:r>
            <a:r>
              <a:rPr lang="tr-TR" sz="1400" dirty="0"/>
              <a:t> </a:t>
            </a:r>
            <a:r>
              <a:rPr lang="tr-TR" sz="1400" dirty="0" smtClean="0"/>
              <a:t>(</a:t>
            </a:r>
            <a:r>
              <a:rPr lang="tr-TR" sz="1400" dirty="0"/>
              <a:t>1) Ceza sorumluluğu şahsidir. Kimse başkasının fiilinden dolayı </a:t>
            </a:r>
            <a:r>
              <a:rPr lang="tr-TR" sz="1400" dirty="0" smtClean="0"/>
              <a:t>sorumlu tutulamaz</a:t>
            </a:r>
            <a:r>
              <a:rPr lang="tr-TR" sz="1400" dirty="0"/>
              <a:t>.</a:t>
            </a:r>
          </a:p>
          <a:p>
            <a:pPr algn="just"/>
            <a:r>
              <a:rPr lang="tr-TR" sz="1400" dirty="0"/>
              <a:t>(2) Tüzel kişiler hakkında ceza yaptırımı uygulanamaz. Ancak, suç </a:t>
            </a:r>
            <a:r>
              <a:rPr lang="tr-TR" sz="1400" dirty="0" smtClean="0"/>
              <a:t>dolayısıyla kanunda </a:t>
            </a:r>
            <a:r>
              <a:rPr lang="tr-TR" sz="1400" dirty="0"/>
              <a:t>öngörülen güvenlik tedbiri niteliğindeki yaptırımlar saklıdır.</a:t>
            </a:r>
          </a:p>
        </p:txBody>
      </p:sp>
      <p:sp>
        <p:nvSpPr>
          <p:cNvPr id="6"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8"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İlkeler</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16</a:t>
            </a:fld>
            <a:r>
              <a:rPr lang="tr-TR"/>
              <a:t>/116</a:t>
            </a:r>
          </a:p>
        </p:txBody>
      </p:sp>
    </p:spTree>
    <p:extLst>
      <p:ext uri="{BB962C8B-B14F-4D97-AF65-F5344CB8AC3E}">
        <p14:creationId xmlns:p14="http://schemas.microsoft.com/office/powerpoint/2010/main" val="22047805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367693" y="2235227"/>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a:effectLst>
                  <a:outerShdw blurRad="38100" dist="38100" dir="2700000" algn="tl">
                    <a:srgbClr val="000000">
                      <a:alpha val="43137"/>
                    </a:srgbClr>
                  </a:outerShdw>
                </a:effectLst>
              </a:rPr>
              <a:t>Kanun Önünde Eşitlik İlkesi</a:t>
            </a:r>
            <a:endParaRPr lang="tr-TR" dirty="0" smtClean="0">
              <a:effectLst>
                <a:outerShdw blurRad="38100" dist="38100" dir="2700000" algn="tl">
                  <a:srgbClr val="000000">
                    <a:alpha val="43137"/>
                  </a:srgbClr>
                </a:outerShdw>
              </a:effectLst>
            </a:endParaRP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15" name="Metin kutusu 14"/>
          <p:cNvSpPr txBox="1"/>
          <p:nvPr/>
        </p:nvSpPr>
        <p:spPr>
          <a:xfrm>
            <a:off x="1929668" y="2943388"/>
            <a:ext cx="9089292" cy="954107"/>
          </a:xfrm>
          <a:prstGeom prst="rect">
            <a:avLst/>
          </a:prstGeom>
          <a:noFill/>
        </p:spPr>
        <p:txBody>
          <a:bodyPr wrap="square" rtlCol="0">
            <a:spAutoFit/>
          </a:bodyPr>
          <a:lstStyle/>
          <a:p>
            <a:r>
              <a:rPr lang="tr-TR" sz="1400" b="1" dirty="0"/>
              <a:t>Anayasa</a:t>
            </a:r>
            <a:r>
              <a:rPr lang="tr-TR" sz="1400" dirty="0"/>
              <a:t> </a:t>
            </a:r>
            <a:endParaRPr lang="tr-TR" sz="1400" dirty="0" smtClean="0"/>
          </a:p>
          <a:p>
            <a:r>
              <a:rPr lang="es-ES" sz="1400" b="1" dirty="0"/>
              <a:t>Kanun önünde </a:t>
            </a:r>
            <a:r>
              <a:rPr lang="es-ES" sz="1400" b="1" dirty="0" smtClean="0"/>
              <a:t>eşitlik</a:t>
            </a:r>
            <a:endParaRPr lang="tr-TR" sz="1400" b="1" dirty="0"/>
          </a:p>
          <a:p>
            <a:pPr algn="just"/>
            <a:r>
              <a:rPr lang="tr-TR" sz="1400" b="1" dirty="0"/>
              <a:t>Madde </a:t>
            </a:r>
            <a:r>
              <a:rPr lang="tr-TR" sz="1400" b="1" dirty="0" smtClean="0"/>
              <a:t>10 </a:t>
            </a:r>
            <a:r>
              <a:rPr lang="tr-TR" sz="1400" b="1" dirty="0"/>
              <a:t>–</a:t>
            </a:r>
            <a:r>
              <a:rPr lang="tr-TR" sz="1400" dirty="0"/>
              <a:t> Herkes, dil, ırk, renk, cinsiyet, siyasi düşünce, felsefi inanç, din, mezhep </a:t>
            </a:r>
            <a:r>
              <a:rPr lang="tr-TR" sz="1400" dirty="0" smtClean="0"/>
              <a:t>ve benzeri </a:t>
            </a:r>
            <a:r>
              <a:rPr lang="tr-TR" sz="1400" dirty="0"/>
              <a:t>sebeplerle ayırım gözetilmeksizin kanun önünde </a:t>
            </a:r>
            <a:r>
              <a:rPr lang="tr-TR" sz="1400" dirty="0" smtClean="0"/>
              <a:t>eşittir</a:t>
            </a:r>
          </a:p>
        </p:txBody>
      </p:sp>
      <p:sp>
        <p:nvSpPr>
          <p:cNvPr id="16" name="Metin kutusu 15"/>
          <p:cNvSpPr txBox="1"/>
          <p:nvPr/>
        </p:nvSpPr>
        <p:spPr>
          <a:xfrm>
            <a:off x="1929668" y="4327555"/>
            <a:ext cx="9089292" cy="1384995"/>
          </a:xfrm>
          <a:prstGeom prst="rect">
            <a:avLst/>
          </a:prstGeom>
          <a:noFill/>
        </p:spPr>
        <p:txBody>
          <a:bodyPr wrap="square" rtlCol="0">
            <a:spAutoFit/>
          </a:bodyPr>
          <a:lstStyle/>
          <a:p>
            <a:r>
              <a:rPr lang="tr-TR" sz="1400" b="1" dirty="0" smtClean="0"/>
              <a:t>Türk Ceza Kanunu</a:t>
            </a:r>
            <a:r>
              <a:rPr lang="tr-TR" sz="1400" dirty="0" smtClean="0"/>
              <a:t> </a:t>
            </a:r>
          </a:p>
          <a:p>
            <a:r>
              <a:rPr lang="es-ES" sz="1400" b="1" dirty="0"/>
              <a:t>Adalet ve kanun önünde eşitlik ilkesi</a:t>
            </a:r>
            <a:endParaRPr lang="tr-TR" sz="1400" b="1" dirty="0" smtClean="0"/>
          </a:p>
          <a:p>
            <a:pPr algn="just"/>
            <a:r>
              <a:rPr lang="tr-TR" sz="1400" b="1" dirty="0" smtClean="0"/>
              <a:t>Madde 3 </a:t>
            </a:r>
            <a:r>
              <a:rPr lang="tr-TR" sz="1400" b="1" dirty="0"/>
              <a:t>–</a:t>
            </a:r>
            <a:r>
              <a:rPr lang="tr-TR" sz="1400" dirty="0"/>
              <a:t> </a:t>
            </a:r>
            <a:r>
              <a:rPr lang="tr-TR" sz="1400" dirty="0" smtClean="0"/>
              <a:t>..</a:t>
            </a:r>
          </a:p>
          <a:p>
            <a:pPr algn="just"/>
            <a:r>
              <a:rPr lang="tr-TR" sz="1400" dirty="0"/>
              <a:t>(2) Ceza Kanununun uygulamasında kişiler arasında ırk, dil, din, mezhep, </a:t>
            </a:r>
            <a:r>
              <a:rPr lang="tr-TR" sz="1400" dirty="0" smtClean="0"/>
              <a:t>milliyet, renk</a:t>
            </a:r>
            <a:r>
              <a:rPr lang="tr-TR" sz="1400" dirty="0"/>
              <a:t>, cinsiyet, siyasal veya diğer fikir yahut düşünceleri, felsefi inanç, milli veya </a:t>
            </a:r>
            <a:r>
              <a:rPr lang="tr-TR" sz="1400" dirty="0" smtClean="0"/>
              <a:t>sosyal köken</a:t>
            </a:r>
            <a:r>
              <a:rPr lang="tr-TR" sz="1400" dirty="0"/>
              <a:t>, doğum, ekonomik ve diğer toplumsal konumları yönünden ayrım yapılamaz ve </a:t>
            </a:r>
            <a:r>
              <a:rPr lang="tr-TR" sz="1400" dirty="0" smtClean="0"/>
              <a:t>hiçbir kimseye </a:t>
            </a:r>
            <a:r>
              <a:rPr lang="tr-TR" sz="1400" dirty="0"/>
              <a:t>ayrıcalık tanınamaz.</a:t>
            </a:r>
          </a:p>
        </p:txBody>
      </p:sp>
      <p:sp>
        <p:nvSpPr>
          <p:cNvPr id="6"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8"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İlkeler</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17</a:t>
            </a:fld>
            <a:r>
              <a:rPr lang="tr-TR"/>
              <a:t>/116</a:t>
            </a:r>
          </a:p>
        </p:txBody>
      </p:sp>
    </p:spTree>
    <p:extLst>
      <p:ext uri="{BB962C8B-B14F-4D97-AF65-F5344CB8AC3E}">
        <p14:creationId xmlns:p14="http://schemas.microsoft.com/office/powerpoint/2010/main" val="28834651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367693" y="2751407"/>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a:effectLst>
                  <a:outerShdw blurRad="38100" dist="38100" dir="2700000" algn="tl">
                    <a:srgbClr val="000000">
                      <a:alpha val="43137"/>
                    </a:srgbClr>
                  </a:outerShdw>
                </a:effectLst>
              </a:rPr>
              <a:t>Orantılılık (Ölçülülük) ve Son Çare İlkesi</a:t>
            </a:r>
            <a:endParaRPr lang="tr-TR" dirty="0" smtClean="0">
              <a:effectLst>
                <a:outerShdw blurRad="38100" dist="38100" dir="2700000" algn="tl">
                  <a:srgbClr val="000000">
                    <a:alpha val="43137"/>
                  </a:srgbClr>
                </a:outerShdw>
              </a:effectLst>
            </a:endParaRP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15" name="Metin kutusu 14"/>
          <p:cNvSpPr txBox="1"/>
          <p:nvPr/>
        </p:nvSpPr>
        <p:spPr>
          <a:xfrm>
            <a:off x="2264508" y="3423501"/>
            <a:ext cx="9089292" cy="1169551"/>
          </a:xfrm>
          <a:prstGeom prst="rect">
            <a:avLst/>
          </a:prstGeom>
          <a:noFill/>
        </p:spPr>
        <p:txBody>
          <a:bodyPr wrap="square" rtlCol="0">
            <a:spAutoFit/>
          </a:bodyPr>
          <a:lstStyle/>
          <a:p>
            <a:r>
              <a:rPr lang="tr-TR" sz="1400" b="1" dirty="0"/>
              <a:t>Anayasa</a:t>
            </a:r>
            <a:r>
              <a:rPr lang="tr-TR" sz="1400" dirty="0"/>
              <a:t> </a:t>
            </a:r>
            <a:endParaRPr lang="tr-TR" sz="1400" dirty="0" smtClean="0"/>
          </a:p>
          <a:p>
            <a:r>
              <a:rPr lang="es-ES" sz="1400" b="1" dirty="0" smtClean="0"/>
              <a:t>Temel </a:t>
            </a:r>
            <a:r>
              <a:rPr lang="es-ES" sz="1400" b="1" dirty="0"/>
              <a:t>hak ve hürriyetlerin sınırlanması</a:t>
            </a:r>
            <a:endParaRPr lang="tr-TR" sz="1400" b="1" dirty="0"/>
          </a:p>
          <a:p>
            <a:pPr algn="just"/>
            <a:r>
              <a:rPr lang="tr-TR" sz="1400" b="1" dirty="0"/>
              <a:t>Madde </a:t>
            </a:r>
            <a:r>
              <a:rPr lang="tr-TR" sz="1400" b="1" dirty="0" smtClean="0"/>
              <a:t>13 </a:t>
            </a:r>
            <a:r>
              <a:rPr lang="tr-TR" sz="1400" b="1" dirty="0"/>
              <a:t>–</a:t>
            </a:r>
            <a:r>
              <a:rPr lang="tr-TR" sz="1400" dirty="0"/>
              <a:t> Temel hak ve hürriyetler, özlerine dokunulmaksızın yalnızca Anayasanın ilgili </a:t>
            </a:r>
            <a:r>
              <a:rPr lang="tr-TR" sz="1400" dirty="0" smtClean="0"/>
              <a:t>maddelerinde belirtilen </a:t>
            </a:r>
            <a:r>
              <a:rPr lang="tr-TR" sz="1400" dirty="0"/>
              <a:t>sebeplere bağlı olarak ve ancak kanunla sınırlanabilir. Bu sınırlamalar, Anayasanın </a:t>
            </a:r>
            <a:r>
              <a:rPr lang="tr-TR" sz="1400" dirty="0" smtClean="0"/>
              <a:t>sözüne ve </a:t>
            </a:r>
            <a:r>
              <a:rPr lang="tr-TR" sz="1400" dirty="0"/>
              <a:t>ruhuna, demokratik toplum düzeninin ve lâik Cumhuriyetin gereklerine ve ölçülülük ilkesine </a:t>
            </a:r>
            <a:r>
              <a:rPr lang="tr-TR" sz="1400" dirty="0" smtClean="0"/>
              <a:t>aykırı olamaz</a:t>
            </a:r>
            <a:r>
              <a:rPr lang="tr-TR" sz="1400" dirty="0"/>
              <a:t>.</a:t>
            </a:r>
            <a:endParaRPr lang="tr-TR" sz="1400" dirty="0" smtClean="0"/>
          </a:p>
        </p:txBody>
      </p:sp>
      <p:sp>
        <p:nvSpPr>
          <p:cNvPr id="16" name="Metin kutusu 15"/>
          <p:cNvSpPr txBox="1"/>
          <p:nvPr/>
        </p:nvSpPr>
        <p:spPr>
          <a:xfrm>
            <a:off x="2264508" y="5005888"/>
            <a:ext cx="9089292" cy="738664"/>
          </a:xfrm>
          <a:prstGeom prst="rect">
            <a:avLst/>
          </a:prstGeom>
          <a:noFill/>
        </p:spPr>
        <p:txBody>
          <a:bodyPr wrap="square" rtlCol="0">
            <a:spAutoFit/>
          </a:bodyPr>
          <a:lstStyle/>
          <a:p>
            <a:r>
              <a:rPr lang="tr-TR" sz="1400" b="1" dirty="0" smtClean="0"/>
              <a:t>Türk Ceza Kanunu</a:t>
            </a:r>
            <a:r>
              <a:rPr lang="tr-TR" sz="1400" dirty="0" smtClean="0"/>
              <a:t> </a:t>
            </a:r>
          </a:p>
          <a:p>
            <a:r>
              <a:rPr lang="es-ES" sz="1400" b="1" dirty="0"/>
              <a:t>Adalet ve kanun önünde eşitlik ilkesi</a:t>
            </a:r>
            <a:endParaRPr lang="tr-TR" sz="1400" b="1" dirty="0" smtClean="0"/>
          </a:p>
          <a:p>
            <a:pPr algn="just"/>
            <a:r>
              <a:rPr lang="tr-TR" sz="1400" b="1" dirty="0" smtClean="0"/>
              <a:t>Madde 3 </a:t>
            </a:r>
            <a:r>
              <a:rPr lang="tr-TR" sz="1400" b="1" dirty="0"/>
              <a:t>–</a:t>
            </a:r>
            <a:r>
              <a:rPr lang="tr-TR" sz="1400" dirty="0"/>
              <a:t> </a:t>
            </a:r>
            <a:r>
              <a:rPr lang="tr-TR" sz="1400" dirty="0" smtClean="0"/>
              <a:t>(</a:t>
            </a:r>
            <a:r>
              <a:rPr lang="tr-TR" sz="1400" dirty="0"/>
              <a:t>1) Suç işleyen kişi hakkında işlenen fiilin ağırlığıyla orantılı ceza </a:t>
            </a:r>
            <a:r>
              <a:rPr lang="tr-TR" sz="1400" dirty="0" smtClean="0"/>
              <a:t>ve güvenlik </a:t>
            </a:r>
            <a:r>
              <a:rPr lang="tr-TR" sz="1400" dirty="0"/>
              <a:t>tedbirine hükmolunur</a:t>
            </a:r>
            <a:r>
              <a:rPr lang="tr-TR" sz="1400" dirty="0" smtClean="0"/>
              <a:t>.</a:t>
            </a:r>
            <a:endParaRPr lang="tr-TR" sz="1400" dirty="0"/>
          </a:p>
        </p:txBody>
      </p:sp>
      <p:sp>
        <p:nvSpPr>
          <p:cNvPr id="6"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8"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İlkeler</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18</a:t>
            </a:fld>
            <a:r>
              <a:rPr lang="tr-TR"/>
              <a:t>/116</a:t>
            </a:r>
          </a:p>
        </p:txBody>
      </p:sp>
    </p:spTree>
    <p:extLst>
      <p:ext uri="{BB962C8B-B14F-4D97-AF65-F5344CB8AC3E}">
        <p14:creationId xmlns:p14="http://schemas.microsoft.com/office/powerpoint/2010/main" val="7831096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lt Başlık 2"/>
          <p:cNvSpPr txBox="1">
            <a:spLocks/>
          </p:cNvSpPr>
          <p:nvPr/>
        </p:nvSpPr>
        <p:spPr>
          <a:xfrm>
            <a:off x="1367692" y="2426951"/>
            <a:ext cx="9323753"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a:effectLst>
                  <a:outerShdw blurRad="38100" dist="38100" dir="2700000" algn="tl">
                    <a:srgbClr val="000000">
                      <a:alpha val="43137"/>
                    </a:srgbClr>
                  </a:outerShdw>
                </a:effectLst>
              </a:rPr>
              <a:t>Suçta ve Cezada Kanunilik İlkesi (Ceza Hukukunun Güvence Fonksiyonu)</a:t>
            </a:r>
            <a:endParaRPr lang="tr-TR" dirty="0" smtClean="0">
              <a:effectLst>
                <a:outerShdw blurRad="38100" dist="38100" dir="2700000" algn="tl">
                  <a:srgbClr val="000000">
                    <a:alpha val="43137"/>
                  </a:srgbClr>
                </a:outerShdw>
              </a:effectLst>
            </a:endParaRP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7" name="Metin kutusu 6"/>
          <p:cNvSpPr txBox="1"/>
          <p:nvPr/>
        </p:nvSpPr>
        <p:spPr>
          <a:xfrm>
            <a:off x="2264508" y="2851326"/>
            <a:ext cx="9089292" cy="1169551"/>
          </a:xfrm>
          <a:prstGeom prst="rect">
            <a:avLst/>
          </a:prstGeom>
          <a:noFill/>
        </p:spPr>
        <p:txBody>
          <a:bodyPr wrap="square" rtlCol="0">
            <a:spAutoFit/>
          </a:bodyPr>
          <a:lstStyle/>
          <a:p>
            <a:r>
              <a:rPr lang="tr-TR" sz="1400" b="1" dirty="0"/>
              <a:t>Anayasa</a:t>
            </a:r>
            <a:r>
              <a:rPr lang="tr-TR" sz="1400" dirty="0"/>
              <a:t> </a:t>
            </a:r>
            <a:endParaRPr lang="tr-TR" sz="1400" dirty="0" smtClean="0"/>
          </a:p>
          <a:p>
            <a:r>
              <a:rPr lang="es-ES" sz="1400" b="1" dirty="0"/>
              <a:t>Suç ve cezalara ilişkin </a:t>
            </a:r>
            <a:r>
              <a:rPr lang="es-ES" sz="1400" b="1" dirty="0" smtClean="0"/>
              <a:t>esaslar</a:t>
            </a:r>
            <a:endParaRPr lang="tr-TR" sz="1400" b="1" dirty="0"/>
          </a:p>
          <a:p>
            <a:pPr algn="just"/>
            <a:r>
              <a:rPr lang="tr-TR" sz="1400" b="1" dirty="0"/>
              <a:t>Madde </a:t>
            </a:r>
            <a:r>
              <a:rPr lang="tr-TR" sz="1400" b="1" dirty="0" smtClean="0"/>
              <a:t>38 </a:t>
            </a:r>
            <a:r>
              <a:rPr lang="tr-TR" sz="1400" b="1" dirty="0"/>
              <a:t>–</a:t>
            </a:r>
            <a:r>
              <a:rPr lang="tr-TR" sz="1400" dirty="0"/>
              <a:t> Kimse, işlendiği zaman yürürlükte bulunan kanunun suç saymadığı bir </a:t>
            </a:r>
            <a:r>
              <a:rPr lang="tr-TR" sz="1400" dirty="0" smtClean="0"/>
              <a:t>fiilden dolayı </a:t>
            </a:r>
            <a:r>
              <a:rPr lang="tr-TR" sz="1400" dirty="0"/>
              <a:t>cezalandırılamaz; kimseye suçu işlediği zaman kanunda o suç için konulmuş olan cezadan </a:t>
            </a:r>
            <a:r>
              <a:rPr lang="tr-TR" sz="1400" dirty="0" smtClean="0"/>
              <a:t>daha ağır </a:t>
            </a:r>
            <a:r>
              <a:rPr lang="tr-TR" sz="1400" dirty="0"/>
              <a:t>bir ceza verilemez</a:t>
            </a:r>
            <a:r>
              <a:rPr lang="tr-TR" sz="1400" dirty="0" smtClean="0"/>
              <a:t>.</a:t>
            </a:r>
          </a:p>
          <a:p>
            <a:pPr algn="just"/>
            <a:r>
              <a:rPr lang="tr-TR" sz="1400" dirty="0" smtClean="0"/>
              <a:t>…</a:t>
            </a:r>
          </a:p>
        </p:txBody>
      </p:sp>
      <p:sp>
        <p:nvSpPr>
          <p:cNvPr id="8" name="Metin kutusu 7"/>
          <p:cNvSpPr txBox="1"/>
          <p:nvPr/>
        </p:nvSpPr>
        <p:spPr>
          <a:xfrm>
            <a:off x="2264508" y="4481338"/>
            <a:ext cx="9089292" cy="1600438"/>
          </a:xfrm>
          <a:prstGeom prst="rect">
            <a:avLst/>
          </a:prstGeom>
          <a:noFill/>
        </p:spPr>
        <p:txBody>
          <a:bodyPr wrap="square" rtlCol="0">
            <a:spAutoFit/>
          </a:bodyPr>
          <a:lstStyle/>
          <a:p>
            <a:r>
              <a:rPr lang="tr-TR" sz="1400" b="1" dirty="0" smtClean="0"/>
              <a:t>Türk Ceza Kanunu</a:t>
            </a:r>
            <a:r>
              <a:rPr lang="tr-TR" sz="1400" dirty="0" smtClean="0"/>
              <a:t> </a:t>
            </a:r>
          </a:p>
          <a:p>
            <a:r>
              <a:rPr lang="es-ES" sz="1400" b="1" dirty="0"/>
              <a:t>Suçta ve cezada kanunîlik </a:t>
            </a:r>
            <a:r>
              <a:rPr lang="es-ES" sz="1400" b="1" dirty="0" smtClean="0"/>
              <a:t>ilkesi</a:t>
            </a:r>
            <a:endParaRPr lang="tr-TR" sz="1400" b="1" dirty="0" smtClean="0"/>
          </a:p>
          <a:p>
            <a:pPr algn="just"/>
            <a:r>
              <a:rPr lang="tr-TR" sz="1400" b="1" dirty="0" smtClean="0"/>
              <a:t>Madde 2 </a:t>
            </a:r>
            <a:r>
              <a:rPr lang="tr-TR" sz="1400" b="1" dirty="0"/>
              <a:t>–</a:t>
            </a:r>
            <a:r>
              <a:rPr lang="tr-TR" sz="1400" dirty="0"/>
              <a:t> </a:t>
            </a:r>
            <a:r>
              <a:rPr lang="tr-TR" sz="1400" dirty="0" smtClean="0"/>
              <a:t>(</a:t>
            </a:r>
            <a:r>
              <a:rPr lang="tr-TR" sz="1400" dirty="0"/>
              <a:t>1) Kanunun açıkça suç saymadığı bir fiil için kimseye ceza verilemez </a:t>
            </a:r>
            <a:r>
              <a:rPr lang="tr-TR" sz="1400" dirty="0" smtClean="0"/>
              <a:t>ve güvenlik </a:t>
            </a:r>
            <a:r>
              <a:rPr lang="tr-TR" sz="1400" dirty="0"/>
              <a:t>tedbiri uygulanamaz. Kanunda yazılı cezalardan ve güvenlik tedbirlerinden başka </a:t>
            </a:r>
            <a:r>
              <a:rPr lang="tr-TR" sz="1400" dirty="0" smtClean="0"/>
              <a:t>bir ceza </a:t>
            </a:r>
            <a:r>
              <a:rPr lang="tr-TR" sz="1400" dirty="0"/>
              <a:t>ve güvenlik tedbirine hükmolunamaz.</a:t>
            </a:r>
          </a:p>
          <a:p>
            <a:r>
              <a:rPr lang="tr-TR" sz="1400" dirty="0"/>
              <a:t>(2) İdarenin düzenleyici işlemleriyle suç ve ceza konulamaz.</a:t>
            </a:r>
          </a:p>
          <a:p>
            <a:pPr algn="just"/>
            <a:r>
              <a:rPr lang="tr-TR" sz="1400" dirty="0"/>
              <a:t>(3) Kanunların suç ve ceza içeren hükümlerinin uygulanmasında kıyas yapılamaz. </a:t>
            </a:r>
            <a:r>
              <a:rPr lang="tr-TR" sz="1400" dirty="0" smtClean="0"/>
              <a:t>Suç ve </a:t>
            </a:r>
            <a:r>
              <a:rPr lang="tr-TR" sz="1400" dirty="0"/>
              <a:t>ceza içeren hükümler, kıyasa yol açacak biçimde geniş yorumlanamaz.</a:t>
            </a:r>
          </a:p>
        </p:txBody>
      </p:sp>
      <p:sp>
        <p:nvSpPr>
          <p:cNvPr id="9"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11"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İlkeler</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19</a:t>
            </a:fld>
            <a:r>
              <a:rPr lang="tr-TR"/>
              <a:t>/116</a:t>
            </a:r>
          </a:p>
        </p:txBody>
      </p:sp>
    </p:spTree>
    <p:extLst>
      <p:ext uri="{BB962C8B-B14F-4D97-AF65-F5344CB8AC3E}">
        <p14:creationId xmlns:p14="http://schemas.microsoft.com/office/powerpoint/2010/main" val="14412216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367692" y="2382707"/>
            <a:ext cx="9323753"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a:effectLst>
                  <a:outerShdw blurRad="38100" dist="38100" dir="2700000" algn="tl">
                    <a:srgbClr val="000000">
                      <a:alpha val="43137"/>
                    </a:srgbClr>
                  </a:outerShdw>
                </a:effectLst>
              </a:rPr>
              <a:t>Suçta ve Cezada Kanunilik İlkesi (Ceza Hukukunun Güvence Fonksiyonu)</a:t>
            </a:r>
            <a:endParaRPr lang="tr-TR" dirty="0" smtClean="0">
              <a:effectLst>
                <a:outerShdw blurRad="38100" dist="38100" dir="2700000" algn="tl">
                  <a:srgbClr val="000000">
                    <a:alpha val="43137"/>
                  </a:srgbClr>
                </a:outerShdw>
              </a:effectLst>
            </a:endParaRPr>
          </a:p>
          <a:p>
            <a:pPr algn="l"/>
            <a:r>
              <a:rPr lang="tr-TR" dirty="0" smtClean="0">
                <a:effectLst>
                  <a:outerShdw blurRad="38100" dist="38100" dir="2700000" algn="tl">
                    <a:srgbClr val="000000">
                      <a:alpha val="43137"/>
                    </a:srgbClr>
                  </a:outerShdw>
                </a:effectLst>
              </a:rPr>
              <a:t>	</a:t>
            </a:r>
            <a:endParaRPr lang="tr-TR" dirty="0">
              <a:effectLst>
                <a:outerShdw blurRad="38100" dist="38100" dir="2700000" algn="tl">
                  <a:srgbClr val="000000">
                    <a:alpha val="43137"/>
                  </a:srgbClr>
                </a:outerShdw>
              </a:effectLst>
            </a:endParaRPr>
          </a:p>
        </p:txBody>
      </p:sp>
      <p:sp>
        <p:nvSpPr>
          <p:cNvPr id="15" name="Metin kutusu 14"/>
          <p:cNvSpPr txBox="1"/>
          <p:nvPr/>
        </p:nvSpPr>
        <p:spPr>
          <a:xfrm>
            <a:off x="1367693" y="3032604"/>
            <a:ext cx="9089292" cy="369332"/>
          </a:xfrm>
          <a:prstGeom prst="rect">
            <a:avLst/>
          </a:prstGeom>
          <a:noFill/>
        </p:spPr>
        <p:txBody>
          <a:bodyPr wrap="square" rtlCol="0">
            <a:spAutoFit/>
          </a:bodyPr>
          <a:lstStyle/>
          <a:p>
            <a:r>
              <a:rPr lang="tr-TR" b="1" dirty="0"/>
              <a:t>Ceza Hukukunun Güvence Fonksiyonu</a:t>
            </a:r>
            <a:endParaRPr lang="tr-TR" b="1" dirty="0" smtClean="0"/>
          </a:p>
        </p:txBody>
      </p:sp>
      <p:sp>
        <p:nvSpPr>
          <p:cNvPr id="7" name="Metin kutusu 6"/>
          <p:cNvSpPr txBox="1"/>
          <p:nvPr/>
        </p:nvSpPr>
        <p:spPr>
          <a:xfrm>
            <a:off x="1367692" y="3474004"/>
            <a:ext cx="9089292" cy="369332"/>
          </a:xfrm>
          <a:prstGeom prst="rect">
            <a:avLst/>
          </a:prstGeom>
          <a:noFill/>
        </p:spPr>
        <p:txBody>
          <a:bodyPr wrap="square" rtlCol="0">
            <a:spAutoFit/>
          </a:bodyPr>
          <a:lstStyle/>
          <a:p>
            <a:r>
              <a:rPr lang="tr-TR" b="1" dirty="0"/>
              <a:t>F</a:t>
            </a:r>
            <a:r>
              <a:rPr lang="tr-TR" b="1" dirty="0" smtClean="0"/>
              <a:t>iilin suç olup olmadığı hakkında </a:t>
            </a:r>
            <a:r>
              <a:rPr lang="tr-TR" b="1" smtClean="0"/>
              <a:t>sadece Kanunlara </a:t>
            </a:r>
            <a:r>
              <a:rPr lang="tr-TR" b="1" dirty="0" smtClean="0"/>
              <a:t>bakılacak</a:t>
            </a:r>
          </a:p>
        </p:txBody>
      </p:sp>
      <p:sp>
        <p:nvSpPr>
          <p:cNvPr id="8" name="Metin kutusu 7"/>
          <p:cNvSpPr txBox="1"/>
          <p:nvPr/>
        </p:nvSpPr>
        <p:spPr>
          <a:xfrm>
            <a:off x="1395047" y="3939685"/>
            <a:ext cx="9089292" cy="369332"/>
          </a:xfrm>
          <a:prstGeom prst="rect">
            <a:avLst/>
          </a:prstGeom>
          <a:noFill/>
        </p:spPr>
        <p:txBody>
          <a:bodyPr wrap="square" rtlCol="0">
            <a:spAutoFit/>
          </a:bodyPr>
          <a:lstStyle/>
          <a:p>
            <a:r>
              <a:rPr lang="tr-TR" b="1" dirty="0" smtClean="0"/>
              <a:t>Suçta Kanunilik-Cezada Kanunilik</a:t>
            </a:r>
          </a:p>
        </p:txBody>
      </p:sp>
      <p:sp>
        <p:nvSpPr>
          <p:cNvPr id="9" name="Metin kutusu 8"/>
          <p:cNvSpPr txBox="1"/>
          <p:nvPr/>
        </p:nvSpPr>
        <p:spPr>
          <a:xfrm>
            <a:off x="1367692" y="4521636"/>
            <a:ext cx="9089292" cy="369332"/>
          </a:xfrm>
          <a:prstGeom prst="rect">
            <a:avLst/>
          </a:prstGeom>
          <a:noFill/>
        </p:spPr>
        <p:txBody>
          <a:bodyPr wrap="square" rtlCol="0">
            <a:spAutoFit/>
          </a:bodyPr>
          <a:lstStyle/>
          <a:p>
            <a:r>
              <a:rPr lang="tr-TR" b="1" dirty="0" smtClean="0"/>
              <a:t>Bu ilkenin sonuçları;</a:t>
            </a:r>
          </a:p>
        </p:txBody>
      </p:sp>
      <p:sp>
        <p:nvSpPr>
          <p:cNvPr id="10" name="Metin kutusu 9"/>
          <p:cNvSpPr txBox="1"/>
          <p:nvPr/>
        </p:nvSpPr>
        <p:spPr>
          <a:xfrm>
            <a:off x="1926492" y="4890968"/>
            <a:ext cx="9089292" cy="338554"/>
          </a:xfrm>
          <a:prstGeom prst="rect">
            <a:avLst/>
          </a:prstGeom>
          <a:noFill/>
        </p:spPr>
        <p:txBody>
          <a:bodyPr wrap="square" rtlCol="0">
            <a:spAutoFit/>
          </a:bodyPr>
          <a:lstStyle/>
          <a:p>
            <a:r>
              <a:rPr lang="tr-TR" sz="1600" dirty="0" smtClean="0"/>
              <a:t>Belirlilik – Açık ve net olarak belirlilik</a:t>
            </a:r>
          </a:p>
        </p:txBody>
      </p:sp>
      <p:sp>
        <p:nvSpPr>
          <p:cNvPr id="11" name="Metin kutusu 10"/>
          <p:cNvSpPr txBox="1"/>
          <p:nvPr/>
        </p:nvSpPr>
        <p:spPr>
          <a:xfrm>
            <a:off x="1926492" y="5242686"/>
            <a:ext cx="9089292" cy="338554"/>
          </a:xfrm>
          <a:prstGeom prst="rect">
            <a:avLst/>
          </a:prstGeom>
          <a:noFill/>
        </p:spPr>
        <p:txBody>
          <a:bodyPr wrap="square" rtlCol="0">
            <a:spAutoFit/>
          </a:bodyPr>
          <a:lstStyle/>
          <a:p>
            <a:r>
              <a:rPr lang="tr-TR" sz="1600" dirty="0" smtClean="0"/>
              <a:t>İdarenin düzenleyici işlemleriyle suç ve ceza konulması yasağı</a:t>
            </a:r>
          </a:p>
        </p:txBody>
      </p:sp>
      <p:sp>
        <p:nvSpPr>
          <p:cNvPr id="12" name="Metin kutusu 11"/>
          <p:cNvSpPr txBox="1"/>
          <p:nvPr/>
        </p:nvSpPr>
        <p:spPr>
          <a:xfrm>
            <a:off x="1926492" y="5576967"/>
            <a:ext cx="9089292" cy="338554"/>
          </a:xfrm>
          <a:prstGeom prst="rect">
            <a:avLst/>
          </a:prstGeom>
          <a:noFill/>
        </p:spPr>
        <p:txBody>
          <a:bodyPr wrap="square" rtlCol="0">
            <a:spAutoFit/>
          </a:bodyPr>
          <a:lstStyle/>
          <a:p>
            <a:r>
              <a:rPr lang="tr-TR" sz="1600" dirty="0" smtClean="0"/>
              <a:t>Örf ve adetle suç ihdası yasağı</a:t>
            </a:r>
          </a:p>
        </p:txBody>
      </p:sp>
      <p:sp>
        <p:nvSpPr>
          <p:cNvPr id="13" name="Metin kutusu 12"/>
          <p:cNvSpPr txBox="1"/>
          <p:nvPr/>
        </p:nvSpPr>
        <p:spPr>
          <a:xfrm>
            <a:off x="1926492" y="5911248"/>
            <a:ext cx="9089292" cy="338554"/>
          </a:xfrm>
          <a:prstGeom prst="rect">
            <a:avLst/>
          </a:prstGeom>
          <a:noFill/>
        </p:spPr>
        <p:txBody>
          <a:bodyPr wrap="square" rtlCol="0">
            <a:spAutoFit/>
          </a:bodyPr>
          <a:lstStyle/>
          <a:p>
            <a:r>
              <a:rPr lang="tr-TR" sz="1600" dirty="0" smtClean="0"/>
              <a:t>Kıyas (Benzetme) yasağı ve yorum </a:t>
            </a:r>
          </a:p>
        </p:txBody>
      </p:sp>
      <p:sp>
        <p:nvSpPr>
          <p:cNvPr id="14"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smtClean="0">
                <a:effectLst>
                  <a:outerShdw blurRad="38100" dist="38100" dir="2700000" algn="tl">
                    <a:srgbClr val="000000">
                      <a:alpha val="43137"/>
                    </a:srgbClr>
                  </a:outerShdw>
                </a:effectLst>
              </a:rPr>
              <a:t>Ceza Hukukunun Amacı, Kaynaklar ve İlkeleri</a:t>
            </a:r>
            <a:endParaRPr lang="tr-TR" sz="2600" b="1" i="1" spc="300">
              <a:effectLst>
                <a:outerShdw blurRad="38100" dist="38100" dir="2700000" algn="tl">
                  <a:srgbClr val="000000">
                    <a:alpha val="43137"/>
                  </a:srgbClr>
                </a:outerShdw>
              </a:effectLst>
            </a:endParaRPr>
          </a:p>
        </p:txBody>
      </p:sp>
      <p:sp>
        <p:nvSpPr>
          <p:cNvPr id="16"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smtClean="0">
                <a:effectLst>
                  <a:outerShdw blurRad="38100" dist="38100" dir="2700000" algn="tl">
                    <a:srgbClr val="000000">
                      <a:alpha val="43137"/>
                    </a:srgbClr>
                  </a:outerShdw>
                </a:effectLst>
              </a:rPr>
              <a:t>İlkeler</a:t>
            </a:r>
          </a:p>
          <a:p>
            <a:pPr algn="l"/>
            <a:r>
              <a:rPr lang="tr-TR" b="1" smtClean="0">
                <a:effectLst>
                  <a:outerShdw blurRad="38100" dist="38100" dir="2700000" algn="tl">
                    <a:srgbClr val="000000">
                      <a:alpha val="43137"/>
                    </a:srgbClr>
                  </a:outerShdw>
                </a:effectLst>
              </a:rPr>
              <a:t>	</a:t>
            </a:r>
            <a:endParaRPr lang="tr-TR" b="1">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20</a:t>
            </a:fld>
            <a:r>
              <a:rPr lang="tr-TR"/>
              <a:t>/116</a:t>
            </a:r>
          </a:p>
        </p:txBody>
      </p:sp>
    </p:spTree>
    <p:extLst>
      <p:ext uri="{BB962C8B-B14F-4D97-AF65-F5344CB8AC3E}">
        <p14:creationId xmlns:p14="http://schemas.microsoft.com/office/powerpoint/2010/main" val="37363548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1367693" y="106363"/>
            <a:ext cx="9144000" cy="901822"/>
          </a:xfrm>
        </p:spPr>
        <p:txBody>
          <a:bodyPr>
            <a:normAutofit fontScale="90000"/>
          </a:bodyPr>
          <a:lstStyle/>
          <a:p>
            <a:r>
              <a:rPr lang="tr-TR" sz="3200" b="1" smtClean="0">
                <a:effectLst>
                  <a:outerShdw blurRad="38100" dist="38100" dir="2700000" algn="tl">
                    <a:srgbClr val="000000">
                      <a:alpha val="43137"/>
                    </a:srgbClr>
                  </a:outerShdw>
                </a:effectLst>
              </a:rPr>
              <a:t/>
            </a:r>
            <a:br>
              <a:rPr lang="tr-TR" sz="3200" b="1" smtClean="0">
                <a:effectLst>
                  <a:outerShdw blurRad="38100" dist="38100" dir="2700000" algn="tl">
                    <a:srgbClr val="000000">
                      <a:alpha val="43137"/>
                    </a:srgbClr>
                  </a:outerShdw>
                </a:effectLst>
              </a:rPr>
            </a:br>
            <a:r>
              <a:rPr lang="tr-TR" sz="3200" b="1" i="1" spc="300" smtClean="0">
                <a:effectLst>
                  <a:outerShdw blurRad="38100" dist="38100" dir="2700000" algn="tl">
                    <a:srgbClr val="000000">
                      <a:alpha val="43137"/>
                    </a:srgbClr>
                  </a:outerShdw>
                </a:effectLst>
              </a:rPr>
              <a:t>Suçun Unsurları (Tipiklik) </a:t>
            </a:r>
            <a:endParaRPr lang="tr-TR" sz="3200" b="1" i="1" spc="300" dirty="0">
              <a:effectLst>
                <a:outerShdw blurRad="38100" dist="38100" dir="2700000" algn="tl">
                  <a:srgbClr val="000000">
                    <a:alpha val="43137"/>
                  </a:srgbClr>
                </a:outerShdw>
              </a:effectLst>
            </a:endParaRPr>
          </a:p>
        </p:txBody>
      </p:sp>
      <p:sp>
        <p:nvSpPr>
          <p:cNvPr id="3" name="Alt Başlık 2"/>
          <p:cNvSpPr>
            <a:spLocks noGrp="1"/>
          </p:cNvSpPr>
          <p:nvPr>
            <p:ph type="subTitle" idx="1"/>
          </p:nvPr>
        </p:nvSpPr>
        <p:spPr>
          <a:xfrm>
            <a:off x="1367693" y="2547366"/>
            <a:ext cx="9144000" cy="970267"/>
          </a:xfrm>
        </p:spPr>
        <p:txBody>
          <a:bodyPr/>
          <a:lstStyle/>
          <a:p>
            <a:pPr marL="342900" indent="-342900" algn="l">
              <a:buFont typeface="Arial" panose="020B0604020202020204" pitchFamily="34" charset="0"/>
              <a:buChar char="•"/>
            </a:pPr>
            <a:r>
              <a:rPr lang="tr-TR" dirty="0" smtClean="0"/>
              <a:t>Bir fiilin suç sayılması için kanunda açıkça öngörülmesi</a:t>
            </a:r>
          </a:p>
          <a:p>
            <a:pPr algn="l"/>
            <a:r>
              <a:rPr lang="tr-TR" dirty="0"/>
              <a:t>	</a:t>
            </a:r>
            <a:r>
              <a:rPr lang="tr-TR" dirty="0" smtClean="0"/>
              <a:t>	</a:t>
            </a:r>
            <a:r>
              <a:rPr lang="tr-TR" sz="2000" b="1" i="1" dirty="0" smtClean="0">
                <a:effectLst>
                  <a:outerShdw blurRad="38100" dist="38100" dir="2700000" algn="tl">
                    <a:srgbClr val="000000">
                      <a:alpha val="43137"/>
                    </a:srgbClr>
                  </a:outerShdw>
                </a:effectLst>
              </a:rPr>
              <a:t>Kanunilik</a:t>
            </a:r>
            <a:endParaRPr lang="tr-TR" sz="2000" b="1" i="1" dirty="0">
              <a:effectLst>
                <a:outerShdw blurRad="38100" dist="38100" dir="2700000" algn="tl">
                  <a:srgbClr val="000000">
                    <a:alpha val="43137"/>
                  </a:srgbClr>
                </a:outerShdw>
              </a:effectLst>
            </a:endParaRPr>
          </a:p>
        </p:txBody>
      </p:sp>
      <p:sp>
        <p:nvSpPr>
          <p:cNvPr id="5" name="Alt Başlık 2"/>
          <p:cNvSpPr txBox="1">
            <a:spLocks/>
          </p:cNvSpPr>
          <p:nvPr/>
        </p:nvSpPr>
        <p:spPr>
          <a:xfrm>
            <a:off x="1367693" y="1389918"/>
            <a:ext cx="9144000" cy="147759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dirty="0" smtClean="0"/>
              <a:t>Suç kavramı </a:t>
            </a:r>
            <a:r>
              <a:rPr lang="tr-TR" u="sng" dirty="0" smtClean="0"/>
              <a:t>fail değil</a:t>
            </a:r>
            <a:r>
              <a:rPr lang="tr-TR" dirty="0" smtClean="0"/>
              <a:t>, </a:t>
            </a:r>
            <a:r>
              <a:rPr lang="tr-TR" u="sng" dirty="0" smtClean="0"/>
              <a:t>fiil esas alınarak </a:t>
            </a:r>
            <a:r>
              <a:rPr lang="tr-TR" dirty="0" smtClean="0"/>
              <a:t>açıklanmalıdır</a:t>
            </a:r>
          </a:p>
          <a:p>
            <a:pPr algn="l"/>
            <a:r>
              <a:rPr lang="tr-TR" dirty="0" smtClean="0"/>
              <a:t>	</a:t>
            </a:r>
            <a:r>
              <a:rPr lang="tr-TR" sz="2000" b="1" i="1" dirty="0" smtClean="0">
                <a:effectLst>
                  <a:outerShdw blurRad="38100" dist="38100" dir="2700000" algn="tl">
                    <a:srgbClr val="000000">
                      <a:alpha val="43137"/>
                    </a:srgbClr>
                  </a:outerShdw>
                </a:effectLst>
              </a:rPr>
              <a:t>Fail Ceza Hukuku değil, Fiil Ceza Hukuku</a:t>
            </a:r>
            <a:r>
              <a:rPr lang="tr-TR" dirty="0" smtClean="0"/>
              <a:t> </a:t>
            </a:r>
            <a:endParaRPr lang="tr-TR" dirty="0"/>
          </a:p>
        </p:txBody>
      </p:sp>
      <p:sp>
        <p:nvSpPr>
          <p:cNvPr id="6" name="Alt Başlık 2"/>
          <p:cNvSpPr txBox="1">
            <a:spLocks/>
          </p:cNvSpPr>
          <p:nvPr/>
        </p:nvSpPr>
        <p:spPr>
          <a:xfrm>
            <a:off x="1367693" y="3715850"/>
            <a:ext cx="9144000" cy="5479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b="1" dirty="0" smtClean="0"/>
              <a:t>Suç</a:t>
            </a:r>
            <a:r>
              <a:rPr lang="tr-TR" dirty="0" smtClean="0"/>
              <a:t> = Hukuka aykırılık </a:t>
            </a:r>
            <a:r>
              <a:rPr lang="tr-TR" b="1" dirty="0" smtClean="0"/>
              <a:t>+</a:t>
            </a:r>
            <a:r>
              <a:rPr lang="tr-TR" dirty="0" smtClean="0"/>
              <a:t> Tipiklik</a:t>
            </a:r>
            <a:endParaRPr lang="tr-TR" dirty="0"/>
          </a:p>
        </p:txBody>
      </p:sp>
      <p:sp>
        <p:nvSpPr>
          <p:cNvPr id="7" name="Alt Başlık 2"/>
          <p:cNvSpPr txBox="1">
            <a:spLocks/>
          </p:cNvSpPr>
          <p:nvPr/>
        </p:nvSpPr>
        <p:spPr>
          <a:xfrm>
            <a:off x="1367693" y="4389060"/>
            <a:ext cx="10584162" cy="54793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b="1" dirty="0" smtClean="0"/>
              <a:t>Tipiklik</a:t>
            </a:r>
            <a:r>
              <a:rPr lang="tr-TR" dirty="0" smtClean="0"/>
              <a:t>: Fiilin, kanunda düzenlenen suç tiplerinden birinin tanımına uygun olması  </a:t>
            </a:r>
            <a:endParaRPr lang="tr-TR" dirty="0"/>
          </a:p>
        </p:txBody>
      </p:sp>
      <p:sp>
        <p:nvSpPr>
          <p:cNvPr id="8" name="Alt Başlık 2"/>
          <p:cNvSpPr txBox="1">
            <a:spLocks/>
          </p:cNvSpPr>
          <p:nvPr/>
        </p:nvSpPr>
        <p:spPr>
          <a:xfrm>
            <a:off x="1367693" y="5062270"/>
            <a:ext cx="9752889" cy="5479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b="1" dirty="0" smtClean="0"/>
              <a:t>Tipiklik </a:t>
            </a:r>
            <a:r>
              <a:rPr lang="tr-TR" dirty="0" smtClean="0"/>
              <a:t>= Objektif (Maddi) Unsurlar +</a:t>
            </a:r>
            <a:r>
              <a:rPr lang="tr-TR" dirty="0" smtClean="0">
                <a:solidFill>
                  <a:srgbClr val="FF0000"/>
                </a:solidFill>
              </a:rPr>
              <a:t> </a:t>
            </a:r>
            <a:r>
              <a:rPr lang="tr-TR" dirty="0" err="1" smtClean="0"/>
              <a:t>Subjektif</a:t>
            </a:r>
            <a:r>
              <a:rPr lang="tr-TR" dirty="0" smtClean="0"/>
              <a:t> (Manevi) Unsurlar</a:t>
            </a:r>
            <a:endParaRPr lang="tr-TR" dirty="0"/>
          </a:p>
        </p:txBody>
      </p:sp>
      <p:sp>
        <p:nvSpPr>
          <p:cNvPr id="9" name="Alt Başlık 2"/>
          <p:cNvSpPr txBox="1">
            <a:spLocks/>
          </p:cNvSpPr>
          <p:nvPr/>
        </p:nvSpPr>
        <p:spPr>
          <a:xfrm>
            <a:off x="2301143" y="4115094"/>
            <a:ext cx="9144000" cy="5479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1100" dirty="0" smtClean="0"/>
              <a:t>	Hukuka aykırılık=olayda hukuka uygunluk nedeninin bulunmaması (5237 s. TCK 24-26)</a:t>
            </a:r>
            <a:endParaRPr lang="tr-TR" sz="1100" dirty="0"/>
          </a:p>
        </p:txBody>
      </p:sp>
      <p:sp>
        <p:nvSpPr>
          <p:cNvPr id="10" name="Slayt Numarası Yer Tutucusu 9"/>
          <p:cNvSpPr>
            <a:spLocks noGrp="1"/>
          </p:cNvSpPr>
          <p:nvPr>
            <p:ph type="sldNum" sz="quarter" idx="12"/>
          </p:nvPr>
        </p:nvSpPr>
        <p:spPr/>
        <p:txBody>
          <a:bodyPr/>
          <a:lstStyle/>
          <a:p>
            <a:fld id="{39F9BA00-44CD-41D4-A3D8-F864C744DC1F}" type="slidenum">
              <a:rPr lang="tr-TR" smtClean="0"/>
              <a:t>21</a:t>
            </a:fld>
            <a:r>
              <a:rPr lang="tr-TR"/>
              <a:t>/116</a:t>
            </a:r>
          </a:p>
        </p:txBody>
      </p:sp>
    </p:spTree>
    <p:extLst>
      <p:ext uri="{BB962C8B-B14F-4D97-AF65-F5344CB8AC3E}">
        <p14:creationId xmlns:p14="http://schemas.microsoft.com/office/powerpoint/2010/main" val="37634956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lt Başlık 2"/>
          <p:cNvSpPr txBox="1">
            <a:spLocks/>
          </p:cNvSpPr>
          <p:nvPr/>
        </p:nvSpPr>
        <p:spPr>
          <a:xfrm>
            <a:off x="1219555" y="1283494"/>
            <a:ext cx="9752889" cy="5479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b="1" dirty="0" smtClean="0"/>
              <a:t>Tipiklik </a:t>
            </a:r>
            <a:r>
              <a:rPr lang="tr-TR" dirty="0" smtClean="0"/>
              <a:t>= Objektif (Maddi) Unsurlar +</a:t>
            </a:r>
            <a:r>
              <a:rPr lang="tr-TR" dirty="0" smtClean="0">
                <a:solidFill>
                  <a:srgbClr val="FF0000"/>
                </a:solidFill>
              </a:rPr>
              <a:t> </a:t>
            </a:r>
            <a:r>
              <a:rPr lang="tr-TR" dirty="0" err="1" smtClean="0"/>
              <a:t>Subjektif</a:t>
            </a:r>
            <a:r>
              <a:rPr lang="tr-TR" dirty="0" smtClean="0"/>
              <a:t> (Manevi) Unsurlar</a:t>
            </a:r>
            <a:endParaRPr lang="tr-TR" dirty="0"/>
          </a:p>
        </p:txBody>
      </p:sp>
      <p:sp>
        <p:nvSpPr>
          <p:cNvPr id="10" name="Metin kutusu 9"/>
          <p:cNvSpPr txBox="1"/>
          <p:nvPr/>
        </p:nvSpPr>
        <p:spPr>
          <a:xfrm flipH="1">
            <a:off x="2715740" y="2404340"/>
            <a:ext cx="3223953" cy="2308324"/>
          </a:xfrm>
          <a:prstGeom prst="rect">
            <a:avLst/>
          </a:prstGeom>
          <a:noFill/>
        </p:spPr>
        <p:txBody>
          <a:bodyPr wrap="square" rtlCol="0">
            <a:spAutoFit/>
          </a:bodyPr>
          <a:lstStyle/>
          <a:p>
            <a:pPr marL="285750" indent="-285750">
              <a:buFont typeface="Arial" panose="020B0604020202020204" pitchFamily="34" charset="0"/>
              <a:buChar char="•"/>
            </a:pPr>
            <a:r>
              <a:rPr lang="tr-TR" dirty="0" smtClean="0"/>
              <a:t>Fail</a:t>
            </a:r>
          </a:p>
          <a:p>
            <a:pPr marL="285750" indent="-285750">
              <a:buFont typeface="Arial" panose="020B0604020202020204" pitchFamily="34" charset="0"/>
              <a:buChar char="•"/>
            </a:pPr>
            <a:r>
              <a:rPr lang="tr-TR" dirty="0" smtClean="0"/>
              <a:t>Mağdur</a:t>
            </a:r>
          </a:p>
          <a:p>
            <a:pPr marL="285750" indent="-285750">
              <a:buFont typeface="Arial" panose="020B0604020202020204" pitchFamily="34" charset="0"/>
              <a:buChar char="•"/>
            </a:pPr>
            <a:r>
              <a:rPr lang="tr-TR" dirty="0" smtClean="0"/>
              <a:t>Suçun Konusu</a:t>
            </a:r>
          </a:p>
          <a:p>
            <a:pPr marL="285750" indent="-285750">
              <a:buFont typeface="Arial" panose="020B0604020202020204" pitchFamily="34" charset="0"/>
              <a:buChar char="•"/>
            </a:pPr>
            <a:r>
              <a:rPr lang="tr-TR" dirty="0" smtClean="0"/>
              <a:t>Fiil (Hareket-Davranış)</a:t>
            </a:r>
          </a:p>
          <a:p>
            <a:pPr marL="285750" indent="-285750">
              <a:buFont typeface="Arial" panose="020B0604020202020204" pitchFamily="34" charset="0"/>
              <a:buChar char="•"/>
            </a:pPr>
            <a:r>
              <a:rPr lang="tr-TR" dirty="0" smtClean="0"/>
              <a:t>Netice</a:t>
            </a:r>
          </a:p>
          <a:p>
            <a:pPr marL="285750" indent="-285750">
              <a:buFont typeface="Arial" panose="020B0604020202020204" pitchFamily="34" charset="0"/>
              <a:buChar char="•"/>
            </a:pPr>
            <a:r>
              <a:rPr lang="tr-TR" dirty="0" smtClean="0"/>
              <a:t>Nedensellik (İlliyet) Bağı ve Objektif </a:t>
            </a:r>
            <a:r>
              <a:rPr lang="tr-TR" dirty="0" err="1" smtClean="0"/>
              <a:t>İsnadiyet</a:t>
            </a:r>
            <a:endParaRPr lang="tr-TR" dirty="0" smtClean="0"/>
          </a:p>
          <a:p>
            <a:pPr marL="285750" indent="-285750">
              <a:buFont typeface="Arial" panose="020B0604020202020204" pitchFamily="34" charset="0"/>
              <a:buChar char="•"/>
            </a:pPr>
            <a:r>
              <a:rPr lang="tr-TR" dirty="0" smtClean="0"/>
              <a:t>Suçun Nitelikli Halleri</a:t>
            </a:r>
            <a:endParaRPr lang="fr-FR" dirty="0"/>
          </a:p>
        </p:txBody>
      </p:sp>
      <p:sp>
        <p:nvSpPr>
          <p:cNvPr id="11" name="Metin kutusu 10"/>
          <p:cNvSpPr txBox="1"/>
          <p:nvPr/>
        </p:nvSpPr>
        <p:spPr>
          <a:xfrm>
            <a:off x="7361382" y="2442440"/>
            <a:ext cx="2050473" cy="646331"/>
          </a:xfrm>
          <a:prstGeom prst="rect">
            <a:avLst/>
          </a:prstGeom>
          <a:noFill/>
        </p:spPr>
        <p:txBody>
          <a:bodyPr wrap="square" rtlCol="0">
            <a:spAutoFit/>
          </a:bodyPr>
          <a:lstStyle/>
          <a:p>
            <a:pPr marL="285750" indent="-285750">
              <a:buFont typeface="Arial" panose="020B0604020202020204" pitchFamily="34" charset="0"/>
              <a:buChar char="•"/>
            </a:pPr>
            <a:r>
              <a:rPr lang="tr-TR" dirty="0" smtClean="0"/>
              <a:t>Kast</a:t>
            </a:r>
          </a:p>
          <a:p>
            <a:pPr marL="285750" indent="-285750">
              <a:buFont typeface="Arial" panose="020B0604020202020204" pitchFamily="34" charset="0"/>
              <a:buChar char="•"/>
            </a:pPr>
            <a:r>
              <a:rPr lang="tr-TR" dirty="0" smtClean="0"/>
              <a:t>Taksir</a:t>
            </a:r>
            <a:endParaRPr lang="fr-FR" dirty="0"/>
          </a:p>
        </p:txBody>
      </p:sp>
      <p:sp>
        <p:nvSpPr>
          <p:cNvPr id="7" name="Alt Başlık 2"/>
          <p:cNvSpPr txBox="1">
            <a:spLocks/>
          </p:cNvSpPr>
          <p:nvPr/>
        </p:nvSpPr>
        <p:spPr>
          <a:xfrm>
            <a:off x="6429375" y="1862967"/>
            <a:ext cx="3733800" cy="547931"/>
          </a:xfrm>
          <a:prstGeom prst="rect">
            <a:avLst/>
          </a:prstGeom>
        </p:spPr>
        <p:txBody>
          <a:bodyPr vert="horz" lIns="91440" tIns="45720" rIns="91440" bIns="45720" rtlCol="0">
            <a:normAutofit/>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tr-TR" sz="1400" b="1" dirty="0" smtClean="0"/>
              <a:t>Fiille fail arasındaki manevi/psişik bağ</a:t>
            </a:r>
            <a:endParaRPr lang="tr-TR" sz="1400" dirty="0"/>
          </a:p>
        </p:txBody>
      </p:sp>
      <p:sp>
        <p:nvSpPr>
          <p:cNvPr id="9" name="Alt Başlık 2"/>
          <p:cNvSpPr txBox="1">
            <a:spLocks/>
          </p:cNvSpPr>
          <p:nvPr/>
        </p:nvSpPr>
        <p:spPr>
          <a:xfrm>
            <a:off x="2695575" y="1862967"/>
            <a:ext cx="3733800" cy="547931"/>
          </a:xfrm>
          <a:prstGeom prst="rect">
            <a:avLst/>
          </a:prstGeom>
        </p:spPr>
        <p:txBody>
          <a:bodyPr vert="horz" lIns="91440" tIns="45720" rIns="91440" bIns="45720" rtlCol="0">
            <a:normAutofit/>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tr-TR" sz="1400" b="1" dirty="0" smtClean="0"/>
              <a:t>Fiilin dış görüntüsünü belirler ve maddi olarak ortaya çıkar</a:t>
            </a:r>
            <a:endParaRPr lang="tr-TR" sz="1400" dirty="0"/>
          </a:p>
        </p:txBody>
      </p:sp>
      <p:sp>
        <p:nvSpPr>
          <p:cNvPr id="13" name="Unvan 1"/>
          <p:cNvSpPr>
            <a:spLocks noGrp="1"/>
          </p:cNvSpPr>
          <p:nvPr>
            <p:ph type="ctrTitle"/>
          </p:nvPr>
        </p:nvSpPr>
        <p:spPr>
          <a:xfrm>
            <a:off x="1367693" y="106363"/>
            <a:ext cx="9144000" cy="901822"/>
          </a:xfrm>
        </p:spPr>
        <p:txBody>
          <a:bodyPr>
            <a:normAutofit fontScale="90000"/>
          </a:bodyPr>
          <a:lstStyle/>
          <a:p>
            <a:r>
              <a:rPr lang="tr-TR" sz="3200" b="1" smtClean="0">
                <a:effectLst>
                  <a:outerShdw blurRad="38100" dist="38100" dir="2700000" algn="tl">
                    <a:srgbClr val="000000">
                      <a:alpha val="43137"/>
                    </a:srgbClr>
                  </a:outerShdw>
                </a:effectLst>
              </a:rPr>
              <a:t/>
            </a:r>
            <a:br>
              <a:rPr lang="tr-TR" sz="3200" b="1" smtClean="0">
                <a:effectLst>
                  <a:outerShdw blurRad="38100" dist="38100" dir="2700000" algn="tl">
                    <a:srgbClr val="000000">
                      <a:alpha val="43137"/>
                    </a:srgbClr>
                  </a:outerShdw>
                </a:effectLst>
              </a:rPr>
            </a:br>
            <a:r>
              <a:rPr lang="tr-TR" sz="3200" b="1" i="1" spc="300" smtClean="0">
                <a:effectLst>
                  <a:outerShdw blurRad="38100" dist="38100" dir="2700000" algn="tl">
                    <a:srgbClr val="000000">
                      <a:alpha val="43137"/>
                    </a:srgbClr>
                  </a:outerShdw>
                </a:effectLst>
              </a:rPr>
              <a:t>Suçun Unsurları (Tipiklik) </a:t>
            </a:r>
            <a:endParaRPr lang="tr-TR" sz="32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22</a:t>
            </a:fld>
            <a:r>
              <a:rPr lang="tr-TR"/>
              <a:t>/116</a:t>
            </a:r>
          </a:p>
        </p:txBody>
      </p:sp>
    </p:spTree>
    <p:extLst>
      <p:ext uri="{BB962C8B-B14F-4D97-AF65-F5344CB8AC3E}">
        <p14:creationId xmlns:p14="http://schemas.microsoft.com/office/powerpoint/2010/main" val="10812292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1367693" y="106363"/>
            <a:ext cx="9144000" cy="901822"/>
          </a:xfrm>
        </p:spPr>
        <p:txBody>
          <a:bodyPr>
            <a:normAutofit/>
          </a:bodyPr>
          <a:lstStyle/>
          <a:p>
            <a:r>
              <a:rPr lang="tr-TR" sz="2900" b="1" i="1" spc="300" smtClean="0">
                <a:effectLst>
                  <a:outerShdw blurRad="38100" dist="38100" dir="2700000" algn="tl">
                    <a:srgbClr val="000000">
                      <a:alpha val="43137"/>
                    </a:srgbClr>
                  </a:outerShdw>
                </a:effectLst>
              </a:rPr>
              <a:t>Suçun Objektif (Maddi) Unsurları </a:t>
            </a:r>
            <a:endParaRPr lang="tr-TR" sz="2900" b="1" i="1" spc="300" dirty="0">
              <a:effectLst>
                <a:outerShdw blurRad="38100" dist="38100" dir="2700000" algn="tl">
                  <a:srgbClr val="000000">
                    <a:alpha val="43137"/>
                  </a:srgbClr>
                </a:outerShdw>
              </a:effectLst>
            </a:endParaRPr>
          </a:p>
        </p:txBody>
      </p:sp>
      <p:sp>
        <p:nvSpPr>
          <p:cNvPr id="8" name="Alt Başlık 2"/>
          <p:cNvSpPr txBox="1">
            <a:spLocks/>
          </p:cNvSpPr>
          <p:nvPr/>
        </p:nvSpPr>
        <p:spPr>
          <a:xfrm>
            <a:off x="1219555" y="1283494"/>
            <a:ext cx="9752889" cy="5479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b="1" dirty="0" smtClean="0"/>
              <a:t>Objektif (Maddi) Unsurlar</a:t>
            </a:r>
            <a:endParaRPr lang="tr-TR" b="1" dirty="0"/>
          </a:p>
        </p:txBody>
      </p:sp>
      <p:sp>
        <p:nvSpPr>
          <p:cNvPr id="10" name="Metin kutusu 9"/>
          <p:cNvSpPr txBox="1"/>
          <p:nvPr/>
        </p:nvSpPr>
        <p:spPr>
          <a:xfrm flipH="1">
            <a:off x="2133849" y="1831425"/>
            <a:ext cx="3223953" cy="461665"/>
          </a:xfrm>
          <a:prstGeom prst="rect">
            <a:avLst/>
          </a:prstGeom>
          <a:noFill/>
        </p:spPr>
        <p:txBody>
          <a:bodyPr wrap="square" rtlCol="0">
            <a:spAutoFit/>
          </a:bodyPr>
          <a:lstStyle/>
          <a:p>
            <a:r>
              <a:rPr lang="tr-TR" sz="2400" b="1" dirty="0" smtClean="0"/>
              <a:t>Fail</a:t>
            </a:r>
            <a:endParaRPr lang="tr-TR" b="1" dirty="0" smtClean="0"/>
          </a:p>
        </p:txBody>
      </p:sp>
      <p:sp>
        <p:nvSpPr>
          <p:cNvPr id="7" name="Metin kutusu 6"/>
          <p:cNvSpPr txBox="1"/>
          <p:nvPr/>
        </p:nvSpPr>
        <p:spPr>
          <a:xfrm flipH="1">
            <a:off x="2133848" y="2379356"/>
            <a:ext cx="5412260" cy="461665"/>
          </a:xfrm>
          <a:prstGeom prst="rect">
            <a:avLst/>
          </a:prstGeom>
          <a:noFill/>
        </p:spPr>
        <p:txBody>
          <a:bodyPr wrap="square" rtlCol="0">
            <a:spAutoFit/>
          </a:bodyPr>
          <a:lstStyle/>
          <a:p>
            <a:r>
              <a:rPr lang="tr-TR" sz="2400" dirty="0"/>
              <a:t> </a:t>
            </a:r>
            <a:r>
              <a:rPr lang="tr-TR" sz="2400" dirty="0" smtClean="0"/>
              <a:t>     Hareketi/davranışı gerçekleştiren kişi</a:t>
            </a:r>
          </a:p>
        </p:txBody>
      </p:sp>
      <p:sp>
        <p:nvSpPr>
          <p:cNvPr id="9" name="Metin kutusu 8"/>
          <p:cNvSpPr txBox="1"/>
          <p:nvPr/>
        </p:nvSpPr>
        <p:spPr>
          <a:xfrm flipH="1">
            <a:off x="2812720" y="3270648"/>
            <a:ext cx="5952587" cy="400110"/>
          </a:xfrm>
          <a:prstGeom prst="rect">
            <a:avLst/>
          </a:prstGeom>
          <a:noFill/>
        </p:spPr>
        <p:txBody>
          <a:bodyPr wrap="square" rtlCol="0">
            <a:spAutoFit/>
          </a:bodyPr>
          <a:lstStyle>
            <a:defPPr>
              <a:defRPr lang="tr-TR"/>
            </a:defPPr>
          </a:lstStyle>
          <a:p>
            <a:pPr marL="285750" indent="-285750">
              <a:buFont typeface="Arial" panose="020B0604020202020204" pitchFamily="34" charset="0"/>
              <a:buChar char="•"/>
            </a:pPr>
            <a:r>
              <a:rPr lang="tr-TR" sz="2000" dirty="0" smtClean="0"/>
              <a:t>Her suçun mutlaka bir faili vardır</a:t>
            </a:r>
            <a:endParaRPr lang="tr-TR" sz="2000" dirty="0"/>
          </a:p>
        </p:txBody>
      </p:sp>
      <p:sp>
        <p:nvSpPr>
          <p:cNvPr id="12" name="Metin kutusu 11"/>
          <p:cNvSpPr txBox="1"/>
          <p:nvPr/>
        </p:nvSpPr>
        <p:spPr>
          <a:xfrm flipH="1">
            <a:off x="2812720" y="3693777"/>
            <a:ext cx="5952587" cy="400110"/>
          </a:xfrm>
          <a:prstGeom prst="rect">
            <a:avLst/>
          </a:prstGeom>
          <a:noFill/>
        </p:spPr>
        <p:txBody>
          <a:bodyPr wrap="square" rtlCol="0">
            <a:spAutoFit/>
          </a:bodyPr>
          <a:lstStyle>
            <a:defPPr>
              <a:defRPr lang="tr-TR"/>
            </a:defPPr>
          </a:lstStyle>
          <a:p>
            <a:pPr marL="285750" indent="-285750">
              <a:buFont typeface="Arial" panose="020B0604020202020204" pitchFamily="34" charset="0"/>
              <a:buChar char="•"/>
            </a:pPr>
            <a:r>
              <a:rPr lang="tr-TR" sz="2000" dirty="0" smtClean="0"/>
              <a:t>Fail ancak bir gerçek kişi olabilir</a:t>
            </a:r>
            <a:endParaRPr lang="tr-TR" sz="2000" dirty="0"/>
          </a:p>
        </p:txBody>
      </p:sp>
      <p:sp>
        <p:nvSpPr>
          <p:cNvPr id="13" name="Metin kutusu 12"/>
          <p:cNvSpPr txBox="1"/>
          <p:nvPr/>
        </p:nvSpPr>
        <p:spPr>
          <a:xfrm flipH="1">
            <a:off x="2812720" y="2889548"/>
            <a:ext cx="5952587" cy="400110"/>
          </a:xfrm>
          <a:prstGeom prst="rect">
            <a:avLst/>
          </a:prstGeom>
          <a:noFill/>
        </p:spPr>
        <p:txBody>
          <a:bodyPr wrap="square" rtlCol="0">
            <a:spAutoFit/>
          </a:bodyPr>
          <a:lstStyle>
            <a:defPPr>
              <a:defRPr lang="tr-TR"/>
            </a:defPPr>
          </a:lstStyle>
          <a:p>
            <a:pPr marL="285750" indent="-285750">
              <a:buFont typeface="Arial" panose="020B0604020202020204" pitchFamily="34" charset="0"/>
              <a:buChar char="•"/>
            </a:pPr>
            <a:r>
              <a:rPr lang="tr-TR" sz="2000" dirty="0" smtClean="0"/>
              <a:t>Fiil ancak bir insan tarafından gerçekleştirilebilir</a:t>
            </a:r>
            <a:endParaRPr lang="tr-TR" sz="2000" dirty="0"/>
          </a:p>
        </p:txBody>
      </p:sp>
      <p:sp>
        <p:nvSpPr>
          <p:cNvPr id="11" name="Metin kutusu 10"/>
          <p:cNvSpPr txBox="1"/>
          <p:nvPr/>
        </p:nvSpPr>
        <p:spPr>
          <a:xfrm flipH="1">
            <a:off x="157267" y="4093887"/>
            <a:ext cx="3223953" cy="2585323"/>
          </a:xfrm>
          <a:prstGeom prst="rect">
            <a:avLst/>
          </a:prstGeom>
          <a:noFill/>
        </p:spPr>
        <p:txBody>
          <a:bodyPr wrap="square" rtlCol="0">
            <a:spAutoFit/>
          </a:bodyPr>
          <a:lstStyle/>
          <a:p>
            <a:r>
              <a:rPr lang="tr-TR" dirty="0" smtClean="0"/>
              <a:t>Objektif (Maddi) Unsurlar</a:t>
            </a:r>
          </a:p>
          <a:p>
            <a:pPr marL="285750" indent="-285750">
              <a:buFont typeface="Arial" panose="020B0604020202020204" pitchFamily="34" charset="0"/>
              <a:buChar char="•"/>
            </a:pPr>
            <a:r>
              <a:rPr lang="tr-TR" b="1" u="sng" dirty="0" smtClean="0">
                <a:effectLst>
                  <a:outerShdw blurRad="38100" dist="38100" dir="2700000" algn="tl">
                    <a:srgbClr val="000000">
                      <a:alpha val="43137"/>
                    </a:srgbClr>
                  </a:outerShdw>
                </a:effectLst>
              </a:rPr>
              <a:t>Fail</a:t>
            </a:r>
          </a:p>
          <a:p>
            <a:pPr marL="285750" indent="-285750">
              <a:buFont typeface="Arial" panose="020B0604020202020204" pitchFamily="34" charset="0"/>
              <a:buChar char="•"/>
            </a:pPr>
            <a:r>
              <a:rPr lang="tr-TR" dirty="0" smtClean="0"/>
              <a:t>Mağdur</a:t>
            </a:r>
          </a:p>
          <a:p>
            <a:pPr marL="285750" indent="-285750">
              <a:buFont typeface="Arial" panose="020B0604020202020204" pitchFamily="34" charset="0"/>
              <a:buChar char="•"/>
            </a:pPr>
            <a:r>
              <a:rPr lang="tr-TR" dirty="0" smtClean="0"/>
              <a:t>Suçun Konusu</a:t>
            </a:r>
          </a:p>
          <a:p>
            <a:pPr marL="285750" indent="-285750">
              <a:buFont typeface="Arial" panose="020B0604020202020204" pitchFamily="34" charset="0"/>
              <a:buChar char="•"/>
            </a:pPr>
            <a:r>
              <a:rPr lang="tr-TR" dirty="0" smtClean="0"/>
              <a:t>Fiil (Hareket-Davranış)</a:t>
            </a:r>
          </a:p>
          <a:p>
            <a:pPr marL="285750" indent="-285750">
              <a:buFont typeface="Arial" panose="020B0604020202020204" pitchFamily="34" charset="0"/>
              <a:buChar char="•"/>
            </a:pPr>
            <a:r>
              <a:rPr lang="tr-TR" dirty="0" smtClean="0"/>
              <a:t>Netice</a:t>
            </a:r>
          </a:p>
          <a:p>
            <a:pPr marL="285750" indent="-285750">
              <a:buFont typeface="Arial" panose="020B0604020202020204" pitchFamily="34" charset="0"/>
              <a:buChar char="•"/>
            </a:pPr>
            <a:r>
              <a:rPr lang="tr-TR" dirty="0" smtClean="0"/>
              <a:t>Nedensellik (İlliyet) Bağı ve Objektif </a:t>
            </a:r>
            <a:r>
              <a:rPr lang="tr-TR" dirty="0" err="1" smtClean="0"/>
              <a:t>İsnadiyet</a:t>
            </a:r>
            <a:endParaRPr lang="tr-TR" dirty="0" smtClean="0"/>
          </a:p>
          <a:p>
            <a:pPr marL="285750" indent="-285750">
              <a:buFont typeface="Arial" panose="020B0604020202020204" pitchFamily="34" charset="0"/>
              <a:buChar char="•"/>
            </a:pPr>
            <a:r>
              <a:rPr lang="tr-TR" dirty="0" smtClean="0"/>
              <a:t>Suçun Nitelikli Halleri</a:t>
            </a:r>
            <a:endParaRPr lang="fr-FR" dirty="0"/>
          </a:p>
        </p:txBody>
      </p:sp>
      <p:sp>
        <p:nvSpPr>
          <p:cNvPr id="14" name="Metin kutusu 13"/>
          <p:cNvSpPr txBox="1"/>
          <p:nvPr/>
        </p:nvSpPr>
        <p:spPr>
          <a:xfrm flipH="1">
            <a:off x="5401213" y="4633204"/>
            <a:ext cx="5952587" cy="707886"/>
          </a:xfrm>
          <a:prstGeom prst="rect">
            <a:avLst/>
          </a:prstGeom>
          <a:noFill/>
        </p:spPr>
        <p:txBody>
          <a:bodyPr wrap="square" rtlCol="0">
            <a:spAutoFit/>
          </a:bodyPr>
          <a:lstStyle>
            <a:defPPr>
              <a:defRPr lang="tr-TR"/>
            </a:defPPr>
          </a:lstStyle>
          <a:p>
            <a:pPr algn="just"/>
            <a:r>
              <a:rPr lang="tr-TR" sz="2000" i="1" dirty="0" smtClean="0"/>
              <a:t>Ceza hukukunda müteselsil sorumluluk yani Kolektif sorumluluk yoktur. Yani ceza sorumluluğu şahsidir.</a:t>
            </a:r>
            <a:endParaRPr lang="tr-TR" sz="2000" i="1" dirty="0"/>
          </a:p>
        </p:txBody>
      </p:sp>
      <p:sp>
        <p:nvSpPr>
          <p:cNvPr id="4" name="Slayt Numarası Yer Tutucusu 3"/>
          <p:cNvSpPr>
            <a:spLocks noGrp="1"/>
          </p:cNvSpPr>
          <p:nvPr>
            <p:ph type="sldNum" sz="quarter" idx="12"/>
          </p:nvPr>
        </p:nvSpPr>
        <p:spPr/>
        <p:txBody>
          <a:bodyPr/>
          <a:lstStyle/>
          <a:p>
            <a:fld id="{39F9BA00-44CD-41D4-A3D8-F864C744DC1F}" type="slidenum">
              <a:rPr lang="tr-TR" smtClean="0"/>
              <a:t>23</a:t>
            </a:fld>
            <a:r>
              <a:rPr lang="tr-TR"/>
              <a:t>/116</a:t>
            </a:r>
          </a:p>
        </p:txBody>
      </p:sp>
    </p:spTree>
    <p:extLst>
      <p:ext uri="{BB962C8B-B14F-4D97-AF65-F5344CB8AC3E}">
        <p14:creationId xmlns:p14="http://schemas.microsoft.com/office/powerpoint/2010/main" val="26619967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lt Başlık 2"/>
          <p:cNvSpPr txBox="1">
            <a:spLocks/>
          </p:cNvSpPr>
          <p:nvPr/>
        </p:nvSpPr>
        <p:spPr>
          <a:xfrm>
            <a:off x="1219555" y="1283494"/>
            <a:ext cx="9752889" cy="5479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b="1" dirty="0" smtClean="0"/>
              <a:t>Objektif (Maddi) Unsurlar</a:t>
            </a:r>
            <a:endParaRPr lang="tr-TR" b="1" dirty="0"/>
          </a:p>
        </p:txBody>
      </p:sp>
      <p:sp>
        <p:nvSpPr>
          <p:cNvPr id="10" name="Metin kutusu 9"/>
          <p:cNvSpPr txBox="1"/>
          <p:nvPr/>
        </p:nvSpPr>
        <p:spPr>
          <a:xfrm flipH="1">
            <a:off x="2133849" y="1831425"/>
            <a:ext cx="3223953" cy="461665"/>
          </a:xfrm>
          <a:prstGeom prst="rect">
            <a:avLst/>
          </a:prstGeom>
          <a:noFill/>
        </p:spPr>
        <p:txBody>
          <a:bodyPr wrap="square" rtlCol="0">
            <a:spAutoFit/>
          </a:bodyPr>
          <a:lstStyle/>
          <a:p>
            <a:r>
              <a:rPr lang="tr-TR" sz="2400" b="1" dirty="0" smtClean="0"/>
              <a:t>Mağdur</a:t>
            </a:r>
            <a:endParaRPr lang="tr-TR" b="1" dirty="0" smtClean="0"/>
          </a:p>
        </p:txBody>
      </p:sp>
      <p:sp>
        <p:nvSpPr>
          <p:cNvPr id="7" name="Metin kutusu 6"/>
          <p:cNvSpPr txBox="1"/>
          <p:nvPr/>
        </p:nvSpPr>
        <p:spPr>
          <a:xfrm flipH="1">
            <a:off x="2133848" y="2379356"/>
            <a:ext cx="5412260" cy="461665"/>
          </a:xfrm>
          <a:prstGeom prst="rect">
            <a:avLst/>
          </a:prstGeom>
          <a:noFill/>
        </p:spPr>
        <p:txBody>
          <a:bodyPr wrap="square" rtlCol="0">
            <a:spAutoFit/>
          </a:bodyPr>
          <a:lstStyle/>
          <a:p>
            <a:r>
              <a:rPr lang="tr-TR" sz="2400" dirty="0" smtClean="0"/>
              <a:t>      Haksızlığa uğramış kişi</a:t>
            </a:r>
          </a:p>
        </p:txBody>
      </p:sp>
      <p:sp>
        <p:nvSpPr>
          <p:cNvPr id="9" name="Metin kutusu 8"/>
          <p:cNvSpPr txBox="1"/>
          <p:nvPr/>
        </p:nvSpPr>
        <p:spPr>
          <a:xfrm flipH="1">
            <a:off x="2812718" y="3716052"/>
            <a:ext cx="7919935" cy="707886"/>
          </a:xfrm>
          <a:prstGeom prst="rect">
            <a:avLst/>
          </a:prstGeom>
          <a:noFill/>
        </p:spPr>
        <p:txBody>
          <a:bodyPr wrap="square" rtlCol="0">
            <a:spAutoFit/>
          </a:bodyPr>
          <a:lstStyle>
            <a:defPPr>
              <a:defRPr lang="tr-TR"/>
            </a:defPPr>
          </a:lstStyle>
          <a:p>
            <a:pPr marL="285750" indent="-285750" algn="just">
              <a:buFont typeface="Arial" panose="020B0604020202020204" pitchFamily="34" charset="0"/>
              <a:buChar char="•"/>
            </a:pPr>
            <a:r>
              <a:rPr lang="tr-TR" sz="2000" dirty="0" smtClean="0"/>
              <a:t>Mağdur </a:t>
            </a:r>
            <a:r>
              <a:rPr lang="tr-TR" sz="2000" u="sng" dirty="0" smtClean="0"/>
              <a:t>belli </a:t>
            </a:r>
            <a:r>
              <a:rPr lang="tr-TR" sz="2000" u="sng" smtClean="0"/>
              <a:t>bir kişi değilse </a:t>
            </a:r>
            <a:r>
              <a:rPr lang="tr-TR" sz="2000" dirty="0" smtClean="0"/>
              <a:t>toplumun tamamı mağdur kabul edilir. </a:t>
            </a:r>
            <a:r>
              <a:rPr lang="tr-TR" sz="2000" dirty="0" smtClean="0">
                <a:effectLst>
                  <a:outerShdw blurRad="38100" dist="38100" dir="2700000" algn="tl">
                    <a:srgbClr val="000000">
                      <a:alpha val="43137"/>
                    </a:srgbClr>
                  </a:outerShdw>
                </a:effectLst>
              </a:rPr>
              <a:t>Geniş anlamada mağdur</a:t>
            </a:r>
            <a:r>
              <a:rPr lang="tr-TR" sz="2000" dirty="0" smtClean="0"/>
              <a:t>: </a:t>
            </a:r>
            <a:r>
              <a:rPr lang="tr-TR" sz="2000" i="1" dirty="0" smtClean="0"/>
              <a:t>Suç işlemek amacıyla örgüt kurma, rüşvet</a:t>
            </a:r>
            <a:endParaRPr lang="tr-TR" sz="2000" i="1" dirty="0"/>
          </a:p>
        </p:txBody>
      </p:sp>
      <p:sp>
        <p:nvSpPr>
          <p:cNvPr id="13" name="Metin kutusu 12"/>
          <p:cNvSpPr txBox="1"/>
          <p:nvPr/>
        </p:nvSpPr>
        <p:spPr>
          <a:xfrm flipH="1">
            <a:off x="2812720" y="2889548"/>
            <a:ext cx="5952587" cy="400110"/>
          </a:xfrm>
          <a:prstGeom prst="rect">
            <a:avLst/>
          </a:prstGeom>
          <a:noFill/>
        </p:spPr>
        <p:txBody>
          <a:bodyPr wrap="square" rtlCol="0">
            <a:spAutoFit/>
          </a:bodyPr>
          <a:lstStyle>
            <a:defPPr>
              <a:defRPr lang="tr-TR"/>
            </a:defPPr>
          </a:lstStyle>
          <a:p>
            <a:pPr marL="285750" indent="-285750">
              <a:buFont typeface="Arial" panose="020B0604020202020204" pitchFamily="34" charset="0"/>
              <a:buChar char="•"/>
            </a:pPr>
            <a:r>
              <a:rPr lang="tr-TR" sz="2000" dirty="0" smtClean="0"/>
              <a:t>Mağduru bulunmayan suç olamaz</a:t>
            </a:r>
            <a:endParaRPr lang="tr-TR" sz="2000" dirty="0"/>
          </a:p>
        </p:txBody>
      </p:sp>
      <p:sp>
        <p:nvSpPr>
          <p:cNvPr id="11" name="Metin kutusu 10"/>
          <p:cNvSpPr txBox="1"/>
          <p:nvPr/>
        </p:nvSpPr>
        <p:spPr>
          <a:xfrm flipH="1">
            <a:off x="2812719" y="3302800"/>
            <a:ext cx="7919935" cy="400110"/>
          </a:xfrm>
          <a:prstGeom prst="rect">
            <a:avLst/>
          </a:prstGeom>
          <a:noFill/>
        </p:spPr>
        <p:txBody>
          <a:bodyPr wrap="square" rtlCol="0">
            <a:spAutoFit/>
          </a:bodyPr>
          <a:lstStyle>
            <a:defPPr>
              <a:defRPr lang="tr-TR"/>
            </a:defPPr>
          </a:lstStyle>
          <a:p>
            <a:pPr marL="285750" indent="-285750" algn="just">
              <a:buFont typeface="Arial" panose="020B0604020202020204" pitchFamily="34" charset="0"/>
              <a:buChar char="•"/>
            </a:pPr>
            <a:r>
              <a:rPr lang="tr-TR" sz="2000" dirty="0" smtClean="0"/>
              <a:t>Mağdur </a:t>
            </a:r>
            <a:r>
              <a:rPr lang="tr-TR" sz="2000" u="sng" dirty="0" smtClean="0"/>
              <a:t>belli bir kişi ise</a:t>
            </a:r>
            <a:r>
              <a:rPr lang="tr-TR" sz="2000" dirty="0" smtClean="0"/>
              <a:t> </a:t>
            </a:r>
            <a:r>
              <a:rPr lang="tr-TR" sz="2000" dirty="0" smtClean="0">
                <a:effectLst>
                  <a:outerShdw blurRad="38100" dist="38100" dir="2700000" algn="tl">
                    <a:srgbClr val="000000">
                      <a:alpha val="43137"/>
                    </a:srgbClr>
                  </a:outerShdw>
                </a:effectLst>
              </a:rPr>
              <a:t>dar anlamda mağdur </a:t>
            </a:r>
            <a:r>
              <a:rPr lang="tr-TR" sz="2000" dirty="0" smtClean="0"/>
              <a:t>: </a:t>
            </a:r>
            <a:r>
              <a:rPr lang="tr-TR" sz="2000" i="1" dirty="0" smtClean="0"/>
              <a:t>Öldürme, yaralama</a:t>
            </a:r>
            <a:endParaRPr lang="tr-TR" sz="2000" i="1" dirty="0"/>
          </a:p>
        </p:txBody>
      </p:sp>
      <p:sp>
        <p:nvSpPr>
          <p:cNvPr id="14" name="Metin kutusu 13"/>
          <p:cNvSpPr txBox="1"/>
          <p:nvPr/>
        </p:nvSpPr>
        <p:spPr>
          <a:xfrm flipH="1">
            <a:off x="157267" y="4093887"/>
            <a:ext cx="3223953" cy="2585323"/>
          </a:xfrm>
          <a:prstGeom prst="rect">
            <a:avLst/>
          </a:prstGeom>
          <a:noFill/>
        </p:spPr>
        <p:txBody>
          <a:bodyPr wrap="square" rtlCol="0">
            <a:spAutoFit/>
          </a:bodyPr>
          <a:lstStyle/>
          <a:p>
            <a:r>
              <a:rPr lang="tr-TR" dirty="0" smtClean="0"/>
              <a:t>Objektif (Maddi) Unsurlar</a:t>
            </a:r>
          </a:p>
          <a:p>
            <a:pPr marL="285750" indent="-285750">
              <a:buFont typeface="Arial" panose="020B0604020202020204" pitchFamily="34" charset="0"/>
              <a:buChar char="•"/>
            </a:pPr>
            <a:r>
              <a:rPr lang="tr-TR" dirty="0"/>
              <a:t>Fail</a:t>
            </a:r>
          </a:p>
          <a:p>
            <a:pPr marL="285750" indent="-285750">
              <a:buFont typeface="Arial" panose="020B0604020202020204" pitchFamily="34" charset="0"/>
              <a:buChar char="•"/>
            </a:pPr>
            <a:r>
              <a:rPr lang="tr-TR" b="1" u="sng" dirty="0">
                <a:effectLst>
                  <a:outerShdw blurRad="38100" dist="38100" dir="2700000" algn="tl">
                    <a:srgbClr val="000000">
                      <a:alpha val="43137"/>
                    </a:srgbClr>
                  </a:outerShdw>
                </a:effectLst>
              </a:rPr>
              <a:t>Mağdur</a:t>
            </a:r>
          </a:p>
          <a:p>
            <a:pPr marL="285750" indent="-285750">
              <a:buFont typeface="Arial" panose="020B0604020202020204" pitchFamily="34" charset="0"/>
              <a:buChar char="•"/>
            </a:pPr>
            <a:r>
              <a:rPr lang="tr-TR" dirty="0" smtClean="0"/>
              <a:t>Suçun Konusu</a:t>
            </a:r>
          </a:p>
          <a:p>
            <a:pPr marL="285750" indent="-285750">
              <a:buFont typeface="Arial" panose="020B0604020202020204" pitchFamily="34" charset="0"/>
              <a:buChar char="•"/>
            </a:pPr>
            <a:r>
              <a:rPr lang="tr-TR" dirty="0" smtClean="0"/>
              <a:t>Fiil (Hareket-Davranış)</a:t>
            </a:r>
          </a:p>
          <a:p>
            <a:pPr marL="285750" indent="-285750">
              <a:buFont typeface="Arial" panose="020B0604020202020204" pitchFamily="34" charset="0"/>
              <a:buChar char="•"/>
            </a:pPr>
            <a:r>
              <a:rPr lang="tr-TR" dirty="0" smtClean="0"/>
              <a:t>Netice</a:t>
            </a:r>
          </a:p>
          <a:p>
            <a:pPr marL="285750" indent="-285750">
              <a:buFont typeface="Arial" panose="020B0604020202020204" pitchFamily="34" charset="0"/>
              <a:buChar char="•"/>
            </a:pPr>
            <a:r>
              <a:rPr lang="tr-TR" dirty="0" smtClean="0"/>
              <a:t>Nedensellik (İlliyet) Bağı ve Objektif </a:t>
            </a:r>
            <a:r>
              <a:rPr lang="tr-TR" dirty="0" err="1" smtClean="0"/>
              <a:t>İsnadiyet</a:t>
            </a:r>
            <a:endParaRPr lang="tr-TR" dirty="0" smtClean="0"/>
          </a:p>
          <a:p>
            <a:pPr marL="285750" indent="-285750">
              <a:buFont typeface="Arial" panose="020B0604020202020204" pitchFamily="34" charset="0"/>
              <a:buChar char="•"/>
            </a:pPr>
            <a:r>
              <a:rPr lang="tr-TR" dirty="0" smtClean="0"/>
              <a:t>Suçun Nitelikli Halleri</a:t>
            </a:r>
            <a:endParaRPr lang="fr-FR" dirty="0"/>
          </a:p>
        </p:txBody>
      </p:sp>
      <p:sp>
        <p:nvSpPr>
          <p:cNvPr id="15" name="Unvan 1"/>
          <p:cNvSpPr>
            <a:spLocks noGrp="1"/>
          </p:cNvSpPr>
          <p:nvPr>
            <p:ph type="ctrTitle"/>
          </p:nvPr>
        </p:nvSpPr>
        <p:spPr>
          <a:xfrm>
            <a:off x="1367693" y="106363"/>
            <a:ext cx="9144000" cy="901822"/>
          </a:xfrm>
        </p:spPr>
        <p:txBody>
          <a:bodyPr>
            <a:normAutofit/>
          </a:bodyPr>
          <a:lstStyle/>
          <a:p>
            <a:r>
              <a:rPr lang="tr-TR" sz="2900" b="1" i="1" spc="300" smtClean="0">
                <a:effectLst>
                  <a:outerShdw blurRad="38100" dist="38100" dir="2700000" algn="tl">
                    <a:srgbClr val="000000">
                      <a:alpha val="43137"/>
                    </a:srgbClr>
                  </a:outerShdw>
                </a:effectLst>
              </a:rPr>
              <a:t>Suçun Objektif (Maddi) Unsurları </a:t>
            </a:r>
            <a:endParaRPr lang="tr-TR" sz="29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24</a:t>
            </a:fld>
            <a:r>
              <a:rPr lang="tr-TR"/>
              <a:t>/116</a:t>
            </a:r>
          </a:p>
        </p:txBody>
      </p:sp>
    </p:spTree>
    <p:extLst>
      <p:ext uri="{BB962C8B-B14F-4D97-AF65-F5344CB8AC3E}">
        <p14:creationId xmlns:p14="http://schemas.microsoft.com/office/powerpoint/2010/main" val="34326638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lt Başlık 2"/>
          <p:cNvSpPr txBox="1">
            <a:spLocks/>
          </p:cNvSpPr>
          <p:nvPr/>
        </p:nvSpPr>
        <p:spPr>
          <a:xfrm>
            <a:off x="1219555" y="1283494"/>
            <a:ext cx="9752889" cy="5479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b="1" dirty="0" smtClean="0"/>
              <a:t>Objektif (Maddi) Unsurlar</a:t>
            </a:r>
            <a:endParaRPr lang="tr-TR" b="1" dirty="0"/>
          </a:p>
        </p:txBody>
      </p:sp>
      <p:sp>
        <p:nvSpPr>
          <p:cNvPr id="10" name="Metin kutusu 9"/>
          <p:cNvSpPr txBox="1"/>
          <p:nvPr/>
        </p:nvSpPr>
        <p:spPr>
          <a:xfrm flipH="1">
            <a:off x="2133849" y="1831425"/>
            <a:ext cx="3223953" cy="461665"/>
          </a:xfrm>
          <a:prstGeom prst="rect">
            <a:avLst/>
          </a:prstGeom>
          <a:noFill/>
        </p:spPr>
        <p:txBody>
          <a:bodyPr wrap="square" rtlCol="0">
            <a:spAutoFit/>
          </a:bodyPr>
          <a:lstStyle/>
          <a:p>
            <a:r>
              <a:rPr lang="tr-TR" sz="2400" b="1" dirty="0" smtClean="0"/>
              <a:t>Suçun Konusu</a:t>
            </a:r>
            <a:endParaRPr lang="tr-TR" b="1" dirty="0" smtClean="0"/>
          </a:p>
        </p:txBody>
      </p:sp>
      <p:sp>
        <p:nvSpPr>
          <p:cNvPr id="7" name="Metin kutusu 6"/>
          <p:cNvSpPr txBox="1"/>
          <p:nvPr/>
        </p:nvSpPr>
        <p:spPr>
          <a:xfrm flipH="1">
            <a:off x="2133848" y="2379356"/>
            <a:ext cx="7813716" cy="461665"/>
          </a:xfrm>
          <a:prstGeom prst="rect">
            <a:avLst/>
          </a:prstGeom>
          <a:noFill/>
        </p:spPr>
        <p:txBody>
          <a:bodyPr wrap="square" rtlCol="0">
            <a:spAutoFit/>
          </a:bodyPr>
          <a:lstStyle/>
          <a:p>
            <a:r>
              <a:rPr lang="tr-TR" sz="2400" dirty="0" smtClean="0"/>
              <a:t>      Fiilin nesnesi, suçun, üzerinde gerçekleştiği eşya, şahıs</a:t>
            </a:r>
          </a:p>
        </p:txBody>
      </p:sp>
      <p:sp>
        <p:nvSpPr>
          <p:cNvPr id="13" name="Metin kutusu 12"/>
          <p:cNvSpPr txBox="1"/>
          <p:nvPr/>
        </p:nvSpPr>
        <p:spPr>
          <a:xfrm flipH="1">
            <a:off x="4918610" y="2809533"/>
            <a:ext cx="6053833" cy="400110"/>
          </a:xfrm>
          <a:prstGeom prst="rect">
            <a:avLst/>
          </a:prstGeom>
          <a:noFill/>
        </p:spPr>
        <p:txBody>
          <a:bodyPr wrap="square" rtlCol="0">
            <a:spAutoFit/>
          </a:bodyPr>
          <a:lstStyle>
            <a:defPPr>
              <a:defRPr lang="tr-TR"/>
            </a:defPPr>
          </a:lstStyle>
          <a:p>
            <a:pPr algn="r"/>
            <a:r>
              <a:rPr lang="tr-TR" sz="2000" i="1" dirty="0" smtClean="0"/>
              <a:t>Yaralama suçunun konusu insan bedenidir</a:t>
            </a:r>
            <a:endParaRPr lang="tr-TR" sz="2000" i="1" dirty="0"/>
          </a:p>
        </p:txBody>
      </p:sp>
      <p:sp>
        <p:nvSpPr>
          <p:cNvPr id="12" name="Metin kutusu 11"/>
          <p:cNvSpPr txBox="1"/>
          <p:nvPr/>
        </p:nvSpPr>
        <p:spPr>
          <a:xfrm flipH="1">
            <a:off x="3399938" y="3830620"/>
            <a:ext cx="3785951" cy="461665"/>
          </a:xfrm>
          <a:prstGeom prst="rect">
            <a:avLst/>
          </a:prstGeom>
          <a:noFill/>
        </p:spPr>
        <p:txBody>
          <a:bodyPr wrap="square" rtlCol="0">
            <a:spAutoFit/>
          </a:bodyPr>
          <a:lstStyle/>
          <a:p>
            <a:r>
              <a:rPr lang="tr-TR" sz="2400" dirty="0" smtClean="0"/>
              <a:t>Zarar </a:t>
            </a:r>
            <a:r>
              <a:rPr lang="tr-TR" sz="2400" smtClean="0"/>
              <a:t>suçları &amp; </a:t>
            </a:r>
            <a:r>
              <a:rPr lang="tr-TR" sz="2400" dirty="0" smtClean="0"/>
              <a:t>Tehlike suçları </a:t>
            </a:r>
          </a:p>
        </p:txBody>
      </p:sp>
      <p:sp>
        <p:nvSpPr>
          <p:cNvPr id="14" name="Metin kutusu 13"/>
          <p:cNvSpPr txBox="1"/>
          <p:nvPr/>
        </p:nvSpPr>
        <p:spPr>
          <a:xfrm flipH="1">
            <a:off x="2286248" y="3362043"/>
            <a:ext cx="7813716" cy="461665"/>
          </a:xfrm>
          <a:prstGeom prst="rect">
            <a:avLst/>
          </a:prstGeom>
          <a:noFill/>
        </p:spPr>
        <p:txBody>
          <a:bodyPr wrap="square" rtlCol="0">
            <a:spAutoFit/>
          </a:bodyPr>
          <a:lstStyle/>
          <a:p>
            <a:r>
              <a:rPr lang="tr-TR" sz="2400" b="1" dirty="0" smtClean="0"/>
              <a:t>Suçun konusu üzerindeki etkisi bakımından;</a:t>
            </a:r>
          </a:p>
        </p:txBody>
      </p:sp>
      <p:sp>
        <p:nvSpPr>
          <p:cNvPr id="15" name="Metin kutusu 14"/>
          <p:cNvSpPr txBox="1"/>
          <p:nvPr/>
        </p:nvSpPr>
        <p:spPr>
          <a:xfrm flipH="1">
            <a:off x="4244587" y="4344730"/>
            <a:ext cx="6626611" cy="646331"/>
          </a:xfrm>
          <a:prstGeom prst="rect">
            <a:avLst/>
          </a:prstGeom>
          <a:noFill/>
        </p:spPr>
        <p:txBody>
          <a:bodyPr wrap="square" rtlCol="0">
            <a:spAutoFit/>
          </a:bodyPr>
          <a:lstStyle/>
          <a:p>
            <a:r>
              <a:rPr lang="tr-TR" b="1" dirty="0" smtClean="0"/>
              <a:t>Zarar suçları</a:t>
            </a:r>
            <a:r>
              <a:rPr lang="tr-TR" dirty="0" smtClean="0"/>
              <a:t>: Suçun oluşması için zarar meydana gelmesi gerekir:    </a:t>
            </a:r>
            <a:r>
              <a:rPr lang="tr-TR" i="1" dirty="0" smtClean="0"/>
              <a:t>Öldürme-yaralama-mala zarar verme</a:t>
            </a:r>
          </a:p>
        </p:txBody>
      </p:sp>
      <p:sp>
        <p:nvSpPr>
          <p:cNvPr id="16" name="Metin kutusu 15"/>
          <p:cNvSpPr txBox="1"/>
          <p:nvPr/>
        </p:nvSpPr>
        <p:spPr>
          <a:xfrm flipH="1">
            <a:off x="4244586" y="5043506"/>
            <a:ext cx="6626611" cy="646331"/>
          </a:xfrm>
          <a:prstGeom prst="rect">
            <a:avLst/>
          </a:prstGeom>
          <a:noFill/>
        </p:spPr>
        <p:txBody>
          <a:bodyPr wrap="square" rtlCol="0">
            <a:spAutoFit/>
          </a:bodyPr>
          <a:lstStyle/>
          <a:p>
            <a:r>
              <a:rPr lang="tr-TR" b="1" dirty="0" smtClean="0"/>
              <a:t>Tehlike suçları</a:t>
            </a:r>
            <a:r>
              <a:rPr lang="tr-TR" dirty="0" smtClean="0"/>
              <a:t>: Suçun oluşması için zarar meydana gelmesi şart değil, zarara uğrama tehlikesi yeterli: </a:t>
            </a:r>
            <a:r>
              <a:rPr lang="tr-TR" i="1" dirty="0" smtClean="0"/>
              <a:t>Suç işlemek amacıyla örgüt kurmak</a:t>
            </a:r>
          </a:p>
        </p:txBody>
      </p:sp>
      <p:sp>
        <p:nvSpPr>
          <p:cNvPr id="17" name="Metin kutusu 16"/>
          <p:cNvSpPr txBox="1"/>
          <p:nvPr/>
        </p:nvSpPr>
        <p:spPr>
          <a:xfrm flipH="1">
            <a:off x="5312331" y="5677864"/>
            <a:ext cx="3929950" cy="369332"/>
          </a:xfrm>
          <a:prstGeom prst="rect">
            <a:avLst/>
          </a:prstGeom>
          <a:noFill/>
        </p:spPr>
        <p:txBody>
          <a:bodyPr wrap="square" rtlCol="0">
            <a:spAutoFit/>
          </a:bodyPr>
          <a:lstStyle/>
          <a:p>
            <a:r>
              <a:rPr lang="tr-TR" dirty="0" smtClean="0"/>
              <a:t>Soyut tehlike suçu - Somut tehlike suçu</a:t>
            </a:r>
          </a:p>
        </p:txBody>
      </p:sp>
      <p:sp>
        <p:nvSpPr>
          <p:cNvPr id="18" name="Metin kutusu 17"/>
          <p:cNvSpPr txBox="1"/>
          <p:nvPr/>
        </p:nvSpPr>
        <p:spPr>
          <a:xfrm flipH="1">
            <a:off x="157267" y="4093887"/>
            <a:ext cx="3223953" cy="2585323"/>
          </a:xfrm>
          <a:prstGeom prst="rect">
            <a:avLst/>
          </a:prstGeom>
          <a:noFill/>
        </p:spPr>
        <p:txBody>
          <a:bodyPr wrap="square" rtlCol="0">
            <a:spAutoFit/>
          </a:bodyPr>
          <a:lstStyle/>
          <a:p>
            <a:r>
              <a:rPr lang="tr-TR" dirty="0" smtClean="0"/>
              <a:t>Objektif (Maddi) Unsurlar</a:t>
            </a:r>
          </a:p>
          <a:p>
            <a:pPr marL="285750" indent="-285750">
              <a:buFont typeface="Arial" panose="020B0604020202020204" pitchFamily="34" charset="0"/>
              <a:buChar char="•"/>
            </a:pPr>
            <a:r>
              <a:rPr lang="tr-TR" dirty="0"/>
              <a:t>Fail</a:t>
            </a:r>
          </a:p>
          <a:p>
            <a:pPr marL="285750" indent="-285750">
              <a:buFont typeface="Arial" panose="020B0604020202020204" pitchFamily="34" charset="0"/>
              <a:buChar char="•"/>
            </a:pPr>
            <a:r>
              <a:rPr lang="tr-TR" dirty="0"/>
              <a:t>Mağdur</a:t>
            </a:r>
          </a:p>
          <a:p>
            <a:pPr marL="285750" indent="-285750">
              <a:buFont typeface="Arial" panose="020B0604020202020204" pitchFamily="34" charset="0"/>
              <a:buChar char="•"/>
            </a:pPr>
            <a:r>
              <a:rPr lang="tr-TR" b="1" u="sng" dirty="0">
                <a:effectLst>
                  <a:outerShdw blurRad="38100" dist="38100" dir="2700000" algn="tl">
                    <a:srgbClr val="000000">
                      <a:alpha val="43137"/>
                    </a:srgbClr>
                  </a:outerShdw>
                </a:effectLst>
              </a:rPr>
              <a:t>Suçun Konusu</a:t>
            </a:r>
          </a:p>
          <a:p>
            <a:pPr marL="285750" indent="-285750">
              <a:buFont typeface="Arial" panose="020B0604020202020204" pitchFamily="34" charset="0"/>
              <a:buChar char="•"/>
            </a:pPr>
            <a:r>
              <a:rPr lang="tr-TR" dirty="0" smtClean="0"/>
              <a:t>Fiil (Hareket-Davranış)</a:t>
            </a:r>
          </a:p>
          <a:p>
            <a:pPr marL="285750" indent="-285750">
              <a:buFont typeface="Arial" panose="020B0604020202020204" pitchFamily="34" charset="0"/>
              <a:buChar char="•"/>
            </a:pPr>
            <a:r>
              <a:rPr lang="tr-TR" dirty="0" smtClean="0"/>
              <a:t>Netice</a:t>
            </a:r>
          </a:p>
          <a:p>
            <a:pPr marL="285750" indent="-285750">
              <a:buFont typeface="Arial" panose="020B0604020202020204" pitchFamily="34" charset="0"/>
              <a:buChar char="•"/>
            </a:pPr>
            <a:r>
              <a:rPr lang="tr-TR" dirty="0" smtClean="0"/>
              <a:t>Nedensellik (İlliyet) Bağı ve Objektif </a:t>
            </a:r>
            <a:r>
              <a:rPr lang="tr-TR" dirty="0" err="1" smtClean="0"/>
              <a:t>İsnadiyet</a:t>
            </a:r>
            <a:endParaRPr lang="tr-TR" dirty="0" smtClean="0"/>
          </a:p>
          <a:p>
            <a:pPr marL="285750" indent="-285750">
              <a:buFont typeface="Arial" panose="020B0604020202020204" pitchFamily="34" charset="0"/>
              <a:buChar char="•"/>
            </a:pPr>
            <a:r>
              <a:rPr lang="tr-TR" dirty="0" smtClean="0"/>
              <a:t>Suçun Nitelikli Halleri</a:t>
            </a:r>
            <a:endParaRPr lang="fr-FR" dirty="0"/>
          </a:p>
        </p:txBody>
      </p:sp>
      <p:sp>
        <p:nvSpPr>
          <p:cNvPr id="19" name="Metin kutusu 18"/>
          <p:cNvSpPr txBox="1"/>
          <p:nvPr/>
        </p:nvSpPr>
        <p:spPr>
          <a:xfrm flipH="1">
            <a:off x="5544970" y="5981460"/>
            <a:ext cx="1640919" cy="261610"/>
          </a:xfrm>
          <a:prstGeom prst="rect">
            <a:avLst/>
          </a:prstGeom>
          <a:noFill/>
        </p:spPr>
        <p:txBody>
          <a:bodyPr wrap="square" rtlCol="0">
            <a:spAutoFit/>
          </a:bodyPr>
          <a:lstStyle/>
          <a:p>
            <a:r>
              <a:rPr lang="tr-TR" sz="1100" dirty="0" smtClean="0"/>
              <a:t>5237 s. Kanun - TERK</a:t>
            </a:r>
          </a:p>
        </p:txBody>
      </p:sp>
      <p:sp>
        <p:nvSpPr>
          <p:cNvPr id="20" name="Metin kutusu 19"/>
          <p:cNvSpPr txBox="1"/>
          <p:nvPr/>
        </p:nvSpPr>
        <p:spPr>
          <a:xfrm flipH="1">
            <a:off x="7163165" y="5969237"/>
            <a:ext cx="3746131" cy="261610"/>
          </a:xfrm>
          <a:prstGeom prst="rect">
            <a:avLst/>
          </a:prstGeom>
          <a:noFill/>
        </p:spPr>
        <p:txBody>
          <a:bodyPr wrap="square" rtlCol="0">
            <a:spAutoFit/>
          </a:bodyPr>
          <a:lstStyle/>
          <a:p>
            <a:r>
              <a:rPr lang="tr-TR" sz="1100" dirty="0" smtClean="0"/>
              <a:t>5237 s. Kanun </a:t>
            </a:r>
            <a:r>
              <a:rPr lang="tr-TR" sz="1100" dirty="0"/>
              <a:t>- Halkı kin ve düşmanlığa tahrik veya aşağılama</a:t>
            </a:r>
            <a:endParaRPr lang="tr-TR" sz="1100" dirty="0" smtClean="0"/>
          </a:p>
        </p:txBody>
      </p:sp>
      <p:sp>
        <p:nvSpPr>
          <p:cNvPr id="21" name="Unvan 1"/>
          <p:cNvSpPr txBox="1">
            <a:spLocks/>
          </p:cNvSpPr>
          <p:nvPr/>
        </p:nvSpPr>
        <p:spPr>
          <a:xfrm>
            <a:off x="1367693" y="106363"/>
            <a:ext cx="9144000" cy="90182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900" b="1" i="1" spc="300" smtClean="0">
                <a:effectLst>
                  <a:outerShdw blurRad="38100" dist="38100" dir="2700000" algn="tl">
                    <a:srgbClr val="000000">
                      <a:alpha val="43137"/>
                    </a:srgbClr>
                  </a:outerShdw>
                </a:effectLst>
              </a:rPr>
              <a:t>Suçun Objektif (Maddi) Unsurları </a:t>
            </a:r>
            <a:endParaRPr lang="tr-TR" sz="29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25</a:t>
            </a:fld>
            <a:r>
              <a:rPr lang="tr-TR"/>
              <a:t>/116</a:t>
            </a:r>
          </a:p>
        </p:txBody>
      </p:sp>
    </p:spTree>
    <p:extLst>
      <p:ext uri="{BB962C8B-B14F-4D97-AF65-F5344CB8AC3E}">
        <p14:creationId xmlns:p14="http://schemas.microsoft.com/office/powerpoint/2010/main" val="134999409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lt Başlık 2"/>
          <p:cNvSpPr txBox="1">
            <a:spLocks/>
          </p:cNvSpPr>
          <p:nvPr/>
        </p:nvSpPr>
        <p:spPr>
          <a:xfrm>
            <a:off x="1219555" y="1283494"/>
            <a:ext cx="9752889" cy="5479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b="1" dirty="0" smtClean="0"/>
              <a:t>Objektif (Maddi) Unsurlar</a:t>
            </a:r>
            <a:endParaRPr lang="tr-TR" b="1" dirty="0"/>
          </a:p>
        </p:txBody>
      </p:sp>
      <p:sp>
        <p:nvSpPr>
          <p:cNvPr id="22" name="Metin kutusu 21"/>
          <p:cNvSpPr txBox="1"/>
          <p:nvPr/>
        </p:nvSpPr>
        <p:spPr>
          <a:xfrm flipH="1">
            <a:off x="2133849" y="1831425"/>
            <a:ext cx="3223953" cy="461665"/>
          </a:xfrm>
          <a:prstGeom prst="rect">
            <a:avLst/>
          </a:prstGeom>
          <a:noFill/>
        </p:spPr>
        <p:txBody>
          <a:bodyPr wrap="square" rtlCol="0">
            <a:spAutoFit/>
          </a:bodyPr>
          <a:lstStyle/>
          <a:p>
            <a:r>
              <a:rPr lang="tr-TR" sz="2400" b="1" dirty="0" smtClean="0"/>
              <a:t>Fiil (Hareket-Davranış)</a:t>
            </a:r>
            <a:endParaRPr lang="tr-TR" b="1" dirty="0" smtClean="0"/>
          </a:p>
        </p:txBody>
      </p:sp>
      <p:sp>
        <p:nvSpPr>
          <p:cNvPr id="23" name="Metin kutusu 22"/>
          <p:cNvSpPr txBox="1"/>
          <p:nvPr/>
        </p:nvSpPr>
        <p:spPr>
          <a:xfrm flipH="1">
            <a:off x="2133847" y="2379356"/>
            <a:ext cx="8451025" cy="461665"/>
          </a:xfrm>
          <a:prstGeom prst="rect">
            <a:avLst/>
          </a:prstGeom>
          <a:noFill/>
        </p:spPr>
        <p:txBody>
          <a:bodyPr wrap="square" rtlCol="0">
            <a:spAutoFit/>
          </a:bodyPr>
          <a:lstStyle/>
          <a:p>
            <a:r>
              <a:rPr lang="tr-TR" sz="2400" dirty="0" smtClean="0"/>
              <a:t>      Dış dünyaya yansıyan </a:t>
            </a:r>
            <a:r>
              <a:rPr lang="tr-TR" sz="2400" b="1" dirty="0" smtClean="0"/>
              <a:t>iradi nitelikli</a:t>
            </a:r>
            <a:r>
              <a:rPr lang="tr-TR" sz="2400" dirty="0" smtClean="0"/>
              <a:t> </a:t>
            </a:r>
            <a:r>
              <a:rPr lang="tr-TR" sz="2400" u="sng" dirty="0" err="1" smtClean="0"/>
              <a:t>icrai</a:t>
            </a:r>
            <a:r>
              <a:rPr lang="tr-TR" sz="2400" dirty="0" smtClean="0"/>
              <a:t> veya </a:t>
            </a:r>
            <a:r>
              <a:rPr lang="tr-TR" sz="2400" u="sng" dirty="0" smtClean="0"/>
              <a:t>ihmali</a:t>
            </a:r>
            <a:r>
              <a:rPr lang="tr-TR" sz="2400" dirty="0" smtClean="0"/>
              <a:t> hareket</a:t>
            </a:r>
          </a:p>
        </p:txBody>
      </p:sp>
      <p:sp>
        <p:nvSpPr>
          <p:cNvPr id="24" name="Metin kutusu 23"/>
          <p:cNvSpPr txBox="1"/>
          <p:nvPr/>
        </p:nvSpPr>
        <p:spPr>
          <a:xfrm flipH="1">
            <a:off x="3332441" y="2927287"/>
            <a:ext cx="7806613" cy="400110"/>
          </a:xfrm>
          <a:prstGeom prst="rect">
            <a:avLst/>
          </a:prstGeom>
          <a:noFill/>
        </p:spPr>
        <p:txBody>
          <a:bodyPr wrap="square" rtlCol="0">
            <a:spAutoFit/>
          </a:bodyPr>
          <a:lstStyle>
            <a:defPPr>
              <a:defRPr lang="tr-TR"/>
            </a:defPPr>
          </a:lstStyle>
          <a:p>
            <a:r>
              <a:rPr lang="tr-TR" sz="2000" i="1" dirty="0" smtClean="0"/>
              <a:t>Tek hareketli suçlar: </a:t>
            </a:r>
            <a:r>
              <a:rPr lang="tr-TR" sz="1200" dirty="0" smtClean="0"/>
              <a:t>Teklik çokluk hukuki anlamdadır.</a:t>
            </a:r>
            <a:r>
              <a:rPr lang="tr-TR" sz="1200" i="1" dirty="0" smtClean="0"/>
              <a:t> Öldürme - Hırsızlık</a:t>
            </a:r>
            <a:endParaRPr lang="tr-TR" sz="1400" i="1" dirty="0"/>
          </a:p>
        </p:txBody>
      </p:sp>
      <p:sp>
        <p:nvSpPr>
          <p:cNvPr id="25" name="Metin kutusu 24"/>
          <p:cNvSpPr txBox="1"/>
          <p:nvPr/>
        </p:nvSpPr>
        <p:spPr>
          <a:xfrm flipH="1">
            <a:off x="3332441" y="3281761"/>
            <a:ext cx="8767194" cy="400110"/>
          </a:xfrm>
          <a:prstGeom prst="rect">
            <a:avLst/>
          </a:prstGeom>
          <a:noFill/>
        </p:spPr>
        <p:txBody>
          <a:bodyPr wrap="square" rtlCol="0">
            <a:spAutoFit/>
          </a:bodyPr>
          <a:lstStyle>
            <a:defPPr>
              <a:defRPr lang="tr-TR"/>
            </a:defPPr>
          </a:lstStyle>
          <a:p>
            <a:pPr algn="just"/>
            <a:r>
              <a:rPr lang="tr-TR" sz="2000" i="1" dirty="0" smtClean="0"/>
              <a:t>Çok (Birden fazla) Hareketli suçlar: </a:t>
            </a:r>
            <a:r>
              <a:rPr lang="tr-TR" sz="1200" dirty="0" smtClean="0"/>
              <a:t>Suçun tanımında birden fazla hareket vardır.</a:t>
            </a:r>
            <a:r>
              <a:rPr lang="tr-TR" sz="1200" i="1" dirty="0" smtClean="0"/>
              <a:t> Yağma = Cebir Şiddet + Hırsızlık</a:t>
            </a:r>
            <a:endParaRPr lang="tr-TR" sz="1200" i="1" dirty="0"/>
          </a:p>
        </p:txBody>
      </p:sp>
      <p:sp>
        <p:nvSpPr>
          <p:cNvPr id="26" name="Metin kutusu 25"/>
          <p:cNvSpPr txBox="1"/>
          <p:nvPr/>
        </p:nvSpPr>
        <p:spPr>
          <a:xfrm flipH="1">
            <a:off x="3332441" y="3681871"/>
            <a:ext cx="8610176" cy="400110"/>
          </a:xfrm>
          <a:prstGeom prst="rect">
            <a:avLst/>
          </a:prstGeom>
          <a:noFill/>
        </p:spPr>
        <p:txBody>
          <a:bodyPr wrap="square" rtlCol="0">
            <a:spAutoFit/>
          </a:bodyPr>
          <a:lstStyle>
            <a:defPPr>
              <a:defRPr lang="tr-TR"/>
            </a:defPPr>
          </a:lstStyle>
          <a:p>
            <a:pPr algn="just"/>
            <a:r>
              <a:rPr lang="tr-TR" sz="2000" i="1" dirty="0" smtClean="0"/>
              <a:t>Serbest Hareketli suçlar: </a:t>
            </a:r>
            <a:r>
              <a:rPr lang="tr-TR" sz="1100" dirty="0" smtClean="0"/>
              <a:t>Suçun tanımında hareketin nasıl olacağı belirlenmemiştir.</a:t>
            </a:r>
            <a:r>
              <a:rPr lang="tr-TR" sz="1100" i="1" dirty="0" smtClean="0"/>
              <a:t> Öldürme tabancayla da bıçakla da yapılabilir</a:t>
            </a:r>
            <a:endParaRPr lang="tr-TR" sz="2000" i="1" dirty="0"/>
          </a:p>
        </p:txBody>
      </p:sp>
      <p:sp>
        <p:nvSpPr>
          <p:cNvPr id="27" name="Metin kutusu 26"/>
          <p:cNvSpPr txBox="1"/>
          <p:nvPr/>
        </p:nvSpPr>
        <p:spPr>
          <a:xfrm flipH="1">
            <a:off x="3332441" y="4081981"/>
            <a:ext cx="8406976" cy="400110"/>
          </a:xfrm>
          <a:prstGeom prst="rect">
            <a:avLst/>
          </a:prstGeom>
          <a:noFill/>
        </p:spPr>
        <p:txBody>
          <a:bodyPr wrap="square" rtlCol="0">
            <a:spAutoFit/>
          </a:bodyPr>
          <a:lstStyle>
            <a:defPPr>
              <a:defRPr lang="tr-TR"/>
            </a:defPPr>
          </a:lstStyle>
          <a:p>
            <a:r>
              <a:rPr lang="tr-TR" sz="2000" i="1" dirty="0" smtClean="0"/>
              <a:t>Bağlı Hareketli suçlar: </a:t>
            </a:r>
            <a:r>
              <a:rPr lang="tr-TR" sz="1200" dirty="0" smtClean="0"/>
              <a:t>Suçun hareketleri kanunda somutlaştırılmıştır:</a:t>
            </a:r>
            <a:r>
              <a:rPr lang="tr-TR" sz="1200" i="1" dirty="0" smtClean="0"/>
              <a:t> Yağma= Cebir şiddet + Hırsızlık</a:t>
            </a:r>
            <a:endParaRPr lang="tr-TR" sz="2000" i="1" dirty="0"/>
          </a:p>
        </p:txBody>
      </p:sp>
      <p:sp>
        <p:nvSpPr>
          <p:cNvPr id="28" name="Metin kutusu 27"/>
          <p:cNvSpPr txBox="1"/>
          <p:nvPr/>
        </p:nvSpPr>
        <p:spPr>
          <a:xfrm flipH="1">
            <a:off x="3332440" y="4436455"/>
            <a:ext cx="8767194" cy="400110"/>
          </a:xfrm>
          <a:prstGeom prst="rect">
            <a:avLst/>
          </a:prstGeom>
          <a:noFill/>
        </p:spPr>
        <p:txBody>
          <a:bodyPr wrap="square" rtlCol="0">
            <a:spAutoFit/>
          </a:bodyPr>
          <a:lstStyle>
            <a:defPPr>
              <a:defRPr lang="tr-TR"/>
            </a:defPPr>
          </a:lstStyle>
          <a:p>
            <a:r>
              <a:rPr lang="tr-TR" sz="2000" i="1" dirty="0" smtClean="0"/>
              <a:t>Seçimlik Hareketli suçlar: </a:t>
            </a:r>
            <a:r>
              <a:rPr lang="tr-TR" sz="1200" dirty="0" smtClean="0"/>
              <a:t>Suçun, Kanunda belirtilen birden fazla alternatif hareketlerden biriyle işlenebileceği belirtilmiştir.</a:t>
            </a:r>
            <a:r>
              <a:rPr lang="tr-TR" sz="2000" i="1" dirty="0" smtClean="0"/>
              <a:t>  </a:t>
            </a:r>
            <a:endParaRPr lang="tr-TR" sz="2000" i="1" dirty="0"/>
          </a:p>
        </p:txBody>
      </p:sp>
      <p:sp>
        <p:nvSpPr>
          <p:cNvPr id="29" name="Metin kutusu 28"/>
          <p:cNvSpPr txBox="1"/>
          <p:nvPr/>
        </p:nvSpPr>
        <p:spPr>
          <a:xfrm flipH="1">
            <a:off x="3332441" y="4836565"/>
            <a:ext cx="8610175" cy="400110"/>
          </a:xfrm>
          <a:prstGeom prst="rect">
            <a:avLst/>
          </a:prstGeom>
          <a:noFill/>
        </p:spPr>
        <p:txBody>
          <a:bodyPr wrap="square" rtlCol="0">
            <a:spAutoFit/>
          </a:bodyPr>
          <a:lstStyle>
            <a:defPPr>
              <a:defRPr lang="tr-TR"/>
            </a:defPPr>
          </a:lstStyle>
          <a:p>
            <a:r>
              <a:rPr lang="tr-TR" sz="2000" i="1" dirty="0" smtClean="0"/>
              <a:t>Kesintisiz (Mütemadi) suçlar: </a:t>
            </a:r>
            <a:r>
              <a:rPr lang="tr-TR" sz="1200" dirty="0" smtClean="0"/>
              <a:t>İhlal fiili belli bir süre devam eder.</a:t>
            </a:r>
            <a:r>
              <a:rPr lang="tr-TR" sz="1200" i="1" dirty="0" smtClean="0"/>
              <a:t> Kişiyi hürriyetinden yoksun bırakma </a:t>
            </a:r>
            <a:endParaRPr lang="tr-TR" sz="2000" i="1" dirty="0"/>
          </a:p>
        </p:txBody>
      </p:sp>
      <p:sp>
        <p:nvSpPr>
          <p:cNvPr id="30" name="Metin kutusu 29"/>
          <p:cNvSpPr txBox="1"/>
          <p:nvPr/>
        </p:nvSpPr>
        <p:spPr>
          <a:xfrm flipH="1">
            <a:off x="3332441" y="5234737"/>
            <a:ext cx="8610174" cy="584775"/>
          </a:xfrm>
          <a:prstGeom prst="rect">
            <a:avLst/>
          </a:prstGeom>
          <a:noFill/>
        </p:spPr>
        <p:txBody>
          <a:bodyPr wrap="square" rtlCol="0">
            <a:spAutoFit/>
          </a:bodyPr>
          <a:lstStyle>
            <a:defPPr>
              <a:defRPr lang="tr-TR"/>
            </a:defPPr>
          </a:lstStyle>
          <a:p>
            <a:r>
              <a:rPr lang="tr-TR" sz="2000" i="1" dirty="0" err="1" smtClean="0"/>
              <a:t>İcrai</a:t>
            </a:r>
            <a:r>
              <a:rPr lang="tr-TR" sz="2000" i="1" dirty="0" smtClean="0"/>
              <a:t>-İhmali suçlar: </a:t>
            </a:r>
            <a:r>
              <a:rPr lang="tr-TR" sz="1200" i="1" dirty="0" smtClean="0"/>
              <a:t>Fiil aktif bir davranış ise </a:t>
            </a:r>
            <a:r>
              <a:rPr lang="tr-TR" sz="1200" i="1" dirty="0" err="1" smtClean="0"/>
              <a:t>İcrai</a:t>
            </a:r>
            <a:r>
              <a:rPr lang="tr-TR" sz="1200" i="1" dirty="0" smtClean="0"/>
              <a:t>, Pasif bir davranış ise İhmali suçtur . </a:t>
            </a:r>
          </a:p>
          <a:p>
            <a:r>
              <a:rPr lang="tr-TR" sz="1200" i="1" dirty="0"/>
              <a:t> </a:t>
            </a:r>
            <a:r>
              <a:rPr lang="tr-TR" sz="1200" i="1" dirty="0" smtClean="0"/>
              <a:t>                                                        </a:t>
            </a:r>
            <a:r>
              <a:rPr lang="tr-TR" sz="1050" i="1" dirty="0" smtClean="0"/>
              <a:t>İhmali suçlar: Gerçek İhmali Suçlar (Saf İhmali Suçlar) – Görünüşte İhmali Suçlar (Gerçek Olmayan İhmali Suçlar)</a:t>
            </a:r>
            <a:r>
              <a:rPr lang="tr-TR" sz="1200" i="1" dirty="0" smtClean="0"/>
              <a:t> </a:t>
            </a:r>
            <a:endParaRPr lang="tr-TR" sz="2000" i="1" dirty="0"/>
          </a:p>
        </p:txBody>
      </p:sp>
      <p:sp>
        <p:nvSpPr>
          <p:cNvPr id="31" name="Metin kutusu 30"/>
          <p:cNvSpPr txBox="1"/>
          <p:nvPr/>
        </p:nvSpPr>
        <p:spPr>
          <a:xfrm flipH="1">
            <a:off x="157267" y="4093887"/>
            <a:ext cx="3223953" cy="2585323"/>
          </a:xfrm>
          <a:prstGeom prst="rect">
            <a:avLst/>
          </a:prstGeom>
          <a:noFill/>
        </p:spPr>
        <p:txBody>
          <a:bodyPr wrap="square" rtlCol="0">
            <a:spAutoFit/>
          </a:bodyPr>
          <a:lstStyle/>
          <a:p>
            <a:r>
              <a:rPr lang="tr-TR" dirty="0" smtClean="0"/>
              <a:t>Objektif (Maddi) Unsurlar</a:t>
            </a:r>
          </a:p>
          <a:p>
            <a:pPr marL="285750" indent="-285750">
              <a:buFont typeface="Arial" panose="020B0604020202020204" pitchFamily="34" charset="0"/>
              <a:buChar char="•"/>
            </a:pPr>
            <a:r>
              <a:rPr lang="tr-TR" dirty="0"/>
              <a:t>Fail</a:t>
            </a:r>
          </a:p>
          <a:p>
            <a:pPr marL="285750" indent="-285750">
              <a:buFont typeface="Arial" panose="020B0604020202020204" pitchFamily="34" charset="0"/>
              <a:buChar char="•"/>
            </a:pPr>
            <a:r>
              <a:rPr lang="tr-TR" dirty="0"/>
              <a:t>Mağdur</a:t>
            </a:r>
          </a:p>
          <a:p>
            <a:pPr marL="285750" indent="-285750">
              <a:buFont typeface="Arial" panose="020B0604020202020204" pitchFamily="34" charset="0"/>
              <a:buChar char="•"/>
            </a:pPr>
            <a:r>
              <a:rPr lang="tr-TR" dirty="0"/>
              <a:t>Suçun Konusu</a:t>
            </a:r>
          </a:p>
          <a:p>
            <a:pPr marL="285750" indent="-285750">
              <a:buFont typeface="Arial" panose="020B0604020202020204" pitchFamily="34" charset="0"/>
              <a:buChar char="•"/>
            </a:pPr>
            <a:r>
              <a:rPr lang="tr-TR" b="1" u="sng" dirty="0">
                <a:effectLst>
                  <a:outerShdw blurRad="38100" dist="38100" dir="2700000" algn="tl">
                    <a:srgbClr val="000000">
                      <a:alpha val="43137"/>
                    </a:srgbClr>
                  </a:outerShdw>
                </a:effectLst>
              </a:rPr>
              <a:t>Fiil (Hareket-Davranış)</a:t>
            </a:r>
          </a:p>
          <a:p>
            <a:pPr marL="285750" indent="-285750">
              <a:buFont typeface="Arial" panose="020B0604020202020204" pitchFamily="34" charset="0"/>
              <a:buChar char="•"/>
            </a:pPr>
            <a:r>
              <a:rPr lang="tr-TR" dirty="0" smtClean="0"/>
              <a:t>Netice</a:t>
            </a:r>
          </a:p>
          <a:p>
            <a:pPr marL="285750" indent="-285750">
              <a:buFont typeface="Arial" panose="020B0604020202020204" pitchFamily="34" charset="0"/>
              <a:buChar char="•"/>
            </a:pPr>
            <a:r>
              <a:rPr lang="tr-TR" dirty="0" smtClean="0"/>
              <a:t>Nedensellik (İlliyet) Bağı ve Objektif </a:t>
            </a:r>
            <a:r>
              <a:rPr lang="tr-TR" dirty="0" err="1" smtClean="0"/>
              <a:t>İsnadiyet</a:t>
            </a:r>
            <a:endParaRPr lang="tr-TR" dirty="0" smtClean="0"/>
          </a:p>
          <a:p>
            <a:pPr marL="285750" indent="-285750">
              <a:buFont typeface="Arial" panose="020B0604020202020204" pitchFamily="34" charset="0"/>
              <a:buChar char="•"/>
            </a:pPr>
            <a:r>
              <a:rPr lang="tr-TR" dirty="0" smtClean="0"/>
              <a:t>Suçun Nitelikli Halleri</a:t>
            </a:r>
            <a:endParaRPr lang="fr-FR" dirty="0"/>
          </a:p>
        </p:txBody>
      </p:sp>
      <p:sp>
        <p:nvSpPr>
          <p:cNvPr id="32" name="Metin kutusu 31"/>
          <p:cNvSpPr txBox="1"/>
          <p:nvPr/>
        </p:nvSpPr>
        <p:spPr>
          <a:xfrm flipH="1">
            <a:off x="6720743" y="5819512"/>
            <a:ext cx="1242157" cy="646331"/>
          </a:xfrm>
          <a:prstGeom prst="rect">
            <a:avLst/>
          </a:prstGeom>
          <a:noFill/>
        </p:spPr>
        <p:txBody>
          <a:bodyPr wrap="square" rtlCol="0">
            <a:spAutoFit/>
          </a:bodyPr>
          <a:lstStyle>
            <a:defPPr>
              <a:defRPr lang="tr-TR"/>
            </a:defPPr>
          </a:lstStyle>
          <a:p>
            <a:pPr algn="ctr"/>
            <a:r>
              <a:rPr lang="tr-TR" sz="900" dirty="0" smtClean="0"/>
              <a:t>5237 s. Kanun – Yardım veya Bildirim Yükümlülüğünün Yerine Getirilmemesi</a:t>
            </a:r>
            <a:endParaRPr lang="tr-TR" sz="1200" i="1" dirty="0"/>
          </a:p>
        </p:txBody>
      </p:sp>
      <p:sp>
        <p:nvSpPr>
          <p:cNvPr id="33" name="Metin kutusu 32"/>
          <p:cNvSpPr txBox="1"/>
          <p:nvPr/>
        </p:nvSpPr>
        <p:spPr>
          <a:xfrm flipH="1">
            <a:off x="9130568" y="5819512"/>
            <a:ext cx="1242157" cy="369332"/>
          </a:xfrm>
          <a:prstGeom prst="rect">
            <a:avLst/>
          </a:prstGeom>
          <a:noFill/>
        </p:spPr>
        <p:txBody>
          <a:bodyPr wrap="square" rtlCol="0">
            <a:spAutoFit/>
          </a:bodyPr>
          <a:lstStyle>
            <a:defPPr>
              <a:defRPr lang="tr-TR"/>
            </a:defPPr>
          </a:lstStyle>
          <a:p>
            <a:pPr algn="ctr"/>
            <a:r>
              <a:rPr lang="tr-TR" sz="900" dirty="0" smtClean="0"/>
              <a:t>Özgü suç</a:t>
            </a:r>
          </a:p>
          <a:p>
            <a:pPr algn="ctr"/>
            <a:r>
              <a:rPr lang="tr-TR" sz="900" dirty="0" smtClean="0"/>
              <a:t>5237 s. Kanun </a:t>
            </a:r>
            <a:r>
              <a:rPr lang="tr-TR" sz="900" smtClean="0"/>
              <a:t>– m.83</a:t>
            </a:r>
            <a:endParaRPr lang="tr-TR" sz="1200" i="1" dirty="0"/>
          </a:p>
        </p:txBody>
      </p:sp>
      <p:sp>
        <p:nvSpPr>
          <p:cNvPr id="34" name="Unvan 1"/>
          <p:cNvSpPr txBox="1">
            <a:spLocks/>
          </p:cNvSpPr>
          <p:nvPr/>
        </p:nvSpPr>
        <p:spPr>
          <a:xfrm>
            <a:off x="1367693" y="106363"/>
            <a:ext cx="9144000" cy="90182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900" b="1" i="1" spc="300" smtClean="0">
                <a:effectLst>
                  <a:outerShdw blurRad="38100" dist="38100" dir="2700000" algn="tl">
                    <a:srgbClr val="000000">
                      <a:alpha val="43137"/>
                    </a:srgbClr>
                  </a:outerShdw>
                </a:effectLst>
              </a:rPr>
              <a:t>Suçun Objektif (Maddi) Unsurları </a:t>
            </a:r>
            <a:endParaRPr lang="tr-TR" sz="29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26</a:t>
            </a:fld>
            <a:r>
              <a:rPr lang="tr-TR"/>
              <a:t>/116</a:t>
            </a:r>
          </a:p>
        </p:txBody>
      </p:sp>
    </p:spTree>
    <p:extLst>
      <p:ext uri="{BB962C8B-B14F-4D97-AF65-F5344CB8AC3E}">
        <p14:creationId xmlns:p14="http://schemas.microsoft.com/office/powerpoint/2010/main" val="675172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lt Başlık 2"/>
          <p:cNvSpPr txBox="1">
            <a:spLocks/>
          </p:cNvSpPr>
          <p:nvPr/>
        </p:nvSpPr>
        <p:spPr>
          <a:xfrm>
            <a:off x="1219555" y="1283494"/>
            <a:ext cx="9752889" cy="5479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b="1" dirty="0" smtClean="0"/>
              <a:t>Objektif (Maddi) Unsurlar</a:t>
            </a:r>
            <a:endParaRPr lang="tr-TR" b="1" dirty="0"/>
          </a:p>
        </p:txBody>
      </p:sp>
      <p:sp>
        <p:nvSpPr>
          <p:cNvPr id="10" name="Metin kutusu 9"/>
          <p:cNvSpPr txBox="1"/>
          <p:nvPr/>
        </p:nvSpPr>
        <p:spPr>
          <a:xfrm flipH="1">
            <a:off x="2133849" y="1831425"/>
            <a:ext cx="3223953" cy="461665"/>
          </a:xfrm>
          <a:prstGeom prst="rect">
            <a:avLst/>
          </a:prstGeom>
          <a:noFill/>
        </p:spPr>
        <p:txBody>
          <a:bodyPr wrap="square" rtlCol="0">
            <a:spAutoFit/>
          </a:bodyPr>
          <a:lstStyle/>
          <a:p>
            <a:r>
              <a:rPr lang="tr-TR" sz="2400" b="1" dirty="0" smtClean="0"/>
              <a:t>Netice</a:t>
            </a:r>
            <a:endParaRPr lang="tr-TR" b="1" dirty="0" smtClean="0"/>
          </a:p>
        </p:txBody>
      </p:sp>
      <p:sp>
        <p:nvSpPr>
          <p:cNvPr id="7" name="Metin kutusu 6"/>
          <p:cNvSpPr txBox="1"/>
          <p:nvPr/>
        </p:nvSpPr>
        <p:spPr>
          <a:xfrm flipH="1">
            <a:off x="2133847" y="2379356"/>
            <a:ext cx="8451025" cy="461665"/>
          </a:xfrm>
          <a:prstGeom prst="rect">
            <a:avLst/>
          </a:prstGeom>
          <a:noFill/>
        </p:spPr>
        <p:txBody>
          <a:bodyPr wrap="square" rtlCol="0">
            <a:spAutoFit/>
          </a:bodyPr>
          <a:lstStyle/>
          <a:p>
            <a:r>
              <a:rPr lang="tr-TR" sz="2400" dirty="0" smtClean="0"/>
              <a:t>      Hareketin dış dünyada meydana getirdiği değişiklik.</a:t>
            </a:r>
          </a:p>
        </p:txBody>
      </p:sp>
      <p:sp>
        <p:nvSpPr>
          <p:cNvPr id="13" name="Metin kutusu 12"/>
          <p:cNvSpPr txBox="1"/>
          <p:nvPr/>
        </p:nvSpPr>
        <p:spPr>
          <a:xfrm flipH="1">
            <a:off x="3156950" y="2927287"/>
            <a:ext cx="8730250" cy="707886"/>
          </a:xfrm>
          <a:prstGeom prst="rect">
            <a:avLst/>
          </a:prstGeom>
          <a:noFill/>
        </p:spPr>
        <p:txBody>
          <a:bodyPr wrap="square" rtlCol="0">
            <a:spAutoFit/>
          </a:bodyPr>
          <a:lstStyle>
            <a:defPPr>
              <a:defRPr lang="tr-TR"/>
            </a:defPPr>
          </a:lstStyle>
          <a:p>
            <a:pPr algn="just"/>
            <a:r>
              <a:rPr lang="tr-TR" sz="2000" dirty="0" smtClean="0"/>
              <a:t>Suçun kanuni tarifinde tipinde neticeye </a:t>
            </a:r>
            <a:r>
              <a:rPr lang="tr-TR" sz="2000" u="sng" dirty="0" smtClean="0"/>
              <a:t>yer verilmiş </a:t>
            </a:r>
            <a:r>
              <a:rPr lang="tr-TR" sz="2000" dirty="0" smtClean="0"/>
              <a:t>olması halinde suç, bu neticenin meydana gelmesiyle gerçekleşir.</a:t>
            </a:r>
            <a:r>
              <a:rPr lang="tr-TR" sz="2000" i="1" dirty="0" smtClean="0"/>
              <a:t> Kasten öldürme suçu neticeli bir suçtur</a:t>
            </a:r>
            <a:endParaRPr lang="tr-TR" sz="1400" i="1" dirty="0"/>
          </a:p>
        </p:txBody>
      </p:sp>
      <p:sp>
        <p:nvSpPr>
          <p:cNvPr id="14" name="Metin kutusu 13"/>
          <p:cNvSpPr txBox="1"/>
          <p:nvPr/>
        </p:nvSpPr>
        <p:spPr>
          <a:xfrm flipH="1">
            <a:off x="3156950" y="3721439"/>
            <a:ext cx="8730250" cy="707886"/>
          </a:xfrm>
          <a:prstGeom prst="rect">
            <a:avLst/>
          </a:prstGeom>
          <a:noFill/>
        </p:spPr>
        <p:txBody>
          <a:bodyPr wrap="square" rtlCol="0">
            <a:spAutoFit/>
          </a:bodyPr>
          <a:lstStyle>
            <a:defPPr>
              <a:defRPr lang="tr-TR"/>
            </a:defPPr>
          </a:lstStyle>
          <a:p>
            <a:pPr algn="just"/>
            <a:r>
              <a:rPr lang="tr-TR" sz="2000" dirty="0" smtClean="0"/>
              <a:t>Suçun kanuni tarifinde tipinde neticeye </a:t>
            </a:r>
            <a:r>
              <a:rPr lang="tr-TR" sz="2000" u="sng" dirty="0" smtClean="0"/>
              <a:t>yer verilmemiş </a:t>
            </a:r>
            <a:r>
              <a:rPr lang="tr-TR" sz="2000" dirty="0" smtClean="0"/>
              <a:t>olması halinde suç, fiilin gerçekleşmesiyle gerçekleşir.</a:t>
            </a:r>
            <a:r>
              <a:rPr lang="tr-TR" sz="2000" i="1" dirty="0" smtClean="0"/>
              <a:t> Hakaret suçu.</a:t>
            </a:r>
            <a:endParaRPr lang="tr-TR" sz="1400" i="1" dirty="0"/>
          </a:p>
        </p:txBody>
      </p:sp>
      <p:sp>
        <p:nvSpPr>
          <p:cNvPr id="9" name="Metin kutusu 8"/>
          <p:cNvSpPr txBox="1"/>
          <p:nvPr/>
        </p:nvSpPr>
        <p:spPr>
          <a:xfrm flipH="1">
            <a:off x="157267" y="4093887"/>
            <a:ext cx="3223953" cy="2585323"/>
          </a:xfrm>
          <a:prstGeom prst="rect">
            <a:avLst/>
          </a:prstGeom>
          <a:noFill/>
        </p:spPr>
        <p:txBody>
          <a:bodyPr wrap="square" rtlCol="0">
            <a:spAutoFit/>
          </a:bodyPr>
          <a:lstStyle/>
          <a:p>
            <a:r>
              <a:rPr lang="tr-TR" dirty="0" smtClean="0"/>
              <a:t>Objektif (Maddi) Unsurlar</a:t>
            </a:r>
          </a:p>
          <a:p>
            <a:pPr marL="285750" indent="-285750">
              <a:buFont typeface="Arial" panose="020B0604020202020204" pitchFamily="34" charset="0"/>
              <a:buChar char="•"/>
            </a:pPr>
            <a:r>
              <a:rPr lang="tr-TR" dirty="0"/>
              <a:t>Fail</a:t>
            </a:r>
          </a:p>
          <a:p>
            <a:pPr marL="285750" indent="-285750">
              <a:buFont typeface="Arial" panose="020B0604020202020204" pitchFamily="34" charset="0"/>
              <a:buChar char="•"/>
            </a:pPr>
            <a:r>
              <a:rPr lang="tr-TR" dirty="0"/>
              <a:t>Mağdur</a:t>
            </a:r>
          </a:p>
          <a:p>
            <a:pPr marL="285750" indent="-285750">
              <a:buFont typeface="Arial" panose="020B0604020202020204" pitchFamily="34" charset="0"/>
              <a:buChar char="•"/>
            </a:pPr>
            <a:r>
              <a:rPr lang="tr-TR" dirty="0"/>
              <a:t>Suçun Konusu</a:t>
            </a:r>
          </a:p>
          <a:p>
            <a:pPr marL="285750" indent="-285750">
              <a:buFont typeface="Arial" panose="020B0604020202020204" pitchFamily="34" charset="0"/>
              <a:buChar char="•"/>
            </a:pPr>
            <a:r>
              <a:rPr lang="tr-TR" dirty="0"/>
              <a:t>Fiil (Hareket-Davranış)</a:t>
            </a:r>
          </a:p>
          <a:p>
            <a:pPr marL="285750" indent="-285750">
              <a:buFont typeface="Arial" panose="020B0604020202020204" pitchFamily="34" charset="0"/>
              <a:buChar char="•"/>
            </a:pPr>
            <a:r>
              <a:rPr lang="tr-TR" b="1" u="sng" dirty="0">
                <a:effectLst>
                  <a:outerShdw blurRad="38100" dist="38100" dir="2700000" algn="tl">
                    <a:srgbClr val="000000">
                      <a:alpha val="43137"/>
                    </a:srgbClr>
                  </a:outerShdw>
                </a:effectLst>
              </a:rPr>
              <a:t>Netice</a:t>
            </a:r>
          </a:p>
          <a:p>
            <a:pPr marL="285750" indent="-285750">
              <a:buFont typeface="Arial" panose="020B0604020202020204" pitchFamily="34" charset="0"/>
              <a:buChar char="•"/>
            </a:pPr>
            <a:r>
              <a:rPr lang="tr-TR" dirty="0" smtClean="0"/>
              <a:t>Nedensellik (İlliyet) Bağı ve Objektif </a:t>
            </a:r>
            <a:r>
              <a:rPr lang="tr-TR" dirty="0" err="1" smtClean="0"/>
              <a:t>İsnadiyet</a:t>
            </a:r>
            <a:endParaRPr lang="tr-TR" dirty="0" smtClean="0"/>
          </a:p>
          <a:p>
            <a:pPr marL="285750" indent="-285750">
              <a:buFont typeface="Arial" panose="020B0604020202020204" pitchFamily="34" charset="0"/>
              <a:buChar char="•"/>
            </a:pPr>
            <a:r>
              <a:rPr lang="tr-TR" dirty="0" smtClean="0"/>
              <a:t>Suçun Nitelikli Halleri</a:t>
            </a:r>
            <a:endParaRPr lang="fr-FR" dirty="0"/>
          </a:p>
        </p:txBody>
      </p:sp>
      <p:sp>
        <p:nvSpPr>
          <p:cNvPr id="11" name="Unvan 1"/>
          <p:cNvSpPr txBox="1">
            <a:spLocks/>
          </p:cNvSpPr>
          <p:nvPr/>
        </p:nvSpPr>
        <p:spPr>
          <a:xfrm>
            <a:off x="1367693" y="106363"/>
            <a:ext cx="9144000" cy="90182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900" b="1" i="1" spc="300" smtClean="0">
                <a:effectLst>
                  <a:outerShdw blurRad="38100" dist="38100" dir="2700000" algn="tl">
                    <a:srgbClr val="000000">
                      <a:alpha val="43137"/>
                    </a:srgbClr>
                  </a:outerShdw>
                </a:effectLst>
              </a:rPr>
              <a:t>Suçun Objektif (Maddi) Unsurları </a:t>
            </a:r>
            <a:endParaRPr lang="tr-TR" sz="29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27</a:t>
            </a:fld>
            <a:r>
              <a:rPr lang="tr-TR"/>
              <a:t>/116</a:t>
            </a:r>
          </a:p>
        </p:txBody>
      </p:sp>
    </p:spTree>
    <p:extLst>
      <p:ext uri="{BB962C8B-B14F-4D97-AF65-F5344CB8AC3E}">
        <p14:creationId xmlns:p14="http://schemas.microsoft.com/office/powerpoint/2010/main" val="42527146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lt Başlık 2"/>
          <p:cNvSpPr txBox="1">
            <a:spLocks/>
          </p:cNvSpPr>
          <p:nvPr/>
        </p:nvSpPr>
        <p:spPr>
          <a:xfrm>
            <a:off x="1219555" y="1283494"/>
            <a:ext cx="9752889" cy="5479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b="1" dirty="0" smtClean="0"/>
              <a:t>Objektif (Maddi) Unsurlar</a:t>
            </a:r>
            <a:endParaRPr lang="tr-TR" b="1" dirty="0"/>
          </a:p>
        </p:txBody>
      </p:sp>
      <p:sp>
        <p:nvSpPr>
          <p:cNvPr id="12" name="Metin kutusu 11"/>
          <p:cNvSpPr txBox="1"/>
          <p:nvPr/>
        </p:nvSpPr>
        <p:spPr>
          <a:xfrm flipH="1">
            <a:off x="2133848" y="1831425"/>
            <a:ext cx="5938733" cy="461665"/>
          </a:xfrm>
          <a:prstGeom prst="rect">
            <a:avLst/>
          </a:prstGeom>
          <a:noFill/>
        </p:spPr>
        <p:txBody>
          <a:bodyPr wrap="square" rtlCol="0">
            <a:spAutoFit/>
          </a:bodyPr>
          <a:lstStyle/>
          <a:p>
            <a:r>
              <a:rPr lang="tr-TR" sz="2400" b="1" dirty="0" smtClean="0"/>
              <a:t>Nedensellik Bağı (İlliyet) ve Objektif </a:t>
            </a:r>
            <a:r>
              <a:rPr lang="tr-TR" sz="2400" b="1" dirty="0" err="1" smtClean="0"/>
              <a:t>İsnadiyet</a:t>
            </a:r>
            <a:endParaRPr lang="tr-TR" b="1" dirty="0" smtClean="0"/>
          </a:p>
        </p:txBody>
      </p:sp>
      <p:sp>
        <p:nvSpPr>
          <p:cNvPr id="15" name="Metin kutusu 14"/>
          <p:cNvSpPr txBox="1"/>
          <p:nvPr/>
        </p:nvSpPr>
        <p:spPr>
          <a:xfrm flipH="1">
            <a:off x="2632610" y="2379356"/>
            <a:ext cx="8451025" cy="461665"/>
          </a:xfrm>
          <a:prstGeom prst="rect">
            <a:avLst/>
          </a:prstGeom>
          <a:noFill/>
        </p:spPr>
        <p:txBody>
          <a:bodyPr wrap="square" rtlCol="0">
            <a:spAutoFit/>
          </a:bodyPr>
          <a:lstStyle/>
          <a:p>
            <a:pPr marL="342900" indent="-342900">
              <a:buFont typeface="Arial" panose="020B0604020202020204" pitchFamily="34" charset="0"/>
              <a:buChar char="•"/>
            </a:pPr>
            <a:r>
              <a:rPr lang="tr-TR" sz="2400" dirty="0" smtClean="0"/>
              <a:t>Fiil ve netice arasında nedensellik bağı mevcut olmalıdır.</a:t>
            </a:r>
          </a:p>
        </p:txBody>
      </p:sp>
      <p:sp>
        <p:nvSpPr>
          <p:cNvPr id="16" name="Metin kutusu 15"/>
          <p:cNvSpPr txBox="1"/>
          <p:nvPr/>
        </p:nvSpPr>
        <p:spPr>
          <a:xfrm flipH="1">
            <a:off x="2632610" y="2841021"/>
            <a:ext cx="9448552" cy="830997"/>
          </a:xfrm>
          <a:prstGeom prst="rect">
            <a:avLst/>
          </a:prstGeom>
          <a:noFill/>
        </p:spPr>
        <p:txBody>
          <a:bodyPr wrap="square" rtlCol="0">
            <a:spAutoFit/>
          </a:bodyPr>
          <a:lstStyle/>
          <a:p>
            <a:pPr marL="342900" indent="-342900" algn="just">
              <a:buFont typeface="Arial" panose="020B0604020202020204" pitchFamily="34" charset="0"/>
              <a:buChar char="•"/>
            </a:pPr>
            <a:r>
              <a:rPr lang="tr-TR" sz="2400" dirty="0" smtClean="0"/>
              <a:t>Neticenin oluşumunda birden fazla neden varsa neticenin faile </a:t>
            </a:r>
            <a:r>
              <a:rPr lang="tr-TR" sz="2400" dirty="0" err="1" smtClean="0"/>
              <a:t>isnadiyetinin</a:t>
            </a:r>
            <a:r>
              <a:rPr lang="tr-TR" sz="2400" dirty="0" smtClean="0"/>
              <a:t> mümkün olup olmadığı araştırılmalıdır.</a:t>
            </a:r>
          </a:p>
        </p:txBody>
      </p:sp>
      <p:sp>
        <p:nvSpPr>
          <p:cNvPr id="17" name="Metin kutusu 16"/>
          <p:cNvSpPr txBox="1"/>
          <p:nvPr/>
        </p:nvSpPr>
        <p:spPr>
          <a:xfrm flipH="1">
            <a:off x="157267" y="4093887"/>
            <a:ext cx="3223953" cy="2585323"/>
          </a:xfrm>
          <a:prstGeom prst="rect">
            <a:avLst/>
          </a:prstGeom>
          <a:noFill/>
        </p:spPr>
        <p:txBody>
          <a:bodyPr wrap="square" rtlCol="0">
            <a:spAutoFit/>
          </a:bodyPr>
          <a:lstStyle/>
          <a:p>
            <a:r>
              <a:rPr lang="tr-TR" dirty="0" smtClean="0"/>
              <a:t>Objektif (Maddi) Unsurlar</a:t>
            </a:r>
          </a:p>
          <a:p>
            <a:pPr marL="285750" indent="-285750">
              <a:buFont typeface="Arial" panose="020B0604020202020204" pitchFamily="34" charset="0"/>
              <a:buChar char="•"/>
            </a:pPr>
            <a:r>
              <a:rPr lang="tr-TR" dirty="0"/>
              <a:t>Fail</a:t>
            </a:r>
          </a:p>
          <a:p>
            <a:pPr marL="285750" indent="-285750">
              <a:buFont typeface="Arial" panose="020B0604020202020204" pitchFamily="34" charset="0"/>
              <a:buChar char="•"/>
            </a:pPr>
            <a:r>
              <a:rPr lang="tr-TR" dirty="0"/>
              <a:t>Mağdur</a:t>
            </a:r>
          </a:p>
          <a:p>
            <a:pPr marL="285750" indent="-285750">
              <a:buFont typeface="Arial" panose="020B0604020202020204" pitchFamily="34" charset="0"/>
              <a:buChar char="•"/>
            </a:pPr>
            <a:r>
              <a:rPr lang="tr-TR" dirty="0"/>
              <a:t>Suçun Konusu</a:t>
            </a:r>
          </a:p>
          <a:p>
            <a:pPr marL="285750" indent="-285750">
              <a:buFont typeface="Arial" panose="020B0604020202020204" pitchFamily="34" charset="0"/>
              <a:buChar char="•"/>
            </a:pPr>
            <a:r>
              <a:rPr lang="tr-TR" dirty="0"/>
              <a:t>Fiil (Hareket-Davranış)</a:t>
            </a:r>
          </a:p>
          <a:p>
            <a:pPr marL="285750" indent="-285750">
              <a:buFont typeface="Arial" panose="020B0604020202020204" pitchFamily="34" charset="0"/>
              <a:buChar char="•"/>
            </a:pPr>
            <a:r>
              <a:rPr lang="tr-TR" dirty="0"/>
              <a:t>Netice</a:t>
            </a:r>
          </a:p>
          <a:p>
            <a:pPr marL="285750" indent="-285750">
              <a:buFont typeface="Arial" panose="020B0604020202020204" pitchFamily="34" charset="0"/>
              <a:buChar char="•"/>
            </a:pPr>
            <a:r>
              <a:rPr lang="tr-TR" b="1" u="sng" dirty="0">
                <a:effectLst>
                  <a:outerShdw blurRad="38100" dist="38100" dir="2700000" algn="tl">
                    <a:srgbClr val="000000">
                      <a:alpha val="43137"/>
                    </a:srgbClr>
                  </a:outerShdw>
                </a:effectLst>
              </a:rPr>
              <a:t>Nedensellik (İlliyet) Bağı ve Objektif </a:t>
            </a:r>
            <a:r>
              <a:rPr lang="tr-TR" b="1" u="sng" dirty="0" err="1">
                <a:effectLst>
                  <a:outerShdw blurRad="38100" dist="38100" dir="2700000" algn="tl">
                    <a:srgbClr val="000000">
                      <a:alpha val="43137"/>
                    </a:srgbClr>
                  </a:outerShdw>
                </a:effectLst>
              </a:rPr>
              <a:t>İsnadiyet</a:t>
            </a:r>
            <a:endParaRPr lang="tr-TR" b="1" u="sng" dirty="0">
              <a:effectLst>
                <a:outerShdw blurRad="38100" dist="38100" dir="2700000" algn="tl">
                  <a:srgbClr val="000000">
                    <a:alpha val="43137"/>
                  </a:srgbClr>
                </a:outerShdw>
              </a:effectLst>
            </a:endParaRPr>
          </a:p>
          <a:p>
            <a:pPr marL="285750" indent="-285750">
              <a:buFont typeface="Arial" panose="020B0604020202020204" pitchFamily="34" charset="0"/>
              <a:buChar char="•"/>
            </a:pPr>
            <a:r>
              <a:rPr lang="tr-TR" dirty="0" smtClean="0"/>
              <a:t>Suçun Nitelikli Halleri</a:t>
            </a:r>
            <a:endParaRPr lang="fr-FR" dirty="0"/>
          </a:p>
        </p:txBody>
      </p:sp>
      <p:sp>
        <p:nvSpPr>
          <p:cNvPr id="18" name="Metin kutusu 17"/>
          <p:cNvSpPr txBox="1"/>
          <p:nvPr/>
        </p:nvSpPr>
        <p:spPr>
          <a:xfrm flipH="1">
            <a:off x="4162422" y="3767688"/>
            <a:ext cx="7191377" cy="369332"/>
          </a:xfrm>
          <a:prstGeom prst="rect">
            <a:avLst/>
          </a:prstGeom>
          <a:noFill/>
        </p:spPr>
        <p:txBody>
          <a:bodyPr wrap="square" rtlCol="0">
            <a:spAutoFit/>
          </a:bodyPr>
          <a:lstStyle/>
          <a:p>
            <a:pPr algn="just"/>
            <a:r>
              <a:rPr lang="tr-TR" i="1" dirty="0" err="1" smtClean="0"/>
              <a:t>İsnadiyet</a:t>
            </a:r>
            <a:r>
              <a:rPr lang="tr-TR" i="1" dirty="0" smtClean="0"/>
              <a:t>: Neticenin bir kişiye dayandırılması, yüklenmesi, atfedilmesi</a:t>
            </a:r>
          </a:p>
        </p:txBody>
      </p:sp>
      <p:sp>
        <p:nvSpPr>
          <p:cNvPr id="19" name="Unvan 1"/>
          <p:cNvSpPr txBox="1">
            <a:spLocks/>
          </p:cNvSpPr>
          <p:nvPr/>
        </p:nvSpPr>
        <p:spPr>
          <a:xfrm>
            <a:off x="1367693" y="106363"/>
            <a:ext cx="9144000" cy="90182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900" b="1" i="1" spc="300" smtClean="0">
                <a:effectLst>
                  <a:outerShdw blurRad="38100" dist="38100" dir="2700000" algn="tl">
                    <a:srgbClr val="000000">
                      <a:alpha val="43137"/>
                    </a:srgbClr>
                  </a:outerShdw>
                </a:effectLst>
              </a:rPr>
              <a:t>Suçun Objektif (Maddi) Unsurları </a:t>
            </a:r>
            <a:endParaRPr lang="tr-TR" sz="29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28</a:t>
            </a:fld>
            <a:r>
              <a:rPr lang="tr-TR"/>
              <a:t>/116</a:t>
            </a:r>
          </a:p>
        </p:txBody>
      </p:sp>
    </p:spTree>
    <p:extLst>
      <p:ext uri="{BB962C8B-B14F-4D97-AF65-F5344CB8AC3E}">
        <p14:creationId xmlns:p14="http://schemas.microsoft.com/office/powerpoint/2010/main" val="19696536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lt Başlık 2"/>
          <p:cNvSpPr txBox="1">
            <a:spLocks/>
          </p:cNvSpPr>
          <p:nvPr/>
        </p:nvSpPr>
        <p:spPr>
          <a:xfrm>
            <a:off x="1219555" y="1283494"/>
            <a:ext cx="9752889" cy="5479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tr-TR" b="1" dirty="0" smtClean="0"/>
              <a:t>Objektif (Maddi) Unsurlar</a:t>
            </a:r>
            <a:endParaRPr lang="tr-TR" b="1" dirty="0"/>
          </a:p>
        </p:txBody>
      </p:sp>
      <p:sp>
        <p:nvSpPr>
          <p:cNvPr id="10" name="Metin kutusu 9"/>
          <p:cNvSpPr txBox="1"/>
          <p:nvPr/>
        </p:nvSpPr>
        <p:spPr>
          <a:xfrm flipH="1">
            <a:off x="2133848" y="1831425"/>
            <a:ext cx="5938733" cy="461665"/>
          </a:xfrm>
          <a:prstGeom prst="rect">
            <a:avLst/>
          </a:prstGeom>
          <a:noFill/>
        </p:spPr>
        <p:txBody>
          <a:bodyPr wrap="square" rtlCol="0">
            <a:spAutoFit/>
          </a:bodyPr>
          <a:lstStyle/>
          <a:p>
            <a:r>
              <a:rPr lang="tr-TR" sz="2400" b="1" dirty="0" smtClean="0"/>
              <a:t>Suçun Nitelikli Unsurları (Halleri)</a:t>
            </a:r>
            <a:endParaRPr lang="tr-TR" b="1" dirty="0" smtClean="0"/>
          </a:p>
        </p:txBody>
      </p:sp>
      <p:sp>
        <p:nvSpPr>
          <p:cNvPr id="7" name="Metin kutusu 6"/>
          <p:cNvSpPr txBox="1"/>
          <p:nvPr/>
        </p:nvSpPr>
        <p:spPr>
          <a:xfrm flipH="1">
            <a:off x="2632610" y="2379356"/>
            <a:ext cx="8451025" cy="707886"/>
          </a:xfrm>
          <a:prstGeom prst="rect">
            <a:avLst/>
          </a:prstGeom>
          <a:noFill/>
        </p:spPr>
        <p:txBody>
          <a:bodyPr wrap="square" rtlCol="0">
            <a:spAutoFit/>
          </a:bodyPr>
          <a:lstStyle/>
          <a:p>
            <a:r>
              <a:rPr lang="tr-TR" sz="2400" dirty="0" smtClean="0"/>
              <a:t>Cezanın artırılması veya indirilmesini gerektiren durumlardır.</a:t>
            </a:r>
          </a:p>
          <a:p>
            <a:pPr algn="r"/>
            <a:r>
              <a:rPr lang="tr-TR" sz="1600" dirty="0" smtClean="0"/>
              <a:t>Hırsızlık suçunun geceleyin işlenmesi, kasten yaralama suçunun silahla işlenmesi</a:t>
            </a:r>
          </a:p>
        </p:txBody>
      </p:sp>
      <p:sp>
        <p:nvSpPr>
          <p:cNvPr id="9" name="Metin kutusu 8"/>
          <p:cNvSpPr txBox="1"/>
          <p:nvPr/>
        </p:nvSpPr>
        <p:spPr>
          <a:xfrm flipH="1">
            <a:off x="157267" y="4093887"/>
            <a:ext cx="3223953" cy="2585323"/>
          </a:xfrm>
          <a:prstGeom prst="rect">
            <a:avLst/>
          </a:prstGeom>
          <a:noFill/>
        </p:spPr>
        <p:txBody>
          <a:bodyPr wrap="square" rtlCol="0">
            <a:spAutoFit/>
          </a:bodyPr>
          <a:lstStyle/>
          <a:p>
            <a:r>
              <a:rPr lang="tr-TR" dirty="0" smtClean="0"/>
              <a:t>Objektif (Maddi) Unsurlar</a:t>
            </a:r>
          </a:p>
          <a:p>
            <a:pPr marL="285750" indent="-285750">
              <a:buFont typeface="Arial" panose="020B0604020202020204" pitchFamily="34" charset="0"/>
              <a:buChar char="•"/>
            </a:pPr>
            <a:r>
              <a:rPr lang="tr-TR" dirty="0"/>
              <a:t>Fail</a:t>
            </a:r>
          </a:p>
          <a:p>
            <a:pPr marL="285750" indent="-285750">
              <a:buFont typeface="Arial" panose="020B0604020202020204" pitchFamily="34" charset="0"/>
              <a:buChar char="•"/>
            </a:pPr>
            <a:r>
              <a:rPr lang="tr-TR" dirty="0"/>
              <a:t>Mağdur</a:t>
            </a:r>
          </a:p>
          <a:p>
            <a:pPr marL="285750" indent="-285750">
              <a:buFont typeface="Arial" panose="020B0604020202020204" pitchFamily="34" charset="0"/>
              <a:buChar char="•"/>
            </a:pPr>
            <a:r>
              <a:rPr lang="tr-TR" dirty="0"/>
              <a:t>Suçun Konusu</a:t>
            </a:r>
          </a:p>
          <a:p>
            <a:pPr marL="285750" indent="-285750">
              <a:buFont typeface="Arial" panose="020B0604020202020204" pitchFamily="34" charset="0"/>
              <a:buChar char="•"/>
            </a:pPr>
            <a:r>
              <a:rPr lang="tr-TR" dirty="0"/>
              <a:t>Fiil (Hareket-Davranış)</a:t>
            </a:r>
          </a:p>
          <a:p>
            <a:pPr marL="285750" indent="-285750">
              <a:buFont typeface="Arial" panose="020B0604020202020204" pitchFamily="34" charset="0"/>
              <a:buChar char="•"/>
            </a:pPr>
            <a:r>
              <a:rPr lang="tr-TR" dirty="0"/>
              <a:t>Netice</a:t>
            </a:r>
          </a:p>
          <a:p>
            <a:pPr marL="285750" indent="-285750">
              <a:buFont typeface="Arial" panose="020B0604020202020204" pitchFamily="34" charset="0"/>
              <a:buChar char="•"/>
            </a:pPr>
            <a:r>
              <a:rPr lang="tr-TR" dirty="0"/>
              <a:t>Nedensellik (İlliyet) Bağı ve Objektif </a:t>
            </a:r>
            <a:r>
              <a:rPr lang="tr-TR" dirty="0" err="1"/>
              <a:t>İsnadiyet</a:t>
            </a:r>
            <a:endParaRPr lang="tr-TR" dirty="0"/>
          </a:p>
          <a:p>
            <a:pPr marL="285750" indent="-285750">
              <a:buFont typeface="Arial" panose="020B0604020202020204" pitchFamily="34" charset="0"/>
              <a:buChar char="•"/>
            </a:pPr>
            <a:r>
              <a:rPr lang="tr-TR" b="1" u="sng" dirty="0">
                <a:effectLst>
                  <a:outerShdw blurRad="38100" dist="38100" dir="2700000" algn="tl">
                    <a:srgbClr val="000000">
                      <a:alpha val="43137"/>
                    </a:srgbClr>
                  </a:outerShdw>
                </a:effectLst>
              </a:rPr>
              <a:t>Suçun Nitelikli Halleri</a:t>
            </a:r>
            <a:endParaRPr lang="fr-FR" b="1" u="sng" dirty="0">
              <a:effectLst>
                <a:outerShdw blurRad="38100" dist="38100" dir="2700000" algn="tl">
                  <a:srgbClr val="000000">
                    <a:alpha val="43137"/>
                  </a:srgbClr>
                </a:outerShdw>
              </a:effectLst>
            </a:endParaRPr>
          </a:p>
        </p:txBody>
      </p:sp>
      <p:sp>
        <p:nvSpPr>
          <p:cNvPr id="11" name="Unvan 1"/>
          <p:cNvSpPr txBox="1">
            <a:spLocks/>
          </p:cNvSpPr>
          <p:nvPr/>
        </p:nvSpPr>
        <p:spPr>
          <a:xfrm>
            <a:off x="1367693" y="106363"/>
            <a:ext cx="9144000" cy="90182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900" b="1" i="1" spc="300" smtClean="0">
                <a:effectLst>
                  <a:outerShdw blurRad="38100" dist="38100" dir="2700000" algn="tl">
                    <a:srgbClr val="000000">
                      <a:alpha val="43137"/>
                    </a:srgbClr>
                  </a:outerShdw>
                </a:effectLst>
              </a:rPr>
              <a:t>Suçun Objektif (Maddi) Unsurları </a:t>
            </a:r>
            <a:endParaRPr lang="tr-TR" sz="29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29</a:t>
            </a:fld>
            <a:r>
              <a:rPr lang="tr-TR"/>
              <a:t>/116</a:t>
            </a:r>
          </a:p>
        </p:txBody>
      </p:sp>
    </p:spTree>
    <p:extLst>
      <p:ext uri="{BB962C8B-B14F-4D97-AF65-F5344CB8AC3E}">
        <p14:creationId xmlns:p14="http://schemas.microsoft.com/office/powerpoint/2010/main" val="268931990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itchFamily="34" charset="0"/>
              <a:buChar char="•"/>
            </a:pPr>
            <a:r>
              <a:rPr lang="tr-TR" b="1" smtClean="0"/>
              <a:t>Subjektif (Manevi) Unsurlar</a:t>
            </a:r>
            <a:endParaRPr lang="tr-TR" b="1" dirty="0" smtClean="0"/>
          </a:p>
          <a:p>
            <a:pPr algn="l"/>
            <a:r>
              <a:rPr lang="tr-TR" b="1" dirty="0" smtClean="0"/>
              <a:t>	</a:t>
            </a:r>
            <a:endParaRPr lang="tr-TR" b="1" dirty="0"/>
          </a:p>
        </p:txBody>
      </p:sp>
      <p:sp>
        <p:nvSpPr>
          <p:cNvPr id="16"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Suçun Subjektif (Manevi </a:t>
            </a:r>
            <a:r>
              <a:rPr lang="tr-TR" sz="2600" b="1" i="1" spc="300">
                <a:effectLst>
                  <a:outerShdw blurRad="38100" dist="38100" dir="2700000" algn="tl">
                    <a:srgbClr val="000000">
                      <a:alpha val="43137"/>
                    </a:srgbClr>
                  </a:outerShdw>
                </a:effectLst>
              </a:rPr>
              <a:t>) </a:t>
            </a:r>
            <a:r>
              <a:rPr lang="tr-TR" sz="2600" b="1" i="1" spc="300" dirty="0" smtClean="0">
                <a:effectLst>
                  <a:outerShdw blurRad="38100" dist="38100" dir="2700000" algn="tl">
                    <a:srgbClr val="000000">
                      <a:alpha val="43137"/>
                    </a:srgbClr>
                  </a:outerShdw>
                </a:effectLst>
              </a:rPr>
              <a:t>Unsurları, </a:t>
            </a:r>
          </a:p>
          <a:p>
            <a:r>
              <a:rPr lang="tr-TR" sz="2600" b="1" i="1" spc="300" dirty="0" smtClean="0">
                <a:effectLst>
                  <a:outerShdw blurRad="38100" dist="38100" dir="2700000" algn="tl">
                    <a:srgbClr val="000000">
                      <a:alpha val="43137"/>
                    </a:srgbClr>
                  </a:outerShdw>
                </a:effectLst>
              </a:rPr>
              <a:t>Neticesi Sebebiyle Ağırlaşmış Suçlar, Maksat ve Saik</a:t>
            </a:r>
            <a:endParaRPr lang="tr-TR" sz="2600" b="1" i="1" spc="300" dirty="0">
              <a:effectLst>
                <a:outerShdw blurRad="38100" dist="38100" dir="2700000" algn="tl">
                  <a:srgbClr val="000000">
                    <a:alpha val="43137"/>
                  </a:srgbClr>
                </a:outerShdw>
              </a:effectLst>
            </a:endParaRPr>
          </a:p>
        </p:txBody>
      </p:sp>
      <p:sp>
        <p:nvSpPr>
          <p:cNvPr id="13" name="Metin kutusu 12"/>
          <p:cNvSpPr txBox="1"/>
          <p:nvPr/>
        </p:nvSpPr>
        <p:spPr>
          <a:xfrm>
            <a:off x="1995122" y="3060252"/>
            <a:ext cx="8321493" cy="369332"/>
          </a:xfrm>
          <a:prstGeom prst="rect">
            <a:avLst/>
          </a:prstGeom>
          <a:noFill/>
        </p:spPr>
        <p:txBody>
          <a:bodyPr wrap="square" rtlCol="0">
            <a:spAutoFit/>
          </a:bodyPr>
          <a:lstStyle/>
          <a:p>
            <a:r>
              <a:rPr lang="tr-TR" dirty="0" smtClean="0"/>
              <a:t>Manevi unsur gerçekleşmediği takdirde, suç oluşturan bir haksızlıktan söz edilemez</a:t>
            </a:r>
            <a:endParaRPr lang="tr-TR" dirty="0"/>
          </a:p>
        </p:txBody>
      </p:sp>
      <p:sp>
        <p:nvSpPr>
          <p:cNvPr id="14" name="Dikdörtgen 13"/>
          <p:cNvSpPr/>
          <p:nvPr/>
        </p:nvSpPr>
        <p:spPr>
          <a:xfrm>
            <a:off x="1995122" y="2562201"/>
            <a:ext cx="8184061" cy="369332"/>
          </a:xfrm>
          <a:prstGeom prst="rect">
            <a:avLst/>
          </a:prstGeom>
        </p:spPr>
        <p:txBody>
          <a:bodyPr wrap="square">
            <a:spAutoFit/>
          </a:bodyPr>
          <a:lstStyle/>
          <a:p>
            <a:pPr algn="just"/>
            <a:r>
              <a:rPr lang="tr-TR" dirty="0" smtClean="0"/>
              <a:t>Manevi Unsur = İşlenen fiil ile fail arasındaki manevi veya psişik bağ</a:t>
            </a:r>
          </a:p>
        </p:txBody>
      </p:sp>
      <p:sp>
        <p:nvSpPr>
          <p:cNvPr id="8" name="Metin kutusu 7"/>
          <p:cNvSpPr txBox="1"/>
          <p:nvPr/>
        </p:nvSpPr>
        <p:spPr>
          <a:xfrm>
            <a:off x="1995120" y="3558303"/>
            <a:ext cx="9549180" cy="369332"/>
          </a:xfrm>
          <a:prstGeom prst="rect">
            <a:avLst/>
          </a:prstGeom>
          <a:noFill/>
        </p:spPr>
        <p:txBody>
          <a:bodyPr wrap="square" rtlCol="0">
            <a:spAutoFit/>
          </a:bodyPr>
          <a:lstStyle/>
          <a:p>
            <a:r>
              <a:rPr lang="tr-TR" dirty="0" smtClean="0"/>
              <a:t>Manevi unsur, failin işlediği fiilin ona yüklenebilmesi, bu fiilden manen sorumlu tutulabilmesidir</a:t>
            </a:r>
            <a:endParaRPr lang="tr-TR" dirty="0"/>
          </a:p>
        </p:txBody>
      </p:sp>
      <p:sp>
        <p:nvSpPr>
          <p:cNvPr id="3" name="Slayt Numarası Yer Tutucusu 2"/>
          <p:cNvSpPr>
            <a:spLocks noGrp="1"/>
          </p:cNvSpPr>
          <p:nvPr>
            <p:ph type="sldNum" sz="quarter" idx="12"/>
          </p:nvPr>
        </p:nvSpPr>
        <p:spPr/>
        <p:txBody>
          <a:bodyPr/>
          <a:lstStyle/>
          <a:p>
            <a:fld id="{39F9BA00-44CD-41D4-A3D8-F864C744DC1F}" type="slidenum">
              <a:rPr lang="tr-TR" smtClean="0"/>
              <a:t>30</a:t>
            </a:fld>
            <a:r>
              <a:rPr lang="tr-TR"/>
              <a:t>/116</a:t>
            </a:r>
          </a:p>
        </p:txBody>
      </p:sp>
    </p:spTree>
    <p:extLst>
      <p:ext uri="{BB962C8B-B14F-4D97-AF65-F5344CB8AC3E}">
        <p14:creationId xmlns:p14="http://schemas.microsoft.com/office/powerpoint/2010/main" val="6681753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itchFamily="34" charset="0"/>
              <a:buChar char="•"/>
            </a:pPr>
            <a:r>
              <a:rPr lang="tr-TR" b="1" smtClean="0"/>
              <a:t>Subjektif (Manevi) Unsurlar</a:t>
            </a:r>
            <a:endParaRPr lang="tr-TR" b="1" dirty="0" smtClean="0"/>
          </a:p>
          <a:p>
            <a:pPr algn="l"/>
            <a:r>
              <a:rPr lang="tr-TR" b="1" dirty="0" smtClean="0"/>
              <a:t>	</a:t>
            </a:r>
            <a:endParaRPr lang="tr-TR" b="1" dirty="0"/>
          </a:p>
        </p:txBody>
      </p:sp>
      <p:sp>
        <p:nvSpPr>
          <p:cNvPr id="17" name="Metin kutusu 16"/>
          <p:cNvSpPr txBox="1"/>
          <p:nvPr/>
        </p:nvSpPr>
        <p:spPr>
          <a:xfrm>
            <a:off x="2033221" y="2678278"/>
            <a:ext cx="8321493" cy="369332"/>
          </a:xfrm>
          <a:prstGeom prst="rect">
            <a:avLst/>
          </a:prstGeom>
          <a:noFill/>
        </p:spPr>
        <p:txBody>
          <a:bodyPr wrap="square" rtlCol="0">
            <a:spAutoFit/>
          </a:bodyPr>
          <a:lstStyle/>
          <a:p>
            <a:r>
              <a:rPr lang="tr-TR" dirty="0" smtClean="0"/>
              <a:t>Tipikliğin manevi unsuru = </a:t>
            </a:r>
            <a:r>
              <a:rPr lang="tr-TR" smtClean="0"/>
              <a:t>Kast </a:t>
            </a:r>
            <a:r>
              <a:rPr lang="tr-TR" b="1" smtClean="0"/>
              <a:t>&amp;</a:t>
            </a:r>
            <a:r>
              <a:rPr lang="tr-TR" smtClean="0"/>
              <a:t> </a:t>
            </a:r>
            <a:r>
              <a:rPr lang="tr-TR" dirty="0" smtClean="0"/>
              <a:t>Taksir</a:t>
            </a:r>
            <a:endParaRPr lang="tr-TR" dirty="0"/>
          </a:p>
        </p:txBody>
      </p:sp>
      <p:sp>
        <p:nvSpPr>
          <p:cNvPr id="9" name="Metin kutusu 8"/>
          <p:cNvSpPr txBox="1"/>
          <p:nvPr/>
        </p:nvSpPr>
        <p:spPr>
          <a:xfrm>
            <a:off x="2033220" y="3420266"/>
            <a:ext cx="9463455" cy="400110"/>
          </a:xfrm>
          <a:prstGeom prst="rect">
            <a:avLst/>
          </a:prstGeom>
          <a:noFill/>
        </p:spPr>
        <p:txBody>
          <a:bodyPr wrap="square" rtlCol="0">
            <a:spAutoFit/>
          </a:bodyPr>
          <a:lstStyle/>
          <a:p>
            <a:r>
              <a:rPr lang="tr-TR" sz="2000" b="1" dirty="0" smtClean="0">
                <a:effectLst>
                  <a:outerShdw blurRad="38100" dist="38100" dir="2700000" algn="tl">
                    <a:srgbClr val="000000">
                      <a:alpha val="43137"/>
                    </a:srgbClr>
                  </a:outerShdw>
                </a:effectLst>
              </a:rPr>
              <a:t>Kast:</a:t>
            </a:r>
            <a:r>
              <a:rPr lang="tr-TR" sz="2000" dirty="0" smtClean="0"/>
              <a:t> Suç teşkil eden fiilin bilerek ve istenerek işlenmesi _ </a:t>
            </a:r>
            <a:r>
              <a:rPr lang="tr-TR" sz="2000" i="1" dirty="0" smtClean="0">
                <a:effectLst>
                  <a:outerShdw blurRad="38100" dist="38100" dir="2700000" algn="tl">
                    <a:srgbClr val="000000">
                      <a:alpha val="43137"/>
                    </a:srgbClr>
                  </a:outerShdw>
                </a:effectLst>
              </a:rPr>
              <a:t>TAAMMÜT</a:t>
            </a:r>
            <a:r>
              <a:rPr lang="tr-TR" sz="2000" dirty="0" smtClean="0">
                <a:effectLst>
                  <a:outerShdw blurRad="38100" dist="38100" dir="2700000" algn="tl">
                    <a:srgbClr val="000000">
                      <a:alpha val="43137"/>
                    </a:srgbClr>
                  </a:outerShdw>
                </a:effectLst>
              </a:rPr>
              <a:t> ? </a:t>
            </a:r>
            <a:r>
              <a:rPr lang="tr-TR" sz="1200" dirty="0" smtClean="0">
                <a:effectLst>
                  <a:outerShdw blurRad="38100" dist="38100" dir="2700000" algn="tl">
                    <a:srgbClr val="000000">
                      <a:alpha val="43137"/>
                    </a:srgbClr>
                  </a:outerShdw>
                </a:effectLst>
              </a:rPr>
              <a:t>(</a:t>
            </a:r>
            <a:r>
              <a:rPr lang="tr-TR" sz="1200" i="1" dirty="0" smtClean="0">
                <a:effectLst>
                  <a:outerShdw blurRad="38100" dist="38100" dir="2700000" algn="tl">
                    <a:srgbClr val="000000">
                      <a:alpha val="43137"/>
                    </a:srgbClr>
                  </a:outerShdw>
                </a:effectLst>
              </a:rPr>
              <a:t>Planlanarak işlenen kasıtlı suç</a:t>
            </a:r>
            <a:r>
              <a:rPr lang="tr-TR" sz="1200" dirty="0" smtClean="0">
                <a:effectLst>
                  <a:outerShdw blurRad="38100" dist="38100" dir="2700000" algn="tl">
                    <a:srgbClr val="000000">
                      <a:alpha val="43137"/>
                    </a:srgbClr>
                  </a:outerShdw>
                </a:effectLst>
              </a:rPr>
              <a:t>)</a:t>
            </a:r>
            <a:endParaRPr lang="tr-TR" sz="2000" dirty="0">
              <a:effectLst>
                <a:outerShdw blurRad="38100" dist="38100" dir="2700000" algn="tl">
                  <a:srgbClr val="000000">
                    <a:alpha val="43137"/>
                  </a:srgbClr>
                </a:outerShdw>
              </a:effectLst>
            </a:endParaRPr>
          </a:p>
        </p:txBody>
      </p:sp>
      <p:sp>
        <p:nvSpPr>
          <p:cNvPr id="10" name="Metin kutusu 9"/>
          <p:cNvSpPr txBox="1"/>
          <p:nvPr/>
        </p:nvSpPr>
        <p:spPr>
          <a:xfrm>
            <a:off x="2033220" y="4101815"/>
            <a:ext cx="8321493" cy="400110"/>
          </a:xfrm>
          <a:prstGeom prst="rect">
            <a:avLst/>
          </a:prstGeom>
          <a:noFill/>
        </p:spPr>
        <p:txBody>
          <a:bodyPr wrap="square" rtlCol="0">
            <a:spAutoFit/>
          </a:bodyPr>
          <a:lstStyle/>
          <a:p>
            <a:r>
              <a:rPr lang="tr-TR" sz="2000" b="1" dirty="0" smtClean="0">
                <a:effectLst>
                  <a:outerShdw blurRad="38100" dist="38100" dir="2700000" algn="tl">
                    <a:srgbClr val="000000">
                      <a:alpha val="43137"/>
                    </a:srgbClr>
                  </a:outerShdw>
                </a:effectLst>
              </a:rPr>
              <a:t>Taksir:</a:t>
            </a:r>
            <a:r>
              <a:rPr lang="tr-TR" sz="2000" dirty="0" smtClean="0"/>
              <a:t> Suç teşkil eden fiilin dikkat ve özensizlik sonucu işlenmesi</a:t>
            </a:r>
            <a:endParaRPr lang="tr-TR" sz="2000" dirty="0">
              <a:solidFill>
                <a:srgbClr val="FF0000"/>
              </a:solidFill>
              <a:effectLst>
                <a:outerShdw blurRad="38100" dist="38100" dir="2700000" algn="tl">
                  <a:srgbClr val="000000">
                    <a:alpha val="43137"/>
                  </a:srgbClr>
                </a:outerShdw>
              </a:effectLst>
            </a:endParaRPr>
          </a:p>
        </p:txBody>
      </p:sp>
      <p:sp>
        <p:nvSpPr>
          <p:cNvPr id="8"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Suçun Subjektif (Manevi </a:t>
            </a:r>
            <a:r>
              <a:rPr lang="tr-TR" sz="2600" b="1" i="1" spc="300">
                <a:effectLst>
                  <a:outerShdw blurRad="38100" dist="38100" dir="2700000" algn="tl">
                    <a:srgbClr val="000000">
                      <a:alpha val="43137"/>
                    </a:srgbClr>
                  </a:outerShdw>
                </a:effectLst>
              </a:rPr>
              <a:t>) </a:t>
            </a:r>
            <a:r>
              <a:rPr lang="tr-TR" sz="2600" b="1" i="1" spc="300" dirty="0" smtClean="0">
                <a:effectLst>
                  <a:outerShdw blurRad="38100" dist="38100" dir="2700000" algn="tl">
                    <a:srgbClr val="000000">
                      <a:alpha val="43137"/>
                    </a:srgbClr>
                  </a:outerShdw>
                </a:effectLst>
              </a:rPr>
              <a:t>Unsurları, </a:t>
            </a:r>
          </a:p>
          <a:p>
            <a:r>
              <a:rPr lang="tr-TR" sz="2600" b="1" i="1" spc="300" dirty="0" smtClean="0">
                <a:effectLst>
                  <a:outerShdw blurRad="38100" dist="38100" dir="2700000" algn="tl">
                    <a:srgbClr val="000000">
                      <a:alpha val="43137"/>
                    </a:srgbClr>
                  </a:outerShdw>
                </a:effectLst>
              </a:rPr>
              <a:t>Neticesi Sebebiyle Ağırlaşmış Suçlar, Maksat ve Saik</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31</a:t>
            </a:fld>
            <a:r>
              <a:rPr lang="tr-TR"/>
              <a:t>/116</a:t>
            </a:r>
          </a:p>
        </p:txBody>
      </p:sp>
    </p:spTree>
    <p:extLst>
      <p:ext uri="{BB962C8B-B14F-4D97-AF65-F5344CB8AC3E}">
        <p14:creationId xmlns:p14="http://schemas.microsoft.com/office/powerpoint/2010/main" val="18370074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1035183" y="2250831"/>
            <a:ext cx="10621108" cy="830997"/>
          </a:xfrm>
          <a:prstGeom prst="rect">
            <a:avLst/>
          </a:prstGeom>
        </p:spPr>
        <p:txBody>
          <a:bodyPr wrap="square">
            <a:spAutoFit/>
          </a:bodyPr>
          <a:lstStyle/>
          <a:p>
            <a:pPr algn="just"/>
            <a:r>
              <a:rPr lang="tr-TR" sz="2400" b="1" dirty="0" smtClean="0"/>
              <a:t>	Kast </a:t>
            </a:r>
            <a:r>
              <a:rPr lang="tr-TR" sz="1600" b="1" i="1" dirty="0"/>
              <a:t>(5237 s. Kanun m.21)</a:t>
            </a:r>
            <a:endParaRPr lang="tr-TR" sz="3600" b="1" dirty="0"/>
          </a:p>
          <a:p>
            <a:pPr algn="just"/>
            <a:r>
              <a:rPr lang="tr-TR" sz="2400" b="1" dirty="0" smtClean="0"/>
              <a:t> </a:t>
            </a:r>
          </a:p>
        </p:txBody>
      </p:sp>
      <p:sp>
        <p:nvSpPr>
          <p:cNvPr id="15" name="Dikdörtgen 14"/>
          <p:cNvSpPr/>
          <p:nvPr/>
        </p:nvSpPr>
        <p:spPr>
          <a:xfrm>
            <a:off x="1999519" y="2804829"/>
            <a:ext cx="9354281" cy="369332"/>
          </a:xfrm>
          <a:prstGeom prst="rect">
            <a:avLst/>
          </a:prstGeom>
        </p:spPr>
        <p:txBody>
          <a:bodyPr wrap="square">
            <a:spAutoFit/>
          </a:bodyPr>
          <a:lstStyle/>
          <a:p>
            <a:pPr algn="just"/>
            <a:r>
              <a:rPr lang="tr-TR" dirty="0" smtClean="0"/>
              <a:t>Tipiklikte yer alan tüm unsurların fail tarafından </a:t>
            </a:r>
            <a:r>
              <a:rPr lang="tr-TR" b="1" dirty="0" smtClean="0">
                <a:effectLst>
                  <a:outerShdw blurRad="38100" dist="38100" dir="2700000" algn="tl">
                    <a:srgbClr val="000000">
                      <a:alpha val="43137"/>
                    </a:srgbClr>
                  </a:outerShdw>
                </a:effectLst>
              </a:rPr>
              <a:t>BİLİNMESİ</a:t>
            </a:r>
            <a:r>
              <a:rPr lang="tr-TR" dirty="0" smtClean="0"/>
              <a:t> ve </a:t>
            </a:r>
            <a:r>
              <a:rPr lang="tr-TR" b="1" u="sng" dirty="0" smtClean="0">
                <a:effectLst>
                  <a:outerShdw blurRad="38100" dist="38100" dir="2700000" algn="tl">
                    <a:srgbClr val="000000">
                      <a:alpha val="43137"/>
                    </a:srgbClr>
                  </a:outerShdw>
                </a:effectLst>
              </a:rPr>
              <a:t>İSTENMESİ</a:t>
            </a:r>
            <a:r>
              <a:rPr lang="tr-TR" dirty="0" smtClean="0"/>
              <a:t> </a:t>
            </a:r>
          </a:p>
        </p:txBody>
      </p:sp>
      <p:sp>
        <p:nvSpPr>
          <p:cNvPr id="8" name="Metin kutusu 7"/>
          <p:cNvSpPr txBox="1"/>
          <p:nvPr/>
        </p:nvSpPr>
        <p:spPr>
          <a:xfrm>
            <a:off x="3796146" y="3688628"/>
            <a:ext cx="7860145" cy="1277273"/>
          </a:xfrm>
          <a:prstGeom prst="rect">
            <a:avLst/>
          </a:prstGeom>
          <a:noFill/>
        </p:spPr>
        <p:txBody>
          <a:bodyPr wrap="square" rtlCol="0">
            <a:spAutoFit/>
          </a:bodyPr>
          <a:lstStyle/>
          <a:p>
            <a:pPr lvl="0" algn="just"/>
            <a:r>
              <a:rPr lang="tr-TR" sz="1100" b="1" dirty="0" smtClean="0">
                <a:solidFill>
                  <a:prstClr val="black"/>
                </a:solidFill>
              </a:rPr>
              <a:t>Türk Ceza Kanunu</a:t>
            </a:r>
            <a:endParaRPr lang="tr-TR" sz="1100" dirty="0">
              <a:solidFill>
                <a:prstClr val="black"/>
              </a:solidFill>
            </a:endParaRPr>
          </a:p>
          <a:p>
            <a:pPr lvl="0" algn="just"/>
            <a:r>
              <a:rPr lang="es-ES" sz="1100" b="1" dirty="0">
                <a:solidFill>
                  <a:prstClr val="black"/>
                </a:solidFill>
              </a:rPr>
              <a:t>Kast</a:t>
            </a:r>
          </a:p>
          <a:p>
            <a:pPr lvl="0" algn="just"/>
            <a:r>
              <a:rPr lang="es-ES" sz="1100" b="1" dirty="0">
                <a:solidFill>
                  <a:prstClr val="black"/>
                </a:solidFill>
              </a:rPr>
              <a:t>Madde 21- </a:t>
            </a:r>
            <a:r>
              <a:rPr lang="es-ES" sz="1100" dirty="0">
                <a:solidFill>
                  <a:prstClr val="black"/>
                </a:solidFill>
              </a:rPr>
              <a:t>(1) Suçun oluşması </a:t>
            </a:r>
            <a:r>
              <a:rPr lang="es-ES" sz="1100" u="sng" dirty="0">
                <a:solidFill>
                  <a:prstClr val="black"/>
                </a:solidFill>
              </a:rPr>
              <a:t>kastın varlığına bağlı</a:t>
            </a:r>
            <a:r>
              <a:rPr lang="es-ES" sz="1100" dirty="0">
                <a:solidFill>
                  <a:prstClr val="black"/>
                </a:solidFill>
              </a:rPr>
              <a:t>dır. Kast, suçun kanuni </a:t>
            </a:r>
            <a:r>
              <a:rPr lang="es-ES" sz="1100" dirty="0" smtClean="0">
                <a:solidFill>
                  <a:prstClr val="black"/>
                </a:solidFill>
              </a:rPr>
              <a:t>tanımındaki </a:t>
            </a:r>
            <a:r>
              <a:rPr lang="es-ES" sz="1100" dirty="0">
                <a:solidFill>
                  <a:prstClr val="black"/>
                </a:solidFill>
              </a:rPr>
              <a:t>unsurların </a:t>
            </a:r>
            <a:r>
              <a:rPr lang="es-ES" sz="1100" dirty="0">
                <a:solidFill>
                  <a:prstClr val="black"/>
                </a:solidFill>
                <a:effectLst>
                  <a:outerShdw blurRad="38100" dist="38100" dir="2700000" algn="tl">
                    <a:srgbClr val="000000">
                      <a:alpha val="43137"/>
                    </a:srgbClr>
                  </a:outerShdw>
                </a:effectLst>
              </a:rPr>
              <a:t>bilerek ve istenerek </a:t>
            </a:r>
            <a:r>
              <a:rPr lang="es-ES" sz="1100" dirty="0">
                <a:solidFill>
                  <a:prstClr val="black"/>
                </a:solidFill>
              </a:rPr>
              <a:t>gerçekleştirilmesidir.</a:t>
            </a:r>
          </a:p>
          <a:p>
            <a:pPr lvl="0" algn="just"/>
            <a:r>
              <a:rPr lang="es-ES" sz="1100" dirty="0">
                <a:solidFill>
                  <a:prstClr val="black"/>
                </a:solidFill>
              </a:rPr>
              <a:t>(2) Kişinin, suçun kanuni tanımındaki unsurların gerçekleşebileceğini öngörmesine </a:t>
            </a:r>
            <a:r>
              <a:rPr lang="es-ES" sz="1100" dirty="0" smtClean="0">
                <a:solidFill>
                  <a:prstClr val="black"/>
                </a:solidFill>
              </a:rPr>
              <a:t>rağmen</a:t>
            </a:r>
            <a:r>
              <a:rPr lang="es-ES" sz="1100" dirty="0">
                <a:solidFill>
                  <a:prstClr val="black"/>
                </a:solidFill>
              </a:rPr>
              <a:t>, fiili işlemesi halinde </a:t>
            </a:r>
            <a:r>
              <a:rPr lang="es-ES" sz="1100" dirty="0">
                <a:solidFill>
                  <a:prstClr val="black"/>
                </a:solidFill>
                <a:effectLst>
                  <a:outerShdw blurRad="38100" dist="38100" dir="2700000" algn="tl">
                    <a:srgbClr val="000000">
                      <a:alpha val="43137"/>
                    </a:srgbClr>
                  </a:outerShdw>
                </a:effectLst>
              </a:rPr>
              <a:t>olası kast</a:t>
            </a:r>
            <a:r>
              <a:rPr lang="es-ES" sz="1100" dirty="0">
                <a:solidFill>
                  <a:prstClr val="black"/>
                </a:solidFill>
              </a:rPr>
              <a:t> vardır. Bu halde, ağırlaştırılmış müebbet hapis </a:t>
            </a:r>
            <a:r>
              <a:rPr lang="es-ES" sz="1100" dirty="0" smtClean="0">
                <a:solidFill>
                  <a:prstClr val="black"/>
                </a:solidFill>
              </a:rPr>
              <a:t>cezasını </a:t>
            </a:r>
            <a:r>
              <a:rPr lang="es-ES" sz="1100" dirty="0">
                <a:solidFill>
                  <a:prstClr val="black"/>
                </a:solidFill>
              </a:rPr>
              <a:t>gerektiren suçlarda müebbet hapis cezasına, müebbet hapis cezasını gerektiren </a:t>
            </a:r>
            <a:r>
              <a:rPr lang="es-ES" sz="1100" dirty="0" smtClean="0">
                <a:solidFill>
                  <a:prstClr val="black"/>
                </a:solidFill>
              </a:rPr>
              <a:t>suçlarda </a:t>
            </a:r>
            <a:r>
              <a:rPr lang="es-ES" sz="1100" dirty="0">
                <a:solidFill>
                  <a:prstClr val="black"/>
                </a:solidFill>
              </a:rPr>
              <a:t>yirmi yıldan yirmibeş yıla kadar hapis cezasına hükmolunur; diğer suçlarda ise </a:t>
            </a:r>
            <a:r>
              <a:rPr lang="es-ES" sz="1100" dirty="0" smtClean="0">
                <a:solidFill>
                  <a:prstClr val="black"/>
                </a:solidFill>
              </a:rPr>
              <a:t>temel</a:t>
            </a:r>
            <a:r>
              <a:rPr lang="tr-TR" sz="1100" dirty="0" smtClean="0">
                <a:solidFill>
                  <a:prstClr val="black"/>
                </a:solidFill>
              </a:rPr>
              <a:t> </a:t>
            </a:r>
            <a:r>
              <a:rPr lang="es-ES" sz="1100" dirty="0" smtClean="0">
                <a:solidFill>
                  <a:prstClr val="black"/>
                </a:solidFill>
              </a:rPr>
              <a:t>ceza </a:t>
            </a:r>
            <a:r>
              <a:rPr lang="es-ES" sz="1100" dirty="0">
                <a:solidFill>
                  <a:prstClr val="black"/>
                </a:solidFill>
              </a:rPr>
              <a:t>üçte birden yarısına kadar indirilir</a:t>
            </a:r>
            <a:endParaRPr lang="fr-FR" sz="1100" dirty="0"/>
          </a:p>
        </p:txBody>
      </p:sp>
      <p:sp>
        <p:nvSpPr>
          <p:cNvPr id="10" name="Metin kutusu 9"/>
          <p:cNvSpPr txBox="1"/>
          <p:nvPr/>
        </p:nvSpPr>
        <p:spPr>
          <a:xfrm>
            <a:off x="1999519" y="4974116"/>
            <a:ext cx="9301528" cy="369332"/>
          </a:xfrm>
          <a:prstGeom prst="rect">
            <a:avLst/>
          </a:prstGeom>
          <a:noFill/>
        </p:spPr>
        <p:txBody>
          <a:bodyPr wrap="square" rtlCol="0">
            <a:spAutoFit/>
          </a:bodyPr>
          <a:lstStyle/>
          <a:p>
            <a:r>
              <a:rPr lang="tr-TR" b="1" dirty="0" smtClean="0"/>
              <a:t>Kastın türleri</a:t>
            </a:r>
            <a:endParaRPr lang="tr-TR" b="1" dirty="0"/>
          </a:p>
        </p:txBody>
      </p:sp>
      <p:sp>
        <p:nvSpPr>
          <p:cNvPr id="11" name="Metin kutusu 10"/>
          <p:cNvSpPr txBox="1"/>
          <p:nvPr/>
        </p:nvSpPr>
        <p:spPr>
          <a:xfrm>
            <a:off x="2123344" y="5368256"/>
            <a:ext cx="9301528" cy="369332"/>
          </a:xfrm>
          <a:prstGeom prst="rect">
            <a:avLst/>
          </a:prstGeom>
          <a:noFill/>
        </p:spPr>
        <p:txBody>
          <a:bodyPr wrap="square" rtlCol="0">
            <a:spAutoFit/>
          </a:bodyPr>
          <a:lstStyle/>
          <a:p>
            <a:pPr marL="285750" indent="-285750">
              <a:buFont typeface="Arial" panose="020B0604020202020204" pitchFamily="34" charset="0"/>
              <a:buChar char="•"/>
            </a:pPr>
            <a:r>
              <a:rPr lang="tr-TR" dirty="0" smtClean="0"/>
              <a:t>Doğrudan Kast</a:t>
            </a:r>
            <a:endParaRPr lang="tr-TR" dirty="0"/>
          </a:p>
        </p:txBody>
      </p:sp>
      <p:sp>
        <p:nvSpPr>
          <p:cNvPr id="12" name="Metin kutusu 11"/>
          <p:cNvSpPr txBox="1"/>
          <p:nvPr/>
        </p:nvSpPr>
        <p:spPr>
          <a:xfrm>
            <a:off x="2123344" y="5728065"/>
            <a:ext cx="9301528" cy="369332"/>
          </a:xfrm>
          <a:prstGeom prst="rect">
            <a:avLst/>
          </a:prstGeom>
          <a:noFill/>
        </p:spPr>
        <p:txBody>
          <a:bodyPr wrap="square" rtlCol="0">
            <a:spAutoFit/>
          </a:bodyPr>
          <a:lstStyle/>
          <a:p>
            <a:pPr marL="285750" indent="-285750">
              <a:buFont typeface="Arial" panose="020B0604020202020204" pitchFamily="34" charset="0"/>
              <a:buChar char="•"/>
            </a:pPr>
            <a:r>
              <a:rPr lang="tr-TR" dirty="0" smtClean="0"/>
              <a:t>Olası Kast</a:t>
            </a:r>
            <a:endParaRPr lang="tr-TR" dirty="0"/>
          </a:p>
        </p:txBody>
      </p:sp>
      <p:sp>
        <p:nvSpPr>
          <p:cNvPr id="2" name="Dikdörtgen 1"/>
          <p:cNvSpPr/>
          <p:nvPr/>
        </p:nvSpPr>
        <p:spPr>
          <a:xfrm>
            <a:off x="2266949" y="3180027"/>
            <a:ext cx="9389341" cy="523220"/>
          </a:xfrm>
          <a:prstGeom prst="rect">
            <a:avLst/>
          </a:prstGeom>
        </p:spPr>
        <p:txBody>
          <a:bodyPr wrap="square">
            <a:spAutoFit/>
          </a:bodyPr>
          <a:lstStyle/>
          <a:p>
            <a:pPr indent="266700" algn="just"/>
            <a:r>
              <a:rPr lang="fr-FR" sz="1400" dirty="0" err="1"/>
              <a:t>Kastın</a:t>
            </a:r>
            <a:r>
              <a:rPr lang="fr-FR" sz="1400" dirty="0"/>
              <a:t> </a:t>
            </a:r>
            <a:r>
              <a:rPr lang="fr-FR" sz="1400" dirty="0" err="1"/>
              <a:t>isteme</a:t>
            </a:r>
            <a:r>
              <a:rPr lang="fr-FR" sz="1400" dirty="0"/>
              <a:t> </a:t>
            </a:r>
            <a:r>
              <a:rPr lang="fr-FR" sz="1400" dirty="0" err="1"/>
              <a:t>unsuru</a:t>
            </a:r>
            <a:r>
              <a:rPr lang="fr-FR" sz="1400" dirty="0"/>
              <a:t>, </a:t>
            </a:r>
            <a:r>
              <a:rPr lang="fr-FR" sz="1400" dirty="0" err="1"/>
              <a:t>bir</a:t>
            </a:r>
            <a:r>
              <a:rPr lang="fr-FR" sz="1400" dirty="0"/>
              <a:t> </a:t>
            </a:r>
            <a:r>
              <a:rPr lang="fr-FR" sz="1400" dirty="0" err="1"/>
              <a:t>hususu</a:t>
            </a:r>
            <a:r>
              <a:rPr lang="fr-FR" sz="1400" dirty="0"/>
              <a:t> (</a:t>
            </a:r>
            <a:r>
              <a:rPr lang="fr-FR" sz="1400" dirty="0" err="1"/>
              <a:t>neticeyi</a:t>
            </a:r>
            <a:r>
              <a:rPr lang="fr-FR" sz="1400" dirty="0"/>
              <a:t>) </a:t>
            </a:r>
            <a:r>
              <a:rPr lang="fr-FR" sz="1400" dirty="0" err="1"/>
              <a:t>elde</a:t>
            </a:r>
            <a:r>
              <a:rPr lang="fr-FR" sz="1400" dirty="0"/>
              <a:t> </a:t>
            </a:r>
            <a:r>
              <a:rPr lang="fr-FR" sz="1400" dirty="0" err="1"/>
              <a:t>etmeyi</a:t>
            </a:r>
            <a:r>
              <a:rPr lang="fr-FR" sz="1400" dirty="0"/>
              <a:t>, </a:t>
            </a:r>
            <a:r>
              <a:rPr lang="fr-FR" sz="1400" dirty="0" err="1"/>
              <a:t>bir</a:t>
            </a:r>
            <a:r>
              <a:rPr lang="fr-FR" sz="1400" dirty="0"/>
              <a:t> </a:t>
            </a:r>
            <a:r>
              <a:rPr lang="fr-FR" sz="1400" dirty="0" err="1"/>
              <a:t>gayeye</a:t>
            </a:r>
            <a:r>
              <a:rPr lang="fr-FR" sz="1400" dirty="0"/>
              <a:t> </a:t>
            </a:r>
            <a:r>
              <a:rPr lang="fr-FR" sz="1400" dirty="0" err="1"/>
              <a:t>ulaşmayı</a:t>
            </a:r>
            <a:r>
              <a:rPr lang="fr-FR" sz="1400" dirty="0"/>
              <a:t> </a:t>
            </a:r>
            <a:r>
              <a:rPr lang="fr-FR" sz="1400" dirty="0" err="1"/>
              <a:t>değil</a:t>
            </a:r>
            <a:r>
              <a:rPr lang="fr-FR" sz="1400" dirty="0"/>
              <a:t> </a:t>
            </a:r>
            <a:r>
              <a:rPr lang="fr-FR" sz="1400" u="sng" dirty="0" err="1">
                <a:effectLst>
                  <a:outerShdw blurRad="38100" dist="38100" dir="2700000" algn="tl">
                    <a:srgbClr val="000000">
                      <a:alpha val="43137"/>
                    </a:srgbClr>
                  </a:outerShdw>
                </a:effectLst>
              </a:rPr>
              <a:t>bir</a:t>
            </a:r>
            <a:r>
              <a:rPr lang="fr-FR" sz="1400" u="sng" dirty="0">
                <a:effectLst>
                  <a:outerShdw blurRad="38100" dist="38100" dir="2700000" algn="tl">
                    <a:srgbClr val="000000">
                      <a:alpha val="43137"/>
                    </a:srgbClr>
                  </a:outerShdw>
                </a:effectLst>
              </a:rPr>
              <a:t> </a:t>
            </a:r>
            <a:r>
              <a:rPr lang="fr-FR" sz="1400" u="sng" dirty="0" err="1">
                <a:effectLst>
                  <a:outerShdw blurRad="38100" dist="38100" dir="2700000" algn="tl">
                    <a:srgbClr val="000000">
                      <a:alpha val="43137"/>
                    </a:srgbClr>
                  </a:outerShdw>
                </a:effectLst>
              </a:rPr>
              <a:t>suç</a:t>
            </a:r>
            <a:r>
              <a:rPr lang="fr-FR" sz="1400" u="sng" dirty="0">
                <a:effectLst>
                  <a:outerShdw blurRad="38100" dist="38100" dir="2700000" algn="tl">
                    <a:srgbClr val="000000">
                      <a:alpha val="43137"/>
                    </a:srgbClr>
                  </a:outerShdw>
                </a:effectLst>
              </a:rPr>
              <a:t> </a:t>
            </a:r>
            <a:r>
              <a:rPr lang="fr-FR" sz="1400" u="sng" dirty="0" err="1">
                <a:effectLst>
                  <a:outerShdw blurRad="38100" dist="38100" dir="2700000" algn="tl">
                    <a:srgbClr val="000000">
                      <a:alpha val="43137"/>
                    </a:srgbClr>
                  </a:outerShdw>
                </a:effectLst>
              </a:rPr>
              <a:t>tipini</a:t>
            </a:r>
            <a:r>
              <a:rPr lang="fr-FR" sz="1400" u="sng" dirty="0">
                <a:effectLst>
                  <a:outerShdw blurRad="38100" dist="38100" dir="2700000" algn="tl">
                    <a:srgbClr val="000000">
                      <a:alpha val="43137"/>
                    </a:srgbClr>
                  </a:outerShdw>
                </a:effectLst>
              </a:rPr>
              <a:t> </a:t>
            </a:r>
            <a:r>
              <a:rPr lang="fr-FR" sz="1400" u="sng" dirty="0" err="1">
                <a:effectLst>
                  <a:outerShdw blurRad="38100" dist="38100" dir="2700000" algn="tl">
                    <a:srgbClr val="000000">
                      <a:alpha val="43137"/>
                    </a:srgbClr>
                  </a:outerShdw>
                </a:effectLst>
              </a:rPr>
              <a:t>gerçekleştirmeye</a:t>
            </a:r>
            <a:r>
              <a:rPr lang="fr-FR" sz="1400" u="sng" dirty="0">
                <a:effectLst>
                  <a:outerShdw blurRad="38100" dist="38100" dir="2700000" algn="tl">
                    <a:srgbClr val="000000">
                      <a:alpha val="43137"/>
                    </a:srgbClr>
                  </a:outerShdw>
                </a:effectLst>
              </a:rPr>
              <a:t> </a:t>
            </a:r>
            <a:r>
              <a:rPr lang="fr-FR" sz="1400" u="sng" dirty="0" err="1">
                <a:effectLst>
                  <a:outerShdw blurRad="38100" dist="38100" dir="2700000" algn="tl">
                    <a:srgbClr val="000000">
                      <a:alpha val="43137"/>
                    </a:srgbClr>
                  </a:outerShdw>
                </a:effectLst>
              </a:rPr>
              <a:t>yönelik</a:t>
            </a:r>
            <a:r>
              <a:rPr lang="fr-FR" sz="1400" u="sng" dirty="0">
                <a:effectLst>
                  <a:outerShdw blurRad="38100" dist="38100" dir="2700000" algn="tl">
                    <a:srgbClr val="000000">
                      <a:alpha val="43137"/>
                    </a:srgbClr>
                  </a:outerShdw>
                </a:effectLst>
              </a:rPr>
              <a:t> </a:t>
            </a:r>
            <a:r>
              <a:rPr lang="fr-FR" sz="1400" u="sng" dirty="0" err="1">
                <a:effectLst>
                  <a:outerShdw blurRad="38100" dist="38100" dir="2700000" algn="tl">
                    <a:srgbClr val="000000">
                      <a:alpha val="43137"/>
                    </a:srgbClr>
                  </a:outerShdw>
                </a:effectLst>
              </a:rPr>
              <a:t>kararlı</a:t>
            </a:r>
            <a:r>
              <a:rPr lang="fr-FR" sz="1400" u="sng" dirty="0">
                <a:effectLst>
                  <a:outerShdw blurRad="38100" dist="38100" dir="2700000" algn="tl">
                    <a:srgbClr val="000000">
                      <a:alpha val="43137"/>
                    </a:srgbClr>
                  </a:outerShdw>
                </a:effectLst>
              </a:rPr>
              <a:t> </a:t>
            </a:r>
            <a:r>
              <a:rPr lang="fr-FR" sz="1400" u="sng" dirty="0" err="1">
                <a:effectLst>
                  <a:outerShdw blurRad="38100" dist="38100" dir="2700000" algn="tl">
                    <a:srgbClr val="000000">
                      <a:alpha val="43137"/>
                    </a:srgbClr>
                  </a:outerShdw>
                </a:effectLst>
              </a:rPr>
              <a:t>iradeye</a:t>
            </a:r>
            <a:r>
              <a:rPr lang="fr-FR" sz="1400" dirty="0"/>
              <a:t> </a:t>
            </a:r>
            <a:r>
              <a:rPr lang="fr-FR" sz="1400" dirty="0" err="1"/>
              <a:t>karşılık</a:t>
            </a:r>
            <a:r>
              <a:rPr lang="fr-FR" sz="1400" dirty="0"/>
              <a:t> </a:t>
            </a:r>
            <a:r>
              <a:rPr lang="fr-FR" sz="1400" dirty="0" err="1"/>
              <a:t>gelmektedir</a:t>
            </a:r>
            <a:r>
              <a:rPr lang="fr-FR" sz="1400" dirty="0"/>
              <a:t>.</a:t>
            </a:r>
          </a:p>
        </p:txBody>
      </p:sp>
      <p:sp>
        <p:nvSpPr>
          <p:cNvPr id="14"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itchFamily="34" charset="0"/>
              <a:buChar char="•"/>
            </a:pPr>
            <a:r>
              <a:rPr lang="tr-TR" b="1" smtClean="0"/>
              <a:t>Subjektif (Manevi) Unsurlar</a:t>
            </a:r>
            <a:endParaRPr lang="tr-TR" b="1" dirty="0" smtClean="0"/>
          </a:p>
          <a:p>
            <a:pPr algn="l"/>
            <a:r>
              <a:rPr lang="tr-TR" b="1" dirty="0" smtClean="0"/>
              <a:t>	</a:t>
            </a:r>
            <a:endParaRPr lang="tr-TR" b="1" dirty="0"/>
          </a:p>
        </p:txBody>
      </p:sp>
      <p:sp>
        <p:nvSpPr>
          <p:cNvPr id="17"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Suçun Subjektif (Manevi </a:t>
            </a:r>
            <a:r>
              <a:rPr lang="tr-TR" sz="2600" b="1" i="1" spc="300">
                <a:effectLst>
                  <a:outerShdw blurRad="38100" dist="38100" dir="2700000" algn="tl">
                    <a:srgbClr val="000000">
                      <a:alpha val="43137"/>
                    </a:srgbClr>
                  </a:outerShdw>
                </a:effectLst>
              </a:rPr>
              <a:t>) </a:t>
            </a:r>
            <a:r>
              <a:rPr lang="tr-TR" sz="2600" b="1" i="1" spc="300" dirty="0" smtClean="0">
                <a:effectLst>
                  <a:outerShdw blurRad="38100" dist="38100" dir="2700000" algn="tl">
                    <a:srgbClr val="000000">
                      <a:alpha val="43137"/>
                    </a:srgbClr>
                  </a:outerShdw>
                </a:effectLst>
              </a:rPr>
              <a:t>Unsurları, </a:t>
            </a:r>
          </a:p>
          <a:p>
            <a:r>
              <a:rPr lang="tr-TR" sz="2600" b="1" i="1" spc="300" dirty="0" smtClean="0">
                <a:effectLst>
                  <a:outerShdw blurRad="38100" dist="38100" dir="2700000" algn="tl">
                    <a:srgbClr val="000000">
                      <a:alpha val="43137"/>
                    </a:srgbClr>
                  </a:outerShdw>
                </a:effectLst>
              </a:rPr>
              <a:t>Neticesi Sebebiyle Ağırlaşmış Suçlar, Maksat ve Saik</a:t>
            </a:r>
            <a:endParaRPr lang="tr-TR" sz="2600" b="1" i="1" spc="300" dirty="0">
              <a:effectLst>
                <a:outerShdw blurRad="38100" dist="38100" dir="2700000" algn="tl">
                  <a:srgbClr val="000000">
                    <a:alpha val="43137"/>
                  </a:srgbClr>
                </a:outerShdw>
              </a:effectLst>
            </a:endParaRPr>
          </a:p>
        </p:txBody>
      </p:sp>
      <p:sp>
        <p:nvSpPr>
          <p:cNvPr id="5" name="Slayt Numarası Yer Tutucusu 4"/>
          <p:cNvSpPr>
            <a:spLocks noGrp="1"/>
          </p:cNvSpPr>
          <p:nvPr>
            <p:ph type="sldNum" sz="quarter" idx="12"/>
          </p:nvPr>
        </p:nvSpPr>
        <p:spPr/>
        <p:txBody>
          <a:bodyPr/>
          <a:lstStyle/>
          <a:p>
            <a:fld id="{39F9BA00-44CD-41D4-A3D8-F864C744DC1F}" type="slidenum">
              <a:rPr lang="tr-TR" smtClean="0"/>
              <a:t>32</a:t>
            </a:fld>
            <a:r>
              <a:rPr lang="tr-TR"/>
              <a:t>/116</a:t>
            </a:r>
          </a:p>
        </p:txBody>
      </p:sp>
    </p:spTree>
    <p:extLst>
      <p:ext uri="{BB962C8B-B14F-4D97-AF65-F5344CB8AC3E}">
        <p14:creationId xmlns:p14="http://schemas.microsoft.com/office/powerpoint/2010/main" val="1709610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1035183" y="2246412"/>
            <a:ext cx="10621108" cy="461665"/>
          </a:xfrm>
          <a:prstGeom prst="rect">
            <a:avLst/>
          </a:prstGeom>
        </p:spPr>
        <p:txBody>
          <a:bodyPr wrap="square">
            <a:spAutoFit/>
          </a:bodyPr>
          <a:lstStyle/>
          <a:p>
            <a:pPr algn="just"/>
            <a:r>
              <a:rPr lang="tr-TR" sz="2400" b="1" dirty="0" smtClean="0"/>
              <a:t>	Kast</a:t>
            </a:r>
          </a:p>
        </p:txBody>
      </p:sp>
      <p:sp>
        <p:nvSpPr>
          <p:cNvPr id="11" name="Metin kutusu 10"/>
          <p:cNvSpPr txBox="1"/>
          <p:nvPr/>
        </p:nvSpPr>
        <p:spPr>
          <a:xfrm>
            <a:off x="1913794" y="2651969"/>
            <a:ext cx="1924781" cy="369332"/>
          </a:xfrm>
          <a:prstGeom prst="rect">
            <a:avLst/>
          </a:prstGeom>
          <a:noFill/>
        </p:spPr>
        <p:txBody>
          <a:bodyPr wrap="square" rtlCol="0">
            <a:spAutoFit/>
          </a:bodyPr>
          <a:lstStyle/>
          <a:p>
            <a:pPr marL="285750" indent="-285750">
              <a:buFont typeface="Arial" panose="020B0604020202020204" pitchFamily="34" charset="0"/>
              <a:buChar char="•"/>
            </a:pPr>
            <a:r>
              <a:rPr lang="tr-TR" b="1" dirty="0" smtClean="0">
                <a:effectLst>
                  <a:outerShdw blurRad="38100" dist="38100" dir="2700000" algn="tl">
                    <a:srgbClr val="000000">
                      <a:alpha val="43137"/>
                    </a:srgbClr>
                  </a:outerShdw>
                </a:effectLst>
              </a:rPr>
              <a:t>Doğrudan Kast:</a:t>
            </a:r>
            <a:endParaRPr lang="tr-TR" b="1" dirty="0">
              <a:effectLst>
                <a:outerShdw blurRad="38100" dist="38100" dir="2700000" algn="tl">
                  <a:srgbClr val="000000">
                    <a:alpha val="43137"/>
                  </a:srgbClr>
                </a:outerShdw>
              </a:effectLst>
            </a:endParaRPr>
          </a:p>
        </p:txBody>
      </p:sp>
      <p:sp>
        <p:nvSpPr>
          <p:cNvPr id="12" name="Metin kutusu 11"/>
          <p:cNvSpPr txBox="1"/>
          <p:nvPr/>
        </p:nvSpPr>
        <p:spPr>
          <a:xfrm>
            <a:off x="1913793" y="4350805"/>
            <a:ext cx="1848582" cy="369332"/>
          </a:xfrm>
          <a:prstGeom prst="rect">
            <a:avLst/>
          </a:prstGeom>
          <a:noFill/>
        </p:spPr>
        <p:txBody>
          <a:bodyPr wrap="square" rtlCol="0">
            <a:spAutoFit/>
          </a:bodyPr>
          <a:lstStyle/>
          <a:p>
            <a:pPr marL="285750" indent="-285750">
              <a:buFont typeface="Arial" panose="020B0604020202020204" pitchFamily="34" charset="0"/>
              <a:buChar char="•"/>
            </a:pPr>
            <a:r>
              <a:rPr lang="tr-TR" b="1" dirty="0" smtClean="0">
                <a:effectLst>
                  <a:outerShdw blurRad="38100" dist="38100" dir="2700000" algn="tl">
                    <a:srgbClr val="000000">
                      <a:alpha val="43137"/>
                    </a:srgbClr>
                  </a:outerShdw>
                </a:effectLst>
              </a:rPr>
              <a:t>Olası Kast      :</a:t>
            </a:r>
            <a:endParaRPr lang="tr-TR" b="1" dirty="0">
              <a:effectLst>
                <a:outerShdw blurRad="38100" dist="38100" dir="2700000" algn="tl">
                  <a:srgbClr val="000000">
                    <a:alpha val="43137"/>
                  </a:srgbClr>
                </a:outerShdw>
              </a:effectLst>
            </a:endParaRPr>
          </a:p>
        </p:txBody>
      </p:sp>
      <p:sp>
        <p:nvSpPr>
          <p:cNvPr id="2" name="Metin kutusu 1"/>
          <p:cNvSpPr txBox="1"/>
          <p:nvPr/>
        </p:nvSpPr>
        <p:spPr>
          <a:xfrm>
            <a:off x="3762375" y="2906530"/>
            <a:ext cx="8296275" cy="553998"/>
          </a:xfrm>
          <a:prstGeom prst="rect">
            <a:avLst/>
          </a:prstGeom>
          <a:noFill/>
        </p:spPr>
        <p:txBody>
          <a:bodyPr wrap="square" rtlCol="0">
            <a:spAutoFit/>
          </a:bodyPr>
          <a:lstStyle/>
          <a:p>
            <a:pPr indent="85725" algn="just"/>
            <a:r>
              <a:rPr lang="tr-TR" sz="1000" dirty="0"/>
              <a:t>Bir suç işlemeye karar veren failin bu suçun kanuni tanımındaki maddi unsurları mevcut olduğunu, bu unsurların fiilin icrası sırasında gerçekleşeceğini ve özellikle suç tipinde </a:t>
            </a:r>
            <a:r>
              <a:rPr lang="tr-TR" sz="1000" dirty="0" smtClean="0"/>
              <a:t>aranan neticenin </a:t>
            </a:r>
            <a:r>
              <a:rPr lang="tr-TR" sz="1000" dirty="0"/>
              <a:t>meydana geleceğini kesin olarak bildiği hâllerde doğrudan kast söz </a:t>
            </a:r>
            <a:r>
              <a:rPr lang="tr-TR" sz="1000" dirty="0" smtClean="0"/>
              <a:t>konusudur</a:t>
            </a:r>
          </a:p>
          <a:p>
            <a:pPr indent="85725" algn="just"/>
            <a:r>
              <a:rPr lang="tr-TR" sz="1000" dirty="0" smtClean="0"/>
              <a:t>Bir </a:t>
            </a:r>
            <a:r>
              <a:rPr lang="tr-TR" sz="1000" dirty="0"/>
              <a:t>kişinin kafasına nişan </a:t>
            </a:r>
            <a:r>
              <a:rPr lang="tr-TR" sz="1000" dirty="0" smtClean="0"/>
              <a:t>alarak </a:t>
            </a:r>
            <a:r>
              <a:rPr lang="tr-TR" sz="1000" dirty="0"/>
              <a:t>ateş eden kimse öldürme suçunu doğrudan kastla işlemiş </a:t>
            </a:r>
            <a:r>
              <a:rPr lang="tr-TR" sz="1000" dirty="0" smtClean="0"/>
              <a:t>olur</a:t>
            </a:r>
            <a:endParaRPr lang="fr-FR" sz="1000" dirty="0"/>
          </a:p>
        </p:txBody>
      </p:sp>
      <p:sp>
        <p:nvSpPr>
          <p:cNvPr id="13" name="Metin kutusu 12"/>
          <p:cNvSpPr txBox="1"/>
          <p:nvPr/>
        </p:nvSpPr>
        <p:spPr>
          <a:xfrm>
            <a:off x="2370533" y="3367648"/>
            <a:ext cx="9688115" cy="954107"/>
          </a:xfrm>
          <a:prstGeom prst="rect">
            <a:avLst/>
          </a:prstGeom>
          <a:noFill/>
        </p:spPr>
        <p:txBody>
          <a:bodyPr wrap="square" rtlCol="0">
            <a:spAutoFit/>
          </a:bodyPr>
          <a:lstStyle/>
          <a:p>
            <a:pPr algn="just"/>
            <a:r>
              <a:rPr lang="tr-TR" sz="1400" b="1" dirty="0" smtClean="0"/>
              <a:t>Birinci derece doğrudan kast:</a:t>
            </a:r>
            <a:r>
              <a:rPr lang="tr-TR" sz="1400" dirty="0" smtClean="0"/>
              <a:t> Fail, neticenin meydana geleceğini muhakkak surette öngörmektedir.</a:t>
            </a:r>
          </a:p>
          <a:p>
            <a:pPr algn="just"/>
            <a:r>
              <a:rPr lang="tr-TR" sz="1400" b="1" dirty="0" smtClean="0"/>
              <a:t>İkinci derece doğrudan kast:</a:t>
            </a:r>
            <a:r>
              <a:rPr lang="tr-TR" sz="1400" dirty="0" smtClean="0"/>
              <a:t> Failin işlediği suçun yanında </a:t>
            </a:r>
            <a:r>
              <a:rPr lang="tr-TR" sz="1400" b="1" dirty="0" smtClean="0"/>
              <a:t>yan netice olarak gerçekleşeceği </a:t>
            </a:r>
            <a:r>
              <a:rPr lang="tr-TR" sz="1400" dirty="0" smtClean="0"/>
              <a:t>muhakkak olan diğer suçlar yönüyle oluşan kast. Uçaktaki husumetlisini öldürmek için uçağa bomba koyan kişi, bombanın patlaması sonucunda uçaktaki diğer kişilerin ölümünden doğrudan kastla (</a:t>
            </a:r>
            <a:r>
              <a:rPr lang="tr-TR" sz="1400" dirty="0"/>
              <a:t>ikinci </a:t>
            </a:r>
            <a:r>
              <a:rPr lang="tr-TR" sz="1400" dirty="0" smtClean="0"/>
              <a:t>dereceden) sorumlu olur.</a:t>
            </a:r>
            <a:endParaRPr lang="fr-FR" sz="2400" dirty="0"/>
          </a:p>
        </p:txBody>
      </p:sp>
      <p:sp>
        <p:nvSpPr>
          <p:cNvPr id="14" name="Metin kutusu 13"/>
          <p:cNvSpPr txBox="1"/>
          <p:nvPr/>
        </p:nvSpPr>
        <p:spPr>
          <a:xfrm>
            <a:off x="3691303" y="2671019"/>
            <a:ext cx="7462471" cy="338554"/>
          </a:xfrm>
          <a:prstGeom prst="rect">
            <a:avLst/>
          </a:prstGeom>
          <a:noFill/>
        </p:spPr>
        <p:txBody>
          <a:bodyPr wrap="square" rtlCol="0">
            <a:spAutoFit/>
          </a:bodyPr>
          <a:lstStyle/>
          <a:p>
            <a:r>
              <a:rPr lang="tr-TR" sz="1600" dirty="0" smtClean="0"/>
              <a:t>Maddi unsurların gerçekleşeceği </a:t>
            </a:r>
            <a:r>
              <a:rPr lang="tr-TR" sz="1600" b="1" dirty="0" smtClean="0">
                <a:effectLst>
                  <a:outerShdw blurRad="38100" dist="38100" dir="2700000" algn="tl">
                    <a:srgbClr val="000000">
                      <a:alpha val="43137"/>
                    </a:srgbClr>
                  </a:outerShdw>
                </a:effectLst>
              </a:rPr>
              <a:t>MUTLAK</a:t>
            </a:r>
            <a:r>
              <a:rPr lang="tr-TR" sz="1600" dirty="0" smtClean="0"/>
              <a:t> niteliktedir</a:t>
            </a:r>
            <a:endParaRPr lang="tr-TR" sz="1600" dirty="0"/>
          </a:p>
        </p:txBody>
      </p:sp>
      <p:sp>
        <p:nvSpPr>
          <p:cNvPr id="17" name="Metin kutusu 16"/>
          <p:cNvSpPr txBox="1"/>
          <p:nvPr/>
        </p:nvSpPr>
        <p:spPr>
          <a:xfrm>
            <a:off x="3681778" y="4350805"/>
            <a:ext cx="7462471" cy="338554"/>
          </a:xfrm>
          <a:prstGeom prst="rect">
            <a:avLst/>
          </a:prstGeom>
          <a:noFill/>
        </p:spPr>
        <p:txBody>
          <a:bodyPr wrap="square" rtlCol="0">
            <a:spAutoFit/>
          </a:bodyPr>
          <a:lstStyle/>
          <a:p>
            <a:r>
              <a:rPr lang="tr-TR" sz="1600" dirty="0" smtClean="0"/>
              <a:t>Maddi unsurların gerçekleşeceği </a:t>
            </a:r>
            <a:r>
              <a:rPr lang="tr-TR" sz="1600" b="1" dirty="0" smtClean="0">
                <a:effectLst>
                  <a:outerShdw blurRad="38100" dist="38100" dir="2700000" algn="tl">
                    <a:srgbClr val="000000">
                      <a:alpha val="43137"/>
                    </a:srgbClr>
                  </a:outerShdw>
                </a:effectLst>
              </a:rPr>
              <a:t>MUHTEMEL</a:t>
            </a:r>
            <a:r>
              <a:rPr lang="tr-TR" sz="1600" dirty="0" smtClean="0"/>
              <a:t> niteliktedir</a:t>
            </a:r>
            <a:endParaRPr lang="tr-TR" sz="1600" dirty="0"/>
          </a:p>
        </p:txBody>
      </p:sp>
      <p:sp>
        <p:nvSpPr>
          <p:cNvPr id="18" name="Metin kutusu 17"/>
          <p:cNvSpPr txBox="1"/>
          <p:nvPr/>
        </p:nvSpPr>
        <p:spPr>
          <a:xfrm>
            <a:off x="3681777" y="4581664"/>
            <a:ext cx="8376871" cy="1200329"/>
          </a:xfrm>
          <a:prstGeom prst="rect">
            <a:avLst/>
          </a:prstGeom>
          <a:noFill/>
        </p:spPr>
        <p:txBody>
          <a:bodyPr wrap="square" rtlCol="0">
            <a:spAutoFit/>
          </a:bodyPr>
          <a:lstStyle/>
          <a:p>
            <a:pPr indent="180975" algn="just"/>
            <a:r>
              <a:rPr lang="tr-TR" sz="900" dirty="0"/>
              <a:t>F</a:t>
            </a:r>
            <a:r>
              <a:rPr lang="fr-FR" sz="900" dirty="0" err="1"/>
              <a:t>iili</a:t>
            </a:r>
            <a:r>
              <a:rPr lang="fr-FR" sz="900" dirty="0"/>
              <a:t> </a:t>
            </a:r>
            <a:r>
              <a:rPr lang="fr-FR" sz="900" dirty="0" err="1"/>
              <a:t>işlediği</a:t>
            </a:r>
            <a:r>
              <a:rPr lang="fr-FR" sz="900" dirty="0"/>
              <a:t> </a:t>
            </a:r>
            <a:r>
              <a:rPr lang="fr-FR" sz="900" dirty="0" err="1"/>
              <a:t>sırada</a:t>
            </a:r>
            <a:r>
              <a:rPr lang="fr-FR" sz="900" dirty="0"/>
              <a:t> </a:t>
            </a:r>
            <a:r>
              <a:rPr lang="fr-FR" sz="900" dirty="0" err="1"/>
              <a:t>suçun</a:t>
            </a:r>
            <a:r>
              <a:rPr lang="fr-FR" sz="900" dirty="0"/>
              <a:t> </a:t>
            </a:r>
            <a:r>
              <a:rPr lang="fr-FR" sz="900" dirty="0" err="1"/>
              <a:t>kanuni</a:t>
            </a:r>
            <a:r>
              <a:rPr lang="fr-FR" sz="900" dirty="0"/>
              <a:t> </a:t>
            </a:r>
            <a:r>
              <a:rPr lang="fr-FR" sz="900" dirty="0" err="1"/>
              <a:t>tanımındaki</a:t>
            </a:r>
            <a:r>
              <a:rPr lang="fr-FR" sz="900" dirty="0"/>
              <a:t> </a:t>
            </a:r>
            <a:r>
              <a:rPr lang="fr-FR" sz="900" dirty="0" err="1"/>
              <a:t>unsurların</a:t>
            </a:r>
            <a:r>
              <a:rPr lang="fr-FR" sz="900" dirty="0"/>
              <a:t> </a:t>
            </a:r>
            <a:r>
              <a:rPr lang="fr-FR" sz="900" dirty="0" err="1"/>
              <a:t>gerçekleşebileceğini</a:t>
            </a:r>
            <a:r>
              <a:rPr lang="fr-FR" sz="900" dirty="0"/>
              <a:t> </a:t>
            </a:r>
            <a:r>
              <a:rPr lang="fr-FR" sz="900" dirty="0" err="1"/>
              <a:t>olası</a:t>
            </a:r>
            <a:r>
              <a:rPr lang="fr-FR" sz="900" dirty="0"/>
              <a:t> </a:t>
            </a:r>
            <a:r>
              <a:rPr lang="fr-FR" sz="900" dirty="0" err="1"/>
              <a:t>gören</a:t>
            </a:r>
            <a:r>
              <a:rPr lang="fr-FR" sz="900" dirty="0"/>
              <a:t>, </a:t>
            </a:r>
            <a:r>
              <a:rPr lang="fr-FR" sz="900" dirty="0" err="1"/>
              <a:t>böyle</a:t>
            </a:r>
            <a:r>
              <a:rPr lang="fr-FR" sz="900" dirty="0"/>
              <a:t> </a:t>
            </a:r>
            <a:r>
              <a:rPr lang="fr-FR" sz="900" dirty="0" err="1"/>
              <a:t>bir</a:t>
            </a:r>
            <a:r>
              <a:rPr lang="fr-FR" sz="900" dirty="0"/>
              <a:t> </a:t>
            </a:r>
            <a:r>
              <a:rPr lang="fr-FR" sz="900" dirty="0" err="1"/>
              <a:t>ihtimalin</a:t>
            </a:r>
            <a:r>
              <a:rPr lang="fr-FR" sz="900" dirty="0"/>
              <a:t> </a:t>
            </a:r>
            <a:r>
              <a:rPr lang="fr-FR" sz="900" dirty="0" err="1"/>
              <a:t>ciddi</a:t>
            </a:r>
            <a:r>
              <a:rPr lang="fr-FR" sz="900" dirty="0"/>
              <a:t> </a:t>
            </a:r>
            <a:r>
              <a:rPr lang="fr-FR" sz="900" dirty="0" err="1"/>
              <a:t>olduğunu</a:t>
            </a:r>
            <a:r>
              <a:rPr lang="fr-FR" sz="900" dirty="0"/>
              <a:t> </a:t>
            </a:r>
            <a:r>
              <a:rPr lang="fr-FR" sz="900" dirty="0" err="1"/>
              <a:t>tasavvur</a:t>
            </a:r>
            <a:r>
              <a:rPr lang="fr-FR" sz="900" dirty="0"/>
              <a:t> </a:t>
            </a:r>
            <a:r>
              <a:rPr lang="fr-FR" sz="900" dirty="0" err="1"/>
              <a:t>eden</a:t>
            </a:r>
            <a:r>
              <a:rPr lang="fr-FR" sz="900" dirty="0"/>
              <a:t>, bu </a:t>
            </a:r>
            <a:r>
              <a:rPr lang="fr-FR" sz="900" dirty="0" err="1"/>
              <a:t>ihtimale</a:t>
            </a:r>
            <a:r>
              <a:rPr lang="fr-FR" sz="900" dirty="0"/>
              <a:t> </a:t>
            </a:r>
            <a:r>
              <a:rPr lang="fr-FR" sz="900" dirty="0" err="1"/>
              <a:t>rağmen</a:t>
            </a:r>
            <a:r>
              <a:rPr lang="fr-FR" sz="900" dirty="0"/>
              <a:t> </a:t>
            </a:r>
            <a:r>
              <a:rPr lang="fr-FR" sz="900" dirty="0" err="1"/>
              <a:t>bunların</a:t>
            </a:r>
            <a:r>
              <a:rPr lang="fr-FR" sz="900" dirty="0"/>
              <a:t> </a:t>
            </a:r>
            <a:r>
              <a:rPr lang="fr-FR" sz="900" dirty="0" err="1"/>
              <a:t>gerçekleşmesini</a:t>
            </a:r>
            <a:r>
              <a:rPr lang="fr-FR" sz="900" dirty="0"/>
              <a:t> </a:t>
            </a:r>
            <a:r>
              <a:rPr lang="fr-FR" sz="900" dirty="0" err="1"/>
              <a:t>kabullenerek</a:t>
            </a:r>
            <a:r>
              <a:rPr lang="fr-FR" sz="900" dirty="0"/>
              <a:t> </a:t>
            </a:r>
            <a:r>
              <a:rPr lang="fr-FR" sz="900" dirty="0" err="1"/>
              <a:t>hareket</a:t>
            </a:r>
            <a:r>
              <a:rPr lang="fr-FR" sz="900" dirty="0"/>
              <a:t> </a:t>
            </a:r>
            <a:r>
              <a:rPr lang="fr-FR" sz="900" dirty="0" err="1"/>
              <a:t>eden</a:t>
            </a:r>
            <a:r>
              <a:rPr lang="fr-FR" sz="900" dirty="0"/>
              <a:t> </a:t>
            </a:r>
            <a:r>
              <a:rPr lang="fr-FR" sz="900" dirty="0" err="1"/>
              <a:t>kişinin</a:t>
            </a:r>
            <a:r>
              <a:rPr lang="fr-FR" sz="900" dirty="0"/>
              <a:t> </a:t>
            </a:r>
            <a:r>
              <a:rPr lang="fr-FR" sz="900" dirty="0" err="1"/>
              <a:t>olası</a:t>
            </a:r>
            <a:r>
              <a:rPr lang="fr-FR" sz="900" dirty="0"/>
              <a:t> </a:t>
            </a:r>
            <a:r>
              <a:rPr lang="fr-FR" sz="900" dirty="0" err="1"/>
              <a:t>kastı</a:t>
            </a:r>
            <a:r>
              <a:rPr lang="fr-FR" sz="900" dirty="0"/>
              <a:t> </a:t>
            </a:r>
            <a:r>
              <a:rPr lang="fr-FR" sz="900" dirty="0" err="1"/>
              <a:t>vardır</a:t>
            </a:r>
            <a:r>
              <a:rPr lang="fr-FR" sz="900" dirty="0" smtClean="0"/>
              <a:t>.</a:t>
            </a:r>
            <a:endParaRPr lang="tr-TR" sz="900" dirty="0" smtClean="0"/>
          </a:p>
          <a:p>
            <a:pPr indent="180975" algn="just"/>
            <a:r>
              <a:rPr lang="fr-FR" sz="900" dirty="0" err="1">
                <a:effectLst>
                  <a:outerShdw blurRad="38100" dist="38100" dir="2700000" algn="tl">
                    <a:srgbClr val="000000">
                      <a:alpha val="43137"/>
                    </a:srgbClr>
                  </a:outerShdw>
                </a:effectLst>
              </a:rPr>
              <a:t>Olası</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kastta</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fail</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tipikliği</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gerçekleştirecek</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somut</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bir</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tehlikenin</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varlığının</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bilincinde</a:t>
            </a:r>
            <a:r>
              <a:rPr lang="fr-FR" sz="900" dirty="0">
                <a:effectLst>
                  <a:outerShdw blurRad="38100" dist="38100" dir="2700000" algn="tl">
                    <a:srgbClr val="000000">
                      <a:alpha val="43137"/>
                    </a:srgbClr>
                  </a:outerShdw>
                </a:effectLst>
              </a:rPr>
              <a:t> </a:t>
            </a:r>
            <a:r>
              <a:rPr lang="fr-FR" sz="900" dirty="0" err="1" smtClean="0">
                <a:effectLst>
                  <a:outerShdw blurRad="38100" dist="38100" dir="2700000" algn="tl">
                    <a:srgbClr val="000000">
                      <a:alpha val="43137"/>
                    </a:srgbClr>
                  </a:outerShdw>
                </a:effectLst>
              </a:rPr>
              <a:t>olduğu</a:t>
            </a:r>
            <a:r>
              <a:rPr lang="fr-FR" sz="900" dirty="0" smtClean="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gibi</a:t>
            </a:r>
            <a:r>
              <a:rPr lang="fr-FR" sz="900" dirty="0">
                <a:effectLst>
                  <a:outerShdw blurRad="38100" dist="38100" dir="2700000" algn="tl">
                    <a:srgbClr val="000000">
                      <a:alpha val="43137"/>
                    </a:srgbClr>
                  </a:outerShdw>
                </a:effectLst>
              </a:rPr>
              <a:t>, bu </a:t>
            </a:r>
            <a:r>
              <a:rPr lang="fr-FR" sz="900" dirty="0" err="1">
                <a:effectLst>
                  <a:outerShdw blurRad="38100" dist="38100" dir="2700000" algn="tl">
                    <a:srgbClr val="000000">
                      <a:alpha val="43137"/>
                    </a:srgbClr>
                  </a:outerShdw>
                </a:effectLst>
              </a:rPr>
              <a:t>tehlike</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onun</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tarafından</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ciddiye</a:t>
            </a:r>
            <a:r>
              <a:rPr lang="fr-FR" sz="900" dirty="0">
                <a:effectLst>
                  <a:outerShdw blurRad="38100" dist="38100" dir="2700000" algn="tl">
                    <a:srgbClr val="000000">
                      <a:alpha val="43137"/>
                    </a:srgbClr>
                  </a:outerShdw>
                </a:effectLst>
              </a:rPr>
              <a:t> de </a:t>
            </a:r>
            <a:r>
              <a:rPr lang="fr-FR" sz="900" dirty="0" err="1">
                <a:effectLst>
                  <a:outerShdw blurRad="38100" dist="38100" dir="2700000" algn="tl">
                    <a:srgbClr val="000000">
                      <a:alpha val="43137"/>
                    </a:srgbClr>
                  </a:outerShdw>
                </a:effectLst>
              </a:rPr>
              <a:t>alınmaktadır</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Ancak</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fail</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bakımından</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asıl</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amaç</a:t>
            </a:r>
            <a:r>
              <a:rPr lang="fr-FR" sz="900" dirty="0">
                <a:effectLst>
                  <a:outerShdw blurRad="38100" dist="38100" dir="2700000" algn="tl">
                    <a:srgbClr val="000000">
                      <a:alpha val="43137"/>
                    </a:srgbClr>
                  </a:outerShdw>
                </a:effectLst>
              </a:rPr>
              <a:t> o </a:t>
            </a:r>
            <a:r>
              <a:rPr lang="fr-FR" sz="900" dirty="0" err="1">
                <a:effectLst>
                  <a:outerShdw blurRad="38100" dist="38100" dir="2700000" algn="tl">
                    <a:srgbClr val="000000">
                      <a:alpha val="43137"/>
                    </a:srgbClr>
                  </a:outerShdw>
                </a:effectLst>
              </a:rPr>
              <a:t>kadar</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önemlidir</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ki</a:t>
            </a:r>
            <a:r>
              <a:rPr lang="fr-FR" sz="900" dirty="0">
                <a:effectLst>
                  <a:outerShdw blurRad="38100" dist="38100" dir="2700000" algn="tl">
                    <a:srgbClr val="000000">
                      <a:alpha val="43137"/>
                    </a:srgbClr>
                  </a:outerShdw>
                </a:effectLst>
              </a:rPr>
              <a:t>, buna </a:t>
            </a:r>
            <a:r>
              <a:rPr lang="fr-FR" sz="900" dirty="0" err="1">
                <a:effectLst>
                  <a:outerShdw blurRad="38100" dist="38100" dir="2700000" algn="tl">
                    <a:srgbClr val="000000">
                      <a:alpha val="43137"/>
                    </a:srgbClr>
                  </a:outerShdw>
                </a:effectLst>
              </a:rPr>
              <a:t>ulaşmak</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için</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muhtemel</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neticelerin</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gerçekleşmesi</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göze</a:t>
            </a:r>
            <a:r>
              <a:rPr lang="fr-FR" sz="900" dirty="0">
                <a:effectLst>
                  <a:outerShdw blurRad="38100" dist="38100" dir="2700000" algn="tl">
                    <a:srgbClr val="000000">
                      <a:alpha val="43137"/>
                    </a:srgbClr>
                  </a:outerShdw>
                </a:effectLst>
              </a:rPr>
              <a:t> </a:t>
            </a:r>
            <a:r>
              <a:rPr lang="fr-FR" sz="900" dirty="0" err="1" smtClean="0">
                <a:effectLst>
                  <a:outerShdw blurRad="38100" dist="38100" dir="2700000" algn="tl">
                    <a:srgbClr val="000000">
                      <a:alpha val="43137"/>
                    </a:srgbClr>
                  </a:outerShdw>
                </a:effectLst>
              </a:rPr>
              <a:t>alınmaktadır</a:t>
            </a:r>
            <a:endParaRPr lang="fr-FR" sz="900" dirty="0">
              <a:effectLst>
                <a:outerShdw blurRad="38100" dist="38100" dir="2700000" algn="tl">
                  <a:srgbClr val="000000">
                    <a:alpha val="43137"/>
                  </a:srgbClr>
                </a:outerShdw>
              </a:effectLst>
            </a:endParaRPr>
          </a:p>
          <a:p>
            <a:pPr indent="180975" algn="just"/>
            <a:r>
              <a:rPr lang="tr-TR" sz="900" dirty="0" smtClean="0"/>
              <a:t>Örneğin </a:t>
            </a:r>
            <a:r>
              <a:rPr lang="tr-TR" sz="900" dirty="0"/>
              <a:t>A, hasmı B’yi öldürmeyi düşünmektedir. Bunun için gerekli hazırlıkları yapmış ve onu öldürebilmek için yanına silahını almıştır. A, hasmı B ile karşılaştığında, </a:t>
            </a:r>
            <a:r>
              <a:rPr lang="tr-TR" sz="900" dirty="0" smtClean="0"/>
              <a:t>onun C </a:t>
            </a:r>
            <a:r>
              <a:rPr lang="tr-TR" sz="900" dirty="0"/>
              <a:t>ve D ile </a:t>
            </a:r>
            <a:r>
              <a:rPr lang="tr-TR" sz="900" dirty="0" smtClean="0"/>
              <a:t>yan yana </a:t>
            </a:r>
            <a:r>
              <a:rPr lang="tr-TR" sz="900" dirty="0"/>
              <a:t>yürüdüğünü görmesine ve en ufak bir aksilikte C ve D’den </a:t>
            </a:r>
            <a:r>
              <a:rPr lang="tr-TR" sz="900" dirty="0" smtClean="0"/>
              <a:t>birinin isabet </a:t>
            </a:r>
            <a:r>
              <a:rPr lang="tr-TR" sz="900" dirty="0"/>
              <a:t>alabileceğini ve yaralanabileceğini düşünmesine rağmen, ateş etmekten geri kalmamış, nitekim iyi atış yapamaması nedeniyle hasmı B’yi değil yanındaki C’yi vurmuştur. </a:t>
            </a:r>
            <a:r>
              <a:rPr lang="tr-TR" sz="900" dirty="0" smtClean="0"/>
              <a:t>C hayati </a:t>
            </a:r>
            <a:r>
              <a:rPr lang="tr-TR" sz="900" dirty="0"/>
              <a:t>tehlike geçirecek şekilde yaralanmış, ancak ölmemiştir. İşte bu gibi hâllerde, </a:t>
            </a:r>
            <a:r>
              <a:rPr lang="tr-TR" sz="900" dirty="0" smtClean="0"/>
              <a:t>A’nın hasmı </a:t>
            </a:r>
            <a:r>
              <a:rPr lang="tr-TR" sz="900" dirty="0"/>
              <a:t>B’ye yönelik olarak doğrudan kastla, yaralanan C bakımından ise olası kastla hareket ettiği kabul edilmektedir </a:t>
            </a:r>
            <a:endParaRPr lang="fr-FR" sz="1200" dirty="0"/>
          </a:p>
        </p:txBody>
      </p:sp>
      <p:sp>
        <p:nvSpPr>
          <p:cNvPr id="19" name="Metin kutusu 18"/>
          <p:cNvSpPr txBox="1"/>
          <p:nvPr/>
        </p:nvSpPr>
        <p:spPr>
          <a:xfrm>
            <a:off x="2227658" y="5717310"/>
            <a:ext cx="9735742" cy="830997"/>
          </a:xfrm>
          <a:prstGeom prst="rect">
            <a:avLst/>
          </a:prstGeom>
          <a:noFill/>
        </p:spPr>
        <p:txBody>
          <a:bodyPr wrap="square" rtlCol="0">
            <a:spAutoFit/>
          </a:bodyPr>
          <a:lstStyle/>
          <a:p>
            <a:pPr algn="just"/>
            <a:r>
              <a:rPr lang="tr-TR" sz="1600" dirty="0" smtClean="0"/>
              <a:t>Suçun olası kastla işlenmesi durumunda temel cezada </a:t>
            </a:r>
            <a:r>
              <a:rPr lang="tr-TR" sz="1600" b="1" dirty="0" smtClean="0">
                <a:effectLst>
                  <a:outerShdw blurRad="38100" dist="38100" dir="2700000" algn="tl">
                    <a:srgbClr val="000000">
                      <a:alpha val="43137"/>
                    </a:srgbClr>
                  </a:outerShdw>
                </a:effectLst>
              </a:rPr>
              <a:t>indirim</a:t>
            </a:r>
            <a:r>
              <a:rPr lang="tr-TR" sz="1600" dirty="0" smtClean="0"/>
              <a:t> yapılır (5237 sayılı Türk Ceza Kanunu m.21/2) Örneğin doğrudan kastla işlenen suçun cezası müebbet hapis cezası iken olası kastla işlenen öldürme suçunun cezası 20-25 yıl hapis cezasıdır</a:t>
            </a:r>
            <a:endParaRPr lang="tr-TR" sz="1600" dirty="0"/>
          </a:p>
        </p:txBody>
      </p:sp>
      <p:sp>
        <p:nvSpPr>
          <p:cNvPr id="6" name="Metin kutusu 5"/>
          <p:cNvSpPr txBox="1"/>
          <p:nvPr/>
        </p:nvSpPr>
        <p:spPr>
          <a:xfrm>
            <a:off x="152976" y="5717310"/>
            <a:ext cx="1760817" cy="738664"/>
          </a:xfrm>
          <a:prstGeom prst="rect">
            <a:avLst/>
          </a:prstGeom>
          <a:noFill/>
        </p:spPr>
        <p:txBody>
          <a:bodyPr wrap="square" rtlCol="0">
            <a:spAutoFit/>
          </a:bodyPr>
          <a:lstStyle/>
          <a:p>
            <a:r>
              <a:rPr lang="tr-TR" sz="1400" b="1" dirty="0" smtClean="0"/>
              <a:t>Kast</a:t>
            </a:r>
          </a:p>
          <a:p>
            <a:pPr marL="285750" indent="-285750">
              <a:buFont typeface="Arial" panose="020B0604020202020204" pitchFamily="34" charset="0"/>
              <a:buChar char="•"/>
            </a:pPr>
            <a:r>
              <a:rPr lang="tr-TR" sz="1400" dirty="0" smtClean="0"/>
              <a:t>Doğrudan Kast</a:t>
            </a:r>
          </a:p>
          <a:p>
            <a:pPr marL="285750" indent="-285750">
              <a:buFont typeface="Arial" panose="020B0604020202020204" pitchFamily="34" charset="0"/>
              <a:buChar char="•"/>
            </a:pPr>
            <a:r>
              <a:rPr lang="tr-TR" sz="1400" dirty="0" smtClean="0"/>
              <a:t>Olası Kast</a:t>
            </a:r>
            <a:endParaRPr lang="fr-FR" sz="1400" dirty="0"/>
          </a:p>
        </p:txBody>
      </p:sp>
      <p:sp>
        <p:nvSpPr>
          <p:cNvPr id="20"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itchFamily="34" charset="0"/>
              <a:buChar char="•"/>
            </a:pPr>
            <a:r>
              <a:rPr lang="tr-TR" b="1" smtClean="0"/>
              <a:t>Subjektif (Manevi) Unsurlar</a:t>
            </a:r>
            <a:endParaRPr lang="tr-TR" b="1" dirty="0" smtClean="0"/>
          </a:p>
          <a:p>
            <a:pPr algn="l"/>
            <a:r>
              <a:rPr lang="tr-TR" b="1" dirty="0" smtClean="0"/>
              <a:t>	</a:t>
            </a:r>
            <a:endParaRPr lang="tr-TR" b="1" dirty="0"/>
          </a:p>
        </p:txBody>
      </p:sp>
      <p:sp>
        <p:nvSpPr>
          <p:cNvPr id="21"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Suçun Subjektif (Manevi </a:t>
            </a:r>
            <a:r>
              <a:rPr lang="tr-TR" sz="2600" b="1" i="1" spc="300">
                <a:effectLst>
                  <a:outerShdw blurRad="38100" dist="38100" dir="2700000" algn="tl">
                    <a:srgbClr val="000000">
                      <a:alpha val="43137"/>
                    </a:srgbClr>
                  </a:outerShdw>
                </a:effectLst>
              </a:rPr>
              <a:t>) </a:t>
            </a:r>
            <a:r>
              <a:rPr lang="tr-TR" sz="2600" b="1" i="1" spc="300" dirty="0" smtClean="0">
                <a:effectLst>
                  <a:outerShdw blurRad="38100" dist="38100" dir="2700000" algn="tl">
                    <a:srgbClr val="000000">
                      <a:alpha val="43137"/>
                    </a:srgbClr>
                  </a:outerShdw>
                </a:effectLst>
              </a:rPr>
              <a:t>Unsurları, </a:t>
            </a:r>
          </a:p>
          <a:p>
            <a:r>
              <a:rPr lang="tr-TR" sz="2600" b="1" i="1" spc="300" dirty="0" smtClean="0">
                <a:effectLst>
                  <a:outerShdw blurRad="38100" dist="38100" dir="2700000" algn="tl">
                    <a:srgbClr val="000000">
                      <a:alpha val="43137"/>
                    </a:srgbClr>
                  </a:outerShdw>
                </a:effectLst>
              </a:rPr>
              <a:t>Neticesi Sebebiyle Ağırlaşmış Suçlar, Maksat ve Saik</a:t>
            </a:r>
            <a:endParaRPr lang="tr-TR" sz="2600" b="1" i="1" spc="300" dirty="0">
              <a:effectLst>
                <a:outerShdw blurRad="38100" dist="38100" dir="2700000" algn="tl">
                  <a:srgbClr val="000000">
                    <a:alpha val="43137"/>
                  </a:srgbClr>
                </a:outerShdw>
              </a:effectLst>
            </a:endParaRPr>
          </a:p>
        </p:txBody>
      </p:sp>
      <p:sp>
        <p:nvSpPr>
          <p:cNvPr id="5" name="Slayt Numarası Yer Tutucusu 4"/>
          <p:cNvSpPr>
            <a:spLocks noGrp="1"/>
          </p:cNvSpPr>
          <p:nvPr>
            <p:ph type="sldNum" sz="quarter" idx="12"/>
          </p:nvPr>
        </p:nvSpPr>
        <p:spPr/>
        <p:txBody>
          <a:bodyPr/>
          <a:lstStyle/>
          <a:p>
            <a:fld id="{39F9BA00-44CD-41D4-A3D8-F864C744DC1F}" type="slidenum">
              <a:rPr lang="tr-TR" smtClean="0"/>
              <a:t>33</a:t>
            </a:fld>
            <a:r>
              <a:rPr lang="tr-TR"/>
              <a:t>/116</a:t>
            </a:r>
          </a:p>
        </p:txBody>
      </p:sp>
    </p:spTree>
    <p:extLst>
      <p:ext uri="{BB962C8B-B14F-4D97-AF65-F5344CB8AC3E}">
        <p14:creationId xmlns:p14="http://schemas.microsoft.com/office/powerpoint/2010/main" val="40926309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1035183" y="2250831"/>
            <a:ext cx="3060567" cy="461665"/>
          </a:xfrm>
          <a:prstGeom prst="rect">
            <a:avLst/>
          </a:prstGeom>
        </p:spPr>
        <p:txBody>
          <a:bodyPr wrap="square">
            <a:spAutoFit/>
          </a:bodyPr>
          <a:lstStyle/>
          <a:p>
            <a:pPr algn="just"/>
            <a:r>
              <a:rPr lang="tr-TR" sz="2400" b="1" dirty="0" smtClean="0"/>
              <a:t>	Taksir</a:t>
            </a:r>
            <a:endParaRPr lang="tr-TR" sz="2400" b="1" i="1" dirty="0" smtClean="0"/>
          </a:p>
        </p:txBody>
      </p:sp>
      <p:sp>
        <p:nvSpPr>
          <p:cNvPr id="15" name="Dikdörtgen 14"/>
          <p:cNvSpPr/>
          <p:nvPr/>
        </p:nvSpPr>
        <p:spPr>
          <a:xfrm>
            <a:off x="2302010" y="5020820"/>
            <a:ext cx="9354281" cy="369332"/>
          </a:xfrm>
          <a:prstGeom prst="rect">
            <a:avLst/>
          </a:prstGeom>
        </p:spPr>
        <p:txBody>
          <a:bodyPr wrap="square">
            <a:spAutoFit/>
          </a:bodyPr>
          <a:lstStyle/>
          <a:p>
            <a:pPr algn="just"/>
            <a:r>
              <a:rPr lang="tr-TR" dirty="0" smtClean="0"/>
              <a:t>Taksirli suçlar ancak Kanun tarafından taksirle işlenebileceği </a:t>
            </a:r>
            <a:r>
              <a:rPr lang="tr-TR" u="sng" dirty="0" smtClean="0"/>
              <a:t>açıkça</a:t>
            </a:r>
            <a:r>
              <a:rPr lang="tr-TR" dirty="0" smtClean="0"/>
              <a:t> belirtilen suçlardır. </a:t>
            </a:r>
          </a:p>
        </p:txBody>
      </p:sp>
      <p:sp>
        <p:nvSpPr>
          <p:cNvPr id="13" name="Dikdörtgen 12"/>
          <p:cNvSpPr/>
          <p:nvPr/>
        </p:nvSpPr>
        <p:spPr>
          <a:xfrm>
            <a:off x="2609694" y="4671475"/>
            <a:ext cx="8965269" cy="261610"/>
          </a:xfrm>
          <a:prstGeom prst="rect">
            <a:avLst/>
          </a:prstGeom>
        </p:spPr>
        <p:txBody>
          <a:bodyPr wrap="square">
            <a:spAutoFit/>
          </a:bodyPr>
          <a:lstStyle/>
          <a:p>
            <a:pPr algn="just"/>
            <a:r>
              <a:rPr lang="tr-TR" sz="1100" dirty="0" smtClean="0"/>
              <a:t>Fail gerekli özeni gösterseydi netice gerçekleşmeyecekti. </a:t>
            </a:r>
          </a:p>
        </p:txBody>
      </p:sp>
      <p:sp>
        <p:nvSpPr>
          <p:cNvPr id="14" name="Dikdörtgen 13"/>
          <p:cNvSpPr/>
          <p:nvPr/>
        </p:nvSpPr>
        <p:spPr>
          <a:xfrm>
            <a:off x="2120368" y="4155949"/>
            <a:ext cx="9354281" cy="646331"/>
          </a:xfrm>
          <a:prstGeom prst="rect">
            <a:avLst/>
          </a:prstGeom>
        </p:spPr>
        <p:txBody>
          <a:bodyPr wrap="square">
            <a:spAutoFit/>
          </a:bodyPr>
          <a:lstStyle/>
          <a:p>
            <a:pPr algn="just"/>
            <a:r>
              <a:rPr lang="tr-TR" dirty="0" smtClean="0"/>
              <a:t>Fail, </a:t>
            </a:r>
            <a:r>
              <a:rPr lang="tr-TR" u="sng" dirty="0" smtClean="0"/>
              <a:t>neticeyi istememekle beraber</a:t>
            </a:r>
            <a:r>
              <a:rPr lang="tr-TR" dirty="0" smtClean="0"/>
              <a:t> kendisinden beklenen özeni göstermeyerek neticenin meydana gelmesine neden olmaktadır.</a:t>
            </a:r>
          </a:p>
        </p:txBody>
      </p:sp>
      <p:sp>
        <p:nvSpPr>
          <p:cNvPr id="17" name="Dikdörtgen 16"/>
          <p:cNvSpPr/>
          <p:nvPr/>
        </p:nvSpPr>
        <p:spPr>
          <a:xfrm>
            <a:off x="2609694" y="5344856"/>
            <a:ext cx="8965269" cy="600164"/>
          </a:xfrm>
          <a:prstGeom prst="rect">
            <a:avLst/>
          </a:prstGeom>
        </p:spPr>
        <p:txBody>
          <a:bodyPr wrap="square">
            <a:spAutoFit/>
          </a:bodyPr>
          <a:lstStyle/>
          <a:p>
            <a:pPr marL="171450" indent="-171450" algn="just">
              <a:buFont typeface="Arial" panose="020B0604020202020204" pitchFamily="34" charset="0"/>
              <a:buChar char="•"/>
            </a:pPr>
            <a:r>
              <a:rPr lang="tr-TR" sz="1100" dirty="0" smtClean="0"/>
              <a:t>Öldürme suçunun taksirle işlenebileceği Türk Ceza Kanununun 85. maddesinde belirtilmiştir. </a:t>
            </a:r>
          </a:p>
          <a:p>
            <a:pPr marL="171450" indent="-171450" algn="just">
              <a:buFont typeface="Arial" panose="020B0604020202020204" pitchFamily="34" charset="0"/>
              <a:buChar char="•"/>
            </a:pPr>
            <a:r>
              <a:rPr lang="tr-TR" sz="1100" dirty="0" smtClean="0"/>
              <a:t>Bir kişinin taşınabilir bir malını yanlışlıkla alıp götürmek taksirli hırsızlık suçuna sebebiyet vermeyecektir. Çünkü Kanunda taksirli hırsızlık şeklinde bir suç  düzenlenmemiştir. </a:t>
            </a:r>
          </a:p>
        </p:txBody>
      </p:sp>
      <p:sp>
        <p:nvSpPr>
          <p:cNvPr id="18" name="Dikdörtgen 17"/>
          <p:cNvSpPr/>
          <p:nvPr/>
        </p:nvSpPr>
        <p:spPr>
          <a:xfrm>
            <a:off x="5093661" y="5750483"/>
            <a:ext cx="4888539" cy="1015663"/>
          </a:xfrm>
          <a:prstGeom prst="rect">
            <a:avLst/>
          </a:prstGeom>
        </p:spPr>
        <p:txBody>
          <a:bodyPr wrap="square">
            <a:spAutoFit/>
          </a:bodyPr>
          <a:lstStyle/>
          <a:p>
            <a:pPr algn="just"/>
            <a:r>
              <a:rPr lang="tr-TR" sz="1000" dirty="0" smtClean="0"/>
              <a:t>Taksirin Unsurları:</a:t>
            </a:r>
          </a:p>
          <a:p>
            <a:pPr marL="285750" indent="-285750" algn="just">
              <a:buFont typeface="Arial" panose="020B0604020202020204" pitchFamily="34" charset="0"/>
              <a:buChar char="•"/>
            </a:pPr>
            <a:r>
              <a:rPr lang="tr-TR" sz="1000" dirty="0" smtClean="0"/>
              <a:t>Objektif özen (dikkat ve özen) yükümlülüğünün ihlali</a:t>
            </a:r>
          </a:p>
          <a:p>
            <a:pPr marL="285750" indent="-285750" algn="just">
              <a:buFont typeface="Arial" panose="020B0604020202020204" pitchFamily="34" charset="0"/>
              <a:buChar char="•"/>
            </a:pPr>
            <a:r>
              <a:rPr lang="tr-TR" sz="1000" dirty="0" smtClean="0"/>
              <a:t>Neticenin meydana gelmesi</a:t>
            </a:r>
          </a:p>
          <a:p>
            <a:pPr marL="285750" indent="-285750" algn="just">
              <a:buFont typeface="Arial" panose="020B0604020202020204" pitchFamily="34" charset="0"/>
              <a:buChar char="•"/>
            </a:pPr>
            <a:r>
              <a:rPr lang="tr-TR" sz="1000" dirty="0" smtClean="0"/>
              <a:t>Nedensellik bağı ve neticenin objektif olarak isnat edilebilirliği</a:t>
            </a:r>
          </a:p>
          <a:p>
            <a:pPr marL="285750" indent="-285750" algn="just">
              <a:buFont typeface="Arial" panose="020B0604020202020204" pitchFamily="34" charset="0"/>
              <a:buChar char="•"/>
            </a:pPr>
            <a:r>
              <a:rPr lang="tr-TR" sz="1000" dirty="0" smtClean="0"/>
              <a:t>Neticenin </a:t>
            </a:r>
            <a:r>
              <a:rPr lang="tr-TR" sz="1000" u="sng" dirty="0" smtClean="0"/>
              <a:t>objektif</a:t>
            </a:r>
            <a:r>
              <a:rPr lang="tr-TR" sz="1000" dirty="0" smtClean="0"/>
              <a:t> olarak öngörülme imkanının olması</a:t>
            </a:r>
          </a:p>
          <a:p>
            <a:pPr marL="285750" indent="-285750" algn="just">
              <a:buFont typeface="Arial" panose="020B0604020202020204" pitchFamily="34" charset="0"/>
              <a:buChar char="•"/>
            </a:pPr>
            <a:r>
              <a:rPr lang="tr-TR" sz="1000" dirty="0" smtClean="0"/>
              <a:t>Failin neticeyi istememesi</a:t>
            </a:r>
          </a:p>
        </p:txBody>
      </p:sp>
      <p:sp>
        <p:nvSpPr>
          <p:cNvPr id="2" name="Dikdörtgen 1"/>
          <p:cNvSpPr/>
          <p:nvPr/>
        </p:nvSpPr>
        <p:spPr>
          <a:xfrm>
            <a:off x="2762094" y="2444497"/>
            <a:ext cx="9272953" cy="1708160"/>
          </a:xfrm>
          <a:prstGeom prst="rect">
            <a:avLst/>
          </a:prstGeom>
        </p:spPr>
        <p:txBody>
          <a:bodyPr wrap="square">
            <a:spAutoFit/>
          </a:bodyPr>
          <a:lstStyle/>
          <a:p>
            <a:r>
              <a:rPr lang="tr-TR" sz="1050" b="1" dirty="0" smtClean="0"/>
              <a:t>Türk Ceza Kanunu</a:t>
            </a:r>
          </a:p>
          <a:p>
            <a:r>
              <a:rPr lang="fr-FR" sz="1050" b="1" dirty="0" err="1" smtClean="0"/>
              <a:t>Taksir</a:t>
            </a:r>
            <a:endParaRPr lang="fr-FR" sz="1050" b="1" dirty="0"/>
          </a:p>
          <a:p>
            <a:r>
              <a:rPr lang="fr-FR" sz="1050" b="1" dirty="0" err="1"/>
              <a:t>Madde</a:t>
            </a:r>
            <a:r>
              <a:rPr lang="fr-FR" sz="1050" b="1" dirty="0"/>
              <a:t> 22- </a:t>
            </a:r>
            <a:r>
              <a:rPr lang="fr-FR" sz="1050" dirty="0"/>
              <a:t>(1) </a:t>
            </a:r>
            <a:r>
              <a:rPr lang="fr-FR" sz="1050" dirty="0" err="1"/>
              <a:t>Taksirle</a:t>
            </a:r>
            <a:r>
              <a:rPr lang="fr-FR" sz="1050" dirty="0"/>
              <a:t> </a:t>
            </a:r>
            <a:r>
              <a:rPr lang="fr-FR" sz="1050" dirty="0" err="1"/>
              <a:t>işlenen</a:t>
            </a:r>
            <a:r>
              <a:rPr lang="fr-FR" sz="1050" dirty="0"/>
              <a:t> </a:t>
            </a:r>
            <a:r>
              <a:rPr lang="fr-FR" sz="1050" dirty="0" err="1"/>
              <a:t>fiiller</a:t>
            </a:r>
            <a:r>
              <a:rPr lang="fr-FR" sz="1050" dirty="0"/>
              <a:t>, </a:t>
            </a:r>
            <a:r>
              <a:rPr lang="fr-FR" sz="1050" dirty="0" err="1"/>
              <a:t>kanunun</a:t>
            </a:r>
            <a:r>
              <a:rPr lang="fr-FR" sz="1050" dirty="0"/>
              <a:t> </a:t>
            </a:r>
            <a:r>
              <a:rPr lang="fr-FR" sz="1050" dirty="0" err="1"/>
              <a:t>açıkça</a:t>
            </a:r>
            <a:r>
              <a:rPr lang="fr-FR" sz="1050" dirty="0"/>
              <a:t> </a:t>
            </a:r>
            <a:r>
              <a:rPr lang="fr-FR" sz="1050" dirty="0" err="1"/>
              <a:t>belirttiği</a:t>
            </a:r>
            <a:r>
              <a:rPr lang="fr-FR" sz="1050" dirty="0"/>
              <a:t> </a:t>
            </a:r>
            <a:r>
              <a:rPr lang="fr-FR" sz="1050" dirty="0" err="1"/>
              <a:t>hallerde</a:t>
            </a:r>
            <a:r>
              <a:rPr lang="fr-FR" sz="1050" dirty="0"/>
              <a:t> </a:t>
            </a:r>
            <a:r>
              <a:rPr lang="fr-FR" sz="1050" dirty="0" err="1"/>
              <a:t>cezalandırılır</a:t>
            </a:r>
            <a:r>
              <a:rPr lang="fr-FR" sz="1050" dirty="0"/>
              <a:t>.</a:t>
            </a:r>
          </a:p>
          <a:p>
            <a:r>
              <a:rPr lang="fr-FR" sz="1050" dirty="0"/>
              <a:t>(2) </a:t>
            </a:r>
            <a:r>
              <a:rPr lang="fr-FR" sz="1050" dirty="0" err="1"/>
              <a:t>Taksir</a:t>
            </a:r>
            <a:r>
              <a:rPr lang="fr-FR" sz="1050" dirty="0"/>
              <a:t>, </a:t>
            </a:r>
            <a:r>
              <a:rPr lang="fr-FR" sz="1050" dirty="0" err="1"/>
              <a:t>dikkat</a:t>
            </a:r>
            <a:r>
              <a:rPr lang="fr-FR" sz="1050" dirty="0"/>
              <a:t> </a:t>
            </a:r>
            <a:r>
              <a:rPr lang="fr-FR" sz="1050" dirty="0" err="1"/>
              <a:t>ve</a:t>
            </a:r>
            <a:r>
              <a:rPr lang="fr-FR" sz="1050" dirty="0"/>
              <a:t> </a:t>
            </a:r>
            <a:r>
              <a:rPr lang="fr-FR" sz="1050" dirty="0" err="1"/>
              <a:t>özen</a:t>
            </a:r>
            <a:r>
              <a:rPr lang="fr-FR" sz="1050" dirty="0"/>
              <a:t> </a:t>
            </a:r>
            <a:r>
              <a:rPr lang="fr-FR" sz="1050" dirty="0" err="1"/>
              <a:t>yükümlülüğüne</a:t>
            </a:r>
            <a:r>
              <a:rPr lang="fr-FR" sz="1050" dirty="0"/>
              <a:t> </a:t>
            </a:r>
            <a:r>
              <a:rPr lang="fr-FR" sz="1050" dirty="0" err="1"/>
              <a:t>aykırılık</a:t>
            </a:r>
            <a:r>
              <a:rPr lang="fr-FR" sz="1050" dirty="0"/>
              <a:t> </a:t>
            </a:r>
            <a:r>
              <a:rPr lang="fr-FR" sz="1050" dirty="0" err="1"/>
              <a:t>dolayısıyla</a:t>
            </a:r>
            <a:r>
              <a:rPr lang="fr-FR" sz="1050" dirty="0"/>
              <a:t>, </a:t>
            </a:r>
            <a:r>
              <a:rPr lang="fr-FR" sz="1050" dirty="0" err="1"/>
              <a:t>bir</a:t>
            </a:r>
            <a:r>
              <a:rPr lang="fr-FR" sz="1050" dirty="0"/>
              <a:t> </a:t>
            </a:r>
            <a:r>
              <a:rPr lang="fr-FR" sz="1050" dirty="0" err="1"/>
              <a:t>davranışın</a:t>
            </a:r>
            <a:r>
              <a:rPr lang="fr-FR" sz="1050" dirty="0"/>
              <a:t> </a:t>
            </a:r>
            <a:r>
              <a:rPr lang="fr-FR" sz="1050" dirty="0" err="1"/>
              <a:t>suçun</a:t>
            </a:r>
            <a:r>
              <a:rPr lang="fr-FR" sz="1050" dirty="0"/>
              <a:t> </a:t>
            </a:r>
            <a:r>
              <a:rPr lang="fr-FR" sz="1050" dirty="0" err="1"/>
              <a:t>kanuni</a:t>
            </a:r>
            <a:r>
              <a:rPr lang="fr-FR" sz="1050" dirty="0"/>
              <a:t> </a:t>
            </a:r>
            <a:r>
              <a:rPr lang="fr-FR" sz="1050" dirty="0" err="1"/>
              <a:t>tanımında</a:t>
            </a:r>
            <a:r>
              <a:rPr lang="fr-FR" sz="1050" dirty="0"/>
              <a:t> </a:t>
            </a:r>
            <a:r>
              <a:rPr lang="fr-FR" sz="1050" dirty="0" err="1"/>
              <a:t>belirtilen</a:t>
            </a:r>
            <a:r>
              <a:rPr lang="fr-FR" sz="1050" dirty="0"/>
              <a:t> </a:t>
            </a:r>
            <a:r>
              <a:rPr lang="fr-FR" sz="1050" dirty="0" err="1"/>
              <a:t>neticesi</a:t>
            </a:r>
            <a:r>
              <a:rPr lang="fr-FR" sz="1050" dirty="0"/>
              <a:t> </a:t>
            </a:r>
            <a:r>
              <a:rPr lang="fr-FR" sz="1050" dirty="0" err="1"/>
              <a:t>öngörülmeyerek</a:t>
            </a:r>
            <a:r>
              <a:rPr lang="fr-FR" sz="1050" dirty="0"/>
              <a:t> </a:t>
            </a:r>
            <a:r>
              <a:rPr lang="fr-FR" sz="1050" dirty="0" err="1"/>
              <a:t>gerçekleştirilmesidir</a:t>
            </a:r>
            <a:r>
              <a:rPr lang="fr-FR" sz="1050" dirty="0"/>
              <a:t>.</a:t>
            </a:r>
          </a:p>
          <a:p>
            <a:r>
              <a:rPr lang="fr-FR" sz="1050" dirty="0"/>
              <a:t>(3) </a:t>
            </a:r>
            <a:r>
              <a:rPr lang="fr-FR" sz="1050" dirty="0" err="1"/>
              <a:t>Kişinin</a:t>
            </a:r>
            <a:r>
              <a:rPr lang="fr-FR" sz="1050" dirty="0"/>
              <a:t> </a:t>
            </a:r>
            <a:r>
              <a:rPr lang="fr-FR" sz="1050" dirty="0" err="1"/>
              <a:t>öngördüğü</a:t>
            </a:r>
            <a:r>
              <a:rPr lang="fr-FR" sz="1050" dirty="0"/>
              <a:t> </a:t>
            </a:r>
            <a:r>
              <a:rPr lang="fr-FR" sz="1050" dirty="0" err="1"/>
              <a:t>neticeyi</a:t>
            </a:r>
            <a:r>
              <a:rPr lang="fr-FR" sz="1050" dirty="0"/>
              <a:t> </a:t>
            </a:r>
            <a:r>
              <a:rPr lang="fr-FR" sz="1050" dirty="0" err="1"/>
              <a:t>istememesine</a:t>
            </a:r>
            <a:r>
              <a:rPr lang="fr-FR" sz="1050" dirty="0"/>
              <a:t> </a:t>
            </a:r>
            <a:r>
              <a:rPr lang="fr-FR" sz="1050" dirty="0" err="1"/>
              <a:t>karşın</a:t>
            </a:r>
            <a:r>
              <a:rPr lang="fr-FR" sz="1050" dirty="0"/>
              <a:t>, </a:t>
            </a:r>
            <a:r>
              <a:rPr lang="fr-FR" sz="1050" dirty="0" err="1"/>
              <a:t>neticenin</a:t>
            </a:r>
            <a:r>
              <a:rPr lang="fr-FR" sz="1050" dirty="0"/>
              <a:t> </a:t>
            </a:r>
            <a:r>
              <a:rPr lang="fr-FR" sz="1050" dirty="0" err="1"/>
              <a:t>meydana</a:t>
            </a:r>
            <a:r>
              <a:rPr lang="fr-FR" sz="1050" dirty="0"/>
              <a:t> </a:t>
            </a:r>
            <a:r>
              <a:rPr lang="fr-FR" sz="1050" dirty="0" err="1"/>
              <a:t>gelmesi</a:t>
            </a:r>
            <a:r>
              <a:rPr lang="fr-FR" sz="1050" dirty="0"/>
              <a:t> </a:t>
            </a:r>
            <a:r>
              <a:rPr lang="fr-FR" sz="1050" dirty="0" err="1"/>
              <a:t>halinde</a:t>
            </a:r>
            <a:r>
              <a:rPr lang="fr-FR" sz="1050" dirty="0"/>
              <a:t> </a:t>
            </a:r>
            <a:r>
              <a:rPr lang="fr-FR" sz="1050" dirty="0" err="1"/>
              <a:t>bilinçli</a:t>
            </a:r>
            <a:r>
              <a:rPr lang="fr-FR" sz="1050" dirty="0"/>
              <a:t> </a:t>
            </a:r>
            <a:r>
              <a:rPr lang="fr-FR" sz="1050" dirty="0" err="1"/>
              <a:t>taksir</a:t>
            </a:r>
            <a:r>
              <a:rPr lang="fr-FR" sz="1050" dirty="0"/>
              <a:t> </a:t>
            </a:r>
            <a:r>
              <a:rPr lang="fr-FR" sz="1050" dirty="0" err="1"/>
              <a:t>vardır</a:t>
            </a:r>
            <a:r>
              <a:rPr lang="fr-FR" sz="1050" dirty="0"/>
              <a:t>; bu </a:t>
            </a:r>
            <a:r>
              <a:rPr lang="fr-FR" sz="1050" dirty="0" err="1"/>
              <a:t>halde</a:t>
            </a:r>
            <a:r>
              <a:rPr lang="fr-FR" sz="1050" dirty="0"/>
              <a:t> </a:t>
            </a:r>
            <a:r>
              <a:rPr lang="fr-FR" sz="1050" dirty="0" err="1"/>
              <a:t>taksirli</a:t>
            </a:r>
            <a:r>
              <a:rPr lang="fr-FR" sz="1050" dirty="0"/>
              <a:t> suça </a:t>
            </a:r>
            <a:r>
              <a:rPr lang="fr-FR" sz="1050" dirty="0" err="1"/>
              <a:t>ilişkin</a:t>
            </a:r>
            <a:r>
              <a:rPr lang="fr-FR" sz="1050" dirty="0"/>
              <a:t> </a:t>
            </a:r>
            <a:r>
              <a:rPr lang="fr-FR" sz="1050" dirty="0" err="1"/>
              <a:t>ceza</a:t>
            </a:r>
            <a:r>
              <a:rPr lang="fr-FR" sz="1050" dirty="0"/>
              <a:t> </a:t>
            </a:r>
            <a:r>
              <a:rPr lang="fr-FR" sz="1050" dirty="0" err="1"/>
              <a:t>üçte</a:t>
            </a:r>
            <a:r>
              <a:rPr lang="fr-FR" sz="1050" dirty="0"/>
              <a:t> </a:t>
            </a:r>
            <a:r>
              <a:rPr lang="fr-FR" sz="1050" dirty="0" err="1"/>
              <a:t>birden</a:t>
            </a:r>
            <a:r>
              <a:rPr lang="fr-FR" sz="1050" dirty="0"/>
              <a:t> </a:t>
            </a:r>
            <a:r>
              <a:rPr lang="fr-FR" sz="1050" dirty="0" err="1"/>
              <a:t>yarısına</a:t>
            </a:r>
            <a:r>
              <a:rPr lang="fr-FR" sz="1050" dirty="0"/>
              <a:t> </a:t>
            </a:r>
            <a:r>
              <a:rPr lang="fr-FR" sz="1050" dirty="0" err="1"/>
              <a:t>kadar</a:t>
            </a:r>
            <a:r>
              <a:rPr lang="fr-FR" sz="1050" dirty="0"/>
              <a:t> </a:t>
            </a:r>
            <a:r>
              <a:rPr lang="fr-FR" sz="1050" dirty="0" err="1"/>
              <a:t>artırılır</a:t>
            </a:r>
            <a:r>
              <a:rPr lang="fr-FR" sz="1050" dirty="0"/>
              <a:t>.</a:t>
            </a:r>
          </a:p>
          <a:p>
            <a:r>
              <a:rPr lang="fr-FR" sz="1050" dirty="0"/>
              <a:t>(4) </a:t>
            </a:r>
            <a:r>
              <a:rPr lang="fr-FR" sz="1050" dirty="0" err="1"/>
              <a:t>Taksirle</a:t>
            </a:r>
            <a:r>
              <a:rPr lang="fr-FR" sz="1050" dirty="0"/>
              <a:t> </a:t>
            </a:r>
            <a:r>
              <a:rPr lang="fr-FR" sz="1050" dirty="0" err="1"/>
              <a:t>işlenen</a:t>
            </a:r>
            <a:r>
              <a:rPr lang="fr-FR" sz="1050" dirty="0"/>
              <a:t> </a:t>
            </a:r>
            <a:r>
              <a:rPr lang="fr-FR" sz="1050" dirty="0" err="1"/>
              <a:t>suçtan</a:t>
            </a:r>
            <a:r>
              <a:rPr lang="fr-FR" sz="1050" dirty="0"/>
              <a:t> </a:t>
            </a:r>
            <a:r>
              <a:rPr lang="fr-FR" sz="1050" dirty="0" err="1"/>
              <a:t>dolayı</a:t>
            </a:r>
            <a:r>
              <a:rPr lang="fr-FR" sz="1050" dirty="0"/>
              <a:t> </a:t>
            </a:r>
            <a:r>
              <a:rPr lang="fr-FR" sz="1050" dirty="0" err="1"/>
              <a:t>verilecek</a:t>
            </a:r>
            <a:r>
              <a:rPr lang="fr-FR" sz="1050" dirty="0"/>
              <a:t> </a:t>
            </a:r>
            <a:r>
              <a:rPr lang="fr-FR" sz="1050" dirty="0" err="1"/>
              <a:t>olan</a:t>
            </a:r>
            <a:r>
              <a:rPr lang="fr-FR" sz="1050" dirty="0"/>
              <a:t> </a:t>
            </a:r>
            <a:r>
              <a:rPr lang="fr-FR" sz="1050" dirty="0" err="1"/>
              <a:t>ceza</a:t>
            </a:r>
            <a:r>
              <a:rPr lang="fr-FR" sz="1050" dirty="0"/>
              <a:t> </a:t>
            </a:r>
            <a:r>
              <a:rPr lang="fr-FR" sz="1050" dirty="0" err="1"/>
              <a:t>failin</a:t>
            </a:r>
            <a:r>
              <a:rPr lang="fr-FR" sz="1050" dirty="0"/>
              <a:t> </a:t>
            </a:r>
            <a:r>
              <a:rPr lang="fr-FR" sz="1050" dirty="0" err="1"/>
              <a:t>kusuruna</a:t>
            </a:r>
            <a:r>
              <a:rPr lang="fr-FR" sz="1050" dirty="0"/>
              <a:t> </a:t>
            </a:r>
            <a:r>
              <a:rPr lang="fr-FR" sz="1050" dirty="0" err="1"/>
              <a:t>göre</a:t>
            </a:r>
            <a:r>
              <a:rPr lang="fr-FR" sz="1050" dirty="0"/>
              <a:t> </a:t>
            </a:r>
            <a:r>
              <a:rPr lang="fr-FR" sz="1050" dirty="0" err="1"/>
              <a:t>belirlenir</a:t>
            </a:r>
            <a:r>
              <a:rPr lang="fr-FR" sz="1050" dirty="0"/>
              <a:t>.</a:t>
            </a:r>
          </a:p>
          <a:p>
            <a:r>
              <a:rPr lang="fr-FR" sz="1050" dirty="0"/>
              <a:t>(5) </a:t>
            </a:r>
            <a:r>
              <a:rPr lang="fr-FR" sz="1050" dirty="0" err="1"/>
              <a:t>Birden</a:t>
            </a:r>
            <a:r>
              <a:rPr lang="fr-FR" sz="1050" dirty="0"/>
              <a:t> </a:t>
            </a:r>
            <a:r>
              <a:rPr lang="fr-FR" sz="1050" dirty="0" err="1"/>
              <a:t>fazla</a:t>
            </a:r>
            <a:r>
              <a:rPr lang="fr-FR" sz="1050" dirty="0"/>
              <a:t> </a:t>
            </a:r>
            <a:r>
              <a:rPr lang="fr-FR" sz="1050" dirty="0" err="1"/>
              <a:t>kişinin</a:t>
            </a:r>
            <a:r>
              <a:rPr lang="fr-FR" sz="1050" dirty="0"/>
              <a:t> </a:t>
            </a:r>
            <a:r>
              <a:rPr lang="fr-FR" sz="1050" dirty="0" err="1"/>
              <a:t>taksirle</a:t>
            </a:r>
            <a:r>
              <a:rPr lang="fr-FR" sz="1050" dirty="0"/>
              <a:t> </a:t>
            </a:r>
            <a:r>
              <a:rPr lang="fr-FR" sz="1050" dirty="0" err="1"/>
              <a:t>işlediği</a:t>
            </a:r>
            <a:r>
              <a:rPr lang="fr-FR" sz="1050" dirty="0"/>
              <a:t> </a:t>
            </a:r>
            <a:r>
              <a:rPr lang="fr-FR" sz="1050" dirty="0" err="1"/>
              <a:t>suçlarda</a:t>
            </a:r>
            <a:r>
              <a:rPr lang="fr-FR" sz="1050" dirty="0"/>
              <a:t>, </a:t>
            </a:r>
            <a:r>
              <a:rPr lang="fr-FR" sz="1050" dirty="0" err="1"/>
              <a:t>herkes</a:t>
            </a:r>
            <a:r>
              <a:rPr lang="fr-FR" sz="1050" dirty="0"/>
              <a:t> </a:t>
            </a:r>
            <a:r>
              <a:rPr lang="fr-FR" sz="1050" dirty="0" err="1"/>
              <a:t>kendi</a:t>
            </a:r>
            <a:r>
              <a:rPr lang="fr-FR" sz="1050" dirty="0"/>
              <a:t> </a:t>
            </a:r>
            <a:r>
              <a:rPr lang="fr-FR" sz="1050" dirty="0" err="1"/>
              <a:t>kusurundan</a:t>
            </a:r>
            <a:r>
              <a:rPr lang="fr-FR" sz="1050" dirty="0"/>
              <a:t> </a:t>
            </a:r>
            <a:r>
              <a:rPr lang="fr-FR" sz="1050" dirty="0" err="1"/>
              <a:t>dolayı</a:t>
            </a:r>
            <a:r>
              <a:rPr lang="fr-FR" sz="1050" dirty="0"/>
              <a:t> </a:t>
            </a:r>
            <a:r>
              <a:rPr lang="fr-FR" sz="1050" dirty="0" err="1"/>
              <a:t>sorumlu</a:t>
            </a:r>
            <a:r>
              <a:rPr lang="fr-FR" sz="1050" dirty="0"/>
              <a:t> </a:t>
            </a:r>
            <a:r>
              <a:rPr lang="fr-FR" sz="1050" dirty="0" err="1"/>
              <a:t>olur</a:t>
            </a:r>
            <a:r>
              <a:rPr lang="fr-FR" sz="1050" dirty="0"/>
              <a:t>. </a:t>
            </a:r>
            <a:r>
              <a:rPr lang="fr-FR" sz="1050" dirty="0" err="1"/>
              <a:t>Her</a:t>
            </a:r>
            <a:r>
              <a:rPr lang="fr-FR" sz="1050" dirty="0"/>
              <a:t> </a:t>
            </a:r>
            <a:r>
              <a:rPr lang="fr-FR" sz="1050" dirty="0" err="1"/>
              <a:t>failin</a:t>
            </a:r>
            <a:r>
              <a:rPr lang="fr-FR" sz="1050" dirty="0"/>
              <a:t> </a:t>
            </a:r>
            <a:r>
              <a:rPr lang="fr-FR" sz="1050" dirty="0" err="1"/>
              <a:t>cezası</a:t>
            </a:r>
            <a:r>
              <a:rPr lang="fr-FR" sz="1050" dirty="0"/>
              <a:t> </a:t>
            </a:r>
            <a:r>
              <a:rPr lang="fr-FR" sz="1050" dirty="0" err="1"/>
              <a:t>kusuruna</a:t>
            </a:r>
            <a:r>
              <a:rPr lang="fr-FR" sz="1050" dirty="0"/>
              <a:t> </a:t>
            </a:r>
            <a:r>
              <a:rPr lang="fr-FR" sz="1050" dirty="0" err="1"/>
              <a:t>göre</a:t>
            </a:r>
            <a:r>
              <a:rPr lang="fr-FR" sz="1050" dirty="0"/>
              <a:t> </a:t>
            </a:r>
            <a:r>
              <a:rPr lang="fr-FR" sz="1050" dirty="0" err="1"/>
              <a:t>ayrı</a:t>
            </a:r>
            <a:r>
              <a:rPr lang="fr-FR" sz="1050" dirty="0"/>
              <a:t> </a:t>
            </a:r>
            <a:r>
              <a:rPr lang="fr-FR" sz="1050" dirty="0" err="1"/>
              <a:t>ayrı</a:t>
            </a:r>
            <a:r>
              <a:rPr lang="fr-FR" sz="1050" dirty="0"/>
              <a:t> </a:t>
            </a:r>
            <a:r>
              <a:rPr lang="fr-FR" sz="1050" dirty="0" err="1"/>
              <a:t>belirlenir</a:t>
            </a:r>
            <a:r>
              <a:rPr lang="fr-FR" sz="1050" dirty="0"/>
              <a:t>.</a:t>
            </a:r>
          </a:p>
          <a:p>
            <a:r>
              <a:rPr lang="fr-FR" sz="1050" dirty="0"/>
              <a:t>(6) </a:t>
            </a:r>
            <a:r>
              <a:rPr lang="fr-FR" sz="1050" dirty="0" err="1"/>
              <a:t>Taksirli</a:t>
            </a:r>
            <a:r>
              <a:rPr lang="fr-FR" sz="1050" dirty="0"/>
              <a:t> </a:t>
            </a:r>
            <a:r>
              <a:rPr lang="fr-FR" sz="1050" dirty="0" err="1"/>
              <a:t>hareket</a:t>
            </a:r>
            <a:r>
              <a:rPr lang="fr-FR" sz="1050" dirty="0"/>
              <a:t> </a:t>
            </a:r>
            <a:r>
              <a:rPr lang="fr-FR" sz="1050" dirty="0" err="1"/>
              <a:t>sonucu</a:t>
            </a:r>
            <a:r>
              <a:rPr lang="fr-FR" sz="1050" dirty="0"/>
              <a:t> </a:t>
            </a:r>
            <a:r>
              <a:rPr lang="fr-FR" sz="1050" dirty="0" err="1"/>
              <a:t>neden</a:t>
            </a:r>
            <a:r>
              <a:rPr lang="fr-FR" sz="1050" dirty="0"/>
              <a:t> </a:t>
            </a:r>
            <a:r>
              <a:rPr lang="fr-FR" sz="1050" dirty="0" err="1"/>
              <a:t>olunan</a:t>
            </a:r>
            <a:r>
              <a:rPr lang="fr-FR" sz="1050" dirty="0"/>
              <a:t> </a:t>
            </a:r>
            <a:r>
              <a:rPr lang="fr-FR" sz="1050" dirty="0" err="1"/>
              <a:t>netice</a:t>
            </a:r>
            <a:r>
              <a:rPr lang="fr-FR" sz="1050" dirty="0"/>
              <a:t>, </a:t>
            </a:r>
            <a:r>
              <a:rPr lang="fr-FR" sz="1050" dirty="0" err="1"/>
              <a:t>münhasıran</a:t>
            </a:r>
            <a:r>
              <a:rPr lang="fr-FR" sz="1050" dirty="0"/>
              <a:t> </a:t>
            </a:r>
            <a:r>
              <a:rPr lang="fr-FR" sz="1050" dirty="0" err="1"/>
              <a:t>failin</a:t>
            </a:r>
            <a:r>
              <a:rPr lang="fr-FR" sz="1050" dirty="0"/>
              <a:t> </a:t>
            </a:r>
            <a:r>
              <a:rPr lang="fr-FR" sz="1050" dirty="0" err="1"/>
              <a:t>kişisel</a:t>
            </a:r>
            <a:r>
              <a:rPr lang="fr-FR" sz="1050" dirty="0"/>
              <a:t> </a:t>
            </a:r>
            <a:r>
              <a:rPr lang="fr-FR" sz="1050" dirty="0" err="1"/>
              <a:t>ve</a:t>
            </a:r>
            <a:r>
              <a:rPr lang="fr-FR" sz="1050" dirty="0"/>
              <a:t> </a:t>
            </a:r>
            <a:r>
              <a:rPr lang="fr-FR" sz="1050" dirty="0" err="1"/>
              <a:t>ailevi</a:t>
            </a:r>
            <a:r>
              <a:rPr lang="fr-FR" sz="1050" dirty="0"/>
              <a:t> </a:t>
            </a:r>
            <a:r>
              <a:rPr lang="fr-FR" sz="1050" dirty="0" err="1"/>
              <a:t>durumu</a:t>
            </a:r>
            <a:r>
              <a:rPr lang="fr-FR" sz="1050" dirty="0"/>
              <a:t> </a:t>
            </a:r>
            <a:r>
              <a:rPr lang="fr-FR" sz="1050" dirty="0" err="1"/>
              <a:t>bakımından</a:t>
            </a:r>
            <a:r>
              <a:rPr lang="fr-FR" sz="1050" dirty="0"/>
              <a:t>, </a:t>
            </a:r>
            <a:r>
              <a:rPr lang="fr-FR" sz="1050" dirty="0" err="1"/>
              <a:t>artık</a:t>
            </a:r>
            <a:r>
              <a:rPr lang="fr-FR" sz="1050" dirty="0"/>
              <a:t> </a:t>
            </a:r>
            <a:r>
              <a:rPr lang="fr-FR" sz="1050" dirty="0" err="1"/>
              <a:t>bir</a:t>
            </a:r>
            <a:r>
              <a:rPr lang="fr-FR" sz="1050" dirty="0"/>
              <a:t> </a:t>
            </a:r>
            <a:r>
              <a:rPr lang="fr-FR" sz="1050" dirty="0" err="1"/>
              <a:t>cezanın</a:t>
            </a:r>
            <a:r>
              <a:rPr lang="fr-FR" sz="1050" dirty="0"/>
              <a:t> </a:t>
            </a:r>
            <a:r>
              <a:rPr lang="fr-FR" sz="1050" dirty="0" err="1"/>
              <a:t>hükmedilmesini</a:t>
            </a:r>
            <a:r>
              <a:rPr lang="fr-FR" sz="1050" dirty="0"/>
              <a:t> </a:t>
            </a:r>
            <a:r>
              <a:rPr lang="fr-FR" sz="1050" dirty="0" err="1"/>
              <a:t>gereksiz</a:t>
            </a:r>
            <a:r>
              <a:rPr lang="fr-FR" sz="1050" dirty="0"/>
              <a:t> </a:t>
            </a:r>
            <a:r>
              <a:rPr lang="fr-FR" sz="1050" dirty="0" err="1"/>
              <a:t>kılacak</a:t>
            </a:r>
            <a:r>
              <a:rPr lang="fr-FR" sz="1050" dirty="0"/>
              <a:t> </a:t>
            </a:r>
            <a:r>
              <a:rPr lang="fr-FR" sz="1050" dirty="0" err="1"/>
              <a:t>derecede</a:t>
            </a:r>
            <a:r>
              <a:rPr lang="fr-FR" sz="1050" dirty="0"/>
              <a:t> </a:t>
            </a:r>
            <a:r>
              <a:rPr lang="fr-FR" sz="1050" dirty="0" err="1"/>
              <a:t>mağdur</a:t>
            </a:r>
            <a:r>
              <a:rPr lang="fr-FR" sz="1050" dirty="0"/>
              <a:t> </a:t>
            </a:r>
            <a:r>
              <a:rPr lang="fr-FR" sz="1050" dirty="0" err="1"/>
              <a:t>olmasına</a:t>
            </a:r>
            <a:r>
              <a:rPr lang="fr-FR" sz="1050" dirty="0"/>
              <a:t> </a:t>
            </a:r>
            <a:r>
              <a:rPr lang="fr-FR" sz="1050" dirty="0" err="1"/>
              <a:t>yol</a:t>
            </a:r>
            <a:r>
              <a:rPr lang="fr-FR" sz="1050" dirty="0"/>
              <a:t> </a:t>
            </a:r>
            <a:r>
              <a:rPr lang="fr-FR" sz="1050" dirty="0" err="1"/>
              <a:t>açmışsa</a:t>
            </a:r>
            <a:r>
              <a:rPr lang="fr-FR" sz="1050" dirty="0"/>
              <a:t> </a:t>
            </a:r>
            <a:r>
              <a:rPr lang="fr-FR" sz="1050" dirty="0" err="1"/>
              <a:t>ceza</a:t>
            </a:r>
            <a:r>
              <a:rPr lang="fr-FR" sz="1050" dirty="0"/>
              <a:t> </a:t>
            </a:r>
            <a:r>
              <a:rPr lang="fr-FR" sz="1050" dirty="0" err="1"/>
              <a:t>verilmez</a:t>
            </a:r>
            <a:r>
              <a:rPr lang="fr-FR" sz="1050" dirty="0"/>
              <a:t>; </a:t>
            </a:r>
            <a:r>
              <a:rPr lang="fr-FR" sz="1050" dirty="0" err="1"/>
              <a:t>bilinçli</a:t>
            </a:r>
            <a:r>
              <a:rPr lang="fr-FR" sz="1050" dirty="0"/>
              <a:t> </a:t>
            </a:r>
            <a:r>
              <a:rPr lang="fr-FR" sz="1050" dirty="0" err="1"/>
              <a:t>taksir</a:t>
            </a:r>
            <a:r>
              <a:rPr lang="fr-FR" sz="1050" dirty="0"/>
              <a:t> </a:t>
            </a:r>
            <a:r>
              <a:rPr lang="fr-FR" sz="1050" dirty="0" err="1"/>
              <a:t>halinde</a:t>
            </a:r>
            <a:r>
              <a:rPr lang="fr-FR" sz="1050" dirty="0"/>
              <a:t> </a:t>
            </a:r>
            <a:r>
              <a:rPr lang="fr-FR" sz="1050" dirty="0" err="1"/>
              <a:t>verilecek</a:t>
            </a:r>
            <a:r>
              <a:rPr lang="fr-FR" sz="1050" dirty="0"/>
              <a:t> </a:t>
            </a:r>
            <a:r>
              <a:rPr lang="fr-FR" sz="1050" dirty="0" err="1"/>
              <a:t>ceza</a:t>
            </a:r>
            <a:r>
              <a:rPr lang="fr-FR" sz="1050" dirty="0"/>
              <a:t> </a:t>
            </a:r>
            <a:r>
              <a:rPr lang="fr-FR" sz="1050" dirty="0" err="1"/>
              <a:t>yarıdan</a:t>
            </a:r>
            <a:r>
              <a:rPr lang="fr-FR" sz="1050" dirty="0"/>
              <a:t> </a:t>
            </a:r>
            <a:r>
              <a:rPr lang="fr-FR" sz="1050" dirty="0" err="1"/>
              <a:t>altıda</a:t>
            </a:r>
            <a:r>
              <a:rPr lang="fr-FR" sz="1050" dirty="0"/>
              <a:t> bire </a:t>
            </a:r>
            <a:r>
              <a:rPr lang="fr-FR" sz="1050" dirty="0" err="1"/>
              <a:t>kadar</a:t>
            </a:r>
            <a:r>
              <a:rPr lang="fr-FR" sz="1050" dirty="0"/>
              <a:t> </a:t>
            </a:r>
            <a:r>
              <a:rPr lang="fr-FR" sz="1050" dirty="0" err="1"/>
              <a:t>indirilebilir</a:t>
            </a:r>
            <a:endParaRPr lang="fr-FR" sz="1050" dirty="0"/>
          </a:p>
        </p:txBody>
      </p:sp>
      <p:sp>
        <p:nvSpPr>
          <p:cNvPr id="12"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itchFamily="34" charset="0"/>
              <a:buChar char="•"/>
            </a:pPr>
            <a:r>
              <a:rPr lang="tr-TR" b="1" smtClean="0"/>
              <a:t>Subjektif (Manevi) Unsurlar</a:t>
            </a:r>
            <a:endParaRPr lang="tr-TR" b="1" dirty="0" smtClean="0"/>
          </a:p>
          <a:p>
            <a:pPr algn="l"/>
            <a:r>
              <a:rPr lang="tr-TR" b="1" dirty="0" smtClean="0"/>
              <a:t>	</a:t>
            </a:r>
            <a:endParaRPr lang="tr-TR" b="1" dirty="0"/>
          </a:p>
        </p:txBody>
      </p:sp>
      <p:sp>
        <p:nvSpPr>
          <p:cNvPr id="19"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Suçun Subjektif (Manevi </a:t>
            </a:r>
            <a:r>
              <a:rPr lang="tr-TR" sz="2600" b="1" i="1" spc="300">
                <a:effectLst>
                  <a:outerShdw blurRad="38100" dist="38100" dir="2700000" algn="tl">
                    <a:srgbClr val="000000">
                      <a:alpha val="43137"/>
                    </a:srgbClr>
                  </a:outerShdw>
                </a:effectLst>
              </a:rPr>
              <a:t>) </a:t>
            </a:r>
            <a:r>
              <a:rPr lang="tr-TR" sz="2600" b="1" i="1" spc="300" dirty="0" smtClean="0">
                <a:effectLst>
                  <a:outerShdw blurRad="38100" dist="38100" dir="2700000" algn="tl">
                    <a:srgbClr val="000000">
                      <a:alpha val="43137"/>
                    </a:srgbClr>
                  </a:outerShdw>
                </a:effectLst>
              </a:rPr>
              <a:t>Unsurları, </a:t>
            </a:r>
          </a:p>
          <a:p>
            <a:r>
              <a:rPr lang="tr-TR" sz="2600" b="1" i="1" spc="300" dirty="0" smtClean="0">
                <a:effectLst>
                  <a:outerShdw blurRad="38100" dist="38100" dir="2700000" algn="tl">
                    <a:srgbClr val="000000">
                      <a:alpha val="43137"/>
                    </a:srgbClr>
                  </a:outerShdw>
                </a:effectLst>
              </a:rPr>
              <a:t>Neticesi Sebebiyle Ağırlaşmış Suçlar, Maksat ve Saik</a:t>
            </a:r>
            <a:endParaRPr lang="tr-TR" sz="2600" b="1" i="1" spc="300" dirty="0">
              <a:effectLst>
                <a:outerShdw blurRad="38100" dist="38100" dir="2700000" algn="tl">
                  <a:srgbClr val="000000">
                    <a:alpha val="43137"/>
                  </a:srgbClr>
                </a:outerShdw>
              </a:effectLst>
            </a:endParaRPr>
          </a:p>
        </p:txBody>
      </p:sp>
      <p:sp>
        <p:nvSpPr>
          <p:cNvPr id="5" name="Slayt Numarası Yer Tutucusu 4"/>
          <p:cNvSpPr>
            <a:spLocks noGrp="1"/>
          </p:cNvSpPr>
          <p:nvPr>
            <p:ph type="sldNum" sz="quarter" idx="12"/>
          </p:nvPr>
        </p:nvSpPr>
        <p:spPr/>
        <p:txBody>
          <a:bodyPr/>
          <a:lstStyle/>
          <a:p>
            <a:fld id="{39F9BA00-44CD-41D4-A3D8-F864C744DC1F}" type="slidenum">
              <a:rPr lang="tr-TR" smtClean="0"/>
              <a:t>34</a:t>
            </a:fld>
            <a:r>
              <a:rPr lang="tr-TR"/>
              <a:t>/116</a:t>
            </a:r>
          </a:p>
        </p:txBody>
      </p:sp>
    </p:spTree>
    <p:extLst>
      <p:ext uri="{BB962C8B-B14F-4D97-AF65-F5344CB8AC3E}">
        <p14:creationId xmlns:p14="http://schemas.microsoft.com/office/powerpoint/2010/main" val="165744513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1035183" y="2250831"/>
            <a:ext cx="10621108" cy="461665"/>
          </a:xfrm>
          <a:prstGeom prst="rect">
            <a:avLst/>
          </a:prstGeom>
        </p:spPr>
        <p:txBody>
          <a:bodyPr wrap="square">
            <a:spAutoFit/>
          </a:bodyPr>
          <a:lstStyle/>
          <a:p>
            <a:pPr algn="just"/>
            <a:r>
              <a:rPr lang="tr-TR" sz="2400" b="1" dirty="0" smtClean="0"/>
              <a:t>	Taksir</a:t>
            </a:r>
          </a:p>
        </p:txBody>
      </p:sp>
      <p:sp>
        <p:nvSpPr>
          <p:cNvPr id="13" name="Dikdörtgen 12"/>
          <p:cNvSpPr/>
          <p:nvPr/>
        </p:nvSpPr>
        <p:spPr>
          <a:xfrm>
            <a:off x="2459603" y="3216813"/>
            <a:ext cx="8965269" cy="584775"/>
          </a:xfrm>
          <a:prstGeom prst="rect">
            <a:avLst/>
          </a:prstGeom>
        </p:spPr>
        <p:txBody>
          <a:bodyPr wrap="square">
            <a:spAutoFit/>
          </a:bodyPr>
          <a:lstStyle/>
          <a:p>
            <a:pPr marL="285750" indent="-285750" algn="just">
              <a:buFont typeface="Arial" panose="020B0604020202020204" pitchFamily="34" charset="0"/>
              <a:buChar char="•"/>
            </a:pPr>
            <a:r>
              <a:rPr lang="tr-TR" sz="1600" dirty="0" smtClean="0"/>
              <a:t>Kusurun belirlenmesinde failin </a:t>
            </a:r>
            <a:r>
              <a:rPr lang="tr-TR" sz="1600" b="1" dirty="0" smtClean="0">
                <a:effectLst>
                  <a:outerShdw blurRad="38100" dist="38100" dir="2700000" algn="tl">
                    <a:srgbClr val="000000">
                      <a:alpha val="43137"/>
                    </a:srgbClr>
                  </a:outerShdw>
                </a:effectLst>
              </a:rPr>
              <a:t>kişisel kabiliyetine göre</a:t>
            </a:r>
            <a:r>
              <a:rPr lang="tr-TR" sz="1600" dirty="0" smtClean="0"/>
              <a:t> objektif özen yükümlülüğünü öngörebilecek ve yerine getirebilecek durumda olması dikkate alınmalıdır. </a:t>
            </a:r>
            <a:r>
              <a:rPr lang="tr-TR" sz="1200" dirty="0" smtClean="0"/>
              <a:t>(Failin yaşı, şahsi yetenekleri, hayat tecrübesi vb)</a:t>
            </a:r>
            <a:endParaRPr lang="tr-TR" sz="1600" dirty="0" smtClean="0"/>
          </a:p>
        </p:txBody>
      </p:sp>
      <p:sp>
        <p:nvSpPr>
          <p:cNvPr id="14" name="Dikdörtgen 13"/>
          <p:cNvSpPr/>
          <p:nvPr/>
        </p:nvSpPr>
        <p:spPr>
          <a:xfrm>
            <a:off x="2151919" y="2767867"/>
            <a:ext cx="9354281" cy="369332"/>
          </a:xfrm>
          <a:prstGeom prst="rect">
            <a:avLst/>
          </a:prstGeom>
        </p:spPr>
        <p:txBody>
          <a:bodyPr wrap="square">
            <a:spAutoFit/>
          </a:bodyPr>
          <a:lstStyle/>
          <a:p>
            <a:pPr algn="just"/>
            <a:r>
              <a:rPr lang="tr-TR" dirty="0" smtClean="0"/>
              <a:t>Taksirli Suçlarda Kusur</a:t>
            </a:r>
          </a:p>
        </p:txBody>
      </p:sp>
      <p:sp>
        <p:nvSpPr>
          <p:cNvPr id="11" name="Dikdörtgen 10"/>
          <p:cNvSpPr/>
          <p:nvPr/>
        </p:nvSpPr>
        <p:spPr>
          <a:xfrm>
            <a:off x="2459603" y="3894034"/>
            <a:ext cx="8965269" cy="338554"/>
          </a:xfrm>
          <a:prstGeom prst="rect">
            <a:avLst/>
          </a:prstGeom>
        </p:spPr>
        <p:txBody>
          <a:bodyPr wrap="square">
            <a:spAutoFit/>
          </a:bodyPr>
          <a:lstStyle/>
          <a:p>
            <a:pPr marL="285750" indent="-285750" algn="just">
              <a:buFont typeface="Arial" panose="020B0604020202020204" pitchFamily="34" charset="0"/>
              <a:buChar char="•"/>
            </a:pPr>
            <a:r>
              <a:rPr lang="tr-TR" sz="1600" dirty="0" smtClean="0"/>
              <a:t>Birden fazla kişinin taksirle işlediği suçlarda, herkes kendi kusurundan dolayı sorumlu olacaktır</a:t>
            </a:r>
          </a:p>
        </p:txBody>
      </p:sp>
      <p:sp>
        <p:nvSpPr>
          <p:cNvPr id="12" name="Metin kutusu 11"/>
          <p:cNvSpPr txBox="1"/>
          <p:nvPr/>
        </p:nvSpPr>
        <p:spPr>
          <a:xfrm>
            <a:off x="2123344" y="4594492"/>
            <a:ext cx="9301528" cy="369332"/>
          </a:xfrm>
          <a:prstGeom prst="rect">
            <a:avLst/>
          </a:prstGeom>
          <a:noFill/>
        </p:spPr>
        <p:txBody>
          <a:bodyPr wrap="square" rtlCol="0">
            <a:spAutoFit/>
          </a:bodyPr>
          <a:lstStyle/>
          <a:p>
            <a:r>
              <a:rPr lang="tr-TR" b="1" dirty="0" smtClean="0"/>
              <a:t>Taksirin türleri</a:t>
            </a:r>
            <a:endParaRPr lang="tr-TR" b="1" dirty="0"/>
          </a:p>
        </p:txBody>
      </p:sp>
      <p:sp>
        <p:nvSpPr>
          <p:cNvPr id="19" name="Metin kutusu 18"/>
          <p:cNvSpPr txBox="1"/>
          <p:nvPr/>
        </p:nvSpPr>
        <p:spPr>
          <a:xfrm>
            <a:off x="2247169" y="4925120"/>
            <a:ext cx="9301528" cy="369332"/>
          </a:xfrm>
          <a:prstGeom prst="rect">
            <a:avLst/>
          </a:prstGeom>
          <a:noFill/>
        </p:spPr>
        <p:txBody>
          <a:bodyPr wrap="square" rtlCol="0">
            <a:spAutoFit/>
          </a:bodyPr>
          <a:lstStyle/>
          <a:p>
            <a:pPr marL="285750" indent="-285750">
              <a:buFont typeface="Arial" panose="020B0604020202020204" pitchFamily="34" charset="0"/>
              <a:buChar char="•"/>
            </a:pPr>
            <a:r>
              <a:rPr lang="tr-TR" dirty="0" smtClean="0"/>
              <a:t>Bilinçli Taksir (Öngörülü Taksir)</a:t>
            </a:r>
            <a:endParaRPr lang="tr-TR" dirty="0"/>
          </a:p>
        </p:txBody>
      </p:sp>
      <p:sp>
        <p:nvSpPr>
          <p:cNvPr id="20" name="Metin kutusu 19"/>
          <p:cNvSpPr txBox="1"/>
          <p:nvPr/>
        </p:nvSpPr>
        <p:spPr>
          <a:xfrm>
            <a:off x="2247169" y="5255748"/>
            <a:ext cx="9301528" cy="369332"/>
          </a:xfrm>
          <a:prstGeom prst="rect">
            <a:avLst/>
          </a:prstGeom>
          <a:noFill/>
        </p:spPr>
        <p:txBody>
          <a:bodyPr wrap="square" rtlCol="0">
            <a:spAutoFit/>
          </a:bodyPr>
          <a:lstStyle/>
          <a:p>
            <a:pPr marL="285750" indent="-285750">
              <a:buFont typeface="Arial" panose="020B0604020202020204" pitchFamily="34" charset="0"/>
              <a:buChar char="•"/>
            </a:pPr>
            <a:r>
              <a:rPr lang="tr-TR" dirty="0" smtClean="0"/>
              <a:t>Bilinçsiz </a:t>
            </a:r>
            <a:r>
              <a:rPr lang="tr-TR" dirty="0"/>
              <a:t>Taksir (</a:t>
            </a:r>
            <a:r>
              <a:rPr lang="tr-TR" dirty="0" smtClean="0"/>
              <a:t>Öngörüsüz </a:t>
            </a:r>
            <a:r>
              <a:rPr lang="tr-TR" dirty="0"/>
              <a:t>Taksir)</a:t>
            </a:r>
          </a:p>
        </p:txBody>
      </p:sp>
      <p:sp>
        <p:nvSpPr>
          <p:cNvPr id="17"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itchFamily="34" charset="0"/>
              <a:buChar char="•"/>
            </a:pPr>
            <a:r>
              <a:rPr lang="tr-TR" b="1" smtClean="0"/>
              <a:t>Subjektif (Manevi) Unsurlar</a:t>
            </a:r>
            <a:endParaRPr lang="tr-TR" b="1" dirty="0" smtClean="0"/>
          </a:p>
          <a:p>
            <a:pPr algn="l"/>
            <a:r>
              <a:rPr lang="tr-TR" b="1" dirty="0" smtClean="0"/>
              <a:t>	</a:t>
            </a:r>
            <a:endParaRPr lang="tr-TR" b="1" dirty="0"/>
          </a:p>
        </p:txBody>
      </p:sp>
      <p:sp>
        <p:nvSpPr>
          <p:cNvPr id="18"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Suçun Subjektif (Manevi </a:t>
            </a:r>
            <a:r>
              <a:rPr lang="tr-TR" sz="2600" b="1" i="1" spc="300">
                <a:effectLst>
                  <a:outerShdw blurRad="38100" dist="38100" dir="2700000" algn="tl">
                    <a:srgbClr val="000000">
                      <a:alpha val="43137"/>
                    </a:srgbClr>
                  </a:outerShdw>
                </a:effectLst>
              </a:rPr>
              <a:t>) </a:t>
            </a:r>
            <a:r>
              <a:rPr lang="tr-TR" sz="2600" b="1" i="1" spc="300" dirty="0" smtClean="0">
                <a:effectLst>
                  <a:outerShdw blurRad="38100" dist="38100" dir="2700000" algn="tl">
                    <a:srgbClr val="000000">
                      <a:alpha val="43137"/>
                    </a:srgbClr>
                  </a:outerShdw>
                </a:effectLst>
              </a:rPr>
              <a:t>Unsurları, </a:t>
            </a:r>
          </a:p>
          <a:p>
            <a:r>
              <a:rPr lang="tr-TR" sz="2600" b="1" i="1" spc="300" dirty="0" smtClean="0">
                <a:effectLst>
                  <a:outerShdw blurRad="38100" dist="38100" dir="2700000" algn="tl">
                    <a:srgbClr val="000000">
                      <a:alpha val="43137"/>
                    </a:srgbClr>
                  </a:outerShdw>
                </a:effectLst>
              </a:rPr>
              <a:t>Neticesi Sebebiyle Ağırlaşmış Suçlar, Maksat ve Saik</a:t>
            </a:r>
            <a:endParaRPr lang="tr-TR" sz="2600" b="1" i="1" spc="300" dirty="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35</a:t>
            </a:fld>
            <a:r>
              <a:rPr lang="tr-TR"/>
              <a:t>/116</a:t>
            </a:r>
          </a:p>
        </p:txBody>
      </p:sp>
    </p:spTree>
    <p:extLst>
      <p:ext uri="{BB962C8B-B14F-4D97-AF65-F5344CB8AC3E}">
        <p14:creationId xmlns:p14="http://schemas.microsoft.com/office/powerpoint/2010/main" val="4265977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1035183" y="2250831"/>
            <a:ext cx="10621108" cy="461665"/>
          </a:xfrm>
          <a:prstGeom prst="rect">
            <a:avLst/>
          </a:prstGeom>
        </p:spPr>
        <p:txBody>
          <a:bodyPr wrap="square">
            <a:spAutoFit/>
          </a:bodyPr>
          <a:lstStyle/>
          <a:p>
            <a:pPr algn="just"/>
            <a:r>
              <a:rPr lang="tr-TR" sz="2400" b="1" dirty="0" smtClean="0"/>
              <a:t>	Taksir</a:t>
            </a:r>
          </a:p>
        </p:txBody>
      </p:sp>
      <p:sp>
        <p:nvSpPr>
          <p:cNvPr id="14" name="Dikdörtgen 13"/>
          <p:cNvSpPr/>
          <p:nvPr/>
        </p:nvSpPr>
        <p:spPr>
          <a:xfrm>
            <a:off x="2151919" y="2767867"/>
            <a:ext cx="1762856" cy="553998"/>
          </a:xfrm>
          <a:prstGeom prst="rect">
            <a:avLst/>
          </a:prstGeom>
        </p:spPr>
        <p:txBody>
          <a:bodyPr wrap="square">
            <a:spAutoFit/>
          </a:bodyPr>
          <a:lstStyle/>
          <a:p>
            <a:pPr algn="just"/>
            <a:r>
              <a:rPr lang="tr-TR" b="1" dirty="0" smtClean="0"/>
              <a:t>Bilinçli Taksir</a:t>
            </a:r>
          </a:p>
          <a:p>
            <a:pPr algn="just"/>
            <a:r>
              <a:rPr lang="tr-TR" sz="1200" dirty="0"/>
              <a:t>(Öngörülü Taksir</a:t>
            </a:r>
            <a:r>
              <a:rPr lang="tr-TR" sz="1200" dirty="0" smtClean="0"/>
              <a:t>)</a:t>
            </a:r>
            <a:endParaRPr lang="tr-TR" sz="1200" dirty="0"/>
          </a:p>
        </p:txBody>
      </p:sp>
      <p:sp>
        <p:nvSpPr>
          <p:cNvPr id="17" name="Metin kutusu 16"/>
          <p:cNvSpPr txBox="1"/>
          <p:nvPr/>
        </p:nvSpPr>
        <p:spPr>
          <a:xfrm>
            <a:off x="3777028" y="2785813"/>
            <a:ext cx="7462471" cy="338554"/>
          </a:xfrm>
          <a:prstGeom prst="rect">
            <a:avLst/>
          </a:prstGeom>
          <a:noFill/>
        </p:spPr>
        <p:txBody>
          <a:bodyPr wrap="square" rtlCol="0">
            <a:spAutoFit/>
          </a:bodyPr>
          <a:lstStyle/>
          <a:p>
            <a:pPr algn="just"/>
            <a:r>
              <a:rPr lang="tr-TR" sz="1600" dirty="0" smtClean="0"/>
              <a:t>Fail, suç tipinin gerçekleşebileceğini </a:t>
            </a:r>
            <a:r>
              <a:rPr lang="tr-TR" sz="1600" b="1" dirty="0" smtClean="0"/>
              <a:t>öngörmüş</a:t>
            </a:r>
            <a:r>
              <a:rPr lang="tr-TR" sz="1600" dirty="0" smtClean="0"/>
              <a:t> ancak gerçekleşmeyeceğine güvenmiştir.</a:t>
            </a:r>
            <a:endParaRPr lang="tr-TR" sz="1600" dirty="0"/>
          </a:p>
        </p:txBody>
      </p:sp>
      <p:sp>
        <p:nvSpPr>
          <p:cNvPr id="18" name="Metin kutusu 17"/>
          <p:cNvSpPr txBox="1"/>
          <p:nvPr/>
        </p:nvSpPr>
        <p:spPr>
          <a:xfrm>
            <a:off x="3777028" y="3075180"/>
            <a:ext cx="7672022" cy="430887"/>
          </a:xfrm>
          <a:prstGeom prst="rect">
            <a:avLst/>
          </a:prstGeom>
          <a:noFill/>
        </p:spPr>
        <p:txBody>
          <a:bodyPr wrap="square" rtlCol="0">
            <a:spAutoFit/>
          </a:bodyPr>
          <a:lstStyle/>
          <a:p>
            <a:pPr algn="just"/>
            <a:r>
              <a:rPr lang="tr-TR" sz="1100" dirty="0" smtClean="0"/>
              <a:t>Okul bölgesinde okul çıkış saatinde aracını hızlı süren failin işlediği öldürme suçu</a:t>
            </a:r>
          </a:p>
          <a:p>
            <a:pPr algn="just"/>
            <a:r>
              <a:rPr lang="tr-TR" sz="1100" dirty="0" smtClean="0"/>
              <a:t>Yüksek miktarda alkollü olarak insanların yoğun olduğu yerde hızla aracını hızlı süren failin işlediği öldürme suçu</a:t>
            </a:r>
            <a:endParaRPr lang="tr-TR" sz="1100" dirty="0"/>
          </a:p>
        </p:txBody>
      </p:sp>
      <p:sp>
        <p:nvSpPr>
          <p:cNvPr id="21" name="Dikdörtgen 20"/>
          <p:cNvSpPr/>
          <p:nvPr/>
        </p:nvSpPr>
        <p:spPr>
          <a:xfrm>
            <a:off x="2151918" y="3560798"/>
            <a:ext cx="1762857" cy="553998"/>
          </a:xfrm>
          <a:prstGeom prst="rect">
            <a:avLst/>
          </a:prstGeom>
        </p:spPr>
        <p:txBody>
          <a:bodyPr wrap="square">
            <a:spAutoFit/>
          </a:bodyPr>
          <a:lstStyle/>
          <a:p>
            <a:pPr algn="just"/>
            <a:r>
              <a:rPr lang="tr-TR" b="1" dirty="0" smtClean="0"/>
              <a:t>Bilinçsiz Taksir</a:t>
            </a:r>
          </a:p>
          <a:p>
            <a:pPr algn="just"/>
            <a:r>
              <a:rPr lang="tr-TR" sz="1200" dirty="0" smtClean="0"/>
              <a:t>(Öngörüsüz Taksir)</a:t>
            </a:r>
          </a:p>
        </p:txBody>
      </p:sp>
      <p:sp>
        <p:nvSpPr>
          <p:cNvPr id="22" name="Metin kutusu 21"/>
          <p:cNvSpPr txBox="1"/>
          <p:nvPr/>
        </p:nvSpPr>
        <p:spPr>
          <a:xfrm>
            <a:off x="3777028" y="3591576"/>
            <a:ext cx="7462471" cy="830997"/>
          </a:xfrm>
          <a:prstGeom prst="rect">
            <a:avLst/>
          </a:prstGeom>
          <a:noFill/>
        </p:spPr>
        <p:txBody>
          <a:bodyPr wrap="square" rtlCol="0">
            <a:spAutoFit/>
          </a:bodyPr>
          <a:lstStyle/>
          <a:p>
            <a:pPr algn="just"/>
            <a:r>
              <a:rPr lang="tr-TR" sz="1600" dirty="0" smtClean="0"/>
              <a:t>Fail, öngörülebilir neticeyi </a:t>
            </a:r>
            <a:r>
              <a:rPr lang="tr-TR" sz="1600" b="1" dirty="0" smtClean="0"/>
              <a:t>öngörememektedir.</a:t>
            </a:r>
            <a:r>
              <a:rPr lang="tr-TR" sz="1600" dirty="0" smtClean="0"/>
              <a:t> Fail hem somut bir tehlikenin varlığını müşahede edememekte, hem de suç tanımına uygun bir fiilin gerçekleşebileceği ihtimalini düşünmemektedir. </a:t>
            </a:r>
          </a:p>
        </p:txBody>
      </p:sp>
      <p:sp>
        <p:nvSpPr>
          <p:cNvPr id="23" name="Metin kutusu 22"/>
          <p:cNvSpPr txBox="1"/>
          <p:nvPr/>
        </p:nvSpPr>
        <p:spPr>
          <a:xfrm>
            <a:off x="3777028" y="4363553"/>
            <a:ext cx="7672022" cy="261610"/>
          </a:xfrm>
          <a:prstGeom prst="rect">
            <a:avLst/>
          </a:prstGeom>
          <a:noFill/>
        </p:spPr>
        <p:txBody>
          <a:bodyPr wrap="square" rtlCol="0">
            <a:spAutoFit/>
          </a:bodyPr>
          <a:lstStyle/>
          <a:p>
            <a:pPr algn="just"/>
            <a:r>
              <a:rPr lang="tr-TR" sz="1100" dirty="0" smtClean="0"/>
              <a:t>Silahı boş zanneden kişinin tetiği çekerek bir kişinin ölümüne neden olması</a:t>
            </a:r>
          </a:p>
        </p:txBody>
      </p:sp>
      <p:sp>
        <p:nvSpPr>
          <p:cNvPr id="24" name="Metin kutusu 23"/>
          <p:cNvSpPr txBox="1"/>
          <p:nvPr/>
        </p:nvSpPr>
        <p:spPr>
          <a:xfrm>
            <a:off x="2027819" y="4573524"/>
            <a:ext cx="9073387" cy="584775"/>
          </a:xfrm>
          <a:prstGeom prst="rect">
            <a:avLst/>
          </a:prstGeom>
          <a:noFill/>
        </p:spPr>
        <p:txBody>
          <a:bodyPr wrap="square" rtlCol="0">
            <a:spAutoFit/>
          </a:bodyPr>
          <a:lstStyle/>
          <a:p>
            <a:pPr algn="just"/>
            <a:r>
              <a:rPr lang="tr-TR" sz="1600" dirty="0" smtClean="0"/>
              <a:t>Bilinçli Taksir (Öngörülü Taksir) durumunda fail daha ağır bir özensizlik içinde olduğundan cezada </a:t>
            </a:r>
            <a:r>
              <a:rPr lang="tr-TR" sz="1600" b="1" dirty="0" smtClean="0">
                <a:effectLst>
                  <a:outerShdw blurRad="38100" dist="38100" dir="2700000" algn="tl">
                    <a:srgbClr val="000000">
                      <a:alpha val="43137"/>
                    </a:srgbClr>
                  </a:outerShdw>
                </a:effectLst>
              </a:rPr>
              <a:t>artırım </a:t>
            </a:r>
            <a:r>
              <a:rPr lang="tr-TR" sz="1600" dirty="0" smtClean="0"/>
              <a:t>yapılır </a:t>
            </a:r>
          </a:p>
        </p:txBody>
      </p:sp>
      <p:sp>
        <p:nvSpPr>
          <p:cNvPr id="25" name="Metin kutusu 24"/>
          <p:cNvSpPr txBox="1"/>
          <p:nvPr/>
        </p:nvSpPr>
        <p:spPr>
          <a:xfrm>
            <a:off x="2156314" y="5089336"/>
            <a:ext cx="9068991" cy="923330"/>
          </a:xfrm>
          <a:prstGeom prst="rect">
            <a:avLst/>
          </a:prstGeom>
          <a:noFill/>
        </p:spPr>
        <p:txBody>
          <a:bodyPr wrap="square" rtlCol="0">
            <a:spAutoFit/>
          </a:bodyPr>
          <a:lstStyle/>
          <a:p>
            <a:pPr marL="285750" indent="-285750" algn="just">
              <a:buFont typeface="Arial" panose="020B0604020202020204" pitchFamily="34" charset="0"/>
              <a:buChar char="•"/>
            </a:pPr>
            <a:r>
              <a:rPr lang="tr-TR" dirty="0" smtClean="0"/>
              <a:t>Taksirle işlenen fiil nedeniyle fail, kişisel ve ailevi durumu bakımından aynı zamanda  mağdur olmuş ise ceza verilmeyecektir. Ancak bu durum, failin, fiilinin neticesinden </a:t>
            </a:r>
            <a:r>
              <a:rPr lang="tr-TR" u="sng" dirty="0" smtClean="0"/>
              <a:t>münhasıran yani sadece kendisinin</a:t>
            </a:r>
            <a:r>
              <a:rPr lang="tr-TR" dirty="0" smtClean="0"/>
              <a:t> mağdur olduğu durumlarda geçerlidir.</a:t>
            </a:r>
            <a:endParaRPr lang="tr-TR" dirty="0"/>
          </a:p>
        </p:txBody>
      </p:sp>
      <p:sp>
        <p:nvSpPr>
          <p:cNvPr id="26" name="Metin kutusu 25"/>
          <p:cNvSpPr txBox="1"/>
          <p:nvPr/>
        </p:nvSpPr>
        <p:spPr>
          <a:xfrm>
            <a:off x="4160226" y="5967034"/>
            <a:ext cx="7193574" cy="400110"/>
          </a:xfrm>
          <a:prstGeom prst="rect">
            <a:avLst/>
          </a:prstGeom>
          <a:noFill/>
        </p:spPr>
        <p:txBody>
          <a:bodyPr wrap="square" rtlCol="0">
            <a:spAutoFit/>
          </a:bodyPr>
          <a:lstStyle/>
          <a:p>
            <a:pPr algn="just"/>
            <a:r>
              <a:rPr lang="tr-TR" sz="1000" dirty="0" smtClean="0"/>
              <a:t>Örneğin fail kendi kullandığı aracıyla yaptığı trafik kazasında çocuğunu kaybetmişse. Eğer aynı kazada komşunun hayatını kaybetmesi durumunda komşusunun ölümüyle ilgili cezai sorumluluğu devam edecektir. </a:t>
            </a:r>
            <a:endParaRPr lang="tr-TR" sz="1000" dirty="0"/>
          </a:p>
        </p:txBody>
      </p:sp>
      <p:sp>
        <p:nvSpPr>
          <p:cNvPr id="19"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itchFamily="34" charset="0"/>
              <a:buChar char="•"/>
            </a:pPr>
            <a:r>
              <a:rPr lang="tr-TR" b="1" smtClean="0"/>
              <a:t>Subjektif (Manevi) Unsurlar</a:t>
            </a:r>
            <a:endParaRPr lang="tr-TR" b="1" dirty="0" smtClean="0"/>
          </a:p>
          <a:p>
            <a:pPr algn="l"/>
            <a:r>
              <a:rPr lang="tr-TR" b="1" dirty="0" smtClean="0"/>
              <a:t>	</a:t>
            </a:r>
            <a:endParaRPr lang="tr-TR" b="1" dirty="0"/>
          </a:p>
        </p:txBody>
      </p:sp>
      <p:sp>
        <p:nvSpPr>
          <p:cNvPr id="20"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Suçun Subjektif (Manevi </a:t>
            </a:r>
            <a:r>
              <a:rPr lang="tr-TR" sz="2600" b="1" i="1" spc="300">
                <a:effectLst>
                  <a:outerShdw blurRad="38100" dist="38100" dir="2700000" algn="tl">
                    <a:srgbClr val="000000">
                      <a:alpha val="43137"/>
                    </a:srgbClr>
                  </a:outerShdw>
                </a:effectLst>
              </a:rPr>
              <a:t>) </a:t>
            </a:r>
            <a:r>
              <a:rPr lang="tr-TR" sz="2600" b="1" i="1" spc="300" dirty="0" smtClean="0">
                <a:effectLst>
                  <a:outerShdw blurRad="38100" dist="38100" dir="2700000" algn="tl">
                    <a:srgbClr val="000000">
                      <a:alpha val="43137"/>
                    </a:srgbClr>
                  </a:outerShdw>
                </a:effectLst>
              </a:rPr>
              <a:t>Unsurları, </a:t>
            </a:r>
          </a:p>
          <a:p>
            <a:r>
              <a:rPr lang="tr-TR" sz="2600" b="1" i="1" spc="300" dirty="0" smtClean="0">
                <a:effectLst>
                  <a:outerShdw blurRad="38100" dist="38100" dir="2700000" algn="tl">
                    <a:srgbClr val="000000">
                      <a:alpha val="43137"/>
                    </a:srgbClr>
                  </a:outerShdw>
                </a:effectLst>
              </a:rPr>
              <a:t>Neticesi Sebebiyle Ağırlaşmış Suçlar, Maksat ve Saik</a:t>
            </a:r>
            <a:endParaRPr lang="tr-TR" sz="2600" b="1" i="1" spc="300" dirty="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36</a:t>
            </a:fld>
            <a:r>
              <a:rPr lang="tr-TR"/>
              <a:t>/116</a:t>
            </a:r>
          </a:p>
        </p:txBody>
      </p:sp>
    </p:spTree>
    <p:extLst>
      <p:ext uri="{BB962C8B-B14F-4D97-AF65-F5344CB8AC3E}">
        <p14:creationId xmlns:p14="http://schemas.microsoft.com/office/powerpoint/2010/main" val="167345502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lt Başlık 2"/>
          <p:cNvSpPr txBox="1">
            <a:spLocks/>
          </p:cNvSpPr>
          <p:nvPr/>
        </p:nvSpPr>
        <p:spPr>
          <a:xfrm>
            <a:off x="1568583" y="1779061"/>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tr-TR" b="1" smtClean="0"/>
              <a:t>Subjektif (Manevi) Unsurlar</a:t>
            </a:r>
            <a:endParaRPr lang="tr-TR" b="1" dirty="0" smtClean="0"/>
          </a:p>
          <a:p>
            <a:r>
              <a:rPr lang="tr-TR" b="1" dirty="0" smtClean="0"/>
              <a:t>	</a:t>
            </a:r>
            <a:endParaRPr lang="tr-TR" b="1" dirty="0"/>
          </a:p>
        </p:txBody>
      </p:sp>
      <p:sp>
        <p:nvSpPr>
          <p:cNvPr id="6" name="Metin kutusu 5"/>
          <p:cNvSpPr txBox="1"/>
          <p:nvPr/>
        </p:nvSpPr>
        <p:spPr>
          <a:xfrm>
            <a:off x="4452048" y="3054548"/>
            <a:ext cx="733425" cy="400110"/>
          </a:xfrm>
          <a:prstGeom prst="rect">
            <a:avLst/>
          </a:prstGeom>
          <a:noFill/>
        </p:spPr>
        <p:txBody>
          <a:bodyPr wrap="square" rtlCol="0">
            <a:spAutoFit/>
          </a:bodyPr>
          <a:lstStyle/>
          <a:p>
            <a:r>
              <a:rPr lang="tr-TR" sz="2000" b="1" dirty="0" smtClean="0">
                <a:effectLst>
                  <a:outerShdw blurRad="38100" dist="38100" dir="2700000" algn="tl">
                    <a:srgbClr val="000000">
                      <a:alpha val="43137"/>
                    </a:srgbClr>
                  </a:outerShdw>
                </a:effectLst>
              </a:rPr>
              <a:t>KAST</a:t>
            </a:r>
            <a:endParaRPr lang="fr-FR" sz="2000" b="1" dirty="0">
              <a:effectLst>
                <a:outerShdw blurRad="38100" dist="38100" dir="2700000" algn="tl">
                  <a:srgbClr val="000000">
                    <a:alpha val="43137"/>
                  </a:srgbClr>
                </a:outerShdw>
              </a:effectLst>
            </a:endParaRPr>
          </a:p>
        </p:txBody>
      </p:sp>
      <p:sp>
        <p:nvSpPr>
          <p:cNvPr id="22" name="Metin kutusu 21"/>
          <p:cNvSpPr txBox="1"/>
          <p:nvPr/>
        </p:nvSpPr>
        <p:spPr>
          <a:xfrm>
            <a:off x="7110597" y="3054548"/>
            <a:ext cx="952501" cy="400110"/>
          </a:xfrm>
          <a:prstGeom prst="rect">
            <a:avLst/>
          </a:prstGeom>
          <a:noFill/>
        </p:spPr>
        <p:txBody>
          <a:bodyPr wrap="square" rtlCol="0">
            <a:spAutoFit/>
          </a:bodyPr>
          <a:lstStyle/>
          <a:p>
            <a:r>
              <a:rPr lang="tr-TR" sz="2000" b="1" dirty="0" smtClean="0">
                <a:effectLst>
                  <a:outerShdw blurRad="38100" dist="38100" dir="2700000" algn="tl">
                    <a:srgbClr val="000000">
                      <a:alpha val="43137"/>
                    </a:srgbClr>
                  </a:outerShdw>
                </a:effectLst>
              </a:rPr>
              <a:t>TAKSİR</a:t>
            </a:r>
            <a:endParaRPr lang="fr-FR" sz="2000" b="1" dirty="0">
              <a:effectLst>
                <a:outerShdw blurRad="38100" dist="38100" dir="2700000" algn="tl">
                  <a:srgbClr val="000000">
                    <a:alpha val="43137"/>
                  </a:srgbClr>
                </a:outerShdw>
              </a:effectLst>
            </a:endParaRPr>
          </a:p>
        </p:txBody>
      </p:sp>
      <p:sp>
        <p:nvSpPr>
          <p:cNvPr id="9" name="Metin kutusu 8"/>
          <p:cNvSpPr txBox="1"/>
          <p:nvPr/>
        </p:nvSpPr>
        <p:spPr>
          <a:xfrm>
            <a:off x="2767882" y="3790476"/>
            <a:ext cx="1895475" cy="369332"/>
          </a:xfrm>
          <a:prstGeom prst="rect">
            <a:avLst/>
          </a:prstGeom>
          <a:noFill/>
        </p:spPr>
        <p:txBody>
          <a:bodyPr wrap="square" rtlCol="0">
            <a:spAutoFit/>
          </a:bodyPr>
          <a:lstStyle/>
          <a:p>
            <a:r>
              <a:rPr lang="tr-TR" dirty="0" smtClean="0"/>
              <a:t>Doğrudan Kast</a:t>
            </a:r>
            <a:endParaRPr lang="fr-FR" dirty="0"/>
          </a:p>
        </p:txBody>
      </p:sp>
      <p:sp>
        <p:nvSpPr>
          <p:cNvPr id="23" name="Metin kutusu 22"/>
          <p:cNvSpPr txBox="1"/>
          <p:nvPr/>
        </p:nvSpPr>
        <p:spPr>
          <a:xfrm>
            <a:off x="5010198" y="3811738"/>
            <a:ext cx="1531805" cy="369332"/>
          </a:xfrm>
          <a:prstGeom prst="rect">
            <a:avLst/>
          </a:prstGeom>
          <a:noFill/>
        </p:spPr>
        <p:txBody>
          <a:bodyPr wrap="square" rtlCol="0">
            <a:spAutoFit/>
          </a:bodyPr>
          <a:lstStyle/>
          <a:p>
            <a:r>
              <a:rPr lang="tr-TR" dirty="0" smtClean="0"/>
              <a:t>Olası Kast</a:t>
            </a:r>
            <a:endParaRPr lang="fr-FR" dirty="0"/>
          </a:p>
        </p:txBody>
      </p:sp>
      <p:sp>
        <p:nvSpPr>
          <p:cNvPr id="12" name="Metin kutusu 11"/>
          <p:cNvSpPr txBox="1"/>
          <p:nvPr/>
        </p:nvSpPr>
        <p:spPr>
          <a:xfrm>
            <a:off x="1828799" y="4576386"/>
            <a:ext cx="1709738" cy="584775"/>
          </a:xfrm>
          <a:prstGeom prst="rect">
            <a:avLst/>
          </a:prstGeom>
          <a:noFill/>
        </p:spPr>
        <p:txBody>
          <a:bodyPr wrap="square" rtlCol="0">
            <a:spAutoFit/>
          </a:bodyPr>
          <a:lstStyle/>
          <a:p>
            <a:pPr algn="ctr"/>
            <a:r>
              <a:rPr lang="tr-TR" sz="1600" dirty="0" smtClean="0"/>
              <a:t>1. Dereceden Doğrudan Kast</a:t>
            </a:r>
            <a:endParaRPr lang="fr-FR" sz="1600" dirty="0"/>
          </a:p>
        </p:txBody>
      </p:sp>
      <p:sp>
        <p:nvSpPr>
          <p:cNvPr id="13" name="Metin kutusu 12"/>
          <p:cNvSpPr txBox="1"/>
          <p:nvPr/>
        </p:nvSpPr>
        <p:spPr>
          <a:xfrm>
            <a:off x="3538537" y="4586444"/>
            <a:ext cx="1709738" cy="584775"/>
          </a:xfrm>
          <a:prstGeom prst="rect">
            <a:avLst/>
          </a:prstGeom>
          <a:noFill/>
        </p:spPr>
        <p:txBody>
          <a:bodyPr wrap="square" rtlCol="0">
            <a:spAutoFit/>
          </a:bodyPr>
          <a:lstStyle/>
          <a:p>
            <a:pPr algn="ctr"/>
            <a:r>
              <a:rPr lang="tr-TR" sz="1600" dirty="0" smtClean="0"/>
              <a:t>2. Dereceden Doğrudan Kast</a:t>
            </a:r>
            <a:endParaRPr lang="fr-FR" sz="1600" dirty="0"/>
          </a:p>
        </p:txBody>
      </p:sp>
      <p:sp>
        <p:nvSpPr>
          <p:cNvPr id="14" name="Metin kutusu 13"/>
          <p:cNvSpPr txBox="1"/>
          <p:nvPr/>
        </p:nvSpPr>
        <p:spPr>
          <a:xfrm>
            <a:off x="6263578" y="3871337"/>
            <a:ext cx="1531805" cy="369332"/>
          </a:xfrm>
          <a:prstGeom prst="rect">
            <a:avLst/>
          </a:prstGeom>
          <a:noFill/>
        </p:spPr>
        <p:txBody>
          <a:bodyPr wrap="square" rtlCol="0">
            <a:spAutoFit/>
          </a:bodyPr>
          <a:lstStyle/>
          <a:p>
            <a:r>
              <a:rPr lang="tr-TR" dirty="0" smtClean="0"/>
              <a:t>Bilinçli Taksir</a:t>
            </a:r>
            <a:endParaRPr lang="fr-FR" dirty="0"/>
          </a:p>
        </p:txBody>
      </p:sp>
      <p:sp>
        <p:nvSpPr>
          <p:cNvPr id="15" name="Metin kutusu 14"/>
          <p:cNvSpPr txBox="1"/>
          <p:nvPr/>
        </p:nvSpPr>
        <p:spPr>
          <a:xfrm>
            <a:off x="7853393" y="3861279"/>
            <a:ext cx="1531805" cy="369332"/>
          </a:xfrm>
          <a:prstGeom prst="rect">
            <a:avLst/>
          </a:prstGeom>
          <a:noFill/>
        </p:spPr>
        <p:txBody>
          <a:bodyPr wrap="square" rtlCol="0">
            <a:spAutoFit/>
          </a:bodyPr>
          <a:lstStyle/>
          <a:p>
            <a:r>
              <a:rPr lang="tr-TR" dirty="0" smtClean="0"/>
              <a:t>Bilinçsiz Taksir</a:t>
            </a:r>
            <a:endParaRPr lang="fr-FR" dirty="0"/>
          </a:p>
        </p:txBody>
      </p:sp>
      <p:sp>
        <p:nvSpPr>
          <p:cNvPr id="20" name="Aşağı Ok 19"/>
          <p:cNvSpPr/>
          <p:nvPr/>
        </p:nvSpPr>
        <p:spPr>
          <a:xfrm rot="3868725" flipH="1">
            <a:off x="7125916" y="3232492"/>
            <a:ext cx="169252" cy="801917"/>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Aşağı Ok 26"/>
          <p:cNvSpPr/>
          <p:nvPr/>
        </p:nvSpPr>
        <p:spPr>
          <a:xfrm rot="2470240" flipH="1">
            <a:off x="5037952" y="2064007"/>
            <a:ext cx="252000" cy="1093798"/>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8" name="Aşağı Ok 27"/>
          <p:cNvSpPr/>
          <p:nvPr/>
        </p:nvSpPr>
        <p:spPr>
          <a:xfrm rot="18948458">
            <a:off x="6915504" y="2103320"/>
            <a:ext cx="252000" cy="114716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3" name="Aşağı Ok 32"/>
          <p:cNvSpPr/>
          <p:nvPr/>
        </p:nvSpPr>
        <p:spPr>
          <a:xfrm rot="3868725" flipH="1">
            <a:off x="7122854" y="3237341"/>
            <a:ext cx="180000" cy="801917"/>
          </a:xfrm>
          <a:prstGeom prst="downArrow">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4" name="Aşağı Ok 33"/>
          <p:cNvSpPr/>
          <p:nvPr/>
        </p:nvSpPr>
        <p:spPr>
          <a:xfrm rot="18197473">
            <a:off x="7904403" y="3270339"/>
            <a:ext cx="180000" cy="806227"/>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5" name="Aşağı Ok 34"/>
          <p:cNvSpPr/>
          <p:nvPr/>
        </p:nvSpPr>
        <p:spPr>
          <a:xfrm rot="3868725" flipH="1">
            <a:off x="4365096" y="3206552"/>
            <a:ext cx="180000" cy="799893"/>
          </a:xfrm>
          <a:prstGeom prst="downArrow">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6" name="Aşağı Ok 35"/>
          <p:cNvSpPr/>
          <p:nvPr/>
        </p:nvSpPr>
        <p:spPr>
          <a:xfrm rot="18197473">
            <a:off x="5115118" y="3254232"/>
            <a:ext cx="180000" cy="806227"/>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7" name="Aşağı Ok 36"/>
          <p:cNvSpPr/>
          <p:nvPr/>
        </p:nvSpPr>
        <p:spPr>
          <a:xfrm rot="3868725" flipH="1">
            <a:off x="3021524" y="3982392"/>
            <a:ext cx="108000" cy="75582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8" name="Aşağı Ok 37"/>
          <p:cNvSpPr/>
          <p:nvPr/>
        </p:nvSpPr>
        <p:spPr>
          <a:xfrm rot="18197473">
            <a:off x="3730665" y="4052220"/>
            <a:ext cx="108000" cy="698128"/>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0"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Suçun Subjektif (Manevi </a:t>
            </a:r>
            <a:r>
              <a:rPr lang="tr-TR" sz="2600" b="1" i="1" spc="300">
                <a:effectLst>
                  <a:outerShdw blurRad="38100" dist="38100" dir="2700000" algn="tl">
                    <a:srgbClr val="000000">
                      <a:alpha val="43137"/>
                    </a:srgbClr>
                  </a:outerShdw>
                </a:effectLst>
              </a:rPr>
              <a:t>) </a:t>
            </a:r>
            <a:r>
              <a:rPr lang="tr-TR" sz="2600" b="1" i="1" spc="300" dirty="0" smtClean="0">
                <a:effectLst>
                  <a:outerShdw blurRad="38100" dist="38100" dir="2700000" algn="tl">
                    <a:srgbClr val="000000">
                      <a:alpha val="43137"/>
                    </a:srgbClr>
                  </a:outerShdw>
                </a:effectLst>
              </a:rPr>
              <a:t>Unsurları, </a:t>
            </a:r>
          </a:p>
          <a:p>
            <a:r>
              <a:rPr lang="tr-TR" sz="2600" b="1" i="1" spc="300" dirty="0" smtClean="0">
                <a:effectLst>
                  <a:outerShdw blurRad="38100" dist="38100" dir="2700000" algn="tl">
                    <a:srgbClr val="000000">
                      <a:alpha val="43137"/>
                    </a:srgbClr>
                  </a:outerShdw>
                </a:effectLst>
              </a:rPr>
              <a:t>Neticesi Sebebiyle Ağırlaşmış Suçlar, Maksat ve Saik</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37</a:t>
            </a:fld>
            <a:r>
              <a:rPr lang="tr-TR"/>
              <a:t>/116</a:t>
            </a:r>
          </a:p>
        </p:txBody>
      </p:sp>
    </p:spTree>
    <p:extLst>
      <p:ext uri="{BB962C8B-B14F-4D97-AF65-F5344CB8AC3E}">
        <p14:creationId xmlns:p14="http://schemas.microsoft.com/office/powerpoint/2010/main" val="348402540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lt Başlık 2"/>
          <p:cNvSpPr txBox="1">
            <a:spLocks/>
          </p:cNvSpPr>
          <p:nvPr/>
        </p:nvSpPr>
        <p:spPr>
          <a:xfrm>
            <a:off x="1568583" y="1971028"/>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tr-TR" b="1" dirty="0">
                <a:effectLst>
                  <a:outerShdw blurRad="38100" dist="38100" dir="2700000" algn="tl">
                    <a:srgbClr val="000000">
                      <a:alpha val="43137"/>
                    </a:srgbClr>
                  </a:outerShdw>
                </a:effectLst>
              </a:rPr>
              <a:t>Olası Kast-Bilinçli Taksir ayrımı</a:t>
            </a:r>
            <a:r>
              <a:rPr lang="tr-TR" b="1" dirty="0" smtClean="0">
                <a:effectLst>
                  <a:outerShdw blurRad="38100" dist="38100" dir="2700000" algn="tl">
                    <a:srgbClr val="000000">
                      <a:alpha val="43137"/>
                    </a:srgbClr>
                  </a:outerShdw>
                </a:effectLst>
              </a:rPr>
              <a:t>	</a:t>
            </a:r>
            <a:endParaRPr lang="tr-TR" b="1" dirty="0">
              <a:effectLst>
                <a:outerShdw blurRad="38100" dist="38100" dir="2700000" algn="tl">
                  <a:srgbClr val="000000">
                    <a:alpha val="43137"/>
                  </a:srgbClr>
                </a:outerShdw>
              </a:effectLst>
            </a:endParaRPr>
          </a:p>
        </p:txBody>
      </p:sp>
      <p:sp>
        <p:nvSpPr>
          <p:cNvPr id="2" name="Dikdörtgen 1"/>
          <p:cNvSpPr/>
          <p:nvPr/>
        </p:nvSpPr>
        <p:spPr>
          <a:xfrm>
            <a:off x="1847850" y="2488064"/>
            <a:ext cx="8864733" cy="2679901"/>
          </a:xfrm>
          <a:prstGeom prst="rect">
            <a:avLst/>
          </a:prstGeom>
        </p:spPr>
        <p:txBody>
          <a:bodyPr wrap="square">
            <a:spAutoFit/>
          </a:bodyPr>
          <a:lstStyle/>
          <a:p>
            <a:pPr lvl="0" algn="just">
              <a:lnSpc>
                <a:spcPct val="107000"/>
              </a:lnSpc>
              <a:spcAft>
                <a:spcPts val="800"/>
              </a:spcAft>
            </a:pPr>
            <a:r>
              <a:rPr lang="tr-TR" sz="1400" dirty="0" smtClean="0">
                <a:solidFill>
                  <a:srgbClr val="000000"/>
                </a:solidFill>
                <a:ea typeface="Calibri" panose="020F0502020204030204" pitchFamily="34" charset="0"/>
                <a:cs typeface="Times New Roman" panose="02020603050405020304" pitchFamily="18" charset="0"/>
              </a:rPr>
              <a:t>Failin </a:t>
            </a:r>
            <a:r>
              <a:rPr lang="tr-TR" sz="1400" dirty="0">
                <a:solidFill>
                  <a:srgbClr val="000000"/>
                </a:solidFill>
                <a:ea typeface="Calibri" panose="020F0502020204030204" pitchFamily="34" charset="0"/>
                <a:cs typeface="Times New Roman" panose="02020603050405020304" pitchFamily="18" charset="0"/>
              </a:rPr>
              <a:t>kasıtlı mı taksirli mi olduğuna ilişkin yapacağımız inceleme sonucunda bilinçli taksir neticesine ulaşıyorsak, failin olası kasıtla da hareket etmiş olabileceğini düşünmeli ve aşağıdaki adımlara göre tekrar inceleme </a:t>
            </a:r>
            <a:r>
              <a:rPr lang="tr-TR" sz="1400" dirty="0" smtClean="0">
                <a:solidFill>
                  <a:srgbClr val="000000"/>
                </a:solidFill>
                <a:ea typeface="Calibri" panose="020F0502020204030204" pitchFamily="34" charset="0"/>
                <a:cs typeface="Times New Roman" panose="02020603050405020304" pitchFamily="18" charset="0"/>
              </a:rPr>
              <a:t>yapmalıyız:</a:t>
            </a:r>
            <a:endParaRPr lang="tr-TR" sz="1400" dirty="0">
              <a:solidFill>
                <a:srgbClr val="000000"/>
              </a:solidFill>
              <a:ea typeface="Calibri" panose="020F0502020204030204" pitchFamily="34" charset="0"/>
              <a:cs typeface="Times New Roman" panose="02020603050405020304" pitchFamily="18" charset="0"/>
            </a:endParaRPr>
          </a:p>
          <a:p>
            <a:pPr marL="1076325" indent="-628650" algn="just">
              <a:lnSpc>
                <a:spcPct val="107000"/>
              </a:lnSpc>
              <a:spcAft>
                <a:spcPts val="800"/>
              </a:spcAft>
            </a:pPr>
            <a:r>
              <a:rPr lang="tr-TR" sz="1400" dirty="0" smtClean="0">
                <a:solidFill>
                  <a:srgbClr val="000000"/>
                </a:solidFill>
                <a:ea typeface="Calibri" panose="020F0502020204030204" pitchFamily="34" charset="0"/>
                <a:cs typeface="Times New Roman" panose="02020603050405020304" pitchFamily="18" charset="0"/>
              </a:rPr>
              <a:t>Öncelikle </a:t>
            </a:r>
            <a:r>
              <a:rPr lang="tr-TR" sz="1400" dirty="0">
                <a:solidFill>
                  <a:srgbClr val="000000"/>
                </a:solidFill>
                <a:ea typeface="Calibri" panose="020F0502020204030204" pitchFamily="34" charset="0"/>
                <a:cs typeface="Times New Roman" panose="02020603050405020304" pitchFamily="18" charset="0"/>
              </a:rPr>
              <a:t>kanunda suç olarak tanımlanan suçun neticesinin ne olduğu, </a:t>
            </a:r>
            <a:endParaRPr lang="fr-FR" sz="1400" dirty="0">
              <a:ea typeface="Calibri" panose="020F0502020204030204" pitchFamily="34" charset="0"/>
              <a:cs typeface="Times New Roman" panose="02020603050405020304" pitchFamily="18" charset="0"/>
            </a:endParaRPr>
          </a:p>
          <a:p>
            <a:pPr marL="1076325" indent="-628650" algn="just">
              <a:lnSpc>
                <a:spcPct val="107000"/>
              </a:lnSpc>
              <a:spcAft>
                <a:spcPts val="800"/>
              </a:spcAft>
            </a:pPr>
            <a:r>
              <a:rPr lang="tr-TR" sz="1400" dirty="0" smtClean="0">
                <a:solidFill>
                  <a:srgbClr val="000000"/>
                </a:solidFill>
                <a:ea typeface="Calibri" panose="020F0502020204030204" pitchFamily="34" charset="0"/>
                <a:cs typeface="Times New Roman" panose="02020603050405020304" pitchFamily="18" charset="0"/>
              </a:rPr>
              <a:t>Failin bu neticeyi isteyip istemediği,</a:t>
            </a:r>
          </a:p>
          <a:p>
            <a:pPr marL="1076325" indent="-628650" algn="just">
              <a:lnSpc>
                <a:spcPct val="107000"/>
              </a:lnSpc>
              <a:spcAft>
                <a:spcPts val="800"/>
              </a:spcAft>
            </a:pPr>
            <a:r>
              <a:rPr lang="tr-TR" sz="1400" dirty="0" smtClean="0">
                <a:solidFill>
                  <a:srgbClr val="000000"/>
                </a:solidFill>
                <a:ea typeface="Calibri" panose="020F0502020204030204" pitchFamily="34" charset="0"/>
                <a:cs typeface="Times New Roman" panose="02020603050405020304" pitchFamily="18" charset="0"/>
              </a:rPr>
              <a:t>Bu </a:t>
            </a:r>
            <a:r>
              <a:rPr lang="tr-TR" sz="1400" dirty="0">
                <a:solidFill>
                  <a:srgbClr val="000000"/>
                </a:solidFill>
                <a:ea typeface="Calibri" panose="020F0502020204030204" pitchFamily="34" charset="0"/>
                <a:cs typeface="Times New Roman" panose="02020603050405020304" pitchFamily="18" charset="0"/>
              </a:rPr>
              <a:t>neticenin somut olayda failin davranışı ile öngörülüp öngörülemeyeceği, </a:t>
            </a:r>
            <a:endParaRPr lang="fr-FR" sz="1400" dirty="0">
              <a:ea typeface="Calibri" panose="020F0502020204030204" pitchFamily="34" charset="0"/>
              <a:cs typeface="Times New Roman" panose="02020603050405020304" pitchFamily="18" charset="0"/>
            </a:endParaRPr>
          </a:p>
          <a:p>
            <a:pPr marL="714375" lvl="0" algn="just">
              <a:lnSpc>
                <a:spcPct val="107000"/>
              </a:lnSpc>
              <a:spcAft>
                <a:spcPts val="800"/>
              </a:spcAft>
            </a:pPr>
            <a:r>
              <a:rPr lang="tr-TR" sz="1400" b="1" u="sng" dirty="0" smtClean="0">
                <a:solidFill>
                  <a:srgbClr val="000000"/>
                </a:solidFill>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Öngörmüş ancak</a:t>
            </a:r>
            <a:r>
              <a:rPr lang="tr-TR" sz="1400" dirty="0">
                <a:solidFill>
                  <a:srgbClr val="000000"/>
                </a:solidFill>
                <a:ea typeface="Calibri" panose="020F0502020204030204" pitchFamily="34" charset="0"/>
                <a:cs typeface="Times New Roman" panose="02020603050405020304" pitchFamily="18" charset="0"/>
              </a:rPr>
              <a:t> </a:t>
            </a:r>
            <a:r>
              <a:rPr lang="tr-TR" sz="1400" dirty="0" smtClean="0">
                <a:solidFill>
                  <a:srgbClr val="000000"/>
                </a:solidFill>
                <a:ea typeface="Calibri" panose="020F0502020204030204" pitchFamily="34" charset="0"/>
                <a:cs typeface="Times New Roman" panose="02020603050405020304" pitchFamily="18" charset="0"/>
              </a:rPr>
              <a:t>aldırış etmemiş, </a:t>
            </a:r>
            <a:r>
              <a:rPr lang="tr-TR" sz="1400" dirty="0">
                <a:solidFill>
                  <a:srgbClr val="000000"/>
                </a:solidFill>
                <a:ea typeface="Calibri" panose="020F0502020204030204" pitchFamily="34" charset="0"/>
                <a:cs typeface="Times New Roman" panose="02020603050405020304" pitchFamily="18" charset="0"/>
              </a:rPr>
              <a:t>gerçekleşme ihtimali olan neticelerin gerçekleşmesini </a:t>
            </a:r>
            <a:r>
              <a:rPr lang="tr-TR" sz="1400" dirty="0" smtClean="0">
                <a:solidFill>
                  <a:srgbClr val="000000"/>
                </a:solidFill>
                <a:ea typeface="Calibri" panose="020F0502020204030204" pitchFamily="34" charset="0"/>
                <a:cs typeface="Times New Roman" panose="02020603050405020304" pitchFamily="18" charset="0"/>
              </a:rPr>
              <a:t>umursamamış, </a:t>
            </a:r>
            <a:r>
              <a:rPr lang="tr-TR" sz="1400" dirty="0">
                <a:solidFill>
                  <a:srgbClr val="000000"/>
                </a:solidFill>
                <a:ea typeface="Calibri" panose="020F0502020204030204" pitchFamily="34" charset="0"/>
                <a:cs typeface="Times New Roman" panose="02020603050405020304" pitchFamily="18" charset="0"/>
              </a:rPr>
              <a:t>gerçekleşmesine kayıtsız </a:t>
            </a:r>
            <a:r>
              <a:rPr lang="tr-TR" sz="1400" dirty="0" smtClean="0">
                <a:solidFill>
                  <a:srgbClr val="000000"/>
                </a:solidFill>
                <a:ea typeface="Calibri" panose="020F0502020204030204" pitchFamily="34" charset="0"/>
                <a:cs typeface="Times New Roman" panose="02020603050405020304" pitchFamily="18" charset="0"/>
              </a:rPr>
              <a:t>kalmış ve</a:t>
            </a:r>
            <a:r>
              <a:rPr lang="tr-TR" sz="1400" dirty="0">
                <a:solidFill>
                  <a:srgbClr val="000000"/>
                </a:solidFill>
                <a:ea typeface="Calibri" panose="020F0502020204030204" pitchFamily="34" charset="0"/>
                <a:cs typeface="Times New Roman" panose="02020603050405020304" pitchFamily="18" charset="0"/>
              </a:rPr>
              <a:t> </a:t>
            </a:r>
            <a:r>
              <a:rPr lang="fr-FR" sz="1400" i="1" dirty="0" err="1">
                <a:ea typeface="Calibri" panose="020F0502020204030204" pitchFamily="34" charset="0"/>
                <a:cs typeface="Times New Roman" panose="02020603050405020304" pitchFamily="18" charset="0"/>
              </a:rPr>
              <a:t>olursa</a:t>
            </a:r>
            <a:r>
              <a:rPr lang="fr-FR" sz="1400" i="1" dirty="0">
                <a:ea typeface="Calibri" panose="020F0502020204030204" pitchFamily="34" charset="0"/>
                <a:cs typeface="Times New Roman" panose="02020603050405020304" pitchFamily="18" charset="0"/>
              </a:rPr>
              <a:t> </a:t>
            </a:r>
            <a:r>
              <a:rPr lang="fr-FR" sz="1400" i="1" dirty="0" err="1">
                <a:ea typeface="Calibri" panose="020F0502020204030204" pitchFamily="34" charset="0"/>
                <a:cs typeface="Times New Roman" panose="02020603050405020304" pitchFamily="18" charset="0"/>
              </a:rPr>
              <a:t>olsun</a:t>
            </a:r>
            <a:r>
              <a:rPr lang="fr-FR" sz="1400" i="1" dirty="0">
                <a:ea typeface="Calibri" panose="020F0502020204030204" pitchFamily="34" charset="0"/>
                <a:cs typeface="Times New Roman" panose="02020603050405020304" pitchFamily="18" charset="0"/>
              </a:rPr>
              <a:t> </a:t>
            </a:r>
            <a:r>
              <a:rPr lang="fr-FR" sz="1400" dirty="0" err="1">
                <a:ea typeface="Calibri" panose="020F0502020204030204" pitchFamily="34" charset="0"/>
                <a:cs typeface="Times New Roman" panose="02020603050405020304" pitchFamily="18" charset="0"/>
              </a:rPr>
              <a:t>diyerek</a:t>
            </a:r>
            <a:r>
              <a:rPr lang="fr-FR" sz="1400" dirty="0">
                <a:ea typeface="Calibri" panose="020F0502020204030204" pitchFamily="34" charset="0"/>
                <a:cs typeface="Times New Roman" panose="02020603050405020304" pitchFamily="18" charset="0"/>
              </a:rPr>
              <a:t> </a:t>
            </a:r>
            <a:r>
              <a:rPr lang="fr-FR" sz="1400" dirty="0" err="1">
                <a:ea typeface="Calibri" panose="020F0502020204030204" pitchFamily="34" charset="0"/>
                <a:cs typeface="Times New Roman" panose="02020603050405020304" pitchFamily="18" charset="0"/>
              </a:rPr>
              <a:t>hareket</a:t>
            </a:r>
            <a:r>
              <a:rPr lang="fr-FR" sz="1400" dirty="0">
                <a:ea typeface="Calibri" panose="020F0502020204030204" pitchFamily="34" charset="0"/>
                <a:cs typeface="Times New Roman" panose="02020603050405020304" pitchFamily="18" charset="0"/>
              </a:rPr>
              <a:t> </a:t>
            </a:r>
            <a:r>
              <a:rPr lang="fr-FR" sz="1400" dirty="0" smtClean="0">
                <a:ea typeface="Calibri" panose="020F0502020204030204" pitchFamily="34" charset="0"/>
                <a:cs typeface="Times New Roman" panose="02020603050405020304" pitchFamily="18" charset="0"/>
              </a:rPr>
              <a:t>e</a:t>
            </a:r>
            <a:r>
              <a:rPr lang="tr-TR" sz="1400" dirty="0" err="1" smtClean="0">
                <a:ea typeface="Calibri" panose="020F0502020204030204" pitchFamily="34" charset="0"/>
                <a:cs typeface="Times New Roman" panose="02020603050405020304" pitchFamily="18" charset="0"/>
              </a:rPr>
              <a:t>tmiş</a:t>
            </a:r>
            <a:r>
              <a:rPr lang="tr-TR" sz="1400" dirty="0" smtClean="0">
                <a:ea typeface="Calibri" panose="020F0502020204030204" pitchFamily="34" charset="0"/>
                <a:cs typeface="Times New Roman" panose="02020603050405020304" pitchFamily="18" charset="0"/>
              </a:rPr>
              <a:t> ise </a:t>
            </a:r>
            <a:r>
              <a:rPr lang="fr-FR" sz="1400" b="1" u="sng" dirty="0" err="1" smtClean="0">
                <a:ea typeface="Calibri" panose="020F0502020204030204" pitchFamily="34" charset="0"/>
                <a:cs typeface="Times New Roman" panose="02020603050405020304" pitchFamily="18" charset="0"/>
              </a:rPr>
              <a:t>olası</a:t>
            </a:r>
            <a:r>
              <a:rPr lang="fr-FR" sz="1400" b="1" u="sng" dirty="0" smtClean="0">
                <a:ea typeface="Calibri" panose="020F0502020204030204" pitchFamily="34" charset="0"/>
                <a:cs typeface="Times New Roman" panose="02020603050405020304" pitchFamily="18" charset="0"/>
              </a:rPr>
              <a:t> </a:t>
            </a:r>
            <a:r>
              <a:rPr lang="fr-FR" sz="1400" b="1" u="sng" dirty="0" err="1">
                <a:ea typeface="Calibri" panose="020F0502020204030204" pitchFamily="34" charset="0"/>
                <a:cs typeface="Times New Roman" panose="02020603050405020304" pitchFamily="18" charset="0"/>
              </a:rPr>
              <a:t>kastın</a:t>
            </a:r>
            <a:r>
              <a:rPr lang="fr-FR" sz="1400" dirty="0">
                <a:ea typeface="Calibri" panose="020F0502020204030204" pitchFamily="34" charset="0"/>
                <a:cs typeface="Times New Roman" panose="02020603050405020304" pitchFamily="18" charset="0"/>
              </a:rPr>
              <a:t> </a:t>
            </a:r>
            <a:r>
              <a:rPr lang="fr-FR" sz="1400" dirty="0" err="1">
                <a:ea typeface="Calibri" panose="020F0502020204030204" pitchFamily="34" charset="0"/>
                <a:cs typeface="Times New Roman" panose="02020603050405020304" pitchFamily="18" charset="0"/>
              </a:rPr>
              <a:t>varlığını</a:t>
            </a:r>
            <a:r>
              <a:rPr lang="fr-FR" sz="1400" dirty="0">
                <a:ea typeface="Calibri" panose="020F0502020204030204" pitchFamily="34" charset="0"/>
                <a:cs typeface="Times New Roman" panose="02020603050405020304" pitchFamily="18" charset="0"/>
              </a:rPr>
              <a:t>;</a:t>
            </a:r>
          </a:p>
          <a:p>
            <a:pPr marL="714375" algn="just">
              <a:lnSpc>
                <a:spcPct val="107000"/>
              </a:lnSpc>
              <a:spcAft>
                <a:spcPts val="800"/>
              </a:spcAft>
            </a:pPr>
            <a:r>
              <a:rPr lang="tr-TR" sz="1400" b="1" u="sng" dirty="0">
                <a:solidFill>
                  <a:srgbClr val="000000"/>
                </a:solidFill>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Öngörmüş </a:t>
            </a:r>
            <a:r>
              <a:rPr lang="tr-TR" sz="1400" b="1" u="sng" dirty="0" smtClean="0">
                <a:solidFill>
                  <a:srgbClr val="000000"/>
                </a:solidFill>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ancak</a:t>
            </a:r>
            <a:r>
              <a:rPr lang="tr-TR" sz="1400" b="1" dirty="0" smtClean="0">
                <a:solidFill>
                  <a:srgbClr val="000000"/>
                </a:solidFill>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 </a:t>
            </a:r>
            <a:r>
              <a:rPr lang="tr-TR" sz="1400" dirty="0" smtClean="0">
                <a:solidFill>
                  <a:srgbClr val="000000"/>
                </a:solidFill>
                <a:ea typeface="Calibri" panose="020F0502020204030204" pitchFamily="34" charset="0"/>
                <a:cs typeface="Times New Roman" panose="02020603050405020304" pitchFamily="18" charset="0"/>
              </a:rPr>
              <a:t>neticenin </a:t>
            </a:r>
            <a:r>
              <a:rPr lang="tr-TR" sz="1400" dirty="0">
                <a:solidFill>
                  <a:srgbClr val="000000"/>
                </a:solidFill>
                <a:ea typeface="Calibri" panose="020F0502020204030204" pitchFamily="34" charset="0"/>
                <a:cs typeface="Times New Roman" panose="02020603050405020304" pitchFamily="18" charset="0"/>
              </a:rPr>
              <a:t>gerçekleşmeyeceğine dair kendisine duyduğu hayat tecrübelerinden gelen </a:t>
            </a:r>
            <a:r>
              <a:rPr lang="tr-TR" sz="1400" dirty="0" smtClean="0">
                <a:solidFill>
                  <a:srgbClr val="000000"/>
                </a:solidFill>
                <a:ea typeface="Calibri" panose="020F0502020204030204" pitchFamily="34" charset="0"/>
                <a:cs typeface="Times New Roman" panose="02020603050405020304" pitchFamily="18" charset="0"/>
              </a:rPr>
              <a:t>güveniyle hareket etmiş ise </a:t>
            </a:r>
            <a:r>
              <a:rPr lang="tr-TR" sz="1400" b="1" u="sng" dirty="0" smtClean="0">
                <a:solidFill>
                  <a:srgbClr val="000000"/>
                </a:solidFill>
                <a:ea typeface="Calibri" panose="020F0502020204030204" pitchFamily="34" charset="0"/>
                <a:cs typeface="Times New Roman" panose="02020603050405020304" pitchFamily="18" charset="0"/>
              </a:rPr>
              <a:t>bilinçli </a:t>
            </a:r>
            <a:r>
              <a:rPr lang="tr-TR" sz="1400" b="1" u="sng" dirty="0">
                <a:solidFill>
                  <a:srgbClr val="000000"/>
                </a:solidFill>
                <a:ea typeface="Calibri" panose="020F0502020204030204" pitchFamily="34" charset="0"/>
                <a:cs typeface="Times New Roman" panose="02020603050405020304" pitchFamily="18" charset="0"/>
              </a:rPr>
              <a:t>taksirin</a:t>
            </a:r>
            <a:r>
              <a:rPr lang="tr-TR" sz="1400" dirty="0">
                <a:solidFill>
                  <a:srgbClr val="000000"/>
                </a:solidFill>
                <a:ea typeface="Calibri" panose="020F0502020204030204" pitchFamily="34" charset="0"/>
                <a:cs typeface="Times New Roman" panose="02020603050405020304" pitchFamily="18" charset="0"/>
              </a:rPr>
              <a:t> </a:t>
            </a:r>
            <a:r>
              <a:rPr lang="tr-TR" sz="1400" dirty="0" smtClean="0">
                <a:solidFill>
                  <a:srgbClr val="000000"/>
                </a:solidFill>
                <a:ea typeface="Calibri" panose="020F0502020204030204" pitchFamily="34" charset="0"/>
                <a:cs typeface="Times New Roman" panose="02020603050405020304" pitchFamily="18" charset="0"/>
              </a:rPr>
              <a:t>(öngörülü taksirin) varlığını </a:t>
            </a:r>
            <a:r>
              <a:rPr lang="tr-TR" sz="1400" dirty="0">
                <a:solidFill>
                  <a:srgbClr val="000000"/>
                </a:solidFill>
                <a:ea typeface="Calibri" panose="020F0502020204030204" pitchFamily="34" charset="0"/>
                <a:cs typeface="Times New Roman" panose="02020603050405020304" pitchFamily="18" charset="0"/>
              </a:rPr>
              <a:t>düşünmek gerekir</a:t>
            </a:r>
            <a:r>
              <a:rPr lang="tr-TR" sz="1400" dirty="0" smtClean="0">
                <a:solidFill>
                  <a:srgbClr val="000000"/>
                </a:solidFill>
                <a:ea typeface="Calibri" panose="020F0502020204030204" pitchFamily="34" charset="0"/>
                <a:cs typeface="Times New Roman" panose="02020603050405020304" pitchFamily="18" charset="0"/>
              </a:rPr>
              <a:t>.</a:t>
            </a:r>
          </a:p>
        </p:txBody>
      </p:sp>
      <p:sp>
        <p:nvSpPr>
          <p:cNvPr id="3" name="Dikdörtgen 2"/>
          <p:cNvSpPr/>
          <p:nvPr/>
        </p:nvSpPr>
        <p:spPr>
          <a:xfrm>
            <a:off x="1847850" y="5249555"/>
            <a:ext cx="8864733" cy="322845"/>
          </a:xfrm>
          <a:prstGeom prst="rect">
            <a:avLst/>
          </a:prstGeom>
        </p:spPr>
        <p:txBody>
          <a:bodyPr wrap="square">
            <a:spAutoFit/>
          </a:bodyPr>
          <a:lstStyle/>
          <a:p>
            <a:pPr marL="714375" algn="just">
              <a:lnSpc>
                <a:spcPct val="107000"/>
              </a:lnSpc>
              <a:spcAft>
                <a:spcPts val="800"/>
              </a:spcAft>
            </a:pPr>
            <a:r>
              <a:rPr lang="tr-TR" sz="1400" b="1" u="sng" dirty="0">
                <a:solidFill>
                  <a:srgbClr val="000000"/>
                </a:solidFill>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Öngörmemişse </a:t>
            </a:r>
            <a:r>
              <a:rPr lang="tr-TR" sz="1400" dirty="0" smtClean="0">
                <a:solidFill>
                  <a:srgbClr val="000000"/>
                </a:solidFill>
                <a:ea typeface="Calibri" panose="020F0502020204030204" pitchFamily="34" charset="0"/>
                <a:cs typeface="Times New Roman" panose="02020603050405020304" pitchFamily="18" charset="0"/>
              </a:rPr>
              <a:t>zaten bilinçsiz taksir </a:t>
            </a:r>
            <a:r>
              <a:rPr lang="tr-TR" sz="1400" dirty="0">
                <a:solidFill>
                  <a:srgbClr val="000000"/>
                </a:solidFill>
                <a:ea typeface="Calibri" panose="020F0502020204030204" pitchFamily="34" charset="0"/>
                <a:cs typeface="Times New Roman" panose="02020603050405020304" pitchFamily="18" charset="0"/>
              </a:rPr>
              <a:t>(öngörüsüz taksirin) </a:t>
            </a:r>
            <a:r>
              <a:rPr lang="tr-TR" sz="1400" dirty="0" smtClean="0">
                <a:solidFill>
                  <a:srgbClr val="000000"/>
                </a:solidFill>
                <a:ea typeface="Calibri" panose="020F0502020204030204" pitchFamily="34" charset="0"/>
                <a:cs typeface="Times New Roman" panose="02020603050405020304" pitchFamily="18" charset="0"/>
              </a:rPr>
              <a:t>söz konusu olacaktır.</a:t>
            </a:r>
            <a:r>
              <a:rPr lang="tr-TR" sz="1400" b="1" u="sng" dirty="0" smtClean="0">
                <a:solidFill>
                  <a:srgbClr val="000000"/>
                </a:solidFill>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 </a:t>
            </a:r>
            <a:endParaRPr lang="fr-FR" sz="1400" b="1" u="sng" dirty="0">
              <a:solidFill>
                <a:srgbClr val="000000"/>
              </a:solidFill>
              <a:effectLst>
                <a:outerShdw blurRad="38100" dist="38100" dir="2700000" algn="tl">
                  <a:srgbClr val="000000">
                    <a:alpha val="43137"/>
                  </a:srgbClr>
                </a:outerShdw>
              </a:effectLst>
              <a:ea typeface="Calibri" panose="020F0502020204030204" pitchFamily="34" charset="0"/>
              <a:cs typeface="Times New Roman" panose="02020603050405020304" pitchFamily="18" charset="0"/>
            </a:endParaRPr>
          </a:p>
        </p:txBody>
      </p:sp>
      <p:sp>
        <p:nvSpPr>
          <p:cNvPr id="9" name="Alt Başlık 2"/>
          <p:cNvSpPr txBox="1">
            <a:spLocks/>
          </p:cNvSpPr>
          <p:nvPr/>
        </p:nvSpPr>
        <p:spPr>
          <a:xfrm>
            <a:off x="1035183" y="149362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itchFamily="34" charset="0"/>
              <a:buChar char="•"/>
            </a:pPr>
            <a:r>
              <a:rPr lang="tr-TR" b="1" smtClean="0"/>
              <a:t>Subjektif (Manevi) Unsurlar</a:t>
            </a:r>
            <a:r>
              <a:rPr lang="tr-TR" b="1" dirty="0" smtClean="0"/>
              <a:t>	</a:t>
            </a:r>
            <a:endParaRPr lang="tr-TR" b="1" dirty="0"/>
          </a:p>
        </p:txBody>
      </p:sp>
      <p:sp>
        <p:nvSpPr>
          <p:cNvPr id="10"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Suçun Subjektif (Manevi </a:t>
            </a:r>
            <a:r>
              <a:rPr lang="tr-TR" sz="2600" b="1" i="1" spc="300">
                <a:effectLst>
                  <a:outerShdw blurRad="38100" dist="38100" dir="2700000" algn="tl">
                    <a:srgbClr val="000000">
                      <a:alpha val="43137"/>
                    </a:srgbClr>
                  </a:outerShdw>
                </a:effectLst>
              </a:rPr>
              <a:t>) </a:t>
            </a:r>
            <a:r>
              <a:rPr lang="tr-TR" sz="2600" b="1" i="1" spc="300" dirty="0" smtClean="0">
                <a:effectLst>
                  <a:outerShdw blurRad="38100" dist="38100" dir="2700000" algn="tl">
                    <a:srgbClr val="000000">
                      <a:alpha val="43137"/>
                    </a:srgbClr>
                  </a:outerShdw>
                </a:effectLst>
              </a:rPr>
              <a:t>Unsurları, </a:t>
            </a:r>
          </a:p>
          <a:p>
            <a:r>
              <a:rPr lang="tr-TR" sz="2600" b="1" i="1" spc="300" dirty="0" smtClean="0">
                <a:effectLst>
                  <a:outerShdw blurRad="38100" dist="38100" dir="2700000" algn="tl">
                    <a:srgbClr val="000000">
                      <a:alpha val="43137"/>
                    </a:srgbClr>
                  </a:outerShdw>
                </a:effectLst>
              </a:rPr>
              <a:t>Neticesi Sebebiyle Ağırlaşmış Suçlar, Maksat ve Saik</a:t>
            </a:r>
            <a:endParaRPr lang="tr-TR" sz="2600" b="1" i="1" spc="300" dirty="0">
              <a:effectLst>
                <a:outerShdw blurRad="38100" dist="38100" dir="2700000" algn="tl">
                  <a:srgbClr val="000000">
                    <a:alpha val="43137"/>
                  </a:srgbClr>
                </a:outerShdw>
              </a:effectLst>
            </a:endParaRPr>
          </a:p>
        </p:txBody>
      </p:sp>
      <p:sp>
        <p:nvSpPr>
          <p:cNvPr id="5" name="Slayt Numarası Yer Tutucusu 4"/>
          <p:cNvSpPr>
            <a:spLocks noGrp="1"/>
          </p:cNvSpPr>
          <p:nvPr>
            <p:ph type="sldNum" sz="quarter" idx="12"/>
          </p:nvPr>
        </p:nvSpPr>
        <p:spPr/>
        <p:txBody>
          <a:bodyPr/>
          <a:lstStyle/>
          <a:p>
            <a:fld id="{39F9BA00-44CD-41D4-A3D8-F864C744DC1F}" type="slidenum">
              <a:rPr lang="tr-TR" b="1" smtClean="0"/>
              <a:t>38</a:t>
            </a:fld>
            <a:r>
              <a:rPr lang="tr-TR" b="1"/>
              <a:t>/116</a:t>
            </a:r>
          </a:p>
        </p:txBody>
      </p:sp>
    </p:spTree>
    <p:extLst>
      <p:ext uri="{BB962C8B-B14F-4D97-AF65-F5344CB8AC3E}">
        <p14:creationId xmlns:p14="http://schemas.microsoft.com/office/powerpoint/2010/main" val="36946691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lt Başlık 2"/>
          <p:cNvSpPr txBox="1">
            <a:spLocks/>
          </p:cNvSpPr>
          <p:nvPr/>
        </p:nvSpPr>
        <p:spPr>
          <a:xfrm>
            <a:off x="1491671" y="2016048"/>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tr-TR" b="1" smtClean="0"/>
              <a:t>Subjektif (Manevi) Unsurlar</a:t>
            </a:r>
            <a:endParaRPr lang="tr-TR" b="1" dirty="0" smtClean="0"/>
          </a:p>
          <a:p>
            <a:r>
              <a:rPr lang="tr-TR" b="1" dirty="0" smtClean="0"/>
              <a:t>	</a:t>
            </a:r>
            <a:endParaRPr lang="tr-TR" b="1" dirty="0"/>
          </a:p>
        </p:txBody>
      </p:sp>
      <p:sp>
        <p:nvSpPr>
          <p:cNvPr id="6" name="Metin kutusu 5"/>
          <p:cNvSpPr txBox="1"/>
          <p:nvPr/>
        </p:nvSpPr>
        <p:spPr>
          <a:xfrm>
            <a:off x="3352800" y="2634329"/>
            <a:ext cx="733425" cy="400110"/>
          </a:xfrm>
          <a:prstGeom prst="rect">
            <a:avLst/>
          </a:prstGeom>
          <a:noFill/>
        </p:spPr>
        <p:txBody>
          <a:bodyPr wrap="square" rtlCol="0">
            <a:spAutoFit/>
          </a:bodyPr>
          <a:lstStyle/>
          <a:p>
            <a:r>
              <a:rPr lang="tr-TR" sz="2000" b="1" dirty="0" smtClean="0">
                <a:effectLst>
                  <a:outerShdw blurRad="38100" dist="38100" dir="2700000" algn="tl">
                    <a:srgbClr val="000000">
                      <a:alpha val="43137"/>
                    </a:srgbClr>
                  </a:outerShdw>
                </a:effectLst>
              </a:rPr>
              <a:t>KAST</a:t>
            </a:r>
            <a:endParaRPr lang="fr-FR" sz="2000" b="1" dirty="0">
              <a:effectLst>
                <a:outerShdw blurRad="38100" dist="38100" dir="2700000" algn="tl">
                  <a:srgbClr val="000000">
                    <a:alpha val="43137"/>
                  </a:srgbClr>
                </a:outerShdw>
              </a:effectLst>
            </a:endParaRPr>
          </a:p>
        </p:txBody>
      </p:sp>
      <p:sp>
        <p:nvSpPr>
          <p:cNvPr id="22" name="Metin kutusu 21"/>
          <p:cNvSpPr txBox="1"/>
          <p:nvPr/>
        </p:nvSpPr>
        <p:spPr>
          <a:xfrm>
            <a:off x="7306486" y="2634329"/>
            <a:ext cx="952501" cy="400110"/>
          </a:xfrm>
          <a:prstGeom prst="rect">
            <a:avLst/>
          </a:prstGeom>
          <a:noFill/>
        </p:spPr>
        <p:txBody>
          <a:bodyPr wrap="square" rtlCol="0">
            <a:spAutoFit/>
          </a:bodyPr>
          <a:lstStyle/>
          <a:p>
            <a:r>
              <a:rPr lang="tr-TR" sz="2000" b="1" dirty="0" smtClean="0">
                <a:effectLst>
                  <a:outerShdw blurRad="38100" dist="38100" dir="2700000" algn="tl">
                    <a:srgbClr val="000000">
                      <a:alpha val="43137"/>
                    </a:srgbClr>
                  </a:outerShdw>
                </a:effectLst>
              </a:rPr>
              <a:t>TAKSİR</a:t>
            </a:r>
            <a:endParaRPr lang="fr-FR" sz="2000" b="1" dirty="0">
              <a:effectLst>
                <a:outerShdw blurRad="38100" dist="38100" dir="2700000" algn="tl">
                  <a:srgbClr val="000000">
                    <a:alpha val="43137"/>
                  </a:srgbClr>
                </a:outerShdw>
              </a:effectLst>
            </a:endParaRPr>
          </a:p>
        </p:txBody>
      </p:sp>
      <p:sp>
        <p:nvSpPr>
          <p:cNvPr id="9" name="Metin kutusu 8"/>
          <p:cNvSpPr txBox="1"/>
          <p:nvPr/>
        </p:nvSpPr>
        <p:spPr>
          <a:xfrm>
            <a:off x="2617076" y="3007866"/>
            <a:ext cx="2216159" cy="1200329"/>
          </a:xfrm>
          <a:prstGeom prst="rect">
            <a:avLst/>
          </a:prstGeom>
          <a:noFill/>
        </p:spPr>
        <p:txBody>
          <a:bodyPr wrap="square" rtlCol="0">
            <a:spAutoFit/>
          </a:bodyPr>
          <a:lstStyle/>
          <a:p>
            <a:pPr algn="ctr"/>
            <a:r>
              <a:rPr lang="tr-TR" dirty="0" smtClean="0"/>
              <a:t>BİLME ve İSTEME</a:t>
            </a:r>
            <a:endParaRPr lang="tr-TR" dirty="0"/>
          </a:p>
          <a:p>
            <a:pPr algn="ctr"/>
            <a:r>
              <a:rPr lang="tr-TR" dirty="0" smtClean="0"/>
              <a:t>Suçun kanuni unsurlarını </a:t>
            </a:r>
            <a:r>
              <a:rPr lang="tr-TR" b="1" dirty="0" smtClean="0"/>
              <a:t>BİLİR</a:t>
            </a:r>
            <a:r>
              <a:rPr lang="tr-TR" dirty="0" smtClean="0"/>
              <a:t> ve neticeyi </a:t>
            </a:r>
            <a:r>
              <a:rPr lang="tr-TR" b="1" dirty="0" smtClean="0"/>
              <a:t>İSTER</a:t>
            </a:r>
            <a:endParaRPr lang="fr-FR" b="1" dirty="0"/>
          </a:p>
        </p:txBody>
      </p:sp>
      <p:sp>
        <p:nvSpPr>
          <p:cNvPr id="24" name="Metin kutusu 23"/>
          <p:cNvSpPr txBox="1"/>
          <p:nvPr/>
        </p:nvSpPr>
        <p:spPr>
          <a:xfrm>
            <a:off x="6832354" y="3117719"/>
            <a:ext cx="2216159" cy="1200329"/>
          </a:xfrm>
          <a:prstGeom prst="rect">
            <a:avLst/>
          </a:prstGeom>
          <a:noFill/>
        </p:spPr>
        <p:txBody>
          <a:bodyPr wrap="square" rtlCol="0">
            <a:spAutoFit/>
          </a:bodyPr>
          <a:lstStyle/>
          <a:p>
            <a:pPr algn="ctr"/>
            <a:r>
              <a:rPr lang="tr-TR" dirty="0" smtClean="0"/>
              <a:t>Netice objektif olarak öngörülse de fail neticeyi</a:t>
            </a:r>
          </a:p>
          <a:p>
            <a:pPr algn="ctr"/>
            <a:r>
              <a:rPr lang="tr-TR" b="1" dirty="0" smtClean="0"/>
              <a:t>İSTEMEZ</a:t>
            </a:r>
            <a:r>
              <a:rPr lang="tr-TR" dirty="0" smtClean="0"/>
              <a:t> </a:t>
            </a:r>
            <a:endParaRPr lang="fr-FR" dirty="0"/>
          </a:p>
        </p:txBody>
      </p:sp>
      <p:sp>
        <p:nvSpPr>
          <p:cNvPr id="11" name="Metin kutusu 10"/>
          <p:cNvSpPr txBox="1"/>
          <p:nvPr/>
        </p:nvSpPr>
        <p:spPr>
          <a:xfrm>
            <a:off x="2617076" y="4318048"/>
            <a:ext cx="2216159" cy="646331"/>
          </a:xfrm>
          <a:prstGeom prst="rect">
            <a:avLst/>
          </a:prstGeom>
          <a:noFill/>
        </p:spPr>
        <p:txBody>
          <a:bodyPr wrap="square" rtlCol="0">
            <a:spAutoFit/>
          </a:bodyPr>
          <a:lstStyle/>
          <a:p>
            <a:pPr algn="ctr"/>
            <a:r>
              <a:rPr lang="tr-TR" dirty="0" smtClean="0"/>
              <a:t>Suçların oluşumunda </a:t>
            </a:r>
            <a:r>
              <a:rPr lang="tr-TR" b="1" noProof="1" smtClean="0"/>
              <a:t>KURAL</a:t>
            </a:r>
            <a:r>
              <a:rPr lang="tr-TR" noProof="1" smtClean="0"/>
              <a:t>dır</a:t>
            </a:r>
            <a:endParaRPr lang="tr-TR" noProof="1"/>
          </a:p>
        </p:txBody>
      </p:sp>
      <p:sp>
        <p:nvSpPr>
          <p:cNvPr id="12" name="Metin kutusu 11"/>
          <p:cNvSpPr txBox="1"/>
          <p:nvPr/>
        </p:nvSpPr>
        <p:spPr>
          <a:xfrm>
            <a:off x="6832355" y="4320523"/>
            <a:ext cx="2216159" cy="646331"/>
          </a:xfrm>
          <a:prstGeom prst="rect">
            <a:avLst/>
          </a:prstGeom>
          <a:noFill/>
        </p:spPr>
        <p:txBody>
          <a:bodyPr wrap="square" rtlCol="0">
            <a:spAutoFit/>
          </a:bodyPr>
          <a:lstStyle/>
          <a:p>
            <a:pPr algn="ctr"/>
            <a:r>
              <a:rPr lang="tr-TR" dirty="0" smtClean="0"/>
              <a:t>Suçların oluşumunda </a:t>
            </a:r>
            <a:r>
              <a:rPr lang="tr-TR" b="1" noProof="1" smtClean="0"/>
              <a:t>İSTİSNA</a:t>
            </a:r>
            <a:r>
              <a:rPr lang="tr-TR" noProof="1" smtClean="0"/>
              <a:t>dır</a:t>
            </a:r>
            <a:endParaRPr lang="tr-TR" noProof="1"/>
          </a:p>
        </p:txBody>
      </p:sp>
      <p:sp>
        <p:nvSpPr>
          <p:cNvPr id="13" name="Metin kutusu 12"/>
          <p:cNvSpPr txBox="1"/>
          <p:nvPr/>
        </p:nvSpPr>
        <p:spPr>
          <a:xfrm>
            <a:off x="2617076" y="5047659"/>
            <a:ext cx="2216159" cy="1200329"/>
          </a:xfrm>
          <a:prstGeom prst="rect">
            <a:avLst/>
          </a:prstGeom>
          <a:noFill/>
        </p:spPr>
        <p:txBody>
          <a:bodyPr wrap="square" rtlCol="0">
            <a:spAutoFit/>
          </a:bodyPr>
          <a:lstStyle/>
          <a:p>
            <a:pPr algn="ctr"/>
            <a:r>
              <a:rPr lang="tr-TR" dirty="0" smtClean="0"/>
              <a:t>Suçun oluşumu için Neticenin gerçekleşmesi </a:t>
            </a:r>
            <a:r>
              <a:rPr lang="tr-TR" b="1" dirty="0" smtClean="0"/>
              <a:t>ARANMAZ</a:t>
            </a:r>
            <a:endParaRPr lang="fr-FR" b="1" dirty="0"/>
          </a:p>
        </p:txBody>
      </p:sp>
      <p:sp>
        <p:nvSpPr>
          <p:cNvPr id="14" name="Metin kutusu 13"/>
          <p:cNvSpPr txBox="1"/>
          <p:nvPr/>
        </p:nvSpPr>
        <p:spPr>
          <a:xfrm>
            <a:off x="6832355" y="5047659"/>
            <a:ext cx="2216159" cy="1200329"/>
          </a:xfrm>
          <a:prstGeom prst="rect">
            <a:avLst/>
          </a:prstGeom>
          <a:noFill/>
        </p:spPr>
        <p:txBody>
          <a:bodyPr wrap="square" rtlCol="0">
            <a:spAutoFit/>
          </a:bodyPr>
          <a:lstStyle/>
          <a:p>
            <a:pPr algn="ctr"/>
            <a:r>
              <a:rPr lang="tr-TR" dirty="0"/>
              <a:t>Suçun oluşumu için Neticenin </a:t>
            </a:r>
            <a:r>
              <a:rPr lang="tr-TR" dirty="0" smtClean="0"/>
              <a:t>gerçekleşmesi </a:t>
            </a:r>
            <a:r>
              <a:rPr lang="tr-TR" b="1" dirty="0" smtClean="0"/>
              <a:t>ARANIR</a:t>
            </a:r>
            <a:endParaRPr lang="fr-FR" b="1" dirty="0"/>
          </a:p>
        </p:txBody>
      </p:sp>
      <p:sp>
        <p:nvSpPr>
          <p:cNvPr id="2" name="Sol Sağ Ok 1"/>
          <p:cNvSpPr/>
          <p:nvPr/>
        </p:nvSpPr>
        <p:spPr>
          <a:xfrm>
            <a:off x="5224719" y="3523351"/>
            <a:ext cx="1216152" cy="172531"/>
          </a:xfrm>
          <a:prstGeom prst="lef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Sol Sağ Ok 16"/>
          <p:cNvSpPr/>
          <p:nvPr/>
        </p:nvSpPr>
        <p:spPr>
          <a:xfrm>
            <a:off x="5224719" y="4523025"/>
            <a:ext cx="1216152" cy="172531"/>
          </a:xfrm>
          <a:prstGeom prst="lef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Sol Sağ Ok 17"/>
          <p:cNvSpPr/>
          <p:nvPr/>
        </p:nvSpPr>
        <p:spPr>
          <a:xfrm>
            <a:off x="5224719" y="5465549"/>
            <a:ext cx="1216152" cy="172531"/>
          </a:xfrm>
          <a:prstGeom prst="lef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Suçun Subjektif (Manevi </a:t>
            </a:r>
            <a:r>
              <a:rPr lang="tr-TR" sz="2600" b="1" i="1" spc="300">
                <a:effectLst>
                  <a:outerShdw blurRad="38100" dist="38100" dir="2700000" algn="tl">
                    <a:srgbClr val="000000">
                      <a:alpha val="43137"/>
                    </a:srgbClr>
                  </a:outerShdw>
                </a:effectLst>
              </a:rPr>
              <a:t>) </a:t>
            </a:r>
            <a:r>
              <a:rPr lang="tr-TR" sz="2600" b="1" i="1" spc="300" dirty="0" smtClean="0">
                <a:effectLst>
                  <a:outerShdw blurRad="38100" dist="38100" dir="2700000" algn="tl">
                    <a:srgbClr val="000000">
                      <a:alpha val="43137"/>
                    </a:srgbClr>
                  </a:outerShdw>
                </a:effectLst>
              </a:rPr>
              <a:t>Unsurları, </a:t>
            </a:r>
          </a:p>
          <a:p>
            <a:r>
              <a:rPr lang="tr-TR" sz="2600" b="1" i="1" spc="300" dirty="0" smtClean="0">
                <a:effectLst>
                  <a:outerShdw blurRad="38100" dist="38100" dir="2700000" algn="tl">
                    <a:srgbClr val="000000">
                      <a:alpha val="43137"/>
                    </a:srgbClr>
                  </a:outerShdw>
                </a:effectLst>
              </a:rPr>
              <a:t>Neticesi Sebebiyle Ağırlaşmış Suçlar, Maksat ve Saik</a:t>
            </a:r>
            <a:endParaRPr lang="tr-TR" sz="2600" b="1" i="1" spc="300" dirty="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39</a:t>
            </a:fld>
            <a:r>
              <a:rPr lang="tr-TR"/>
              <a:t>/116</a:t>
            </a:r>
          </a:p>
        </p:txBody>
      </p:sp>
    </p:spTree>
    <p:extLst>
      <p:ext uri="{BB962C8B-B14F-4D97-AF65-F5344CB8AC3E}">
        <p14:creationId xmlns:p14="http://schemas.microsoft.com/office/powerpoint/2010/main" val="27546605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Unvan 1"/>
          <p:cNvSpPr txBox="1">
            <a:spLocks/>
          </p:cNvSpPr>
          <p:nvPr/>
        </p:nvSpPr>
        <p:spPr>
          <a:xfrm>
            <a:off x="286326" y="176701"/>
            <a:ext cx="11554691" cy="87321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Suçun Unsurları</a:t>
            </a:r>
            <a:endParaRPr lang="tr-TR" sz="2600" b="1" i="1" spc="300" dirty="0" smtClean="0">
              <a:effectLst>
                <a:outerShdw blurRad="38100" dist="38100" dir="2700000" algn="tl">
                  <a:srgbClr val="000000">
                    <a:alpha val="43137"/>
                  </a:srgbClr>
                </a:outerShdw>
              </a:effectLst>
            </a:endParaRPr>
          </a:p>
        </p:txBody>
      </p:sp>
      <p:sp>
        <p:nvSpPr>
          <p:cNvPr id="21" name="Alt Başlık 2"/>
          <p:cNvSpPr txBox="1">
            <a:spLocks/>
          </p:cNvSpPr>
          <p:nvPr/>
        </p:nvSpPr>
        <p:spPr>
          <a:xfrm>
            <a:off x="7950519" y="1276677"/>
            <a:ext cx="2734640" cy="7435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tr-TR" b="1" smtClean="0"/>
              <a:t>Subjektif (Manevi) Unsurlar</a:t>
            </a:r>
            <a:endParaRPr lang="tr-TR" b="1" dirty="0" smtClean="0"/>
          </a:p>
          <a:p>
            <a:r>
              <a:rPr lang="tr-TR" b="1" dirty="0" smtClean="0"/>
              <a:t>	</a:t>
            </a:r>
            <a:endParaRPr lang="tr-TR" b="1" dirty="0"/>
          </a:p>
        </p:txBody>
      </p:sp>
      <p:sp>
        <p:nvSpPr>
          <p:cNvPr id="6" name="Metin kutusu 5"/>
          <p:cNvSpPr txBox="1"/>
          <p:nvPr/>
        </p:nvSpPr>
        <p:spPr>
          <a:xfrm>
            <a:off x="8243887" y="3020517"/>
            <a:ext cx="733425" cy="400110"/>
          </a:xfrm>
          <a:prstGeom prst="rect">
            <a:avLst/>
          </a:prstGeom>
          <a:noFill/>
        </p:spPr>
        <p:txBody>
          <a:bodyPr wrap="square" rtlCol="0">
            <a:spAutoFit/>
          </a:bodyPr>
          <a:lstStyle/>
          <a:p>
            <a:r>
              <a:rPr lang="tr-TR" sz="2000" b="1" dirty="0" smtClean="0">
                <a:effectLst>
                  <a:outerShdw blurRad="38100" dist="38100" dir="2700000" algn="tl">
                    <a:srgbClr val="000000">
                      <a:alpha val="43137"/>
                    </a:srgbClr>
                  </a:outerShdw>
                </a:effectLst>
              </a:rPr>
              <a:t>KAST</a:t>
            </a:r>
            <a:endParaRPr lang="fr-FR" sz="2000" b="1" dirty="0">
              <a:effectLst>
                <a:outerShdw blurRad="38100" dist="38100" dir="2700000" algn="tl">
                  <a:srgbClr val="000000">
                    <a:alpha val="43137"/>
                  </a:srgbClr>
                </a:outerShdw>
              </a:effectLst>
            </a:endParaRPr>
          </a:p>
        </p:txBody>
      </p:sp>
      <p:sp>
        <p:nvSpPr>
          <p:cNvPr id="9" name="Metin kutusu 8"/>
          <p:cNvSpPr txBox="1"/>
          <p:nvPr/>
        </p:nvSpPr>
        <p:spPr>
          <a:xfrm>
            <a:off x="7658827" y="4790630"/>
            <a:ext cx="1895475" cy="369332"/>
          </a:xfrm>
          <a:prstGeom prst="rect">
            <a:avLst/>
          </a:prstGeom>
          <a:noFill/>
        </p:spPr>
        <p:txBody>
          <a:bodyPr wrap="square" rtlCol="0">
            <a:spAutoFit/>
          </a:bodyPr>
          <a:lstStyle/>
          <a:p>
            <a:r>
              <a:rPr lang="tr-TR" dirty="0" smtClean="0"/>
              <a:t>Doğrudan Kast</a:t>
            </a:r>
            <a:endParaRPr lang="fr-FR" dirty="0"/>
          </a:p>
        </p:txBody>
      </p:sp>
      <p:sp>
        <p:nvSpPr>
          <p:cNvPr id="23" name="Metin kutusu 22"/>
          <p:cNvSpPr txBox="1"/>
          <p:nvPr/>
        </p:nvSpPr>
        <p:spPr>
          <a:xfrm>
            <a:off x="8461093" y="4085021"/>
            <a:ext cx="1531805" cy="369332"/>
          </a:xfrm>
          <a:prstGeom prst="rect">
            <a:avLst/>
          </a:prstGeom>
          <a:noFill/>
        </p:spPr>
        <p:txBody>
          <a:bodyPr wrap="square" rtlCol="0">
            <a:spAutoFit/>
          </a:bodyPr>
          <a:lstStyle/>
          <a:p>
            <a:r>
              <a:rPr lang="tr-TR" dirty="0" smtClean="0"/>
              <a:t>Olası Kast</a:t>
            </a:r>
            <a:endParaRPr lang="fr-FR" dirty="0"/>
          </a:p>
        </p:txBody>
      </p:sp>
      <p:sp>
        <p:nvSpPr>
          <p:cNvPr id="12" name="Metin kutusu 11"/>
          <p:cNvSpPr txBox="1"/>
          <p:nvPr/>
        </p:nvSpPr>
        <p:spPr>
          <a:xfrm>
            <a:off x="7127658" y="5771575"/>
            <a:ext cx="1709738" cy="584775"/>
          </a:xfrm>
          <a:prstGeom prst="rect">
            <a:avLst/>
          </a:prstGeom>
          <a:noFill/>
        </p:spPr>
        <p:txBody>
          <a:bodyPr wrap="square" rtlCol="0">
            <a:spAutoFit/>
          </a:bodyPr>
          <a:lstStyle/>
          <a:p>
            <a:pPr algn="ctr"/>
            <a:r>
              <a:rPr lang="tr-TR" sz="1600" dirty="0" smtClean="0"/>
              <a:t>1. Dereceden Doğrudan Kast</a:t>
            </a:r>
            <a:endParaRPr lang="fr-FR" sz="1600" dirty="0"/>
          </a:p>
        </p:txBody>
      </p:sp>
      <p:sp>
        <p:nvSpPr>
          <p:cNvPr id="13" name="Metin kutusu 12"/>
          <p:cNvSpPr txBox="1"/>
          <p:nvPr/>
        </p:nvSpPr>
        <p:spPr>
          <a:xfrm>
            <a:off x="8610600" y="5771575"/>
            <a:ext cx="1709738" cy="584775"/>
          </a:xfrm>
          <a:prstGeom prst="rect">
            <a:avLst/>
          </a:prstGeom>
          <a:noFill/>
        </p:spPr>
        <p:txBody>
          <a:bodyPr wrap="square" rtlCol="0">
            <a:spAutoFit/>
          </a:bodyPr>
          <a:lstStyle/>
          <a:p>
            <a:pPr algn="ctr"/>
            <a:r>
              <a:rPr lang="tr-TR" sz="1600" dirty="0" smtClean="0"/>
              <a:t>2. Dereceden Doğrudan Kast</a:t>
            </a:r>
            <a:endParaRPr lang="fr-FR" sz="1600" dirty="0"/>
          </a:p>
        </p:txBody>
      </p:sp>
      <p:sp>
        <p:nvSpPr>
          <p:cNvPr id="14" name="Metin kutusu 13"/>
          <p:cNvSpPr txBox="1"/>
          <p:nvPr/>
        </p:nvSpPr>
        <p:spPr>
          <a:xfrm>
            <a:off x="10189564" y="4025944"/>
            <a:ext cx="1531805" cy="584775"/>
          </a:xfrm>
          <a:prstGeom prst="rect">
            <a:avLst/>
          </a:prstGeom>
          <a:noFill/>
        </p:spPr>
        <p:txBody>
          <a:bodyPr wrap="square" rtlCol="0">
            <a:spAutoFit/>
          </a:bodyPr>
          <a:lstStyle/>
          <a:p>
            <a:r>
              <a:rPr lang="tr-TR" dirty="0" smtClean="0"/>
              <a:t>Bilinçli Taksir</a:t>
            </a:r>
          </a:p>
          <a:p>
            <a:r>
              <a:rPr lang="tr-TR" sz="1400" dirty="0" smtClean="0"/>
              <a:t>(Öngörülü Taksir)</a:t>
            </a:r>
            <a:endParaRPr lang="fr-FR" dirty="0"/>
          </a:p>
        </p:txBody>
      </p:sp>
      <p:sp>
        <p:nvSpPr>
          <p:cNvPr id="15" name="Metin kutusu 14"/>
          <p:cNvSpPr txBox="1"/>
          <p:nvPr/>
        </p:nvSpPr>
        <p:spPr>
          <a:xfrm>
            <a:off x="9919256" y="4801887"/>
            <a:ext cx="1531805" cy="584775"/>
          </a:xfrm>
          <a:prstGeom prst="rect">
            <a:avLst/>
          </a:prstGeom>
          <a:noFill/>
        </p:spPr>
        <p:txBody>
          <a:bodyPr wrap="square" rtlCol="0">
            <a:spAutoFit/>
          </a:bodyPr>
          <a:lstStyle/>
          <a:p>
            <a:r>
              <a:rPr lang="tr-TR" dirty="0" smtClean="0"/>
              <a:t>Bilinçsiz Taksir</a:t>
            </a:r>
          </a:p>
          <a:p>
            <a:r>
              <a:rPr lang="tr-TR" sz="1400" dirty="0"/>
              <a:t>(</a:t>
            </a:r>
            <a:r>
              <a:rPr lang="tr-TR" sz="1400" dirty="0" smtClean="0"/>
              <a:t>Öngörüsüz </a:t>
            </a:r>
            <a:r>
              <a:rPr lang="tr-TR" sz="1400" dirty="0"/>
              <a:t>Taksir)</a:t>
            </a:r>
            <a:endParaRPr lang="fr-FR" sz="1400" dirty="0"/>
          </a:p>
        </p:txBody>
      </p:sp>
      <p:sp>
        <p:nvSpPr>
          <p:cNvPr id="3" name="Aşağı Ok 2"/>
          <p:cNvSpPr/>
          <p:nvPr/>
        </p:nvSpPr>
        <p:spPr>
          <a:xfrm rot="2470240" flipH="1">
            <a:off x="8793765" y="1942888"/>
            <a:ext cx="230400" cy="1251767"/>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Metin kutusu 30"/>
          <p:cNvSpPr txBox="1"/>
          <p:nvPr/>
        </p:nvSpPr>
        <p:spPr>
          <a:xfrm>
            <a:off x="9816082" y="3020517"/>
            <a:ext cx="952501" cy="400110"/>
          </a:xfrm>
          <a:prstGeom prst="rect">
            <a:avLst/>
          </a:prstGeom>
          <a:noFill/>
        </p:spPr>
        <p:txBody>
          <a:bodyPr wrap="square" rtlCol="0">
            <a:spAutoFit/>
          </a:bodyPr>
          <a:lstStyle/>
          <a:p>
            <a:r>
              <a:rPr lang="tr-TR" sz="2000" b="1" dirty="0" smtClean="0">
                <a:effectLst>
                  <a:outerShdw blurRad="38100" dist="38100" dir="2700000" algn="tl">
                    <a:srgbClr val="000000">
                      <a:alpha val="43137"/>
                    </a:srgbClr>
                  </a:outerShdw>
                </a:effectLst>
              </a:rPr>
              <a:t>TAKSİR</a:t>
            </a:r>
            <a:endParaRPr lang="fr-FR" sz="2000" b="1" dirty="0">
              <a:effectLst>
                <a:outerShdw blurRad="38100" dist="38100" dir="2700000" algn="tl">
                  <a:srgbClr val="000000">
                    <a:alpha val="43137"/>
                  </a:srgbClr>
                </a:outerShdw>
              </a:effectLst>
            </a:endParaRPr>
          </a:p>
        </p:txBody>
      </p:sp>
      <p:sp>
        <p:nvSpPr>
          <p:cNvPr id="32" name="Aşağı Ok 31"/>
          <p:cNvSpPr/>
          <p:nvPr/>
        </p:nvSpPr>
        <p:spPr>
          <a:xfrm rot="19451131">
            <a:off x="9662132" y="1979155"/>
            <a:ext cx="230400" cy="114716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Aşağı Ok 32"/>
          <p:cNvSpPr/>
          <p:nvPr/>
        </p:nvSpPr>
        <p:spPr>
          <a:xfrm>
            <a:off x="10097175" y="3440803"/>
            <a:ext cx="144000" cy="1350605"/>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Aşağı Ok 38"/>
          <p:cNvSpPr/>
          <p:nvPr/>
        </p:nvSpPr>
        <p:spPr>
          <a:xfrm>
            <a:off x="10476536" y="3430326"/>
            <a:ext cx="144000" cy="59240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Aşağı Ok 39"/>
          <p:cNvSpPr/>
          <p:nvPr/>
        </p:nvSpPr>
        <p:spPr>
          <a:xfrm>
            <a:off x="8803105" y="3420800"/>
            <a:ext cx="144000" cy="59240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Aşağı Ok 40"/>
          <p:cNvSpPr/>
          <p:nvPr/>
        </p:nvSpPr>
        <p:spPr>
          <a:xfrm>
            <a:off x="8410226" y="3430325"/>
            <a:ext cx="144000" cy="1350605"/>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Aşağı Ok 41"/>
          <p:cNvSpPr/>
          <p:nvPr/>
        </p:nvSpPr>
        <p:spPr>
          <a:xfrm>
            <a:off x="8953309" y="5125776"/>
            <a:ext cx="144000" cy="59240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Aşağı Ok 42"/>
          <p:cNvSpPr/>
          <p:nvPr/>
        </p:nvSpPr>
        <p:spPr>
          <a:xfrm>
            <a:off x="7851251" y="5125776"/>
            <a:ext cx="144000" cy="59240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Alt Başlık 2"/>
          <p:cNvSpPr txBox="1">
            <a:spLocks/>
          </p:cNvSpPr>
          <p:nvPr/>
        </p:nvSpPr>
        <p:spPr>
          <a:xfrm>
            <a:off x="1340169" y="1276677"/>
            <a:ext cx="2734640" cy="7435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tr-TR" b="1" smtClean="0"/>
              <a:t>Objektif (Maddi) Unsurlar</a:t>
            </a:r>
            <a:endParaRPr lang="tr-TR" b="1" dirty="0" smtClean="0"/>
          </a:p>
          <a:p>
            <a:r>
              <a:rPr lang="tr-TR" b="1" dirty="0" smtClean="0"/>
              <a:t>	</a:t>
            </a:r>
            <a:endParaRPr lang="tr-TR" b="1" dirty="0"/>
          </a:p>
        </p:txBody>
      </p:sp>
      <p:sp>
        <p:nvSpPr>
          <p:cNvPr id="45" name="Alt Başlık 2"/>
          <p:cNvSpPr txBox="1">
            <a:spLocks/>
          </p:cNvSpPr>
          <p:nvPr/>
        </p:nvSpPr>
        <p:spPr>
          <a:xfrm>
            <a:off x="9679988" y="1835386"/>
            <a:ext cx="2177189" cy="413751"/>
          </a:xfrm>
          <a:prstGeom prst="rect">
            <a:avLst/>
          </a:prstGeom>
        </p:spPr>
        <p:txBody>
          <a:bodyPr vert="horz" lIns="91440" tIns="45720" rIns="91440" bIns="45720" rtlCol="0">
            <a:normAutofit fontScale="92500" lnSpcReduction="20000"/>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1400" b="1" i="0" u="none" strike="noStrike" kern="1200" cap="none" spc="0" normalizeH="0" baseline="0" noProof="0" dirty="0" smtClean="0">
                <a:ln>
                  <a:noFill/>
                </a:ln>
                <a:solidFill>
                  <a:prstClr val="black"/>
                </a:solidFill>
                <a:effectLst/>
                <a:uLnTx/>
                <a:uFillTx/>
                <a:latin typeface="Calibri" panose="020F0502020204030204"/>
                <a:ea typeface="+mn-ea"/>
                <a:cs typeface="+mn-cs"/>
              </a:rPr>
              <a:t>Fiille fail arasındaki manevi/psişik bağ</a:t>
            </a:r>
            <a:endParaRPr kumimoji="0" lang="tr-TR"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Alt Başlık 2"/>
          <p:cNvSpPr txBox="1">
            <a:spLocks/>
          </p:cNvSpPr>
          <p:nvPr/>
        </p:nvSpPr>
        <p:spPr>
          <a:xfrm>
            <a:off x="3355809" y="1768295"/>
            <a:ext cx="2228850" cy="547931"/>
          </a:xfrm>
          <a:prstGeom prst="rect">
            <a:avLst/>
          </a:prstGeom>
        </p:spPr>
        <p:txBody>
          <a:bodyPr vert="horz" lIns="91440" tIns="45720" rIns="91440" bIns="45720" rtlCol="0">
            <a:normAutofit fontScale="92500"/>
          </a:bodyPr>
          <a:lstStyle>
            <a:defPPr>
              <a:defRPr lang="tr-TR"/>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solidFill>
                  <a:prstClr val="black"/>
                </a:solidFill>
                <a:effectLst/>
                <a:uLnTx/>
                <a:uFillTx/>
                <a:latin typeface="Calibri" panose="020F0502020204030204"/>
              </a:defRPr>
            </a:lvl1pPr>
          </a:lstStyle>
          <a:p>
            <a:r>
              <a:rPr lang="tr-TR" dirty="0"/>
              <a:t>Fiilin dış görüntüsünü belirler ve maddi olarak ortaya çıkar</a:t>
            </a:r>
          </a:p>
        </p:txBody>
      </p:sp>
      <p:sp>
        <p:nvSpPr>
          <p:cNvPr id="47" name="Metin kutusu 46"/>
          <p:cNvSpPr txBox="1"/>
          <p:nvPr/>
        </p:nvSpPr>
        <p:spPr>
          <a:xfrm flipH="1">
            <a:off x="3564455" y="6356350"/>
            <a:ext cx="2162719" cy="369332"/>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tr-TR" sz="1800" b="0" i="0" u="none" strike="noStrike" kern="1200" cap="none" spc="0" normalizeH="0" baseline="0" noProof="0" dirty="0" smtClean="0">
                <a:ln>
                  <a:noFill/>
                </a:ln>
                <a:solidFill>
                  <a:prstClr val="black"/>
                </a:solidFill>
                <a:effectLst/>
                <a:uLnTx/>
                <a:uFillTx/>
                <a:latin typeface="Calibri" panose="020F0502020204030204"/>
                <a:ea typeface="+mn-ea"/>
                <a:cs typeface="+mn-cs"/>
              </a:rPr>
              <a:t>Suçun Nitelikli Halleri</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Aşağı Ok 47"/>
          <p:cNvSpPr/>
          <p:nvPr/>
        </p:nvSpPr>
        <p:spPr>
          <a:xfrm>
            <a:off x="1279456" y="2263675"/>
            <a:ext cx="144000" cy="59240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Dikdörtgen 1"/>
          <p:cNvSpPr/>
          <p:nvPr/>
        </p:nvSpPr>
        <p:spPr>
          <a:xfrm>
            <a:off x="1075394" y="2871782"/>
            <a:ext cx="500650" cy="369332"/>
          </a:xfrm>
          <a:prstGeom prst="rect">
            <a:avLst/>
          </a:prstGeom>
        </p:spPr>
        <p:txBody>
          <a:bodyPr wrap="none">
            <a:spAutoFit/>
          </a:bodyPr>
          <a:lstStyle/>
          <a:p>
            <a:pPr lvl="0" algn="ctr">
              <a:defRPr/>
            </a:pPr>
            <a:r>
              <a:rPr lang="tr-TR" dirty="0">
                <a:solidFill>
                  <a:prstClr val="black"/>
                </a:solidFill>
              </a:rPr>
              <a:t>Fail</a:t>
            </a:r>
          </a:p>
        </p:txBody>
      </p:sp>
      <p:sp>
        <p:nvSpPr>
          <p:cNvPr id="49" name="Aşağı Ok 48"/>
          <p:cNvSpPr/>
          <p:nvPr/>
        </p:nvSpPr>
        <p:spPr>
          <a:xfrm>
            <a:off x="1678068" y="2266957"/>
            <a:ext cx="144000" cy="1173846"/>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Dikdörtgen 4"/>
          <p:cNvSpPr/>
          <p:nvPr/>
        </p:nvSpPr>
        <p:spPr>
          <a:xfrm>
            <a:off x="1224668" y="3495891"/>
            <a:ext cx="923138" cy="369332"/>
          </a:xfrm>
          <a:prstGeom prst="rect">
            <a:avLst/>
          </a:prstGeom>
        </p:spPr>
        <p:txBody>
          <a:bodyPr wrap="none">
            <a:spAutoFit/>
          </a:bodyPr>
          <a:lstStyle/>
          <a:p>
            <a:pPr lvl="0">
              <a:defRPr/>
            </a:pPr>
            <a:r>
              <a:rPr lang="tr-TR" dirty="0">
                <a:solidFill>
                  <a:prstClr val="black"/>
                </a:solidFill>
              </a:rPr>
              <a:t>Mağdur</a:t>
            </a:r>
          </a:p>
        </p:txBody>
      </p:sp>
      <p:sp>
        <p:nvSpPr>
          <p:cNvPr id="50" name="Aşağı Ok 49"/>
          <p:cNvSpPr/>
          <p:nvPr/>
        </p:nvSpPr>
        <p:spPr>
          <a:xfrm>
            <a:off x="2079987" y="2263675"/>
            <a:ext cx="144000" cy="1759052"/>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Dikdörtgen 6"/>
          <p:cNvSpPr/>
          <p:nvPr/>
        </p:nvSpPr>
        <p:spPr>
          <a:xfrm>
            <a:off x="1628594" y="4063559"/>
            <a:ext cx="877804" cy="646331"/>
          </a:xfrm>
          <a:prstGeom prst="rect">
            <a:avLst/>
          </a:prstGeom>
        </p:spPr>
        <p:txBody>
          <a:bodyPr wrap="none">
            <a:spAutoFit/>
          </a:bodyPr>
          <a:lstStyle/>
          <a:p>
            <a:pPr lvl="0" algn="ctr">
              <a:defRPr/>
            </a:pPr>
            <a:r>
              <a:rPr lang="tr-TR" dirty="0" smtClean="0">
                <a:solidFill>
                  <a:prstClr val="black"/>
                </a:solidFill>
              </a:rPr>
              <a:t>Suçun</a:t>
            </a:r>
          </a:p>
          <a:p>
            <a:pPr lvl="0" algn="ctr">
              <a:defRPr/>
            </a:pPr>
            <a:r>
              <a:rPr lang="tr-TR" dirty="0" smtClean="0">
                <a:solidFill>
                  <a:prstClr val="black"/>
                </a:solidFill>
              </a:rPr>
              <a:t>Konusu</a:t>
            </a:r>
            <a:endParaRPr lang="tr-TR" dirty="0">
              <a:solidFill>
                <a:prstClr val="black"/>
              </a:solidFill>
            </a:endParaRPr>
          </a:p>
        </p:txBody>
      </p:sp>
      <p:sp>
        <p:nvSpPr>
          <p:cNvPr id="51" name="Aşağı Ok 50"/>
          <p:cNvSpPr/>
          <p:nvPr/>
        </p:nvSpPr>
        <p:spPr>
          <a:xfrm>
            <a:off x="2537020" y="2272019"/>
            <a:ext cx="144000" cy="2529868"/>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Dikdörtgen 7"/>
          <p:cNvSpPr/>
          <p:nvPr/>
        </p:nvSpPr>
        <p:spPr>
          <a:xfrm>
            <a:off x="2348953" y="4790630"/>
            <a:ext cx="449161" cy="369332"/>
          </a:xfrm>
          <a:prstGeom prst="rect">
            <a:avLst/>
          </a:prstGeom>
        </p:spPr>
        <p:txBody>
          <a:bodyPr wrap="none">
            <a:spAutoFit/>
          </a:bodyPr>
          <a:lstStyle/>
          <a:p>
            <a:pPr lvl="0" algn="ctr">
              <a:defRPr/>
            </a:pPr>
            <a:r>
              <a:rPr lang="tr-TR" dirty="0" smtClean="0">
                <a:solidFill>
                  <a:prstClr val="black"/>
                </a:solidFill>
              </a:rPr>
              <a:t>Fiil</a:t>
            </a:r>
          </a:p>
        </p:txBody>
      </p:sp>
      <p:sp>
        <p:nvSpPr>
          <p:cNvPr id="52" name="Aşağı Ok 51"/>
          <p:cNvSpPr/>
          <p:nvPr/>
        </p:nvSpPr>
        <p:spPr>
          <a:xfrm>
            <a:off x="3055325" y="2306053"/>
            <a:ext cx="144000" cy="3023028"/>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Dikdörtgen 9"/>
          <p:cNvSpPr/>
          <p:nvPr/>
        </p:nvSpPr>
        <p:spPr>
          <a:xfrm>
            <a:off x="2709670" y="5348845"/>
            <a:ext cx="790986" cy="369332"/>
          </a:xfrm>
          <a:prstGeom prst="rect">
            <a:avLst/>
          </a:prstGeom>
        </p:spPr>
        <p:txBody>
          <a:bodyPr wrap="none">
            <a:spAutoFit/>
          </a:bodyPr>
          <a:lstStyle/>
          <a:p>
            <a:pPr lvl="0">
              <a:defRPr/>
            </a:pPr>
            <a:r>
              <a:rPr lang="tr-TR" dirty="0">
                <a:solidFill>
                  <a:prstClr val="black"/>
                </a:solidFill>
              </a:rPr>
              <a:t>Netice</a:t>
            </a:r>
          </a:p>
        </p:txBody>
      </p:sp>
      <p:sp>
        <p:nvSpPr>
          <p:cNvPr id="53" name="Aşağı Ok 52"/>
          <p:cNvSpPr/>
          <p:nvPr/>
        </p:nvSpPr>
        <p:spPr>
          <a:xfrm>
            <a:off x="3672491" y="2323108"/>
            <a:ext cx="144000" cy="3480902"/>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Dikdörtgen 10"/>
          <p:cNvSpPr/>
          <p:nvPr/>
        </p:nvSpPr>
        <p:spPr>
          <a:xfrm>
            <a:off x="3067729" y="5771575"/>
            <a:ext cx="1276311" cy="646331"/>
          </a:xfrm>
          <a:prstGeom prst="rect">
            <a:avLst/>
          </a:prstGeom>
        </p:spPr>
        <p:txBody>
          <a:bodyPr wrap="none">
            <a:spAutoFit/>
          </a:bodyPr>
          <a:lstStyle/>
          <a:p>
            <a:pPr algn="ctr"/>
            <a:r>
              <a:rPr lang="tr-TR" dirty="0" smtClean="0">
                <a:solidFill>
                  <a:prstClr val="black"/>
                </a:solidFill>
              </a:rPr>
              <a:t>Nedensellik</a:t>
            </a:r>
          </a:p>
          <a:p>
            <a:pPr algn="ctr"/>
            <a:r>
              <a:rPr lang="tr-TR" dirty="0" smtClean="0">
                <a:solidFill>
                  <a:prstClr val="black"/>
                </a:solidFill>
              </a:rPr>
              <a:t>(İlliyet</a:t>
            </a:r>
            <a:r>
              <a:rPr lang="tr-TR" dirty="0">
                <a:solidFill>
                  <a:prstClr val="black"/>
                </a:solidFill>
              </a:rPr>
              <a:t>)</a:t>
            </a:r>
            <a:endParaRPr lang="fr-FR" dirty="0"/>
          </a:p>
        </p:txBody>
      </p:sp>
      <p:sp>
        <p:nvSpPr>
          <p:cNvPr id="54" name="Aşağı Ok 53"/>
          <p:cNvSpPr/>
          <p:nvPr/>
        </p:nvSpPr>
        <p:spPr>
          <a:xfrm>
            <a:off x="4371103" y="2375654"/>
            <a:ext cx="144000" cy="3980696"/>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Slayt Numarası Yer Tutucusu 16"/>
          <p:cNvSpPr>
            <a:spLocks noGrp="1"/>
          </p:cNvSpPr>
          <p:nvPr>
            <p:ph type="sldNum" sz="quarter" idx="12"/>
          </p:nvPr>
        </p:nvSpPr>
        <p:spPr/>
        <p:txBody>
          <a:bodyPr/>
          <a:lstStyle/>
          <a:p>
            <a:fld id="{39F9BA00-44CD-41D4-A3D8-F864C744DC1F}" type="slidenum">
              <a:rPr lang="tr-TR" smtClean="0"/>
              <a:t>40</a:t>
            </a:fld>
            <a:r>
              <a:rPr lang="tr-TR"/>
              <a:t>/116</a:t>
            </a:r>
          </a:p>
        </p:txBody>
      </p:sp>
    </p:spTree>
    <p:extLst>
      <p:ext uri="{BB962C8B-B14F-4D97-AF65-F5344CB8AC3E}">
        <p14:creationId xmlns:p14="http://schemas.microsoft.com/office/powerpoint/2010/main" val="34840254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Neticesi Sebebiyle Ağırlaşmış Suçlar</a:t>
            </a:r>
          </a:p>
          <a:p>
            <a:pPr algn="l"/>
            <a:r>
              <a:rPr lang="tr-TR" b="1" dirty="0" smtClean="0"/>
              <a:t>	</a:t>
            </a:r>
            <a:endParaRPr lang="tr-TR" b="1" dirty="0"/>
          </a:p>
        </p:txBody>
      </p:sp>
      <p:sp>
        <p:nvSpPr>
          <p:cNvPr id="24" name="Metin kutusu 23"/>
          <p:cNvSpPr txBox="1"/>
          <p:nvPr/>
        </p:nvSpPr>
        <p:spPr>
          <a:xfrm>
            <a:off x="2147059" y="3022812"/>
            <a:ext cx="9073387" cy="369332"/>
          </a:xfrm>
          <a:prstGeom prst="rect">
            <a:avLst/>
          </a:prstGeom>
          <a:noFill/>
        </p:spPr>
        <p:txBody>
          <a:bodyPr wrap="square" rtlCol="0">
            <a:spAutoFit/>
          </a:bodyPr>
          <a:lstStyle/>
          <a:p>
            <a:pPr algn="just"/>
            <a:r>
              <a:rPr lang="tr-TR" dirty="0" smtClean="0"/>
              <a:t>Yani failin</a:t>
            </a:r>
            <a:r>
              <a:rPr lang="fr-FR" dirty="0" smtClean="0"/>
              <a:t> </a:t>
            </a:r>
            <a:r>
              <a:rPr lang="fr-FR" dirty="0"/>
              <a:t>işlediği </a:t>
            </a:r>
            <a:r>
              <a:rPr lang="fr-FR" dirty="0" smtClean="0"/>
              <a:t>suçun</a:t>
            </a:r>
            <a:r>
              <a:rPr lang="tr-TR" dirty="0" smtClean="0"/>
              <a:t>,</a:t>
            </a:r>
            <a:r>
              <a:rPr lang="fr-FR" dirty="0" smtClean="0"/>
              <a:t> </a:t>
            </a:r>
            <a:r>
              <a:rPr lang="fr-FR" dirty="0"/>
              <a:t>istenilenden daha ağır bir sonuç </a:t>
            </a:r>
            <a:r>
              <a:rPr lang="fr-FR" dirty="0" smtClean="0"/>
              <a:t>doğurması</a:t>
            </a:r>
            <a:endParaRPr lang="tr-TR" sz="1600" dirty="0" smtClean="0"/>
          </a:p>
        </p:txBody>
      </p:sp>
      <p:sp>
        <p:nvSpPr>
          <p:cNvPr id="25" name="Metin kutusu 24"/>
          <p:cNvSpPr txBox="1"/>
          <p:nvPr/>
        </p:nvSpPr>
        <p:spPr>
          <a:xfrm>
            <a:off x="2147058" y="3411273"/>
            <a:ext cx="9073387" cy="1077218"/>
          </a:xfrm>
          <a:prstGeom prst="rect">
            <a:avLst/>
          </a:prstGeom>
          <a:noFill/>
        </p:spPr>
        <p:txBody>
          <a:bodyPr wrap="square" rtlCol="0">
            <a:spAutoFit/>
          </a:bodyPr>
          <a:lstStyle>
            <a:defPPr>
              <a:defRPr lang="tr-TR"/>
            </a:defPPr>
            <a:lvl1pPr algn="just">
              <a:defRPr sz="1100"/>
            </a:lvl1pPr>
          </a:lstStyle>
          <a:p>
            <a:r>
              <a:rPr lang="tr-TR" sz="1600" dirty="0" smtClean="0"/>
              <a:t>F</a:t>
            </a:r>
            <a:r>
              <a:rPr lang="fr-FR" sz="1600" dirty="0" smtClean="0"/>
              <a:t>ail </a:t>
            </a:r>
            <a:r>
              <a:rPr lang="tr-TR" sz="1600" dirty="0" smtClean="0"/>
              <a:t>temel</a:t>
            </a:r>
            <a:r>
              <a:rPr lang="fr-FR" sz="1600" dirty="0" smtClean="0"/>
              <a:t> </a:t>
            </a:r>
            <a:r>
              <a:rPr lang="fr-FR" sz="1600" dirty="0"/>
              <a:t>suçu işlerken </a:t>
            </a:r>
            <a:r>
              <a:rPr lang="fr-FR" sz="1600" u="sng" dirty="0"/>
              <a:t>kasten hareket etmektedir</a:t>
            </a:r>
            <a:r>
              <a:rPr lang="fr-FR" sz="1600" dirty="0"/>
              <a:t> ancak ortaya çıkan netice bakımından en az taksirle hareket etmiş olması gerekir</a:t>
            </a:r>
            <a:r>
              <a:rPr lang="fr-FR" sz="1600" dirty="0" smtClean="0"/>
              <a:t>.</a:t>
            </a:r>
            <a:r>
              <a:rPr lang="tr-TR" sz="1600" dirty="0" smtClean="0"/>
              <a:t> Burada kişi tarafından öngörülemeyen ağır bir netice ortaya çıkmaktadır. Örneğin basit yaralama istenirken mağdurun önceden beri kendisinde mevcut bir rahatsızlık neticesi hayatını kaybetmesi</a:t>
            </a:r>
            <a:endParaRPr lang="tr-TR" sz="1600" dirty="0"/>
          </a:p>
        </p:txBody>
      </p:sp>
      <p:sp>
        <p:nvSpPr>
          <p:cNvPr id="2" name="Dikdörtgen 1"/>
          <p:cNvSpPr/>
          <p:nvPr/>
        </p:nvSpPr>
        <p:spPr>
          <a:xfrm>
            <a:off x="2580361" y="4942149"/>
            <a:ext cx="8906790" cy="1384995"/>
          </a:xfrm>
          <a:prstGeom prst="rect">
            <a:avLst/>
          </a:prstGeom>
        </p:spPr>
        <p:txBody>
          <a:bodyPr wrap="square">
            <a:spAutoFit/>
          </a:bodyPr>
          <a:lstStyle/>
          <a:p>
            <a:r>
              <a:rPr lang="tr-TR" sz="1050" b="1" dirty="0" smtClean="0"/>
              <a:t>Türk Ceza Kanunu</a:t>
            </a:r>
          </a:p>
          <a:p>
            <a:r>
              <a:rPr lang="fr-FR" sz="1050" b="1" dirty="0" smtClean="0"/>
              <a:t>Kasten yaralama</a:t>
            </a:r>
            <a:endParaRPr lang="tr-TR" sz="1050" b="1" dirty="0" smtClean="0"/>
          </a:p>
          <a:p>
            <a:pPr algn="just"/>
            <a:r>
              <a:rPr lang="fr-FR" sz="1050" b="1" dirty="0" smtClean="0"/>
              <a:t>Madde 86-</a:t>
            </a:r>
            <a:r>
              <a:rPr lang="fr-FR" sz="1050" dirty="0" smtClean="0"/>
              <a:t> (1) Kasten başkasının vücuduna acı veren veya sağlığının ya da algılama yeteneğinin bozulmasına neden olan kişi, bir yıldan üç yıla kadar hapis cezası ile cezalandırılır.</a:t>
            </a:r>
            <a:endParaRPr lang="tr-TR" sz="1050" dirty="0" smtClean="0"/>
          </a:p>
          <a:p>
            <a:r>
              <a:rPr lang="tr-TR" sz="1050" b="1" dirty="0"/>
              <a:t>Neticesi sebebiyle ağırlaşmış yaralama</a:t>
            </a:r>
          </a:p>
          <a:p>
            <a:r>
              <a:rPr lang="tr-TR" sz="1050" b="1" dirty="0"/>
              <a:t>Madde </a:t>
            </a:r>
            <a:r>
              <a:rPr lang="tr-TR" sz="1050" b="1" dirty="0" smtClean="0"/>
              <a:t>87-…</a:t>
            </a:r>
            <a:endParaRPr lang="tr-TR" sz="1050" b="1" dirty="0"/>
          </a:p>
          <a:p>
            <a:pPr algn="just"/>
            <a:r>
              <a:rPr lang="fr-FR" sz="1050" dirty="0" smtClean="0"/>
              <a:t>(</a:t>
            </a:r>
            <a:r>
              <a:rPr lang="fr-FR" sz="1050" dirty="0"/>
              <a:t>4) Kasten yaralama </a:t>
            </a:r>
            <a:r>
              <a:rPr lang="tr-TR" sz="1050" dirty="0" smtClean="0"/>
              <a:t>sonucunda ölüm meydana gelmişse, yukarıdaki maddenin birinci fıkrasına giren hallerde sekiz yıldan oniki yıla kadar, üçüncü fıkrasına giren hallerde ise oniki yıldan onsekiz yıla kadar hapis cezasına hükmolunur</a:t>
            </a:r>
            <a:endParaRPr lang="tr-TR" sz="1050" dirty="0"/>
          </a:p>
        </p:txBody>
      </p:sp>
      <p:sp>
        <p:nvSpPr>
          <p:cNvPr id="12" name="Dikdörtgen 11"/>
          <p:cNvSpPr/>
          <p:nvPr/>
        </p:nvSpPr>
        <p:spPr>
          <a:xfrm>
            <a:off x="2808961" y="2166375"/>
            <a:ext cx="8906790" cy="738664"/>
          </a:xfrm>
          <a:prstGeom prst="rect">
            <a:avLst/>
          </a:prstGeom>
        </p:spPr>
        <p:txBody>
          <a:bodyPr wrap="square">
            <a:spAutoFit/>
          </a:bodyPr>
          <a:lstStyle/>
          <a:p>
            <a:r>
              <a:rPr lang="tr-TR" sz="1050" b="1" dirty="0" smtClean="0"/>
              <a:t>Türk Ceza Kanunu</a:t>
            </a:r>
          </a:p>
          <a:p>
            <a:r>
              <a:rPr lang="fr-FR" sz="1050" b="1" dirty="0"/>
              <a:t>Netice sebebiyle ağırlaşmış suç</a:t>
            </a:r>
            <a:r>
              <a:rPr lang="fr-FR" sz="1050" dirty="0"/>
              <a:t> </a:t>
            </a:r>
            <a:endParaRPr lang="tr-TR" sz="1050" dirty="0" smtClean="0"/>
          </a:p>
          <a:p>
            <a:r>
              <a:rPr lang="fr-FR" sz="1050" b="1" dirty="0" smtClean="0"/>
              <a:t>Madde </a:t>
            </a:r>
            <a:r>
              <a:rPr lang="fr-FR" sz="1050" b="1" dirty="0"/>
              <a:t>23- </a:t>
            </a:r>
            <a:r>
              <a:rPr lang="fr-FR" sz="1050" dirty="0"/>
              <a:t>(1) Bir fiilin, kastedilenden daha ağır veya başka bir neticenin oluşumuna sebebiyet vermesi halinde, kişinin bundan dolayı sorumlu tutulabilmesi için bu netice bakımından en azından taksirle hareket etmesi gerekir. </a:t>
            </a:r>
            <a:endParaRPr lang="tr-TR" sz="1050" dirty="0"/>
          </a:p>
        </p:txBody>
      </p:sp>
      <p:sp>
        <p:nvSpPr>
          <p:cNvPr id="13" name="Metin kutusu 12"/>
          <p:cNvSpPr txBox="1"/>
          <p:nvPr/>
        </p:nvSpPr>
        <p:spPr>
          <a:xfrm>
            <a:off x="2280412" y="4639710"/>
            <a:ext cx="9073387" cy="338554"/>
          </a:xfrm>
          <a:prstGeom prst="rect">
            <a:avLst/>
          </a:prstGeom>
          <a:noFill/>
        </p:spPr>
        <p:txBody>
          <a:bodyPr wrap="square" rtlCol="0">
            <a:spAutoFit/>
          </a:bodyPr>
          <a:lstStyle>
            <a:defPPr>
              <a:defRPr lang="tr-TR"/>
            </a:defPPr>
            <a:lvl1pPr algn="just">
              <a:defRPr sz="1100"/>
            </a:lvl1pPr>
          </a:lstStyle>
          <a:p>
            <a:r>
              <a:rPr lang="tr-TR" sz="1600" dirty="0" smtClean="0"/>
              <a:t>Örneğin kasten yaralama suçunun neticesi sebebiyle ağırlaşmış şekline ilişkin Türk Ceza Kanunu maddesi</a:t>
            </a:r>
            <a:endParaRPr lang="tr-TR" sz="1600" dirty="0"/>
          </a:p>
        </p:txBody>
      </p:sp>
      <p:sp>
        <p:nvSpPr>
          <p:cNvPr id="11"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Suçun Subjektif (Manevi </a:t>
            </a:r>
            <a:r>
              <a:rPr lang="tr-TR" sz="2600" b="1" i="1" spc="300">
                <a:effectLst>
                  <a:outerShdw blurRad="38100" dist="38100" dir="2700000" algn="tl">
                    <a:srgbClr val="000000">
                      <a:alpha val="43137"/>
                    </a:srgbClr>
                  </a:outerShdw>
                </a:effectLst>
              </a:rPr>
              <a:t>) </a:t>
            </a:r>
            <a:r>
              <a:rPr lang="tr-TR" sz="2600" b="1" i="1" spc="300" dirty="0" smtClean="0">
                <a:effectLst>
                  <a:outerShdw blurRad="38100" dist="38100" dir="2700000" algn="tl">
                    <a:srgbClr val="000000">
                      <a:alpha val="43137"/>
                    </a:srgbClr>
                  </a:outerShdw>
                </a:effectLst>
              </a:rPr>
              <a:t>Unsurları, </a:t>
            </a:r>
          </a:p>
          <a:p>
            <a:r>
              <a:rPr lang="tr-TR" sz="2600" b="1" i="1" spc="300" dirty="0" smtClean="0">
                <a:effectLst>
                  <a:outerShdw blurRad="38100" dist="38100" dir="2700000" algn="tl">
                    <a:srgbClr val="000000">
                      <a:alpha val="43137"/>
                    </a:srgbClr>
                  </a:outerShdw>
                </a:effectLst>
              </a:rPr>
              <a:t>Neticesi Sebebiyle Ağırlaşmış Suçlar, Maksat ve Saik</a:t>
            </a:r>
            <a:endParaRPr lang="tr-TR" sz="2600" b="1" i="1" spc="300" dirty="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41</a:t>
            </a:fld>
            <a:r>
              <a:rPr lang="tr-TR"/>
              <a:t>/116</a:t>
            </a:r>
          </a:p>
        </p:txBody>
      </p:sp>
    </p:spTree>
    <p:extLst>
      <p:ext uri="{BB962C8B-B14F-4D97-AF65-F5344CB8AC3E}">
        <p14:creationId xmlns:p14="http://schemas.microsoft.com/office/powerpoint/2010/main" val="171818544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Maksat ve Saik</a:t>
            </a:r>
          </a:p>
          <a:p>
            <a:pPr algn="l"/>
            <a:r>
              <a:rPr lang="tr-TR" b="1" dirty="0" smtClean="0"/>
              <a:t>	</a:t>
            </a:r>
            <a:endParaRPr lang="tr-TR" b="1" dirty="0"/>
          </a:p>
        </p:txBody>
      </p:sp>
      <p:sp>
        <p:nvSpPr>
          <p:cNvPr id="10" name="Metin kutusu 9"/>
          <p:cNvSpPr txBox="1"/>
          <p:nvPr/>
        </p:nvSpPr>
        <p:spPr>
          <a:xfrm>
            <a:off x="2136973" y="2410303"/>
            <a:ext cx="9626401" cy="338554"/>
          </a:xfrm>
          <a:prstGeom prst="rect">
            <a:avLst/>
          </a:prstGeom>
          <a:noFill/>
        </p:spPr>
        <p:txBody>
          <a:bodyPr wrap="square" rtlCol="0">
            <a:spAutoFit/>
          </a:bodyPr>
          <a:lstStyle/>
          <a:p>
            <a:pPr marL="285750" indent="-285750" algn="just">
              <a:buFont typeface="Arial" panose="020B0604020202020204" pitchFamily="34" charset="0"/>
              <a:buChar char="•"/>
            </a:pPr>
            <a:r>
              <a:rPr lang="tr-TR" sz="1600" dirty="0" smtClean="0"/>
              <a:t>Kural olarak suçun oluşumu için failin belli bir saik veya maksatla hareket etmesi gerekmez. </a:t>
            </a:r>
          </a:p>
        </p:txBody>
      </p:sp>
      <p:sp>
        <p:nvSpPr>
          <p:cNvPr id="11" name="Metin kutusu 10"/>
          <p:cNvSpPr txBox="1"/>
          <p:nvPr/>
        </p:nvSpPr>
        <p:spPr>
          <a:xfrm>
            <a:off x="1860749" y="2162491"/>
            <a:ext cx="9626401" cy="369332"/>
          </a:xfrm>
          <a:prstGeom prst="rect">
            <a:avLst/>
          </a:prstGeom>
          <a:noFill/>
        </p:spPr>
        <p:txBody>
          <a:bodyPr wrap="square" rtlCol="0">
            <a:spAutoFit/>
          </a:bodyPr>
          <a:lstStyle>
            <a:defPPr>
              <a:defRPr lang="tr-TR"/>
            </a:defPPr>
            <a:lvl1pPr algn="just"/>
          </a:lstStyle>
          <a:p>
            <a:r>
              <a:rPr lang="tr-TR" dirty="0" smtClean="0"/>
              <a:t>Kasıttan önce gelen ve kastı </a:t>
            </a:r>
            <a:r>
              <a:rPr lang="tr-TR" dirty="0"/>
              <a:t>hazırlayan düşünce</a:t>
            </a:r>
          </a:p>
        </p:txBody>
      </p:sp>
      <p:sp>
        <p:nvSpPr>
          <p:cNvPr id="3" name="Dikdörtgen 2"/>
          <p:cNvSpPr/>
          <p:nvPr/>
        </p:nvSpPr>
        <p:spPr>
          <a:xfrm>
            <a:off x="2691821" y="3278384"/>
            <a:ext cx="8938203" cy="1169551"/>
          </a:xfrm>
          <a:prstGeom prst="rect">
            <a:avLst/>
          </a:prstGeom>
        </p:spPr>
        <p:txBody>
          <a:bodyPr wrap="square">
            <a:spAutoFit/>
          </a:bodyPr>
          <a:lstStyle/>
          <a:p>
            <a:pPr algn="just"/>
            <a:r>
              <a:rPr lang="tr-TR" sz="1400" b="1" dirty="0" smtClean="0"/>
              <a:t>Türk Ceza Kanunu</a:t>
            </a:r>
          </a:p>
          <a:p>
            <a:pPr algn="just"/>
            <a:r>
              <a:rPr lang="tr-TR" sz="1400" b="1" noProof="1" smtClean="0"/>
              <a:t>Suç</a:t>
            </a:r>
            <a:r>
              <a:rPr lang="fr-FR" sz="1400" b="1" dirty="0" smtClean="0"/>
              <a:t> </a:t>
            </a:r>
            <a:r>
              <a:rPr lang="fr-FR" sz="1400" b="1" dirty="0"/>
              <a:t>işlemek amacıyla örgüt </a:t>
            </a:r>
            <a:r>
              <a:rPr lang="fr-FR" sz="1400" b="1" dirty="0" smtClean="0"/>
              <a:t>kurma</a:t>
            </a:r>
            <a:endParaRPr lang="tr-TR" sz="1400" b="1" dirty="0" smtClean="0"/>
          </a:p>
          <a:p>
            <a:pPr algn="just"/>
            <a:r>
              <a:rPr lang="fr-FR" sz="1400" b="1" dirty="0" smtClean="0"/>
              <a:t>Madde </a:t>
            </a:r>
            <a:r>
              <a:rPr lang="fr-FR" sz="1400" b="1" dirty="0"/>
              <a:t>220- </a:t>
            </a:r>
            <a:r>
              <a:rPr lang="fr-FR" sz="1400" dirty="0"/>
              <a:t>(1) </a:t>
            </a:r>
            <a:r>
              <a:rPr lang="fr-FR" sz="1400" u="sng" dirty="0"/>
              <a:t>Kanunun suç saydığı fiilleri </a:t>
            </a:r>
            <a:r>
              <a:rPr lang="tr-TR" sz="1400" u="sng" dirty="0" smtClean="0"/>
              <a:t>işlemek</a:t>
            </a:r>
            <a:r>
              <a:rPr lang="fr-FR" sz="1400" u="sng" dirty="0" smtClean="0"/>
              <a:t> </a:t>
            </a:r>
            <a:r>
              <a:rPr lang="fr-FR" sz="1400" u="sng" dirty="0"/>
              <a:t>amacıyla</a:t>
            </a:r>
            <a:r>
              <a:rPr lang="fr-FR" sz="1400" dirty="0"/>
              <a:t> örgüt kuranlar veya yönetenler, örgütün yapısı, sahip bulunduğu üye sayısı ile araç ve gereç bakımından amaç suçları işlemeye elverişli olması halinde, dört yıldan sekiz yıla kadar hapis cezası ile cezalandırılır</a:t>
            </a:r>
          </a:p>
        </p:txBody>
      </p:sp>
      <p:sp>
        <p:nvSpPr>
          <p:cNvPr id="14" name="Dikdörtgen 13"/>
          <p:cNvSpPr/>
          <p:nvPr/>
        </p:nvSpPr>
        <p:spPr>
          <a:xfrm>
            <a:off x="2987094" y="4355283"/>
            <a:ext cx="8776280" cy="461665"/>
          </a:xfrm>
          <a:prstGeom prst="rect">
            <a:avLst/>
          </a:prstGeom>
        </p:spPr>
        <p:txBody>
          <a:bodyPr wrap="square">
            <a:spAutoFit/>
          </a:bodyPr>
          <a:lstStyle/>
          <a:p>
            <a:pPr algn="just"/>
            <a:r>
              <a:rPr lang="tr-TR" sz="1200" dirty="0" smtClean="0"/>
              <a:t>Görüldüğü üzere ‘</a:t>
            </a:r>
            <a:r>
              <a:rPr lang="tr-TR" sz="1200" b="1" noProof="1" smtClean="0"/>
              <a:t>Suç</a:t>
            </a:r>
            <a:r>
              <a:rPr lang="fr-FR" sz="1200" b="1" dirty="0" smtClean="0"/>
              <a:t> </a:t>
            </a:r>
            <a:r>
              <a:rPr lang="fr-FR" sz="1200" b="1" dirty="0"/>
              <a:t>işlemek amacıyla örgüt </a:t>
            </a:r>
            <a:r>
              <a:rPr lang="fr-FR" sz="1200" b="1" dirty="0" smtClean="0"/>
              <a:t>kurma</a:t>
            </a:r>
            <a:r>
              <a:rPr lang="tr-TR" sz="1200" b="1" dirty="0" smtClean="0"/>
              <a:t>’ </a:t>
            </a:r>
            <a:r>
              <a:rPr lang="tr-TR" sz="1200" dirty="0" smtClean="0"/>
              <a:t>suçu</a:t>
            </a:r>
            <a:r>
              <a:rPr lang="tr-TR" sz="1200" b="1" dirty="0" smtClean="0"/>
              <a:t> </a:t>
            </a:r>
            <a:r>
              <a:rPr lang="tr-TR" sz="1200" dirty="0" smtClean="0"/>
              <a:t>ancak,</a:t>
            </a:r>
            <a:r>
              <a:rPr lang="tr-TR" sz="1200" b="1" dirty="0" smtClean="0"/>
              <a:t> </a:t>
            </a:r>
            <a:r>
              <a:rPr lang="tr-TR" sz="1200" dirty="0" smtClean="0"/>
              <a:t>bu örgütün </a:t>
            </a:r>
            <a:r>
              <a:rPr lang="tr-TR" sz="1200" i="1" dirty="0" smtClean="0">
                <a:effectLst>
                  <a:outerShdw blurRad="38100" dist="38100" dir="2700000" algn="tl">
                    <a:srgbClr val="000000">
                      <a:alpha val="43137"/>
                    </a:srgbClr>
                  </a:outerShdw>
                </a:effectLst>
              </a:rPr>
              <a:t>Kanunun </a:t>
            </a:r>
            <a:r>
              <a:rPr lang="fr-FR" sz="1200" i="1" dirty="0" smtClean="0">
                <a:effectLst>
                  <a:outerShdw blurRad="38100" dist="38100" dir="2700000" algn="tl">
                    <a:srgbClr val="000000">
                      <a:alpha val="43137"/>
                    </a:srgbClr>
                  </a:outerShdw>
                </a:effectLst>
              </a:rPr>
              <a:t>suç </a:t>
            </a:r>
            <a:r>
              <a:rPr lang="fr-FR" sz="1200" i="1" dirty="0">
                <a:effectLst>
                  <a:outerShdw blurRad="38100" dist="38100" dir="2700000" algn="tl">
                    <a:srgbClr val="000000">
                      <a:alpha val="43137"/>
                    </a:srgbClr>
                  </a:outerShdw>
                </a:effectLst>
              </a:rPr>
              <a:t>saydığı fiilleri </a:t>
            </a:r>
            <a:r>
              <a:rPr lang="tr-TR" sz="1200" i="1" dirty="0" smtClean="0">
                <a:effectLst>
                  <a:outerShdw blurRad="38100" dist="38100" dir="2700000" algn="tl">
                    <a:srgbClr val="000000">
                      <a:alpha val="43137"/>
                    </a:srgbClr>
                  </a:outerShdw>
                </a:effectLst>
              </a:rPr>
              <a:t>işlemek</a:t>
            </a:r>
            <a:r>
              <a:rPr lang="fr-FR" sz="1200" i="1" dirty="0" smtClean="0">
                <a:effectLst>
                  <a:outerShdw blurRad="38100" dist="38100" dir="2700000" algn="tl">
                    <a:srgbClr val="000000">
                      <a:alpha val="43137"/>
                    </a:srgbClr>
                  </a:outerShdw>
                </a:effectLst>
              </a:rPr>
              <a:t> </a:t>
            </a:r>
            <a:r>
              <a:rPr lang="fr-FR" sz="1200" i="1" dirty="0">
                <a:effectLst>
                  <a:outerShdw blurRad="38100" dist="38100" dir="2700000" algn="tl">
                    <a:srgbClr val="000000">
                      <a:alpha val="43137"/>
                    </a:srgbClr>
                  </a:outerShdw>
                </a:effectLst>
              </a:rPr>
              <a:t>amacıyla</a:t>
            </a:r>
            <a:r>
              <a:rPr lang="fr-FR" sz="1200" dirty="0"/>
              <a:t> </a:t>
            </a:r>
            <a:r>
              <a:rPr lang="tr-TR" sz="1200" dirty="0" smtClean="0"/>
              <a:t>kurulması veya yönetilmesi durumunda söz konusu olabilecektir.</a:t>
            </a:r>
          </a:p>
        </p:txBody>
      </p:sp>
      <p:sp>
        <p:nvSpPr>
          <p:cNvPr id="7" name="Dikdörtgen 6"/>
          <p:cNvSpPr/>
          <p:nvPr/>
        </p:nvSpPr>
        <p:spPr>
          <a:xfrm>
            <a:off x="2691821" y="4832517"/>
            <a:ext cx="9100129" cy="1169551"/>
          </a:xfrm>
          <a:prstGeom prst="rect">
            <a:avLst/>
          </a:prstGeom>
        </p:spPr>
        <p:txBody>
          <a:bodyPr wrap="square">
            <a:spAutoFit/>
          </a:bodyPr>
          <a:lstStyle/>
          <a:p>
            <a:r>
              <a:rPr lang="tr-TR" sz="1400" b="1" dirty="0" smtClean="0"/>
              <a:t>Türk </a:t>
            </a:r>
            <a:r>
              <a:rPr lang="tr-TR" sz="1400" b="1" dirty="0"/>
              <a:t>Ceza Kanunu</a:t>
            </a:r>
          </a:p>
          <a:p>
            <a:r>
              <a:rPr lang="fr-FR" sz="1400" b="1" dirty="0" smtClean="0"/>
              <a:t>İftira</a:t>
            </a:r>
            <a:endParaRPr lang="tr-TR" sz="1400" b="1" dirty="0"/>
          </a:p>
          <a:p>
            <a:pPr algn="just"/>
            <a:r>
              <a:rPr lang="fr-FR" sz="1400" b="1" dirty="0" smtClean="0"/>
              <a:t>Madde </a:t>
            </a:r>
            <a:r>
              <a:rPr lang="fr-FR" sz="1400" b="1" dirty="0"/>
              <a:t>267- </a:t>
            </a:r>
            <a:r>
              <a:rPr lang="fr-FR" sz="1400" dirty="0"/>
              <a:t>(1) Yetkili makamlara ihbar veya şikayette bulunarak ya da basın ve yayın yoluyla, işlemediğini bildiği halde, hakkında </a:t>
            </a:r>
            <a:r>
              <a:rPr lang="fr-FR" sz="1400" u="sng" dirty="0"/>
              <a:t>soruşturma ve kovuşturma başlatılmasını ya da idari bir yaptırım uygulanmasını sağlamak</a:t>
            </a:r>
            <a:r>
              <a:rPr lang="fr-FR" sz="1400" dirty="0"/>
              <a:t> için bir kimseye hukuka aykırı bir fiil isnat eden kişi, bir yıldan dört yıla kadar hapis cezası ile cezalandırılır</a:t>
            </a:r>
          </a:p>
        </p:txBody>
      </p:sp>
      <p:sp>
        <p:nvSpPr>
          <p:cNvPr id="17" name="Dikdörtgen 16"/>
          <p:cNvSpPr/>
          <p:nvPr/>
        </p:nvSpPr>
        <p:spPr>
          <a:xfrm>
            <a:off x="2987094" y="5894685"/>
            <a:ext cx="8776280" cy="461665"/>
          </a:xfrm>
          <a:prstGeom prst="rect">
            <a:avLst/>
          </a:prstGeom>
        </p:spPr>
        <p:txBody>
          <a:bodyPr wrap="square">
            <a:spAutoFit/>
          </a:bodyPr>
          <a:lstStyle/>
          <a:p>
            <a:pPr algn="just"/>
            <a:r>
              <a:rPr lang="tr-TR" sz="1200" dirty="0" smtClean="0"/>
              <a:t>Görüldüğü üzere ‘</a:t>
            </a:r>
            <a:r>
              <a:rPr lang="tr-TR" sz="1200" b="1" noProof="1" smtClean="0"/>
              <a:t>İftira</a:t>
            </a:r>
            <a:r>
              <a:rPr lang="tr-TR" sz="1200" b="1" dirty="0" smtClean="0"/>
              <a:t>’ </a:t>
            </a:r>
            <a:r>
              <a:rPr lang="tr-TR" sz="1200" dirty="0" smtClean="0"/>
              <a:t>suçu</a:t>
            </a:r>
            <a:r>
              <a:rPr lang="tr-TR" sz="1200" b="1" dirty="0" smtClean="0"/>
              <a:t> </a:t>
            </a:r>
            <a:r>
              <a:rPr lang="tr-TR" sz="1200" dirty="0" smtClean="0"/>
              <a:t>ancak, </a:t>
            </a:r>
            <a:r>
              <a:rPr lang="tr-TR" sz="1200" i="1" dirty="0" smtClean="0">
                <a:effectLst>
                  <a:outerShdw blurRad="38100" dist="38100" dir="2700000" algn="tl">
                    <a:srgbClr val="000000">
                      <a:alpha val="43137"/>
                    </a:srgbClr>
                  </a:outerShdw>
                </a:effectLst>
              </a:rPr>
              <a:t>bir kimse hakkında soruşturma </a:t>
            </a:r>
            <a:r>
              <a:rPr lang="fr-FR" sz="1200" i="1" dirty="0" smtClean="0">
                <a:effectLst>
                  <a:outerShdw blurRad="38100" dist="38100" dir="2700000" algn="tl">
                    <a:srgbClr val="000000">
                      <a:alpha val="43137"/>
                    </a:srgbClr>
                  </a:outerShdw>
                </a:effectLst>
              </a:rPr>
              <a:t>ve </a:t>
            </a:r>
            <a:r>
              <a:rPr lang="fr-FR" sz="1200" i="1" dirty="0">
                <a:effectLst>
                  <a:outerShdw blurRad="38100" dist="38100" dir="2700000" algn="tl">
                    <a:srgbClr val="000000">
                      <a:alpha val="43137"/>
                    </a:srgbClr>
                  </a:outerShdw>
                </a:effectLst>
              </a:rPr>
              <a:t>kovuşturma başlatılmasını ya da </a:t>
            </a:r>
            <a:r>
              <a:rPr lang="tr-TR" sz="1200" i="1" noProof="1" smtClean="0">
                <a:effectLst>
                  <a:outerShdw blurRad="38100" dist="38100" dir="2700000" algn="tl">
                    <a:srgbClr val="000000">
                      <a:alpha val="43137"/>
                    </a:srgbClr>
                  </a:outerShdw>
                </a:effectLst>
              </a:rPr>
              <a:t>idari</a:t>
            </a:r>
            <a:r>
              <a:rPr lang="fr-FR" sz="1200" i="1" dirty="0" smtClean="0">
                <a:effectLst>
                  <a:outerShdw blurRad="38100" dist="38100" dir="2700000" algn="tl">
                    <a:srgbClr val="000000">
                      <a:alpha val="43137"/>
                    </a:srgbClr>
                  </a:outerShdw>
                </a:effectLst>
              </a:rPr>
              <a:t> </a:t>
            </a:r>
            <a:r>
              <a:rPr lang="tr-TR" sz="1200" i="1" dirty="0" smtClean="0">
                <a:effectLst>
                  <a:outerShdw blurRad="38100" dist="38100" dir="2700000" algn="tl">
                    <a:srgbClr val="000000">
                      <a:alpha val="43137"/>
                    </a:srgbClr>
                  </a:outerShdw>
                </a:effectLst>
              </a:rPr>
              <a:t>bir yaptırım</a:t>
            </a:r>
            <a:r>
              <a:rPr lang="fr-FR" sz="1200" i="1" dirty="0" smtClean="0">
                <a:effectLst>
                  <a:outerShdw blurRad="38100" dist="38100" dir="2700000" algn="tl">
                    <a:srgbClr val="000000">
                      <a:alpha val="43137"/>
                    </a:srgbClr>
                  </a:outerShdw>
                </a:effectLst>
              </a:rPr>
              <a:t> </a:t>
            </a:r>
            <a:r>
              <a:rPr lang="tr-TR" sz="1200" i="1" dirty="0" smtClean="0">
                <a:effectLst>
                  <a:outerShdw blurRad="38100" dist="38100" dir="2700000" algn="tl">
                    <a:srgbClr val="000000">
                      <a:alpha val="43137"/>
                    </a:srgbClr>
                  </a:outerShdw>
                </a:effectLst>
              </a:rPr>
              <a:t>uygulanmasını sağlama</a:t>
            </a:r>
            <a:r>
              <a:rPr lang="fr-FR" sz="1200" i="1" dirty="0" smtClean="0">
                <a:effectLst>
                  <a:outerShdw blurRad="38100" dist="38100" dir="2700000" algn="tl">
                    <a:srgbClr val="000000">
                      <a:alpha val="43137"/>
                    </a:srgbClr>
                  </a:outerShdw>
                </a:effectLst>
              </a:rPr>
              <a:t> amacıyla</a:t>
            </a:r>
            <a:r>
              <a:rPr lang="fr-FR" sz="1200" dirty="0" smtClean="0"/>
              <a:t> </a:t>
            </a:r>
            <a:r>
              <a:rPr lang="tr-TR" sz="1200" dirty="0" smtClean="0"/>
              <a:t>işlenmesi durumunda söz konusu olabilecektir.</a:t>
            </a:r>
          </a:p>
        </p:txBody>
      </p:sp>
      <p:sp>
        <p:nvSpPr>
          <p:cNvPr id="18" name="Metin kutusu 17"/>
          <p:cNvSpPr txBox="1"/>
          <p:nvPr/>
        </p:nvSpPr>
        <p:spPr>
          <a:xfrm>
            <a:off x="2136973" y="2677484"/>
            <a:ext cx="9626401" cy="338554"/>
          </a:xfrm>
          <a:prstGeom prst="rect">
            <a:avLst/>
          </a:prstGeom>
          <a:noFill/>
        </p:spPr>
        <p:txBody>
          <a:bodyPr wrap="square" rtlCol="0">
            <a:spAutoFit/>
          </a:bodyPr>
          <a:lstStyle/>
          <a:p>
            <a:pPr marL="285750" indent="-285750" algn="just">
              <a:buFont typeface="Arial" panose="020B0604020202020204" pitchFamily="34" charset="0"/>
              <a:buChar char="•"/>
            </a:pPr>
            <a:r>
              <a:rPr lang="tr-TR" sz="1600" dirty="0" smtClean="0"/>
              <a:t>Ancak bazı suçlar için failin belli bir saik/amaçla hareket etmesi zorunlu kılınmış olabilir. </a:t>
            </a:r>
          </a:p>
        </p:txBody>
      </p:sp>
      <p:sp>
        <p:nvSpPr>
          <p:cNvPr id="19" name="Metin kutusu 18"/>
          <p:cNvSpPr txBox="1"/>
          <p:nvPr/>
        </p:nvSpPr>
        <p:spPr>
          <a:xfrm>
            <a:off x="2481071" y="3022356"/>
            <a:ext cx="9006079" cy="338554"/>
          </a:xfrm>
          <a:prstGeom prst="rect">
            <a:avLst/>
          </a:prstGeom>
          <a:noFill/>
        </p:spPr>
        <p:txBody>
          <a:bodyPr wrap="square" rtlCol="0">
            <a:spAutoFit/>
          </a:bodyPr>
          <a:lstStyle/>
          <a:p>
            <a:pPr algn="just"/>
            <a:r>
              <a:rPr lang="tr-TR" sz="1600" b="1" dirty="0" smtClean="0"/>
              <a:t>Örneğin</a:t>
            </a:r>
          </a:p>
        </p:txBody>
      </p:sp>
      <p:sp>
        <p:nvSpPr>
          <p:cNvPr id="13"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Suçun Subjektif (Manevi </a:t>
            </a:r>
            <a:r>
              <a:rPr lang="tr-TR" sz="2600" b="1" i="1" spc="300">
                <a:effectLst>
                  <a:outerShdw blurRad="38100" dist="38100" dir="2700000" algn="tl">
                    <a:srgbClr val="000000">
                      <a:alpha val="43137"/>
                    </a:srgbClr>
                  </a:outerShdw>
                </a:effectLst>
              </a:rPr>
              <a:t>) </a:t>
            </a:r>
            <a:r>
              <a:rPr lang="tr-TR" sz="2600" b="1" i="1" spc="300" dirty="0" smtClean="0">
                <a:effectLst>
                  <a:outerShdw blurRad="38100" dist="38100" dir="2700000" algn="tl">
                    <a:srgbClr val="000000">
                      <a:alpha val="43137"/>
                    </a:srgbClr>
                  </a:outerShdw>
                </a:effectLst>
              </a:rPr>
              <a:t>Unsurları, </a:t>
            </a:r>
          </a:p>
          <a:p>
            <a:r>
              <a:rPr lang="tr-TR" sz="2600" b="1" i="1" spc="300" dirty="0" smtClean="0">
                <a:effectLst>
                  <a:outerShdw blurRad="38100" dist="38100" dir="2700000" algn="tl">
                    <a:srgbClr val="000000">
                      <a:alpha val="43137"/>
                    </a:srgbClr>
                  </a:outerShdw>
                </a:effectLst>
              </a:rPr>
              <a:t>Neticesi Sebebiyle Ağırlaşmış Suçlar, Maksat ve Saik</a:t>
            </a:r>
            <a:endParaRPr lang="tr-TR" sz="2600" b="1" i="1" spc="300" dirty="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42</a:t>
            </a:fld>
            <a:r>
              <a:rPr lang="tr-TR"/>
              <a:t>/116</a:t>
            </a:r>
          </a:p>
        </p:txBody>
      </p:sp>
    </p:spTree>
    <p:extLst>
      <p:ext uri="{BB962C8B-B14F-4D97-AF65-F5344CB8AC3E}">
        <p14:creationId xmlns:p14="http://schemas.microsoft.com/office/powerpoint/2010/main" val="102523213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Aykırılık</a:t>
            </a:r>
          </a:p>
          <a:p>
            <a:pPr algn="l"/>
            <a:r>
              <a:rPr lang="tr-TR" b="1" dirty="0" smtClean="0"/>
              <a:t>	</a:t>
            </a:r>
            <a:endParaRPr lang="tr-TR" b="1" dirty="0"/>
          </a:p>
        </p:txBody>
      </p:sp>
      <p:sp>
        <p:nvSpPr>
          <p:cNvPr id="16"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9" name="Alt Başlık 2"/>
          <p:cNvSpPr txBox="1">
            <a:spLocks/>
          </p:cNvSpPr>
          <p:nvPr/>
        </p:nvSpPr>
        <p:spPr>
          <a:xfrm>
            <a:off x="1035183" y="2305622"/>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r>
              <a:rPr lang="tr-TR" sz="1800" dirty="0" smtClean="0"/>
              <a:t>Hukuka karşı gelme, onunla çatışma</a:t>
            </a:r>
          </a:p>
          <a:p>
            <a:pPr algn="l"/>
            <a:r>
              <a:rPr lang="tr-TR" sz="1800" dirty="0" smtClean="0"/>
              <a:t>	</a:t>
            </a:r>
            <a:endParaRPr lang="tr-TR" sz="1800" dirty="0"/>
          </a:p>
        </p:txBody>
      </p:sp>
      <p:sp>
        <p:nvSpPr>
          <p:cNvPr id="10" name="Alt Başlık 2"/>
          <p:cNvSpPr txBox="1">
            <a:spLocks/>
          </p:cNvSpPr>
          <p:nvPr/>
        </p:nvSpPr>
        <p:spPr>
          <a:xfrm>
            <a:off x="1035183" y="2665740"/>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r>
              <a:rPr lang="tr-TR" sz="1800" dirty="0" smtClean="0"/>
              <a:t>Negatif Değer Hükmündedir</a:t>
            </a:r>
          </a:p>
          <a:p>
            <a:pPr algn="l"/>
            <a:r>
              <a:rPr lang="tr-TR" sz="1800" dirty="0" smtClean="0"/>
              <a:t>	</a:t>
            </a:r>
            <a:endParaRPr lang="tr-TR" sz="1800" dirty="0"/>
          </a:p>
        </p:txBody>
      </p:sp>
      <p:sp>
        <p:nvSpPr>
          <p:cNvPr id="11" name="Alt Başlık 2"/>
          <p:cNvSpPr txBox="1">
            <a:spLocks/>
          </p:cNvSpPr>
          <p:nvPr/>
        </p:nvSpPr>
        <p:spPr>
          <a:xfrm>
            <a:off x="1035183" y="3025858"/>
            <a:ext cx="10499592" cy="82224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spcBef>
                <a:spcPts val="0"/>
              </a:spcBef>
              <a:buFont typeface="Arial" panose="020B0604020202020204" pitchFamily="34" charset="0"/>
              <a:buChar char="•"/>
            </a:pPr>
            <a:r>
              <a:rPr lang="tr-TR" sz="1800" dirty="0"/>
              <a:t>Bir fiilin hukuka aykırı olması, bu fiilin tüm hukuk sistemine aykırı olması anlamına </a:t>
            </a:r>
            <a:r>
              <a:rPr lang="tr-TR" sz="1800" dirty="0" err="1" smtClean="0"/>
              <a:t>gelmektedir.Olayda</a:t>
            </a:r>
            <a:r>
              <a:rPr lang="tr-TR" sz="1800" dirty="0" smtClean="0"/>
              <a:t> bir hukuka uygunluk nedeni varsa fiil hukuka aykırı olmaktan çıkar, böylece suç oluşmaz. Çünkü, </a:t>
            </a:r>
          </a:p>
          <a:p>
            <a:pPr algn="l">
              <a:spcBef>
                <a:spcPts val="0"/>
              </a:spcBef>
            </a:pPr>
            <a:r>
              <a:rPr lang="tr-TR" sz="1800" dirty="0"/>
              <a:t>	</a:t>
            </a:r>
            <a:r>
              <a:rPr lang="tr-TR" sz="1800" dirty="0" smtClean="0"/>
              <a:t>Suç= Hukuka Aykırılık + Tipiklik</a:t>
            </a:r>
            <a:endParaRPr lang="tr-TR" sz="1800" dirty="0"/>
          </a:p>
        </p:txBody>
      </p:sp>
      <p:sp>
        <p:nvSpPr>
          <p:cNvPr id="12" name="Alt Başlık 2"/>
          <p:cNvSpPr txBox="1">
            <a:spLocks/>
          </p:cNvSpPr>
          <p:nvPr/>
        </p:nvSpPr>
        <p:spPr>
          <a:xfrm>
            <a:off x="1035182" y="4513424"/>
            <a:ext cx="10499592"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 typeface="Arial" panose="020B0604020202020204" pitchFamily="34" charset="0"/>
              <a:buChar char="•"/>
            </a:pPr>
            <a:r>
              <a:rPr lang="tr-TR" sz="1800" dirty="0" smtClean="0"/>
              <a:t>Fiilin hukuka aykırı olup olmadığının değerlendirilmesinde Hukuk Düzeninin Birliği - Tekliği (Hukukun Bütünlüğü) ilkesi gereğince, bütün hukuk düzeni bakımından değerlendirme yapılmalıdır.</a:t>
            </a:r>
          </a:p>
          <a:p>
            <a:pPr algn="l"/>
            <a:r>
              <a:rPr lang="tr-TR" sz="1800" dirty="0" smtClean="0"/>
              <a:t>	</a:t>
            </a:r>
            <a:endParaRPr lang="tr-TR" sz="1800" dirty="0"/>
          </a:p>
        </p:txBody>
      </p:sp>
      <p:sp>
        <p:nvSpPr>
          <p:cNvPr id="2" name="Dikdörtgen 1"/>
          <p:cNvSpPr/>
          <p:nvPr/>
        </p:nvSpPr>
        <p:spPr>
          <a:xfrm>
            <a:off x="1035183" y="3848100"/>
            <a:ext cx="10499591" cy="840230"/>
          </a:xfrm>
          <a:prstGeom prst="rect">
            <a:avLst/>
          </a:prstGeom>
        </p:spPr>
        <p:txBody>
          <a:bodyPr vert="horz" lIns="91440" tIns="45720" rIns="91440" bIns="45720" rtlCol="0">
            <a:noAutofit/>
          </a:bodyPr>
          <a:lstStyle/>
          <a:p>
            <a:pPr marL="285750" indent="-285750" algn="just">
              <a:lnSpc>
                <a:spcPct val="90000"/>
              </a:lnSpc>
              <a:buFont typeface="Arial" panose="020B0604020202020204" pitchFamily="34" charset="0"/>
              <a:buChar char="•"/>
            </a:pPr>
            <a:r>
              <a:rPr lang="tr-TR" dirty="0"/>
              <a:t>İşlenen fiilin bir suç tanımına uygun olması, bu fiilin aynı zamanda hukuka aykırı olduğu konusunda karine oluşturmaktadır</a:t>
            </a:r>
            <a:endParaRPr lang="fr-FR" dirty="0"/>
          </a:p>
        </p:txBody>
      </p:sp>
      <p:sp>
        <p:nvSpPr>
          <p:cNvPr id="4" name="Slayt Numarası Yer Tutucusu 3"/>
          <p:cNvSpPr>
            <a:spLocks noGrp="1"/>
          </p:cNvSpPr>
          <p:nvPr>
            <p:ph type="sldNum" sz="quarter" idx="12"/>
          </p:nvPr>
        </p:nvSpPr>
        <p:spPr/>
        <p:txBody>
          <a:bodyPr/>
          <a:lstStyle/>
          <a:p>
            <a:fld id="{39F9BA00-44CD-41D4-A3D8-F864C744DC1F}" type="slidenum">
              <a:rPr lang="tr-TR" smtClean="0"/>
              <a:t>43</a:t>
            </a:fld>
            <a:r>
              <a:rPr lang="tr-TR"/>
              <a:t>/116</a:t>
            </a:r>
          </a:p>
        </p:txBody>
      </p:sp>
    </p:spTree>
    <p:extLst>
      <p:ext uri="{BB962C8B-B14F-4D97-AF65-F5344CB8AC3E}">
        <p14:creationId xmlns:p14="http://schemas.microsoft.com/office/powerpoint/2010/main" val="66817532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93210"/>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9" name="Alt Başlık 2"/>
          <p:cNvSpPr txBox="1">
            <a:spLocks/>
          </p:cNvSpPr>
          <p:nvPr/>
        </p:nvSpPr>
        <p:spPr>
          <a:xfrm>
            <a:off x="3079276" y="5335964"/>
            <a:ext cx="5055814" cy="8743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266700" algn="l">
              <a:spcBef>
                <a:spcPts val="0"/>
              </a:spcBef>
            </a:pPr>
            <a:r>
              <a:rPr lang="tr-TR" sz="1100" b="1" dirty="0" smtClean="0">
                <a:effectLst>
                  <a:outerShdw blurRad="38100" dist="38100" dir="2700000" algn="tl">
                    <a:srgbClr val="000000">
                      <a:alpha val="43137"/>
                    </a:srgbClr>
                  </a:outerShdw>
                </a:effectLst>
              </a:rPr>
              <a:t>5237 sayılı Türk Ceza Kanununa göre genel Hukuka Uygunluk Nedenleri;</a:t>
            </a:r>
          </a:p>
          <a:p>
            <a:pPr marL="228600" indent="-228600" algn="l">
              <a:spcBef>
                <a:spcPts val="0"/>
              </a:spcBef>
              <a:buFont typeface="+mj-lt"/>
              <a:buAutoNum type="arabicPeriod"/>
            </a:pPr>
            <a:r>
              <a:rPr lang="tr-TR" sz="1100" dirty="0"/>
              <a:t>Kanunun Hükmünü Yerine Getirme (Görevin İfası</a:t>
            </a:r>
            <a:r>
              <a:rPr lang="tr-TR" sz="1100" dirty="0" smtClean="0"/>
              <a:t>)</a:t>
            </a:r>
          </a:p>
          <a:p>
            <a:pPr marL="228600" indent="-228600" algn="l">
              <a:spcBef>
                <a:spcPts val="0"/>
              </a:spcBef>
              <a:buFont typeface="+mj-lt"/>
              <a:buAutoNum type="arabicPeriod"/>
            </a:pPr>
            <a:r>
              <a:rPr lang="tr-TR" sz="1100" dirty="0"/>
              <a:t>Hakkın </a:t>
            </a:r>
            <a:r>
              <a:rPr lang="tr-TR" sz="1100" dirty="0" smtClean="0"/>
              <a:t>Kullanılması</a:t>
            </a:r>
          </a:p>
          <a:p>
            <a:pPr marL="228600" indent="-228600" algn="l">
              <a:spcBef>
                <a:spcPts val="0"/>
              </a:spcBef>
              <a:buFont typeface="+mj-lt"/>
              <a:buAutoNum type="arabicPeriod"/>
            </a:pPr>
            <a:r>
              <a:rPr lang="tr-TR" sz="1100" dirty="0"/>
              <a:t>Meşru </a:t>
            </a:r>
            <a:r>
              <a:rPr lang="tr-TR" sz="1100" dirty="0" smtClean="0"/>
              <a:t>Savunma</a:t>
            </a:r>
          </a:p>
          <a:p>
            <a:pPr marL="228600" indent="-228600" algn="l">
              <a:spcBef>
                <a:spcPts val="0"/>
              </a:spcBef>
              <a:buFont typeface="+mj-lt"/>
              <a:buAutoNum type="arabicPeriod"/>
            </a:pPr>
            <a:r>
              <a:rPr lang="tr-TR" sz="1100" dirty="0"/>
              <a:t>İlgilinin </a:t>
            </a:r>
            <a:r>
              <a:rPr lang="tr-TR" sz="1100" dirty="0" smtClean="0"/>
              <a:t>Rızası</a:t>
            </a:r>
            <a:endParaRPr lang="tr-TR" sz="1100" dirty="0"/>
          </a:p>
        </p:txBody>
      </p:sp>
      <p:sp>
        <p:nvSpPr>
          <p:cNvPr id="10" name="Alt Başlık 2"/>
          <p:cNvSpPr txBox="1">
            <a:spLocks/>
          </p:cNvSpPr>
          <p:nvPr/>
        </p:nvSpPr>
        <p:spPr>
          <a:xfrm>
            <a:off x="2409824" y="4446272"/>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tr-TR" sz="1800" dirty="0"/>
          </a:p>
        </p:txBody>
      </p:sp>
      <p:sp>
        <p:nvSpPr>
          <p:cNvPr id="13" name="Alt Başlık 2"/>
          <p:cNvSpPr txBox="1">
            <a:spLocks/>
          </p:cNvSpPr>
          <p:nvPr/>
        </p:nvSpPr>
        <p:spPr>
          <a:xfrm>
            <a:off x="2409824" y="487757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endParaRPr lang="tr-TR" sz="1800" dirty="0"/>
          </a:p>
        </p:txBody>
      </p:sp>
      <p:sp>
        <p:nvSpPr>
          <p:cNvPr id="14" name="Alt Başlık 2"/>
          <p:cNvSpPr txBox="1">
            <a:spLocks/>
          </p:cNvSpPr>
          <p:nvPr/>
        </p:nvSpPr>
        <p:spPr>
          <a:xfrm>
            <a:off x="2409824" y="5335964"/>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endParaRPr lang="tr-TR" sz="1800" dirty="0"/>
          </a:p>
        </p:txBody>
      </p:sp>
      <p:sp>
        <p:nvSpPr>
          <p:cNvPr id="15" name="Alt Başlık 2"/>
          <p:cNvSpPr txBox="1">
            <a:spLocks/>
          </p:cNvSpPr>
          <p:nvPr/>
        </p:nvSpPr>
        <p:spPr>
          <a:xfrm>
            <a:off x="7429499" y="5618046"/>
            <a:ext cx="4295775"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1800" dirty="0" smtClean="0"/>
              <a:t>5271 s. CMK m.223/2/d </a:t>
            </a:r>
            <a:r>
              <a:rPr lang="tr-TR" sz="1800" b="1" dirty="0" smtClean="0">
                <a:effectLst>
                  <a:outerShdw blurRad="38100" dist="38100" dir="2700000" algn="tl">
                    <a:srgbClr val="000000">
                      <a:alpha val="43137"/>
                    </a:srgbClr>
                  </a:outerShdw>
                </a:effectLst>
              </a:rPr>
              <a:t>BERAAT</a:t>
            </a:r>
            <a:r>
              <a:rPr lang="tr-TR" sz="1800" dirty="0" smtClean="0"/>
              <a:t> kararı verilir</a:t>
            </a:r>
            <a:endParaRPr lang="tr-TR" sz="1800" dirty="0"/>
          </a:p>
        </p:txBody>
      </p:sp>
      <p:sp>
        <p:nvSpPr>
          <p:cNvPr id="2" name="Dikdörtgen 1"/>
          <p:cNvSpPr/>
          <p:nvPr/>
        </p:nvSpPr>
        <p:spPr>
          <a:xfrm>
            <a:off x="1035183" y="2164585"/>
            <a:ext cx="10518641" cy="607539"/>
          </a:xfrm>
          <a:prstGeom prst="rect">
            <a:avLst/>
          </a:prstGeom>
        </p:spPr>
        <p:txBody>
          <a:bodyPr wrap="square">
            <a:spAutoFit/>
          </a:bodyPr>
          <a:lstStyle/>
          <a:p>
            <a:pPr marL="285750" indent="-285750">
              <a:lnSpc>
                <a:spcPct val="107000"/>
              </a:lnSpc>
              <a:spcAft>
                <a:spcPts val="800"/>
              </a:spcAft>
              <a:buFont typeface="Arial" panose="020B0604020202020204" pitchFamily="34" charset="0"/>
              <a:buChar char="•"/>
            </a:pPr>
            <a:r>
              <a:rPr lang="tr-TR" sz="1600" i="1" dirty="0">
                <a:latin typeface="Calibri" panose="020F0502020204030204" pitchFamily="34" charset="0"/>
                <a:ea typeface="Calibri" panose="020F0502020204030204" pitchFamily="34" charset="0"/>
                <a:cs typeface="Times New Roman" panose="02020603050405020304" pitchFamily="18" charset="0"/>
              </a:rPr>
              <a:t>Somut olayda bir hukuka uygunluk nedeninin bulunması durumunda, artık işlenen fiilin haksızlık teşkil ettiği iddia </a:t>
            </a:r>
            <a:r>
              <a:rPr lang="tr-TR" sz="1600" i="1" dirty="0" smtClean="0">
                <a:latin typeface="Calibri" panose="020F0502020204030204" pitchFamily="34" charset="0"/>
                <a:ea typeface="Calibri" panose="020F0502020204030204" pitchFamily="34" charset="0"/>
                <a:cs typeface="Times New Roman" panose="02020603050405020304" pitchFamily="18" charset="0"/>
              </a:rPr>
              <a:t>edilemez</a:t>
            </a:r>
            <a:r>
              <a:rPr lang="tr-TR" sz="1600" i="1" dirty="0">
                <a:latin typeface="Calibri" panose="020F0502020204030204" pitchFamily="34" charset="0"/>
                <a:ea typeface="Calibri" panose="020F0502020204030204" pitchFamily="34" charset="0"/>
                <a:cs typeface="Times New Roman" panose="02020603050405020304" pitchFamily="18" charset="0"/>
              </a:rPr>
              <a:t> </a:t>
            </a:r>
            <a:r>
              <a:rPr lang="tr-TR" sz="1600" i="1" dirty="0" smtClean="0">
                <a:latin typeface="Calibri" panose="020F0502020204030204" pitchFamily="34" charset="0"/>
                <a:ea typeface="Calibri" panose="020F0502020204030204" pitchFamily="34" charset="0"/>
                <a:cs typeface="Times New Roman" panose="02020603050405020304" pitchFamily="18" charset="0"/>
              </a:rPr>
              <a:t>yani </a:t>
            </a:r>
            <a:r>
              <a:rPr lang="tr-TR" sz="1600" i="1" dirty="0">
                <a:latin typeface="Calibri" panose="020F0502020204030204" pitchFamily="34" charset="0"/>
                <a:ea typeface="Calibri" panose="020F0502020204030204" pitchFamily="34" charset="0"/>
                <a:cs typeface="Times New Roman" panose="02020603050405020304" pitchFamily="18" charset="0"/>
              </a:rPr>
              <a:t>SUÇ </a:t>
            </a:r>
            <a:r>
              <a:rPr lang="tr-TR" sz="1600" i="1" dirty="0" smtClean="0">
                <a:latin typeface="Calibri" panose="020F0502020204030204" pitchFamily="34" charset="0"/>
                <a:ea typeface="Calibri" panose="020F0502020204030204" pitchFamily="34" charset="0"/>
                <a:cs typeface="Times New Roman" panose="02020603050405020304" pitchFamily="18" charset="0"/>
              </a:rPr>
              <a:t>OLUŞMAZ</a:t>
            </a:r>
          </a:p>
        </p:txBody>
      </p:sp>
      <p:sp>
        <p:nvSpPr>
          <p:cNvPr id="3" name="Dikdörtgen 2"/>
          <p:cNvSpPr/>
          <p:nvPr/>
        </p:nvSpPr>
        <p:spPr>
          <a:xfrm>
            <a:off x="1035183" y="2719948"/>
            <a:ext cx="10518641" cy="2520818"/>
          </a:xfrm>
          <a:prstGeom prst="rect">
            <a:avLst/>
          </a:prstGeom>
        </p:spPr>
        <p:txBody>
          <a:bodyPr wrap="square">
            <a:spAutoFit/>
          </a:bodyPr>
          <a:lstStyle/>
          <a:p>
            <a:pPr marL="285750" indent="-285750" algn="just">
              <a:lnSpc>
                <a:spcPct val="107000"/>
              </a:lnSpc>
              <a:buFont typeface="Arial" panose="020B0604020202020204" pitchFamily="34" charset="0"/>
              <a:buChar char="•"/>
            </a:pPr>
            <a:r>
              <a:rPr lang="fr-FR" sz="1600" i="1" dirty="0">
                <a:latin typeface="Calibri" panose="020F0502020204030204" pitchFamily="34" charset="0"/>
                <a:ea typeface="Calibri" panose="020F0502020204030204" pitchFamily="34" charset="0"/>
                <a:cs typeface="Times New Roman" panose="02020603050405020304" pitchFamily="18" charset="0"/>
              </a:rPr>
              <a:t>Failin</a:t>
            </a:r>
            <a:r>
              <a:rPr lang="tr-TR" sz="1600" i="1" dirty="0">
                <a:latin typeface="Calibri" panose="020F0502020204030204" pitchFamily="34" charset="0"/>
                <a:ea typeface="Calibri" panose="020F0502020204030204" pitchFamily="34" charset="0"/>
                <a:cs typeface="Times New Roman" panose="02020603050405020304" pitchFamily="18" charset="0"/>
              </a:rPr>
              <a:t> </a:t>
            </a:r>
            <a:r>
              <a:rPr lang="fr-FR" sz="1600" i="1" dirty="0">
                <a:latin typeface="Calibri" panose="020F0502020204030204" pitchFamily="34" charset="0"/>
                <a:ea typeface="Calibri" panose="020F0502020204030204" pitchFamily="34" charset="0"/>
                <a:cs typeface="Times New Roman" panose="02020603050405020304" pitchFamily="18" charset="0"/>
              </a:rPr>
              <a:t>bu fiili icra ettiği sırada ilgili hukuka uygunluk nedeninin maddi şartlarının </a:t>
            </a:r>
            <a:r>
              <a:rPr lang="fr-FR" sz="1600" i="1" dirty="0" smtClean="0">
                <a:latin typeface="Calibri" panose="020F0502020204030204" pitchFamily="34" charset="0"/>
                <a:ea typeface="Calibri" panose="020F0502020204030204" pitchFamily="34" charset="0"/>
                <a:cs typeface="Times New Roman" panose="02020603050405020304" pitchFamily="18" charset="0"/>
              </a:rPr>
              <a:t>varlığının</a:t>
            </a:r>
            <a:r>
              <a:rPr lang="tr-TR" sz="1600" i="1" dirty="0" smtClean="0">
                <a:latin typeface="Calibri" panose="020F0502020204030204" pitchFamily="34" charset="0"/>
                <a:ea typeface="Calibri" panose="020F0502020204030204" pitchFamily="34" charset="0"/>
                <a:cs typeface="Times New Roman" panose="02020603050405020304" pitchFamily="18" charset="0"/>
              </a:rPr>
              <a:t> </a:t>
            </a:r>
            <a:r>
              <a:rPr lang="fr-FR" sz="1600" i="1" dirty="0" smtClean="0">
                <a:latin typeface="Calibri" panose="020F0502020204030204" pitchFamily="34" charset="0"/>
                <a:ea typeface="Calibri" panose="020F0502020204030204" pitchFamily="34" charset="0"/>
                <a:cs typeface="Times New Roman" panose="02020603050405020304" pitchFamily="18" charset="0"/>
              </a:rPr>
              <a:t>bilinciyle </a:t>
            </a:r>
            <a:r>
              <a:rPr lang="fr-FR" sz="1600" i="1" dirty="0">
                <a:latin typeface="Calibri" panose="020F0502020204030204" pitchFamily="34" charset="0"/>
                <a:ea typeface="Calibri" panose="020F0502020204030204" pitchFamily="34" charset="0"/>
                <a:cs typeface="Times New Roman" panose="02020603050405020304" pitchFamily="18" charset="0"/>
              </a:rPr>
              <a:t>hareket ediyor olmalıdır. Eğer fail, fiili icra ettiği sırada bir hukuka uygunluk nedeninin maddi şartları çerçevesinde hareket ettiğini bilmiyorsa, diğer ifadeyle bir hukuka uygunluk nedeninin kendisine tanımış olduğu yetki çerçevesinde fiili icra etmiyorsa, bu</a:t>
            </a:r>
            <a:r>
              <a:rPr lang="tr-TR" sz="1600" i="1" dirty="0">
                <a:latin typeface="Calibri" panose="020F0502020204030204" pitchFamily="34" charset="0"/>
                <a:ea typeface="Calibri" panose="020F0502020204030204" pitchFamily="34" charset="0"/>
                <a:cs typeface="Times New Roman" panose="02020603050405020304" pitchFamily="18" charset="0"/>
              </a:rPr>
              <a:t> </a:t>
            </a:r>
            <a:r>
              <a:rPr lang="fr-FR" sz="1600" i="1" dirty="0">
                <a:latin typeface="Calibri" panose="020F0502020204030204" pitchFamily="34" charset="0"/>
                <a:ea typeface="Calibri" panose="020F0502020204030204" pitchFamily="34" charset="0"/>
                <a:cs typeface="Times New Roman" panose="02020603050405020304" pitchFamily="18" charset="0"/>
              </a:rPr>
              <a:t>hukuka uygunluk nedeninden </a:t>
            </a:r>
            <a:r>
              <a:rPr lang="fr-FR" sz="1600" i="1" dirty="0" smtClean="0">
                <a:latin typeface="Calibri" panose="020F0502020204030204" pitchFamily="34" charset="0"/>
                <a:ea typeface="Calibri" panose="020F0502020204030204" pitchFamily="34" charset="0"/>
                <a:cs typeface="Times New Roman" panose="02020603050405020304" pitchFamily="18" charset="0"/>
              </a:rPr>
              <a:t>yararlanamaz.</a:t>
            </a:r>
            <a:endParaRPr lang="tr-TR" sz="1600" i="1" dirty="0">
              <a:latin typeface="Calibri" panose="020F0502020204030204" pitchFamily="34" charset="0"/>
              <a:ea typeface="Calibri" panose="020F0502020204030204" pitchFamily="34" charset="0"/>
              <a:cs typeface="Times New Roman" panose="02020603050405020304" pitchFamily="18" charset="0"/>
            </a:endParaRPr>
          </a:p>
          <a:p>
            <a:pPr marL="809625" algn="just">
              <a:lnSpc>
                <a:spcPct val="107000"/>
              </a:lnSpc>
            </a:pPr>
            <a:r>
              <a:rPr lang="tr-TR" sz="1200" i="1" dirty="0" smtClean="0">
                <a:latin typeface="Calibri" panose="020F0502020204030204" pitchFamily="34" charset="0"/>
                <a:ea typeface="Calibri" panose="020F0502020204030204" pitchFamily="34" charset="0"/>
                <a:cs typeface="Times New Roman" panose="02020603050405020304" pitchFamily="18" charset="0"/>
              </a:rPr>
              <a:t>ÖRNEK:</a:t>
            </a:r>
            <a:r>
              <a:rPr lang="fr-FR" sz="1200" dirty="0"/>
              <a:t> A, </a:t>
            </a:r>
            <a:r>
              <a:rPr lang="fr-FR" sz="1200" dirty="0" smtClean="0"/>
              <a:t>hasmı B’yi </a:t>
            </a:r>
            <a:r>
              <a:rPr lang="fr-FR" sz="1200" dirty="0"/>
              <a:t>öldürmek üzere hazırlık yapar ve pusu kurar. B’nin olay yerine gelmesiyle A tam ateş etmek üzere silahını doğrulttuğu sırada, olay yerinden tesadüfen geçmekte olan ve A ile aralarında namus meselesi yüzünden husumet bulunan C, eline fırsat geçtiğini </a:t>
            </a:r>
            <a:r>
              <a:rPr lang="fr-FR" sz="1200" dirty="0" err="1" smtClean="0"/>
              <a:t>düşünerek</a:t>
            </a:r>
            <a:r>
              <a:rPr lang="fr-FR" sz="1200" dirty="0" smtClean="0"/>
              <a:t> </a:t>
            </a:r>
            <a:r>
              <a:rPr lang="fr-FR" sz="1200" dirty="0"/>
              <a:t>A’ya silahıyla ateş eder. A, aldığı isabet sonucu B’ye ateş </a:t>
            </a:r>
            <a:r>
              <a:rPr lang="fr-FR" sz="1200" dirty="0" smtClean="0"/>
              <a:t>edemeden</a:t>
            </a:r>
            <a:r>
              <a:rPr lang="tr-TR" sz="1200" dirty="0" smtClean="0"/>
              <a:t> hayatını kaybeder.</a:t>
            </a:r>
            <a:r>
              <a:rPr lang="fr-FR" sz="1200" dirty="0"/>
              <a:t> C, A’ya ateş ettiği sırada onun B’ye ateş etmek üzere </a:t>
            </a:r>
            <a:r>
              <a:rPr lang="fr-FR" sz="1200" dirty="0" err="1" smtClean="0"/>
              <a:t>olduğunu</a:t>
            </a:r>
            <a:r>
              <a:rPr lang="fr-FR" sz="1200" dirty="0" smtClean="0"/>
              <a:t> </a:t>
            </a:r>
            <a:r>
              <a:rPr lang="fr-FR" sz="1200" dirty="0"/>
              <a:t>bilmemektedir. C’nin maksadı </a:t>
            </a:r>
            <a:r>
              <a:rPr lang="fr-FR" sz="1200" dirty="0" smtClean="0"/>
              <a:t>B’yi </a:t>
            </a:r>
            <a:r>
              <a:rPr lang="fr-FR" sz="1200" dirty="0"/>
              <a:t>bir saldırıdan korumak değildir. O tamamıyla A ile aralarındaki başka bir meseleyi hâlletmek düşüncesiyle hareket etmektedir. </a:t>
            </a:r>
            <a:r>
              <a:rPr lang="fr-FR" sz="1200" dirty="0" err="1" smtClean="0"/>
              <a:t>Dolayısıyla</a:t>
            </a:r>
            <a:r>
              <a:rPr lang="fr-FR" sz="1200" dirty="0" smtClean="0"/>
              <a:t> </a:t>
            </a:r>
            <a:r>
              <a:rPr lang="fr-FR" sz="1200" dirty="0"/>
              <a:t>somut olayda C, üçüncü kişi lehine meşru savunmada bulunmak amacıyla hareket etmemiştir. Ancak olayda üçüncü kişi lehine meşru savunmanın şartları objektif olarak gerçekleşmiştir. İşte bu gibi hâllerde, fail, meşru savunmanın şartlarının oluştuğunu </a:t>
            </a:r>
            <a:r>
              <a:rPr lang="fr-FR" sz="1200" dirty="0" err="1" smtClean="0"/>
              <a:t>bilmediği</a:t>
            </a:r>
            <a:r>
              <a:rPr lang="fr-FR" sz="1200" dirty="0" smtClean="0"/>
              <a:t> </a:t>
            </a:r>
            <a:r>
              <a:rPr lang="fr-FR" sz="1200" dirty="0"/>
              <a:t>ve üçüncü kişi lehine meşru savunmada bulunmak amacıyla hareket etmediği için, hukuka uygunluk nedeninden yararlanamaz.</a:t>
            </a:r>
            <a:endParaRPr lang="fr-FR" sz="1200" i="1" dirty="0">
              <a:latin typeface="Calibri" panose="020F0502020204030204" pitchFamily="34" charset="0"/>
              <a:ea typeface="Calibri" panose="020F0502020204030204" pitchFamily="34" charset="0"/>
              <a:cs typeface="Times New Roman" panose="02020603050405020304" pitchFamily="18" charset="0"/>
            </a:endParaRPr>
          </a:p>
        </p:txBody>
      </p:sp>
      <p:sp>
        <p:nvSpPr>
          <p:cNvPr id="11"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6" name="Slayt Numarası Yer Tutucusu 5"/>
          <p:cNvSpPr>
            <a:spLocks noGrp="1"/>
          </p:cNvSpPr>
          <p:nvPr>
            <p:ph type="sldNum" sz="quarter" idx="12"/>
          </p:nvPr>
        </p:nvSpPr>
        <p:spPr/>
        <p:txBody>
          <a:bodyPr/>
          <a:lstStyle/>
          <a:p>
            <a:fld id="{39F9BA00-44CD-41D4-A3D8-F864C744DC1F}" type="slidenum">
              <a:rPr lang="tr-TR" smtClean="0"/>
              <a:t>44</a:t>
            </a:fld>
            <a:r>
              <a:rPr lang="tr-TR"/>
              <a:t>/116</a:t>
            </a:r>
          </a:p>
        </p:txBody>
      </p:sp>
    </p:spTree>
    <p:extLst>
      <p:ext uri="{BB962C8B-B14F-4D97-AF65-F5344CB8AC3E}">
        <p14:creationId xmlns:p14="http://schemas.microsoft.com/office/powerpoint/2010/main" val="123418700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10" name="Alt Başlık 2"/>
          <p:cNvSpPr txBox="1">
            <a:spLocks/>
          </p:cNvSpPr>
          <p:nvPr/>
        </p:nvSpPr>
        <p:spPr>
          <a:xfrm>
            <a:off x="180976" y="6008274"/>
            <a:ext cx="2609850" cy="6827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800" b="1" dirty="0">
                <a:effectLst>
                  <a:outerShdw blurRad="38100" dist="38100" dir="2700000" algn="tl">
                    <a:srgbClr val="000000">
                      <a:alpha val="43137"/>
                    </a:srgbClr>
                  </a:outerShdw>
                </a:effectLst>
              </a:rPr>
              <a:t>Hukuka Uygunluk Nedenleri</a:t>
            </a:r>
            <a:endParaRPr lang="tr-TR" sz="800" dirty="0" smtClean="0"/>
          </a:p>
          <a:p>
            <a:pPr marL="285750" indent="-285750" algn="l">
              <a:spcBef>
                <a:spcPts val="0"/>
              </a:spcBef>
              <a:buFont typeface="Arial" panose="020B0604020202020204" pitchFamily="34" charset="0"/>
              <a:buChar char="•"/>
            </a:pPr>
            <a:r>
              <a:rPr lang="tr-TR" sz="800" u="sng" dirty="0" smtClean="0">
                <a:effectLst>
                  <a:outerShdw blurRad="38100" dist="38100" dir="2700000" algn="tl">
                    <a:srgbClr val="000000">
                      <a:alpha val="43137"/>
                    </a:srgbClr>
                  </a:outerShdw>
                </a:effectLst>
              </a:rPr>
              <a:t>Kanunun Hükmünü Yerine Getirme (Görevin İfası)</a:t>
            </a:r>
          </a:p>
          <a:p>
            <a:pPr marL="285750" indent="-285750" algn="l">
              <a:spcBef>
                <a:spcPts val="0"/>
              </a:spcBef>
              <a:buFont typeface="Arial" panose="020B0604020202020204" pitchFamily="34" charset="0"/>
              <a:buChar char="•"/>
            </a:pPr>
            <a:r>
              <a:rPr lang="tr-TR" sz="800" dirty="0" smtClean="0"/>
              <a:t>Meşru Savunma</a:t>
            </a:r>
          </a:p>
          <a:p>
            <a:pPr marL="285750" indent="-285750" algn="l">
              <a:spcBef>
                <a:spcPts val="0"/>
              </a:spcBef>
              <a:buFont typeface="Arial" panose="020B0604020202020204" pitchFamily="34" charset="0"/>
              <a:buChar char="•"/>
            </a:pPr>
            <a:r>
              <a:rPr lang="tr-TR" sz="800" dirty="0" smtClean="0"/>
              <a:t>Hakkın </a:t>
            </a:r>
            <a:r>
              <a:rPr lang="tr-TR" sz="800" dirty="0"/>
              <a:t>Kullanılması</a:t>
            </a:r>
          </a:p>
          <a:p>
            <a:pPr marL="285750" indent="-285750" algn="l">
              <a:spcBef>
                <a:spcPts val="0"/>
              </a:spcBef>
              <a:buFont typeface="Arial" panose="020B0604020202020204" pitchFamily="34" charset="0"/>
              <a:buChar char="•"/>
            </a:pPr>
            <a:r>
              <a:rPr lang="tr-TR" sz="800" dirty="0" smtClean="0"/>
              <a:t>İlgilinin </a:t>
            </a:r>
            <a:r>
              <a:rPr lang="tr-TR" sz="800" dirty="0"/>
              <a:t>Rızası</a:t>
            </a:r>
          </a:p>
        </p:txBody>
      </p:sp>
      <p:sp>
        <p:nvSpPr>
          <p:cNvPr id="14" name="Alt Başlık 2"/>
          <p:cNvSpPr txBox="1">
            <a:spLocks/>
          </p:cNvSpPr>
          <p:nvPr/>
        </p:nvSpPr>
        <p:spPr>
          <a:xfrm>
            <a:off x="1901958" y="3598298"/>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1800" dirty="0" smtClean="0"/>
              <a:t>	</a:t>
            </a:r>
            <a:endParaRPr lang="tr-TR" sz="1800" dirty="0"/>
          </a:p>
        </p:txBody>
      </p:sp>
      <p:sp>
        <p:nvSpPr>
          <p:cNvPr id="15" name="Alt Başlık 2"/>
          <p:cNvSpPr txBox="1">
            <a:spLocks/>
          </p:cNvSpPr>
          <p:nvPr/>
        </p:nvSpPr>
        <p:spPr>
          <a:xfrm>
            <a:off x="1901958" y="4087632"/>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1800" dirty="0" smtClean="0"/>
              <a:t>	</a:t>
            </a:r>
            <a:endParaRPr lang="tr-TR" sz="1800" dirty="0"/>
          </a:p>
        </p:txBody>
      </p:sp>
      <p:sp>
        <p:nvSpPr>
          <p:cNvPr id="11" name="Alt Başlık 2"/>
          <p:cNvSpPr txBox="1">
            <a:spLocks/>
          </p:cNvSpPr>
          <p:nvPr/>
        </p:nvSpPr>
        <p:spPr>
          <a:xfrm>
            <a:off x="1682883" y="2370403"/>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r>
              <a:rPr lang="tr-TR" sz="2000" dirty="0" smtClean="0">
                <a:effectLst>
                  <a:outerShdw blurRad="38100" dist="38100" dir="2700000" algn="tl">
                    <a:srgbClr val="000000">
                      <a:alpha val="43137"/>
                    </a:srgbClr>
                  </a:outerShdw>
                </a:effectLst>
              </a:rPr>
              <a:t>Kanunun Hükmünü Yerine Getirme (Görevin İfası) 	</a:t>
            </a:r>
            <a:endParaRPr lang="tr-TR" sz="2000" dirty="0">
              <a:effectLst>
                <a:outerShdw blurRad="38100" dist="38100" dir="2700000" algn="tl">
                  <a:srgbClr val="000000">
                    <a:alpha val="43137"/>
                  </a:srgbClr>
                </a:outerShdw>
              </a:effectLst>
            </a:endParaRPr>
          </a:p>
        </p:txBody>
      </p:sp>
      <p:sp>
        <p:nvSpPr>
          <p:cNvPr id="2" name="Dikdörtgen 1"/>
          <p:cNvSpPr/>
          <p:nvPr/>
        </p:nvSpPr>
        <p:spPr>
          <a:xfrm>
            <a:off x="2790826" y="2804161"/>
            <a:ext cx="8562974" cy="1384995"/>
          </a:xfrm>
          <a:prstGeom prst="rect">
            <a:avLst/>
          </a:prstGeom>
        </p:spPr>
        <p:txBody>
          <a:bodyPr wrap="square">
            <a:spAutoFit/>
          </a:bodyPr>
          <a:lstStyle/>
          <a:p>
            <a:r>
              <a:rPr lang="tr-TR" sz="1200" b="1" dirty="0" smtClean="0"/>
              <a:t>Türk Ceza Kanunu</a:t>
            </a:r>
          </a:p>
          <a:p>
            <a:r>
              <a:rPr lang="fr-FR" sz="1200" b="1" dirty="0" err="1" smtClean="0"/>
              <a:t>Kanunun</a:t>
            </a:r>
            <a:r>
              <a:rPr lang="fr-FR" sz="1200" b="1" dirty="0" smtClean="0"/>
              <a:t> </a:t>
            </a:r>
            <a:r>
              <a:rPr lang="fr-FR" sz="1200" b="1" dirty="0" err="1"/>
              <a:t>hükmü</a:t>
            </a:r>
            <a:r>
              <a:rPr lang="fr-FR" sz="1200" b="1" dirty="0"/>
              <a:t> ve </a:t>
            </a:r>
            <a:r>
              <a:rPr lang="fr-FR" sz="1200" b="1" dirty="0" err="1"/>
              <a:t>amirin</a:t>
            </a:r>
            <a:r>
              <a:rPr lang="fr-FR" sz="1200" b="1" dirty="0"/>
              <a:t> </a:t>
            </a:r>
            <a:r>
              <a:rPr lang="fr-FR" sz="1200" b="1" dirty="0" err="1" smtClean="0"/>
              <a:t>emri</a:t>
            </a:r>
            <a:endParaRPr lang="tr-TR" sz="1200" b="1" dirty="0" smtClean="0"/>
          </a:p>
          <a:p>
            <a:pPr algn="just"/>
            <a:r>
              <a:rPr lang="fr-FR" sz="1200" b="1" dirty="0" smtClean="0"/>
              <a:t>Madde </a:t>
            </a:r>
            <a:r>
              <a:rPr lang="fr-FR" sz="1200" b="1" dirty="0"/>
              <a:t>24-</a:t>
            </a:r>
            <a:r>
              <a:rPr lang="fr-FR" sz="1200" dirty="0"/>
              <a:t> (1) </a:t>
            </a:r>
            <a:r>
              <a:rPr lang="fr-FR" sz="1200" dirty="0" err="1"/>
              <a:t>Kanunun</a:t>
            </a:r>
            <a:r>
              <a:rPr lang="fr-FR" sz="1200" dirty="0"/>
              <a:t> </a:t>
            </a:r>
            <a:r>
              <a:rPr lang="fr-FR" sz="1200" dirty="0" err="1"/>
              <a:t>hükmünü</a:t>
            </a:r>
            <a:r>
              <a:rPr lang="fr-FR" sz="1200" dirty="0"/>
              <a:t> yerine </a:t>
            </a:r>
            <a:r>
              <a:rPr lang="fr-FR" sz="1200" dirty="0" err="1"/>
              <a:t>getiren</a:t>
            </a:r>
            <a:r>
              <a:rPr lang="fr-FR" sz="1200" dirty="0"/>
              <a:t> </a:t>
            </a:r>
            <a:r>
              <a:rPr lang="fr-FR" sz="1200" dirty="0" err="1"/>
              <a:t>kimseye</a:t>
            </a:r>
            <a:r>
              <a:rPr lang="fr-FR" sz="1200" dirty="0"/>
              <a:t> </a:t>
            </a:r>
            <a:r>
              <a:rPr lang="fr-FR" sz="1200" dirty="0" err="1"/>
              <a:t>ceza</a:t>
            </a:r>
            <a:r>
              <a:rPr lang="fr-FR" sz="1200" dirty="0"/>
              <a:t> </a:t>
            </a:r>
            <a:r>
              <a:rPr lang="fr-FR" sz="1200" dirty="0" err="1"/>
              <a:t>verilmez</a:t>
            </a:r>
            <a:r>
              <a:rPr lang="fr-FR" sz="1200" dirty="0" smtClean="0"/>
              <a:t>.</a:t>
            </a:r>
            <a:endParaRPr lang="tr-TR" sz="1200" dirty="0" smtClean="0"/>
          </a:p>
          <a:p>
            <a:pPr algn="just"/>
            <a:r>
              <a:rPr lang="fr-FR" sz="1200" dirty="0"/>
              <a:t>(2) </a:t>
            </a:r>
            <a:r>
              <a:rPr lang="fr-FR" sz="1200" dirty="0" err="1"/>
              <a:t>Yetkili</a:t>
            </a:r>
            <a:r>
              <a:rPr lang="fr-FR" sz="1200" dirty="0"/>
              <a:t> bir </a:t>
            </a:r>
            <a:r>
              <a:rPr lang="fr-FR" sz="1200" dirty="0" err="1"/>
              <a:t>merciden</a:t>
            </a:r>
            <a:r>
              <a:rPr lang="fr-FR" sz="1200" dirty="0"/>
              <a:t> </a:t>
            </a:r>
            <a:r>
              <a:rPr lang="fr-FR" sz="1200" dirty="0" err="1"/>
              <a:t>verilip</a:t>
            </a:r>
            <a:r>
              <a:rPr lang="fr-FR" sz="1200" dirty="0"/>
              <a:t>, yerine </a:t>
            </a:r>
            <a:r>
              <a:rPr lang="fr-FR" sz="1200" dirty="0" err="1"/>
              <a:t>getirilmesi</a:t>
            </a:r>
            <a:r>
              <a:rPr lang="fr-FR" sz="1200" dirty="0"/>
              <a:t> </a:t>
            </a:r>
            <a:r>
              <a:rPr lang="fr-FR" sz="1200" dirty="0" err="1"/>
              <a:t>görev</a:t>
            </a:r>
            <a:r>
              <a:rPr lang="fr-FR" sz="1200" dirty="0"/>
              <a:t> </a:t>
            </a:r>
            <a:r>
              <a:rPr lang="fr-FR" sz="1200" dirty="0" err="1"/>
              <a:t>gereği</a:t>
            </a:r>
            <a:r>
              <a:rPr lang="fr-FR" sz="1200" dirty="0"/>
              <a:t> </a:t>
            </a:r>
            <a:r>
              <a:rPr lang="fr-FR" sz="1200" dirty="0" err="1"/>
              <a:t>zorunlu</a:t>
            </a:r>
            <a:r>
              <a:rPr lang="fr-FR" sz="1200" dirty="0"/>
              <a:t> olan bir </a:t>
            </a:r>
            <a:r>
              <a:rPr lang="fr-FR" sz="1200" dirty="0" err="1"/>
              <a:t>emri</a:t>
            </a:r>
            <a:r>
              <a:rPr lang="fr-FR" sz="1200" dirty="0"/>
              <a:t> </a:t>
            </a:r>
            <a:r>
              <a:rPr lang="fr-FR" sz="1200" dirty="0" err="1"/>
              <a:t>uygulayan</a:t>
            </a:r>
            <a:r>
              <a:rPr lang="fr-FR" sz="1200" dirty="0"/>
              <a:t> </a:t>
            </a:r>
            <a:r>
              <a:rPr lang="fr-FR" sz="1200" dirty="0" err="1"/>
              <a:t>sorumlu</a:t>
            </a:r>
            <a:r>
              <a:rPr lang="fr-FR" sz="1200" dirty="0"/>
              <a:t> </a:t>
            </a:r>
            <a:r>
              <a:rPr lang="fr-FR" sz="1200" dirty="0" err="1"/>
              <a:t>olmaz</a:t>
            </a:r>
            <a:r>
              <a:rPr lang="fr-FR" sz="1200" dirty="0" smtClean="0"/>
              <a:t>.</a:t>
            </a:r>
            <a:endParaRPr lang="tr-TR" sz="1200" dirty="0" smtClean="0"/>
          </a:p>
          <a:p>
            <a:pPr algn="just"/>
            <a:r>
              <a:rPr lang="fr-FR" sz="1200" dirty="0" smtClean="0"/>
              <a:t>(</a:t>
            </a:r>
            <a:r>
              <a:rPr lang="fr-FR" sz="1200" dirty="0"/>
              <a:t>3) </a:t>
            </a:r>
            <a:r>
              <a:rPr lang="fr-FR" sz="1200" dirty="0" err="1"/>
              <a:t>Konusu</a:t>
            </a:r>
            <a:r>
              <a:rPr lang="fr-FR" sz="1200" dirty="0"/>
              <a:t> </a:t>
            </a:r>
            <a:r>
              <a:rPr lang="fr-FR" sz="1200" dirty="0" err="1"/>
              <a:t>suç</a:t>
            </a:r>
            <a:r>
              <a:rPr lang="fr-FR" sz="1200" dirty="0"/>
              <a:t> </a:t>
            </a:r>
            <a:r>
              <a:rPr lang="fr-FR" sz="1200" dirty="0" err="1"/>
              <a:t>teşkil</a:t>
            </a:r>
            <a:r>
              <a:rPr lang="fr-FR" sz="1200" dirty="0"/>
              <a:t> </a:t>
            </a:r>
            <a:r>
              <a:rPr lang="fr-FR" sz="1200" dirty="0" err="1"/>
              <a:t>eden</a:t>
            </a:r>
            <a:r>
              <a:rPr lang="fr-FR" sz="1200" dirty="0"/>
              <a:t> </a:t>
            </a:r>
            <a:r>
              <a:rPr lang="fr-FR" sz="1200" dirty="0" err="1"/>
              <a:t>emir</a:t>
            </a:r>
            <a:r>
              <a:rPr lang="fr-FR" sz="1200" dirty="0"/>
              <a:t> </a:t>
            </a:r>
            <a:r>
              <a:rPr lang="fr-FR" sz="1200" dirty="0" err="1"/>
              <a:t>hiçbir</a:t>
            </a:r>
            <a:r>
              <a:rPr lang="fr-FR" sz="1200" dirty="0"/>
              <a:t> surette yerine </a:t>
            </a:r>
            <a:r>
              <a:rPr lang="fr-FR" sz="1200" dirty="0" err="1"/>
              <a:t>getirilemez</a:t>
            </a:r>
            <a:r>
              <a:rPr lang="fr-FR" sz="1200" dirty="0"/>
              <a:t>. </a:t>
            </a:r>
            <a:r>
              <a:rPr lang="fr-FR" sz="1200" dirty="0" err="1"/>
              <a:t>Aksi</a:t>
            </a:r>
            <a:r>
              <a:rPr lang="fr-FR" sz="1200" dirty="0"/>
              <a:t> </a:t>
            </a:r>
            <a:r>
              <a:rPr lang="fr-FR" sz="1200" dirty="0" err="1"/>
              <a:t>takdirde</a:t>
            </a:r>
            <a:r>
              <a:rPr lang="fr-FR" sz="1200" dirty="0"/>
              <a:t> yerine </a:t>
            </a:r>
            <a:r>
              <a:rPr lang="fr-FR" sz="1200" dirty="0" err="1"/>
              <a:t>getiren</a:t>
            </a:r>
            <a:r>
              <a:rPr lang="fr-FR" sz="1200" dirty="0"/>
              <a:t> ile </a:t>
            </a:r>
            <a:r>
              <a:rPr lang="fr-FR" sz="1200" dirty="0" err="1"/>
              <a:t>emri</a:t>
            </a:r>
            <a:r>
              <a:rPr lang="fr-FR" sz="1200" dirty="0"/>
              <a:t> </a:t>
            </a:r>
            <a:r>
              <a:rPr lang="fr-FR" sz="1200" dirty="0" err="1"/>
              <a:t>veren</a:t>
            </a:r>
            <a:r>
              <a:rPr lang="fr-FR" sz="1200" dirty="0"/>
              <a:t> </a:t>
            </a:r>
            <a:r>
              <a:rPr lang="fr-FR" sz="1200" dirty="0" err="1"/>
              <a:t>sorumlu</a:t>
            </a:r>
            <a:r>
              <a:rPr lang="fr-FR" sz="1200" dirty="0"/>
              <a:t> </a:t>
            </a:r>
            <a:r>
              <a:rPr lang="fr-FR" sz="1200" dirty="0" err="1"/>
              <a:t>olur</a:t>
            </a:r>
            <a:r>
              <a:rPr lang="fr-FR" sz="1200" dirty="0" smtClean="0"/>
              <a:t>.</a:t>
            </a:r>
            <a:endParaRPr lang="tr-TR" sz="1200" dirty="0" smtClean="0"/>
          </a:p>
          <a:p>
            <a:pPr algn="just"/>
            <a:r>
              <a:rPr lang="fr-FR" sz="1200" dirty="0" smtClean="0"/>
              <a:t>(</a:t>
            </a:r>
            <a:r>
              <a:rPr lang="fr-FR" sz="1200" dirty="0"/>
              <a:t>4) </a:t>
            </a:r>
            <a:r>
              <a:rPr lang="fr-FR" sz="1200" dirty="0" err="1"/>
              <a:t>Emrin</a:t>
            </a:r>
            <a:r>
              <a:rPr lang="fr-FR" sz="1200" dirty="0"/>
              <a:t>, hukuka </a:t>
            </a:r>
            <a:r>
              <a:rPr lang="fr-FR" sz="1200" dirty="0" err="1"/>
              <a:t>uygunluğunun</a:t>
            </a:r>
            <a:r>
              <a:rPr lang="fr-FR" sz="1200" dirty="0"/>
              <a:t> </a:t>
            </a:r>
            <a:r>
              <a:rPr lang="fr-FR" sz="1200" dirty="0" err="1"/>
              <a:t>denetlenmesinin</a:t>
            </a:r>
            <a:r>
              <a:rPr lang="fr-FR" sz="1200" dirty="0"/>
              <a:t> </a:t>
            </a:r>
            <a:r>
              <a:rPr lang="fr-FR" sz="1200" dirty="0" err="1"/>
              <a:t>kanun</a:t>
            </a:r>
            <a:r>
              <a:rPr lang="fr-FR" sz="1200" dirty="0"/>
              <a:t> </a:t>
            </a:r>
            <a:r>
              <a:rPr lang="fr-FR" sz="1200" dirty="0" err="1"/>
              <a:t>tarafından</a:t>
            </a:r>
            <a:r>
              <a:rPr lang="fr-FR" sz="1200" dirty="0"/>
              <a:t> </a:t>
            </a:r>
            <a:r>
              <a:rPr lang="fr-FR" sz="1200" dirty="0" err="1"/>
              <a:t>engellendiği</a:t>
            </a:r>
            <a:r>
              <a:rPr lang="fr-FR" sz="1200" dirty="0"/>
              <a:t> </a:t>
            </a:r>
            <a:r>
              <a:rPr lang="fr-FR" sz="1200" dirty="0" err="1"/>
              <a:t>hallerde</a:t>
            </a:r>
            <a:r>
              <a:rPr lang="fr-FR" sz="1200" dirty="0"/>
              <a:t>, yerine </a:t>
            </a:r>
            <a:r>
              <a:rPr lang="fr-FR" sz="1200" dirty="0" err="1"/>
              <a:t>getirilmesinden</a:t>
            </a:r>
            <a:r>
              <a:rPr lang="fr-FR" sz="1200" dirty="0"/>
              <a:t> </a:t>
            </a:r>
            <a:r>
              <a:rPr lang="fr-FR" sz="1200" dirty="0" err="1"/>
              <a:t>emri</a:t>
            </a:r>
            <a:r>
              <a:rPr lang="fr-FR" sz="1200" dirty="0"/>
              <a:t> </a:t>
            </a:r>
            <a:r>
              <a:rPr lang="fr-FR" sz="1200" dirty="0" err="1"/>
              <a:t>veren</a:t>
            </a:r>
            <a:r>
              <a:rPr lang="fr-FR" sz="1200" dirty="0"/>
              <a:t> </a:t>
            </a:r>
            <a:r>
              <a:rPr lang="fr-FR" sz="1200" dirty="0" err="1"/>
              <a:t>sorumlu</a:t>
            </a:r>
            <a:r>
              <a:rPr lang="fr-FR" sz="1200" dirty="0"/>
              <a:t> </a:t>
            </a:r>
            <a:r>
              <a:rPr lang="fr-FR" sz="1200" dirty="0" err="1"/>
              <a:t>olur</a:t>
            </a:r>
            <a:endParaRPr lang="fr-FR" sz="1200" dirty="0"/>
          </a:p>
        </p:txBody>
      </p:sp>
      <p:sp>
        <p:nvSpPr>
          <p:cNvPr id="12" name="Alt Başlık 2"/>
          <p:cNvSpPr txBox="1">
            <a:spLocks/>
          </p:cNvSpPr>
          <p:nvPr/>
        </p:nvSpPr>
        <p:spPr>
          <a:xfrm>
            <a:off x="3081537" y="4413254"/>
            <a:ext cx="6575292" cy="10685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tr-TR" sz="1400" dirty="0" smtClean="0"/>
              <a:t>Özetle, bu hukuka uygunluk nedeninde Kanun yetki vermekte ve görev ifa edilmektedir.</a:t>
            </a:r>
          </a:p>
          <a:p>
            <a:pPr marL="285750" indent="-285750" algn="l">
              <a:spcBef>
                <a:spcPts val="0"/>
              </a:spcBef>
              <a:buFont typeface="Arial" panose="020B0604020202020204" pitchFamily="34" charset="0"/>
              <a:buChar char="•"/>
            </a:pPr>
            <a:r>
              <a:rPr lang="tr-TR" sz="1400" dirty="0" smtClean="0"/>
              <a:t>Kişinin yetkilendirilmiş olması,</a:t>
            </a:r>
          </a:p>
          <a:p>
            <a:pPr marL="285750" indent="-285750" algn="l">
              <a:spcBef>
                <a:spcPts val="0"/>
              </a:spcBef>
              <a:buFont typeface="Arial" panose="020B0604020202020204" pitchFamily="34" charset="0"/>
              <a:buChar char="•"/>
            </a:pPr>
            <a:r>
              <a:rPr lang="tr-TR" sz="1400" dirty="0" smtClean="0"/>
              <a:t>Yetki dahilinde hareket edilmesi,</a:t>
            </a:r>
          </a:p>
          <a:p>
            <a:pPr marL="285750" indent="-285750" algn="l">
              <a:spcBef>
                <a:spcPts val="0"/>
              </a:spcBef>
              <a:buFont typeface="Arial" panose="020B0604020202020204" pitchFamily="34" charset="0"/>
              <a:buChar char="•"/>
            </a:pPr>
            <a:r>
              <a:rPr lang="tr-TR" sz="1400" dirty="0" smtClean="0"/>
              <a:t>Orantılılık ilkesine riayet edilmesi </a:t>
            </a:r>
          </a:p>
          <a:p>
            <a:pPr indent="628650" algn="l">
              <a:spcBef>
                <a:spcPts val="0"/>
              </a:spcBef>
            </a:pPr>
            <a:r>
              <a:rPr lang="tr-TR" sz="1400" dirty="0"/>
              <a:t>Durumunda hukuka uygunluk nedeni oluşur</a:t>
            </a:r>
          </a:p>
          <a:p>
            <a:pPr marL="285750" indent="-285750" algn="l">
              <a:buFont typeface="Arial" panose="020B0604020202020204" pitchFamily="34" charset="0"/>
              <a:buChar char="•"/>
            </a:pPr>
            <a:endParaRPr lang="tr-TR" sz="1400" dirty="0" smtClean="0"/>
          </a:p>
        </p:txBody>
      </p:sp>
      <p:sp>
        <p:nvSpPr>
          <p:cNvPr id="17" name="Alt Başlık 2"/>
          <p:cNvSpPr txBox="1">
            <a:spLocks/>
          </p:cNvSpPr>
          <p:nvPr/>
        </p:nvSpPr>
        <p:spPr>
          <a:xfrm>
            <a:off x="4232462" y="5560262"/>
            <a:ext cx="7264213" cy="76950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spcBef>
                <a:spcPts val="600"/>
              </a:spcBef>
            </a:pPr>
            <a:r>
              <a:rPr lang="tr-TR" sz="1400" dirty="0" smtClean="0"/>
              <a:t>Bu hukuka uygunluk nedeninde geçen Kanun sadece 5237 s. Türk Ceza Kanunu olmayıp, diğer kanunları da kapsamaktadır. Cumhurbaşkanlığı Kararnameleri, yönetmelik gibi yazılı hukuk kuralları da Kanun kapsamında kabul edilmektedir.</a:t>
            </a:r>
          </a:p>
        </p:txBody>
      </p:sp>
      <p:sp>
        <p:nvSpPr>
          <p:cNvPr id="3" name="Şeritli Sağ Ok 2"/>
          <p:cNvSpPr/>
          <p:nvPr/>
        </p:nvSpPr>
        <p:spPr>
          <a:xfrm>
            <a:off x="2268920" y="4445901"/>
            <a:ext cx="657225" cy="181727"/>
          </a:xfrm>
          <a:prstGeom prst="striped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Şeritli Sağ Ok 17"/>
          <p:cNvSpPr/>
          <p:nvPr/>
        </p:nvSpPr>
        <p:spPr>
          <a:xfrm>
            <a:off x="3352199" y="5615024"/>
            <a:ext cx="657225" cy="181727"/>
          </a:xfrm>
          <a:prstGeom prst="striped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6" name="Slayt Numarası Yer Tutucusu 5"/>
          <p:cNvSpPr>
            <a:spLocks noGrp="1"/>
          </p:cNvSpPr>
          <p:nvPr>
            <p:ph type="sldNum" sz="quarter" idx="12"/>
          </p:nvPr>
        </p:nvSpPr>
        <p:spPr/>
        <p:txBody>
          <a:bodyPr/>
          <a:lstStyle/>
          <a:p>
            <a:fld id="{39F9BA00-44CD-41D4-A3D8-F864C744DC1F}" type="slidenum">
              <a:rPr lang="tr-TR" smtClean="0"/>
              <a:t>45</a:t>
            </a:fld>
            <a:r>
              <a:rPr lang="tr-TR"/>
              <a:t>/116</a:t>
            </a:r>
          </a:p>
        </p:txBody>
      </p:sp>
    </p:spTree>
    <p:extLst>
      <p:ext uri="{BB962C8B-B14F-4D97-AF65-F5344CB8AC3E}">
        <p14:creationId xmlns:p14="http://schemas.microsoft.com/office/powerpoint/2010/main" val="36823760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10" name="Alt Başlık 2"/>
          <p:cNvSpPr txBox="1">
            <a:spLocks/>
          </p:cNvSpPr>
          <p:nvPr/>
        </p:nvSpPr>
        <p:spPr>
          <a:xfrm>
            <a:off x="180976" y="6008274"/>
            <a:ext cx="2609850" cy="6827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800" b="1" dirty="0">
                <a:effectLst>
                  <a:outerShdw blurRad="38100" dist="38100" dir="2700000" algn="tl">
                    <a:srgbClr val="000000">
                      <a:alpha val="43137"/>
                    </a:srgbClr>
                  </a:outerShdw>
                </a:effectLst>
              </a:rPr>
              <a:t>Hukuka Uygunluk Nedenleri</a:t>
            </a:r>
            <a:endParaRPr lang="tr-TR" sz="800" u="sng" dirty="0" smtClean="0">
              <a:effectLst>
                <a:outerShdw blurRad="38100" dist="38100" dir="2700000" algn="tl">
                  <a:srgbClr val="000000">
                    <a:alpha val="43137"/>
                  </a:srgbClr>
                </a:outerShdw>
              </a:effectLst>
            </a:endParaRPr>
          </a:p>
          <a:p>
            <a:pPr marL="285750" indent="-285750" algn="l">
              <a:spcBef>
                <a:spcPts val="0"/>
              </a:spcBef>
              <a:buFont typeface="Arial" panose="020B0604020202020204" pitchFamily="34" charset="0"/>
              <a:buChar char="•"/>
            </a:pPr>
            <a:r>
              <a:rPr lang="tr-TR" sz="800" u="sng" dirty="0" smtClean="0">
                <a:effectLst>
                  <a:outerShdw blurRad="38100" dist="38100" dir="2700000" algn="tl">
                    <a:srgbClr val="000000">
                      <a:alpha val="43137"/>
                    </a:srgbClr>
                  </a:outerShdw>
                </a:effectLst>
              </a:rPr>
              <a:t>Kanunun Hükmünü Yerine Getirme (Görevin İfası)</a:t>
            </a:r>
          </a:p>
          <a:p>
            <a:pPr marL="285750" indent="-285750" algn="l">
              <a:spcBef>
                <a:spcPts val="0"/>
              </a:spcBef>
              <a:buFont typeface="Arial" panose="020B0604020202020204" pitchFamily="34" charset="0"/>
              <a:buChar char="•"/>
            </a:pPr>
            <a:r>
              <a:rPr lang="tr-TR" sz="800" dirty="0" smtClean="0"/>
              <a:t>Meşru Savunma</a:t>
            </a:r>
          </a:p>
          <a:p>
            <a:pPr marL="285750" indent="-285750" algn="l">
              <a:spcBef>
                <a:spcPts val="0"/>
              </a:spcBef>
              <a:buFont typeface="Arial" panose="020B0604020202020204" pitchFamily="34" charset="0"/>
              <a:buChar char="•"/>
            </a:pPr>
            <a:r>
              <a:rPr lang="tr-TR" sz="800" dirty="0" smtClean="0"/>
              <a:t>Hakkın </a:t>
            </a:r>
            <a:r>
              <a:rPr lang="tr-TR" sz="800" dirty="0"/>
              <a:t>Kullanılması</a:t>
            </a:r>
          </a:p>
          <a:p>
            <a:pPr marL="285750" indent="-285750" algn="l">
              <a:spcBef>
                <a:spcPts val="0"/>
              </a:spcBef>
              <a:buFont typeface="Arial" panose="020B0604020202020204" pitchFamily="34" charset="0"/>
              <a:buChar char="•"/>
            </a:pPr>
            <a:r>
              <a:rPr lang="tr-TR" sz="800" dirty="0" smtClean="0"/>
              <a:t>İlgilinin </a:t>
            </a:r>
            <a:r>
              <a:rPr lang="tr-TR" sz="800" dirty="0"/>
              <a:t>Rızası</a:t>
            </a:r>
          </a:p>
        </p:txBody>
      </p:sp>
      <p:sp>
        <p:nvSpPr>
          <p:cNvPr id="15" name="Alt Başlık 2"/>
          <p:cNvSpPr txBox="1">
            <a:spLocks/>
          </p:cNvSpPr>
          <p:nvPr/>
        </p:nvSpPr>
        <p:spPr>
          <a:xfrm>
            <a:off x="1975530" y="3241449"/>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1800" dirty="0" smtClean="0"/>
              <a:t>	</a:t>
            </a:r>
            <a:endParaRPr lang="tr-TR" sz="1800" dirty="0"/>
          </a:p>
        </p:txBody>
      </p:sp>
      <p:sp>
        <p:nvSpPr>
          <p:cNvPr id="11" name="Alt Başlık 2"/>
          <p:cNvSpPr txBox="1">
            <a:spLocks/>
          </p:cNvSpPr>
          <p:nvPr/>
        </p:nvSpPr>
        <p:spPr>
          <a:xfrm>
            <a:off x="1682883" y="2370403"/>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r>
              <a:rPr lang="tr-TR" sz="2000" dirty="0" smtClean="0">
                <a:effectLst>
                  <a:outerShdw blurRad="38100" dist="38100" dir="2700000" algn="tl">
                    <a:srgbClr val="000000">
                      <a:alpha val="43137"/>
                    </a:srgbClr>
                  </a:outerShdw>
                </a:effectLst>
              </a:rPr>
              <a:t>Kanunun Hükmünü Yerine Getirme (Görevin İfası) 	</a:t>
            </a:r>
            <a:endParaRPr lang="tr-TR" sz="2000" dirty="0">
              <a:effectLst>
                <a:outerShdw blurRad="38100" dist="38100" dir="2700000" algn="tl">
                  <a:srgbClr val="000000">
                    <a:alpha val="43137"/>
                  </a:srgbClr>
                </a:outerShdw>
              </a:effectLst>
            </a:endParaRPr>
          </a:p>
        </p:txBody>
      </p:sp>
      <p:sp>
        <p:nvSpPr>
          <p:cNvPr id="6" name="Dikdörtgen 5"/>
          <p:cNvSpPr/>
          <p:nvPr/>
        </p:nvSpPr>
        <p:spPr>
          <a:xfrm>
            <a:off x="2746271" y="2818120"/>
            <a:ext cx="8881622" cy="3046988"/>
          </a:xfrm>
          <a:prstGeom prst="rect">
            <a:avLst/>
          </a:prstGeom>
        </p:spPr>
        <p:txBody>
          <a:bodyPr wrap="square">
            <a:spAutoFit/>
          </a:bodyPr>
          <a:lstStyle/>
          <a:p>
            <a:pPr algn="just"/>
            <a:r>
              <a:rPr lang="tr-TR" sz="1200" b="1" dirty="0"/>
              <a:t>2559 sayılı Polis Vazife ve Salahiyet </a:t>
            </a:r>
            <a:r>
              <a:rPr lang="tr-TR" sz="1200" b="1" dirty="0" smtClean="0"/>
              <a:t>Kanunu (PVSK)</a:t>
            </a:r>
            <a:endParaRPr lang="tr-TR" sz="1200" b="1" dirty="0"/>
          </a:p>
          <a:p>
            <a:pPr algn="just"/>
            <a:r>
              <a:rPr lang="tr-TR" sz="1200" b="1" dirty="0" smtClean="0"/>
              <a:t>Zor</a:t>
            </a:r>
            <a:r>
              <a:rPr lang="fr-FR" sz="1200" b="1" dirty="0" smtClean="0"/>
              <a:t> </a:t>
            </a:r>
            <a:r>
              <a:rPr lang="fr-FR" sz="1200" b="1" dirty="0"/>
              <a:t>ve silah </a:t>
            </a:r>
            <a:r>
              <a:rPr lang="fr-FR" sz="1200" b="1" dirty="0" smtClean="0"/>
              <a:t>kullanma</a:t>
            </a:r>
            <a:endParaRPr lang="tr-TR" sz="1200" b="1" dirty="0" smtClean="0"/>
          </a:p>
          <a:p>
            <a:pPr algn="just"/>
            <a:r>
              <a:rPr lang="fr-FR" sz="1200" b="1" dirty="0" smtClean="0"/>
              <a:t>Madde </a:t>
            </a:r>
            <a:r>
              <a:rPr lang="fr-FR" sz="1200" b="1" dirty="0"/>
              <a:t>16-</a:t>
            </a:r>
            <a:r>
              <a:rPr lang="fr-FR" sz="1200" dirty="0"/>
              <a:t> </a:t>
            </a:r>
            <a:r>
              <a:rPr lang="fr-FR" sz="1200" dirty="0" smtClean="0"/>
              <a:t>Polis</a:t>
            </a:r>
            <a:r>
              <a:rPr lang="fr-FR" sz="1200" dirty="0"/>
              <a:t>, görevini yaparken direnişle karşılaşması halinde, bu direnişi kırmak amacıyla ve kıracak ölçüde zor kullanmaya </a:t>
            </a:r>
            <a:r>
              <a:rPr lang="fr-FR" sz="1200" dirty="0" smtClean="0"/>
              <a:t>yetkilidir.</a:t>
            </a:r>
            <a:endParaRPr lang="tr-TR" sz="1200" dirty="0" smtClean="0"/>
          </a:p>
          <a:p>
            <a:pPr algn="just"/>
            <a:r>
              <a:rPr lang="tr-TR" sz="1200" dirty="0" smtClean="0"/>
              <a:t>                    </a:t>
            </a:r>
            <a:r>
              <a:rPr lang="fr-FR" sz="1200" dirty="0" smtClean="0"/>
              <a:t>Zor </a:t>
            </a:r>
            <a:r>
              <a:rPr lang="fr-FR" sz="1200" dirty="0"/>
              <a:t>kullanma yetkisi kapsamında, direnmenin mahiyetine ve derecesine göre ve direnenleri etkisiz hale getirecek şekilde kademeli olarak artan nispette bedenî kuvvet, maddî güç ve kanunî şartları gerçekleştiğinde silah kullanılabilir</a:t>
            </a:r>
            <a:r>
              <a:rPr lang="fr-FR" sz="1200" dirty="0" smtClean="0"/>
              <a:t>.</a:t>
            </a:r>
            <a:endParaRPr lang="tr-TR" sz="1200" dirty="0" smtClean="0"/>
          </a:p>
          <a:p>
            <a:pPr algn="just"/>
            <a:r>
              <a:rPr lang="tr-TR" sz="1200" dirty="0" smtClean="0"/>
              <a:t>                   </a:t>
            </a:r>
            <a:r>
              <a:rPr lang="fr-FR" sz="1200" dirty="0" smtClean="0"/>
              <a:t>İkinci </a:t>
            </a:r>
            <a:r>
              <a:rPr lang="fr-FR" sz="1200" dirty="0"/>
              <a:t>fıkrada yer </a:t>
            </a:r>
            <a:r>
              <a:rPr lang="fr-FR" sz="1200" dirty="0" smtClean="0"/>
              <a:t>alan;</a:t>
            </a:r>
            <a:endParaRPr lang="tr-TR" sz="1200" dirty="0" smtClean="0"/>
          </a:p>
          <a:p>
            <a:pPr marL="900113" indent="-163513" algn="just">
              <a:buAutoNum type="alphaLcParenR"/>
            </a:pPr>
            <a:r>
              <a:rPr lang="fr-FR" sz="1200" dirty="0" smtClean="0"/>
              <a:t>Bedenî </a:t>
            </a:r>
            <a:r>
              <a:rPr lang="fr-FR" sz="1200" dirty="0"/>
              <a:t>kuvvet; polisin direnen kişilere karşı veya eşya üzerinde doğrudan doğruya kullandığı bedenî </a:t>
            </a:r>
            <a:r>
              <a:rPr lang="fr-FR" sz="1200" dirty="0" smtClean="0"/>
              <a:t>gücü,</a:t>
            </a:r>
            <a:endParaRPr lang="tr-TR" sz="1200" dirty="0" smtClean="0"/>
          </a:p>
          <a:p>
            <a:pPr marL="900113" indent="-163513" algn="just">
              <a:buAutoNum type="alphaLcParenR"/>
            </a:pPr>
            <a:r>
              <a:rPr lang="fr-FR" sz="1200" dirty="0" smtClean="0"/>
              <a:t>Maddî </a:t>
            </a:r>
            <a:r>
              <a:rPr lang="fr-FR" sz="1200" dirty="0"/>
              <a:t>güç; polisin direnen kişilere karşı veya eşya üzerinde bedenî kuvvetin dışında kullandığı kelepçe, cop, basınçlı ve/veya boyalı su, göz yaşartıcı gazlar veya tozlar, fizikî engeller, polis köpekleri ve atları ile sair hizmet araçlarını, </a:t>
            </a:r>
            <a:endParaRPr lang="tr-TR" sz="1200" dirty="0" smtClean="0"/>
          </a:p>
          <a:p>
            <a:pPr algn="just"/>
            <a:r>
              <a:rPr lang="tr-TR" sz="1200" dirty="0" smtClean="0"/>
              <a:t>                   </a:t>
            </a:r>
            <a:r>
              <a:rPr lang="fr-FR" sz="1200" dirty="0" smtClean="0"/>
              <a:t>ifade </a:t>
            </a:r>
            <a:r>
              <a:rPr lang="fr-FR" sz="1200" dirty="0"/>
              <a:t>eder. </a:t>
            </a:r>
            <a:endParaRPr lang="tr-TR" sz="1200" dirty="0" smtClean="0"/>
          </a:p>
          <a:p>
            <a:pPr algn="just"/>
            <a:r>
              <a:rPr lang="tr-TR" sz="1200" dirty="0" smtClean="0"/>
              <a:t>                 </a:t>
            </a:r>
            <a:r>
              <a:rPr lang="fr-FR" sz="1200" dirty="0" smtClean="0"/>
              <a:t>Zor </a:t>
            </a:r>
            <a:r>
              <a:rPr lang="fr-FR" sz="1200" dirty="0"/>
              <a:t>kullanmadan önce, </a:t>
            </a:r>
            <a:r>
              <a:rPr lang="fr-FR" sz="1200" noProof="1" smtClean="0"/>
              <a:t>ilgililere</a:t>
            </a:r>
            <a:r>
              <a:rPr lang="fr-FR" sz="1200" dirty="0" smtClean="0"/>
              <a:t> </a:t>
            </a:r>
            <a:r>
              <a:rPr lang="fr-FR" sz="1200" noProof="1" smtClean="0"/>
              <a:t>direnmeye</a:t>
            </a:r>
            <a:r>
              <a:rPr lang="fr-FR" sz="1200" dirty="0" smtClean="0"/>
              <a:t> </a:t>
            </a:r>
            <a:r>
              <a:rPr lang="fr-FR" sz="1200" dirty="0" err="1"/>
              <a:t>devam</a:t>
            </a:r>
            <a:r>
              <a:rPr lang="fr-FR" sz="1200" dirty="0"/>
              <a:t> </a:t>
            </a:r>
            <a:r>
              <a:rPr lang="fr-FR" sz="1200" dirty="0" err="1"/>
              <a:t>etmeleri</a:t>
            </a:r>
            <a:r>
              <a:rPr lang="fr-FR" sz="1200" dirty="0"/>
              <a:t> halinde doğrudan doğruya zor </a:t>
            </a:r>
            <a:r>
              <a:rPr lang="fr-FR" sz="1200" dirty="0" err="1"/>
              <a:t>kullanılacağı</a:t>
            </a:r>
            <a:r>
              <a:rPr lang="fr-FR" sz="1200" dirty="0"/>
              <a:t> </a:t>
            </a:r>
            <a:r>
              <a:rPr lang="fr-FR" sz="1200" dirty="0" err="1"/>
              <a:t>ihtarı</a:t>
            </a:r>
            <a:r>
              <a:rPr lang="fr-FR" sz="1200" dirty="0"/>
              <a:t> </a:t>
            </a:r>
            <a:r>
              <a:rPr lang="fr-FR" sz="1200" dirty="0" err="1"/>
              <a:t>yapılır</a:t>
            </a:r>
            <a:r>
              <a:rPr lang="fr-FR" sz="1200" dirty="0"/>
              <a:t>. Ancak, direnmenin </a:t>
            </a:r>
            <a:r>
              <a:rPr lang="fr-FR" sz="1200" dirty="0" err="1"/>
              <a:t>mahiyeti</a:t>
            </a:r>
            <a:r>
              <a:rPr lang="fr-FR" sz="1200" dirty="0"/>
              <a:t> ve </a:t>
            </a:r>
            <a:r>
              <a:rPr lang="fr-FR" sz="1200" dirty="0" err="1"/>
              <a:t>derecesi</a:t>
            </a:r>
            <a:r>
              <a:rPr lang="fr-FR" sz="1200" dirty="0"/>
              <a:t> göz </a:t>
            </a:r>
            <a:r>
              <a:rPr lang="fr-FR" sz="1200" dirty="0" err="1"/>
              <a:t>önünde</a:t>
            </a:r>
            <a:r>
              <a:rPr lang="fr-FR" sz="1200" dirty="0"/>
              <a:t> </a:t>
            </a:r>
            <a:r>
              <a:rPr lang="fr-FR" sz="1200" dirty="0" err="1"/>
              <a:t>bulundurularak</a:t>
            </a:r>
            <a:r>
              <a:rPr lang="fr-FR" sz="1200" dirty="0"/>
              <a:t>, </a:t>
            </a:r>
            <a:r>
              <a:rPr lang="fr-FR" sz="1200" dirty="0" err="1"/>
              <a:t>ihtar</a:t>
            </a:r>
            <a:r>
              <a:rPr lang="fr-FR" sz="1200" dirty="0"/>
              <a:t> </a:t>
            </a:r>
            <a:r>
              <a:rPr lang="fr-FR" sz="1200" dirty="0" err="1"/>
              <a:t>yapılmadan</a:t>
            </a:r>
            <a:r>
              <a:rPr lang="fr-FR" sz="1200" dirty="0"/>
              <a:t> da zor </a:t>
            </a:r>
            <a:r>
              <a:rPr lang="fr-FR" sz="1200" dirty="0" smtClean="0"/>
              <a:t>kullanılabilir.</a:t>
            </a:r>
            <a:endParaRPr lang="tr-TR" sz="1200" dirty="0" smtClean="0"/>
          </a:p>
          <a:p>
            <a:pPr algn="just"/>
            <a:r>
              <a:rPr lang="tr-TR" sz="1200" dirty="0" smtClean="0"/>
              <a:t>                 </a:t>
            </a:r>
            <a:r>
              <a:rPr lang="fr-FR" sz="1200" dirty="0" smtClean="0"/>
              <a:t>Polis</a:t>
            </a:r>
            <a:r>
              <a:rPr lang="fr-FR" sz="1200" dirty="0"/>
              <a:t>, zor kullanma yetkisi kapsamında </a:t>
            </a:r>
            <a:r>
              <a:rPr lang="fr-FR" sz="1200" dirty="0" err="1"/>
              <a:t>direnmeyi</a:t>
            </a:r>
            <a:r>
              <a:rPr lang="fr-FR" sz="1200" dirty="0"/>
              <a:t> etkisiz </a:t>
            </a:r>
            <a:r>
              <a:rPr lang="fr-FR" sz="1200" dirty="0" err="1"/>
              <a:t>kılmak</a:t>
            </a:r>
            <a:r>
              <a:rPr lang="fr-FR" sz="1200" dirty="0"/>
              <a:t> amacıyla </a:t>
            </a:r>
            <a:r>
              <a:rPr lang="fr-FR" sz="1200" dirty="0" err="1"/>
              <a:t>kullanacağı</a:t>
            </a:r>
            <a:r>
              <a:rPr lang="fr-FR" sz="1200" dirty="0"/>
              <a:t> </a:t>
            </a:r>
            <a:r>
              <a:rPr lang="fr-FR" sz="1200" dirty="0" err="1"/>
              <a:t>araç</a:t>
            </a:r>
            <a:r>
              <a:rPr lang="fr-FR" sz="1200" dirty="0"/>
              <a:t> ve </a:t>
            </a:r>
            <a:r>
              <a:rPr lang="fr-FR" sz="1200" dirty="0" err="1"/>
              <a:t>gereç</a:t>
            </a:r>
            <a:r>
              <a:rPr lang="fr-FR" sz="1200" dirty="0"/>
              <a:t> ile </a:t>
            </a:r>
            <a:r>
              <a:rPr lang="fr-FR" sz="1200" dirty="0" err="1"/>
              <a:t>kullanacağı</a:t>
            </a:r>
            <a:r>
              <a:rPr lang="fr-FR" sz="1200" dirty="0"/>
              <a:t> </a:t>
            </a:r>
            <a:r>
              <a:rPr lang="fr-FR" sz="1200" dirty="0" err="1"/>
              <a:t>zorun</a:t>
            </a:r>
            <a:r>
              <a:rPr lang="fr-FR" sz="1200" dirty="0"/>
              <a:t> </a:t>
            </a:r>
            <a:r>
              <a:rPr lang="fr-FR" sz="1200" dirty="0" err="1"/>
              <a:t>derecesini</a:t>
            </a:r>
            <a:r>
              <a:rPr lang="fr-FR" sz="1200" dirty="0"/>
              <a:t> </a:t>
            </a:r>
            <a:r>
              <a:rPr lang="fr-FR" sz="1200" dirty="0" err="1"/>
              <a:t>kendisi</a:t>
            </a:r>
            <a:r>
              <a:rPr lang="fr-FR" sz="1200" dirty="0"/>
              <a:t> </a:t>
            </a:r>
            <a:r>
              <a:rPr lang="fr-FR" sz="1200" dirty="0" err="1"/>
              <a:t>takdir</a:t>
            </a:r>
            <a:r>
              <a:rPr lang="fr-FR" sz="1200" dirty="0"/>
              <a:t> ve </a:t>
            </a:r>
            <a:r>
              <a:rPr lang="fr-FR" sz="1200" dirty="0" err="1"/>
              <a:t>tayin</a:t>
            </a:r>
            <a:r>
              <a:rPr lang="fr-FR" sz="1200" dirty="0"/>
              <a:t> eder. Ancak, </a:t>
            </a:r>
            <a:r>
              <a:rPr lang="fr-FR" sz="1200" dirty="0" err="1"/>
              <a:t>toplu</a:t>
            </a:r>
            <a:r>
              <a:rPr lang="fr-FR" sz="1200" dirty="0"/>
              <a:t> kuvvet olarak </a:t>
            </a:r>
            <a:r>
              <a:rPr lang="fr-FR" sz="1200" dirty="0" err="1"/>
              <a:t>müdahale</a:t>
            </a:r>
            <a:r>
              <a:rPr lang="fr-FR" sz="1200" dirty="0"/>
              <a:t> </a:t>
            </a:r>
            <a:r>
              <a:rPr lang="fr-FR" sz="1200" dirty="0" err="1"/>
              <a:t>edilen</a:t>
            </a:r>
            <a:r>
              <a:rPr lang="fr-FR" sz="1200" dirty="0"/>
              <a:t> </a:t>
            </a:r>
            <a:r>
              <a:rPr lang="fr-FR" sz="1200" dirty="0" err="1"/>
              <a:t>durumlarda</a:t>
            </a:r>
            <a:r>
              <a:rPr lang="fr-FR" sz="1200" dirty="0"/>
              <a:t>, zor </a:t>
            </a:r>
            <a:r>
              <a:rPr lang="fr-FR" sz="1200" dirty="0" err="1"/>
              <a:t>kullanmanın</a:t>
            </a:r>
            <a:r>
              <a:rPr lang="fr-FR" sz="1200" dirty="0"/>
              <a:t> </a:t>
            </a:r>
            <a:r>
              <a:rPr lang="fr-FR" sz="1200" dirty="0" err="1"/>
              <a:t>derecesi</a:t>
            </a:r>
            <a:r>
              <a:rPr lang="fr-FR" sz="1200" dirty="0"/>
              <a:t> ile </a:t>
            </a:r>
            <a:r>
              <a:rPr lang="fr-FR" sz="1200" dirty="0" err="1"/>
              <a:t>kullanılacak</a:t>
            </a:r>
            <a:r>
              <a:rPr lang="fr-FR" sz="1200" dirty="0"/>
              <a:t> </a:t>
            </a:r>
            <a:r>
              <a:rPr lang="fr-FR" sz="1200" dirty="0" err="1"/>
              <a:t>araç</a:t>
            </a:r>
            <a:r>
              <a:rPr lang="fr-FR" sz="1200" dirty="0"/>
              <a:t> ve </a:t>
            </a:r>
            <a:r>
              <a:rPr lang="fr-FR" sz="1200" dirty="0" err="1"/>
              <a:t>gereçler</a:t>
            </a:r>
            <a:r>
              <a:rPr lang="fr-FR" sz="1200" dirty="0"/>
              <a:t> </a:t>
            </a:r>
            <a:r>
              <a:rPr lang="fr-FR" sz="1200" dirty="0" err="1"/>
              <a:t>müdahale</a:t>
            </a:r>
            <a:r>
              <a:rPr lang="fr-FR" sz="1200" dirty="0"/>
              <a:t> </a:t>
            </a:r>
            <a:r>
              <a:rPr lang="fr-FR" sz="1200" dirty="0" err="1"/>
              <a:t>eden</a:t>
            </a:r>
            <a:r>
              <a:rPr lang="fr-FR" sz="1200" dirty="0"/>
              <a:t> kuvvetin </a:t>
            </a:r>
            <a:r>
              <a:rPr lang="fr-FR" sz="1200" dirty="0" err="1"/>
              <a:t>amiri</a:t>
            </a:r>
            <a:r>
              <a:rPr lang="fr-FR" sz="1200" dirty="0"/>
              <a:t> </a:t>
            </a:r>
            <a:r>
              <a:rPr lang="fr-FR" sz="1200" dirty="0" err="1"/>
              <a:t>tarafından</a:t>
            </a:r>
            <a:r>
              <a:rPr lang="fr-FR" sz="1200" dirty="0"/>
              <a:t> </a:t>
            </a:r>
            <a:r>
              <a:rPr lang="fr-FR" sz="1200" dirty="0" err="1"/>
              <a:t>tayin</a:t>
            </a:r>
            <a:r>
              <a:rPr lang="fr-FR" sz="1200" dirty="0"/>
              <a:t> ve </a:t>
            </a:r>
            <a:r>
              <a:rPr lang="fr-FR" sz="1200" dirty="0" err="1"/>
              <a:t>tespit</a:t>
            </a:r>
            <a:r>
              <a:rPr lang="fr-FR" sz="1200" dirty="0"/>
              <a:t> </a:t>
            </a:r>
            <a:r>
              <a:rPr lang="fr-FR" sz="1200" dirty="0" err="1" smtClean="0"/>
              <a:t>edilir</a:t>
            </a:r>
            <a:r>
              <a:rPr lang="tr-TR" sz="1200" dirty="0" smtClean="0"/>
              <a:t>.</a:t>
            </a:r>
          </a:p>
          <a:p>
            <a:pPr algn="just"/>
            <a:r>
              <a:rPr lang="tr-TR" sz="1200" dirty="0"/>
              <a:t> </a:t>
            </a:r>
            <a:r>
              <a:rPr lang="tr-TR" sz="1200" dirty="0" smtClean="0"/>
              <a:t>                ….</a:t>
            </a:r>
          </a:p>
        </p:txBody>
      </p:sp>
      <p:sp>
        <p:nvSpPr>
          <p:cNvPr id="8"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46</a:t>
            </a:fld>
            <a:r>
              <a:rPr lang="tr-TR"/>
              <a:t>/116</a:t>
            </a:r>
          </a:p>
        </p:txBody>
      </p:sp>
    </p:spTree>
    <p:extLst>
      <p:ext uri="{BB962C8B-B14F-4D97-AF65-F5344CB8AC3E}">
        <p14:creationId xmlns:p14="http://schemas.microsoft.com/office/powerpoint/2010/main" val="149181129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10" name="Alt Başlık 2"/>
          <p:cNvSpPr txBox="1">
            <a:spLocks/>
          </p:cNvSpPr>
          <p:nvPr/>
        </p:nvSpPr>
        <p:spPr>
          <a:xfrm>
            <a:off x="180976" y="6008274"/>
            <a:ext cx="2609850" cy="6827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800" b="1" dirty="0">
                <a:effectLst>
                  <a:outerShdw blurRad="38100" dist="38100" dir="2700000" algn="tl">
                    <a:srgbClr val="000000">
                      <a:alpha val="43137"/>
                    </a:srgbClr>
                  </a:outerShdw>
                </a:effectLst>
              </a:rPr>
              <a:t>Hukuka Uygunluk Nedenleri</a:t>
            </a:r>
            <a:endParaRPr lang="tr-TR" sz="800" dirty="0" smtClean="0"/>
          </a:p>
          <a:p>
            <a:pPr marL="285750" indent="-285750" algn="l">
              <a:spcBef>
                <a:spcPts val="0"/>
              </a:spcBef>
              <a:buFont typeface="Arial" panose="020B0604020202020204" pitchFamily="34" charset="0"/>
              <a:buChar char="•"/>
            </a:pPr>
            <a:r>
              <a:rPr lang="tr-TR" sz="800" u="sng" dirty="0" smtClean="0">
                <a:effectLst>
                  <a:outerShdw blurRad="38100" dist="38100" dir="2700000" algn="tl">
                    <a:srgbClr val="000000">
                      <a:alpha val="43137"/>
                    </a:srgbClr>
                  </a:outerShdw>
                </a:effectLst>
              </a:rPr>
              <a:t>Kanunun Hükmünü Yerine Getirme (Görevin İfası)</a:t>
            </a:r>
          </a:p>
          <a:p>
            <a:pPr marL="285750" indent="-285750" algn="l">
              <a:spcBef>
                <a:spcPts val="0"/>
              </a:spcBef>
              <a:buFont typeface="Arial" panose="020B0604020202020204" pitchFamily="34" charset="0"/>
              <a:buChar char="•"/>
            </a:pPr>
            <a:r>
              <a:rPr lang="tr-TR" sz="800" dirty="0" smtClean="0"/>
              <a:t>Meşru Savunma</a:t>
            </a:r>
          </a:p>
          <a:p>
            <a:pPr marL="285750" indent="-285750" algn="l">
              <a:spcBef>
                <a:spcPts val="0"/>
              </a:spcBef>
              <a:buFont typeface="Arial" panose="020B0604020202020204" pitchFamily="34" charset="0"/>
              <a:buChar char="•"/>
            </a:pPr>
            <a:r>
              <a:rPr lang="tr-TR" sz="800" dirty="0"/>
              <a:t>Hakkın Kullanılması</a:t>
            </a:r>
          </a:p>
          <a:p>
            <a:pPr marL="285750" indent="-285750" algn="l">
              <a:spcBef>
                <a:spcPts val="0"/>
              </a:spcBef>
              <a:buFont typeface="Arial" panose="020B0604020202020204" pitchFamily="34" charset="0"/>
              <a:buChar char="•"/>
            </a:pPr>
            <a:r>
              <a:rPr lang="tr-TR" sz="800" dirty="0" smtClean="0"/>
              <a:t>İlgilinin </a:t>
            </a:r>
            <a:r>
              <a:rPr lang="tr-TR" sz="800" dirty="0"/>
              <a:t>Rızası</a:t>
            </a:r>
          </a:p>
        </p:txBody>
      </p:sp>
      <p:sp>
        <p:nvSpPr>
          <p:cNvPr id="15" name="Alt Başlık 2"/>
          <p:cNvSpPr txBox="1">
            <a:spLocks/>
          </p:cNvSpPr>
          <p:nvPr/>
        </p:nvSpPr>
        <p:spPr>
          <a:xfrm>
            <a:off x="1975530" y="3241449"/>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1800" dirty="0" smtClean="0"/>
              <a:t>	</a:t>
            </a:r>
            <a:endParaRPr lang="tr-TR" sz="1800" dirty="0"/>
          </a:p>
        </p:txBody>
      </p:sp>
      <p:sp>
        <p:nvSpPr>
          <p:cNvPr id="11" name="Alt Başlık 2"/>
          <p:cNvSpPr txBox="1">
            <a:spLocks/>
          </p:cNvSpPr>
          <p:nvPr/>
        </p:nvSpPr>
        <p:spPr>
          <a:xfrm>
            <a:off x="1682883" y="2370403"/>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r>
              <a:rPr lang="tr-TR" sz="2000" dirty="0" smtClean="0">
                <a:effectLst>
                  <a:outerShdw blurRad="38100" dist="38100" dir="2700000" algn="tl">
                    <a:srgbClr val="000000">
                      <a:alpha val="43137"/>
                    </a:srgbClr>
                  </a:outerShdw>
                </a:effectLst>
              </a:rPr>
              <a:t>Kanunun Hükmünü Yerine Getirme (Görevin İfası) 	</a:t>
            </a:r>
            <a:endParaRPr lang="tr-TR" sz="2000" dirty="0">
              <a:effectLst>
                <a:outerShdw blurRad="38100" dist="38100" dir="2700000" algn="tl">
                  <a:srgbClr val="000000">
                    <a:alpha val="43137"/>
                  </a:srgbClr>
                </a:outerShdw>
              </a:effectLst>
            </a:endParaRPr>
          </a:p>
        </p:txBody>
      </p:sp>
      <p:sp>
        <p:nvSpPr>
          <p:cNvPr id="6" name="Dikdörtgen 5"/>
          <p:cNvSpPr/>
          <p:nvPr/>
        </p:nvSpPr>
        <p:spPr>
          <a:xfrm>
            <a:off x="2746270" y="2616488"/>
            <a:ext cx="8881622" cy="3970318"/>
          </a:xfrm>
          <a:prstGeom prst="rect">
            <a:avLst/>
          </a:prstGeom>
        </p:spPr>
        <p:txBody>
          <a:bodyPr wrap="square">
            <a:spAutoFit/>
          </a:bodyPr>
          <a:lstStyle/>
          <a:p>
            <a:pPr algn="just"/>
            <a:r>
              <a:rPr lang="tr-TR" sz="1200" b="1" dirty="0" smtClean="0"/>
              <a:t>2559 sayılı Polis Vazife ve Salahiyet Kanunu (PVSK)</a:t>
            </a:r>
          </a:p>
          <a:p>
            <a:pPr algn="just"/>
            <a:r>
              <a:rPr lang="tr-TR" sz="1200" b="1" dirty="0" smtClean="0"/>
              <a:t>Zor</a:t>
            </a:r>
            <a:r>
              <a:rPr lang="fr-FR" sz="1200" b="1" dirty="0" smtClean="0"/>
              <a:t> </a:t>
            </a:r>
            <a:r>
              <a:rPr lang="fr-FR" sz="1200" b="1" dirty="0"/>
              <a:t>ve silah </a:t>
            </a:r>
            <a:r>
              <a:rPr lang="fr-FR" sz="1200" b="1" dirty="0" smtClean="0"/>
              <a:t>kullanma</a:t>
            </a:r>
            <a:endParaRPr lang="tr-TR" sz="1200" b="1" dirty="0" smtClean="0"/>
          </a:p>
          <a:p>
            <a:pPr algn="just"/>
            <a:r>
              <a:rPr lang="fr-FR" sz="1200" b="1" dirty="0" smtClean="0"/>
              <a:t>Madde </a:t>
            </a:r>
            <a:r>
              <a:rPr lang="fr-FR" sz="1200" b="1" dirty="0"/>
              <a:t>16-</a:t>
            </a:r>
            <a:r>
              <a:rPr lang="fr-FR" sz="1200" dirty="0"/>
              <a:t> </a:t>
            </a:r>
            <a:r>
              <a:rPr lang="tr-TR" sz="1200" dirty="0" smtClean="0"/>
              <a:t>…..</a:t>
            </a:r>
            <a:r>
              <a:rPr lang="fr-FR" sz="1200" dirty="0" smtClean="0"/>
              <a:t>.</a:t>
            </a:r>
            <a:endParaRPr lang="tr-TR" sz="1200" dirty="0" smtClean="0"/>
          </a:p>
          <a:p>
            <a:pPr algn="just"/>
            <a:r>
              <a:rPr lang="tr-TR" sz="1200" dirty="0" smtClean="0"/>
              <a:t>                    </a:t>
            </a:r>
            <a:r>
              <a:rPr lang="fr-FR" sz="1200" dirty="0"/>
              <a:t>Polis, kendisine veya </a:t>
            </a:r>
            <a:r>
              <a:rPr lang="fr-FR" sz="1200" dirty="0" err="1"/>
              <a:t>başkasına</a:t>
            </a:r>
            <a:r>
              <a:rPr lang="fr-FR" sz="1200" dirty="0"/>
              <a:t> </a:t>
            </a:r>
            <a:r>
              <a:rPr lang="fr-FR" sz="1200" dirty="0" err="1"/>
              <a:t>yönelik</a:t>
            </a:r>
            <a:r>
              <a:rPr lang="fr-FR" sz="1200" dirty="0"/>
              <a:t> bir </a:t>
            </a:r>
            <a:r>
              <a:rPr lang="fr-FR" sz="1200" dirty="0" err="1"/>
              <a:t>saldırı</a:t>
            </a:r>
            <a:r>
              <a:rPr lang="fr-FR" sz="1200" dirty="0"/>
              <a:t> </a:t>
            </a:r>
            <a:r>
              <a:rPr lang="fr-FR" sz="1200" dirty="0" err="1"/>
              <a:t>karşısında</a:t>
            </a:r>
            <a:r>
              <a:rPr lang="fr-FR" sz="1200" dirty="0"/>
              <a:t>, zor kullanmaya </a:t>
            </a:r>
            <a:r>
              <a:rPr lang="fr-FR" sz="1200" dirty="0" err="1"/>
              <a:t>ilişkin</a:t>
            </a:r>
            <a:r>
              <a:rPr lang="fr-FR" sz="1200" dirty="0"/>
              <a:t> </a:t>
            </a:r>
            <a:r>
              <a:rPr lang="fr-FR" sz="1200" dirty="0" err="1"/>
              <a:t>koşullara</a:t>
            </a:r>
            <a:r>
              <a:rPr lang="fr-FR" sz="1200" dirty="0"/>
              <a:t> </a:t>
            </a:r>
            <a:r>
              <a:rPr lang="fr-FR" sz="1200" dirty="0" err="1"/>
              <a:t>bağlı</a:t>
            </a:r>
            <a:r>
              <a:rPr lang="fr-FR" sz="1200" dirty="0"/>
              <a:t> </a:t>
            </a:r>
            <a:r>
              <a:rPr lang="fr-FR" sz="1200" dirty="0" err="1"/>
              <a:t>kalmaksızın</a:t>
            </a:r>
            <a:r>
              <a:rPr lang="fr-FR" sz="1200" dirty="0"/>
              <a:t>, 5237 </a:t>
            </a:r>
            <a:r>
              <a:rPr lang="fr-FR" sz="1200" dirty="0" err="1"/>
              <a:t>sayılı</a:t>
            </a:r>
            <a:r>
              <a:rPr lang="fr-FR" sz="1200" dirty="0"/>
              <a:t> Türk </a:t>
            </a:r>
            <a:r>
              <a:rPr lang="fr-FR" sz="1200" dirty="0" err="1"/>
              <a:t>Ceza</a:t>
            </a:r>
            <a:r>
              <a:rPr lang="fr-FR" sz="1200" dirty="0"/>
              <a:t> </a:t>
            </a:r>
            <a:r>
              <a:rPr lang="fr-FR" sz="1200" dirty="0" err="1"/>
              <a:t>Kanununun</a:t>
            </a:r>
            <a:r>
              <a:rPr lang="fr-FR" sz="1200" dirty="0"/>
              <a:t> meşru </a:t>
            </a:r>
            <a:r>
              <a:rPr lang="fr-FR" sz="1200" dirty="0" err="1"/>
              <a:t>savunmaya</a:t>
            </a:r>
            <a:r>
              <a:rPr lang="fr-FR" sz="1200" dirty="0"/>
              <a:t> </a:t>
            </a:r>
            <a:r>
              <a:rPr lang="fr-FR" sz="1200" dirty="0" err="1"/>
              <a:t>ilişkin</a:t>
            </a:r>
            <a:r>
              <a:rPr lang="fr-FR" sz="1200" dirty="0"/>
              <a:t> </a:t>
            </a:r>
            <a:r>
              <a:rPr lang="fr-FR" sz="1200" dirty="0" err="1"/>
              <a:t>hükümleri</a:t>
            </a:r>
            <a:r>
              <a:rPr lang="fr-FR" sz="1200" dirty="0"/>
              <a:t> çerçevesinde savunmada </a:t>
            </a:r>
            <a:r>
              <a:rPr lang="fr-FR" sz="1200" dirty="0" err="1"/>
              <a:t>bulunur</a:t>
            </a:r>
            <a:r>
              <a:rPr lang="fr-FR" sz="1200" dirty="0"/>
              <a:t>.</a:t>
            </a:r>
          </a:p>
          <a:p>
            <a:pPr algn="just"/>
            <a:r>
              <a:rPr lang="tr-TR" sz="1200" dirty="0" smtClean="0"/>
              <a:t>                    </a:t>
            </a:r>
            <a:r>
              <a:rPr lang="fr-FR" sz="1200" dirty="0" smtClean="0"/>
              <a:t>Polis</a:t>
            </a:r>
            <a:r>
              <a:rPr lang="fr-FR" sz="1200" dirty="0"/>
              <a:t>;</a:t>
            </a:r>
          </a:p>
          <a:p>
            <a:pPr algn="just"/>
            <a:r>
              <a:rPr lang="tr-TR" sz="1200" dirty="0" smtClean="0"/>
              <a:t>                    a) </a:t>
            </a:r>
            <a:r>
              <a:rPr lang="fr-FR" sz="1200" dirty="0" smtClean="0"/>
              <a:t>Meşru </a:t>
            </a:r>
            <a:r>
              <a:rPr lang="fr-FR" sz="1200" dirty="0" err="1"/>
              <a:t>savunma</a:t>
            </a:r>
            <a:r>
              <a:rPr lang="fr-FR" sz="1200" dirty="0"/>
              <a:t> </a:t>
            </a:r>
            <a:r>
              <a:rPr lang="fr-FR" sz="1200" dirty="0" err="1"/>
              <a:t>hakkının</a:t>
            </a:r>
            <a:r>
              <a:rPr lang="fr-FR" sz="1200" dirty="0"/>
              <a:t> </a:t>
            </a:r>
            <a:r>
              <a:rPr lang="fr-FR" sz="1200" dirty="0" err="1"/>
              <a:t>kullanılması</a:t>
            </a:r>
            <a:r>
              <a:rPr lang="fr-FR" sz="1200" dirty="0"/>
              <a:t> kapsamında,</a:t>
            </a:r>
          </a:p>
          <a:p>
            <a:pPr algn="just"/>
            <a:r>
              <a:rPr lang="tr-TR" sz="1200" dirty="0" smtClean="0"/>
              <a:t>                    b) </a:t>
            </a:r>
            <a:r>
              <a:rPr lang="fr-FR" sz="1200" dirty="0" smtClean="0"/>
              <a:t>Bedenî </a:t>
            </a:r>
            <a:r>
              <a:rPr lang="fr-FR" sz="1200" dirty="0"/>
              <a:t>kuvvet ve maddî güç </a:t>
            </a:r>
            <a:r>
              <a:rPr lang="fr-FR" sz="1200" dirty="0" err="1"/>
              <a:t>kullanarak</a:t>
            </a:r>
            <a:r>
              <a:rPr lang="fr-FR" sz="1200" dirty="0"/>
              <a:t> etkisiz hale </a:t>
            </a:r>
            <a:r>
              <a:rPr lang="fr-FR" sz="1200" dirty="0" err="1"/>
              <a:t>getiremediği</a:t>
            </a:r>
            <a:r>
              <a:rPr lang="fr-FR" sz="1200" dirty="0"/>
              <a:t> </a:t>
            </a:r>
            <a:r>
              <a:rPr lang="fr-FR" sz="1200" dirty="0" err="1"/>
              <a:t>direniş</a:t>
            </a:r>
            <a:r>
              <a:rPr lang="fr-FR" sz="1200" dirty="0"/>
              <a:t> </a:t>
            </a:r>
            <a:r>
              <a:rPr lang="fr-FR" sz="1200" dirty="0" err="1"/>
              <a:t>karşısında</a:t>
            </a:r>
            <a:r>
              <a:rPr lang="fr-FR" sz="1200" dirty="0"/>
              <a:t>, bu direnişi kırmak amacıyla ve kıracak </a:t>
            </a:r>
            <a:r>
              <a:rPr lang="fr-FR" sz="1200" dirty="0" smtClean="0"/>
              <a:t>ölçüde,</a:t>
            </a:r>
            <a:endParaRPr lang="tr-TR" sz="1200" dirty="0" smtClean="0"/>
          </a:p>
          <a:p>
            <a:pPr algn="just"/>
            <a:r>
              <a:rPr lang="tr-TR" sz="1200" dirty="0" smtClean="0"/>
              <a:t>                   c) </a:t>
            </a:r>
            <a:r>
              <a:rPr lang="fr-FR" sz="1200" dirty="0" err="1" smtClean="0"/>
              <a:t>Hakkında</a:t>
            </a:r>
            <a:r>
              <a:rPr lang="fr-FR" sz="1200" dirty="0" smtClean="0"/>
              <a:t> </a:t>
            </a:r>
            <a:r>
              <a:rPr lang="fr-FR" sz="1200" dirty="0" err="1"/>
              <a:t>tutuklama</a:t>
            </a:r>
            <a:r>
              <a:rPr lang="fr-FR" sz="1200" dirty="0"/>
              <a:t>, </a:t>
            </a:r>
            <a:r>
              <a:rPr lang="fr-FR" sz="1200" dirty="0" err="1"/>
              <a:t>gözaltına</a:t>
            </a:r>
            <a:r>
              <a:rPr lang="fr-FR" sz="1200" dirty="0"/>
              <a:t> alma, </a:t>
            </a:r>
            <a:r>
              <a:rPr lang="fr-FR" sz="1200" dirty="0" err="1"/>
              <a:t>zorla</a:t>
            </a:r>
            <a:r>
              <a:rPr lang="fr-FR" sz="1200" dirty="0"/>
              <a:t> </a:t>
            </a:r>
            <a:r>
              <a:rPr lang="fr-FR" sz="1200" dirty="0" err="1"/>
              <a:t>getirme</a:t>
            </a:r>
            <a:r>
              <a:rPr lang="fr-FR" sz="1200" dirty="0"/>
              <a:t> </a:t>
            </a:r>
            <a:r>
              <a:rPr lang="fr-FR" sz="1200" dirty="0" err="1"/>
              <a:t>kararı</a:t>
            </a:r>
            <a:r>
              <a:rPr lang="fr-FR" sz="1200" dirty="0"/>
              <a:t> veya </a:t>
            </a:r>
            <a:r>
              <a:rPr lang="fr-FR" sz="1200" dirty="0" err="1"/>
              <a:t>yakalama</a:t>
            </a:r>
            <a:r>
              <a:rPr lang="fr-FR" sz="1200" dirty="0"/>
              <a:t> </a:t>
            </a:r>
            <a:r>
              <a:rPr lang="fr-FR" sz="1200" dirty="0" err="1"/>
              <a:t>emri</a:t>
            </a:r>
            <a:r>
              <a:rPr lang="fr-FR" sz="1200" dirty="0"/>
              <a:t> </a:t>
            </a:r>
            <a:r>
              <a:rPr lang="fr-FR" sz="1200" dirty="0" err="1"/>
              <a:t>verilmiş</a:t>
            </a:r>
            <a:r>
              <a:rPr lang="fr-FR" sz="1200" dirty="0"/>
              <a:t> olan </a:t>
            </a:r>
            <a:r>
              <a:rPr lang="fr-FR" sz="1200" dirty="0" err="1"/>
              <a:t>kişilerin</a:t>
            </a:r>
            <a:r>
              <a:rPr lang="fr-FR" sz="1200" dirty="0"/>
              <a:t> </a:t>
            </a:r>
            <a:r>
              <a:rPr lang="fr-FR" sz="1200" dirty="0" err="1"/>
              <a:t>ya</a:t>
            </a:r>
            <a:r>
              <a:rPr lang="fr-FR" sz="1200" dirty="0"/>
              <a:t> da </a:t>
            </a:r>
            <a:r>
              <a:rPr lang="fr-FR" sz="1200" dirty="0" err="1"/>
              <a:t>suçüstü</a:t>
            </a:r>
            <a:r>
              <a:rPr lang="fr-FR" sz="1200" dirty="0"/>
              <a:t> halinde </a:t>
            </a:r>
            <a:r>
              <a:rPr lang="fr-FR" sz="1200" dirty="0" err="1"/>
              <a:t>şüphelinin</a:t>
            </a:r>
            <a:r>
              <a:rPr lang="fr-FR" sz="1200" dirty="0"/>
              <a:t> </a:t>
            </a:r>
            <a:r>
              <a:rPr lang="fr-FR" sz="1200" dirty="0" err="1"/>
              <a:t>yakalanmasını</a:t>
            </a:r>
            <a:r>
              <a:rPr lang="fr-FR" sz="1200" dirty="0"/>
              <a:t> </a:t>
            </a:r>
            <a:r>
              <a:rPr lang="fr-FR" sz="1200" dirty="0" err="1"/>
              <a:t>sağlamak</a:t>
            </a:r>
            <a:r>
              <a:rPr lang="fr-FR" sz="1200" dirty="0"/>
              <a:t> amacıyla ve </a:t>
            </a:r>
            <a:r>
              <a:rPr lang="fr-FR" sz="1200" dirty="0" err="1"/>
              <a:t>sağlayacak</a:t>
            </a:r>
            <a:r>
              <a:rPr lang="fr-FR" sz="1200" dirty="0"/>
              <a:t> ölçüde</a:t>
            </a:r>
            <a:r>
              <a:rPr lang="fr-FR" sz="1200" dirty="0" smtClean="0"/>
              <a:t>,</a:t>
            </a:r>
            <a:endParaRPr lang="fr-FR" sz="1200" dirty="0"/>
          </a:p>
          <a:p>
            <a:pPr algn="just"/>
            <a:r>
              <a:rPr lang="tr-TR" sz="1200" dirty="0" smtClean="0"/>
              <a:t>                  d) </a:t>
            </a:r>
            <a:r>
              <a:rPr lang="fr-FR" sz="1200" dirty="0" smtClean="0"/>
              <a:t>Kendisine </a:t>
            </a:r>
            <a:r>
              <a:rPr lang="fr-FR" sz="1200" dirty="0"/>
              <a:t>veya </a:t>
            </a:r>
            <a:r>
              <a:rPr lang="fr-FR" sz="1200" dirty="0" err="1"/>
              <a:t>başkalarına</a:t>
            </a:r>
            <a:r>
              <a:rPr lang="fr-FR" sz="1200" dirty="0"/>
              <a:t>, </a:t>
            </a:r>
            <a:r>
              <a:rPr lang="fr-FR" sz="1200" dirty="0" err="1"/>
              <a:t>işyerlerine</a:t>
            </a:r>
            <a:r>
              <a:rPr lang="fr-FR" sz="1200" dirty="0"/>
              <a:t>, </a:t>
            </a:r>
            <a:r>
              <a:rPr lang="fr-FR" sz="1200" dirty="0" err="1"/>
              <a:t>konutlara</a:t>
            </a:r>
            <a:r>
              <a:rPr lang="fr-FR" sz="1200" dirty="0"/>
              <a:t>, </a:t>
            </a:r>
            <a:r>
              <a:rPr lang="fr-FR" sz="1200" dirty="0" err="1"/>
              <a:t>kamu</a:t>
            </a:r>
            <a:r>
              <a:rPr lang="fr-FR" sz="1200" dirty="0"/>
              <a:t> </a:t>
            </a:r>
            <a:r>
              <a:rPr lang="fr-FR" sz="1200" dirty="0" err="1"/>
              <a:t>binalarına</a:t>
            </a:r>
            <a:r>
              <a:rPr lang="fr-FR" sz="1200" dirty="0"/>
              <a:t>, </a:t>
            </a:r>
            <a:r>
              <a:rPr lang="fr-FR" sz="1200" dirty="0" err="1"/>
              <a:t>okullara</a:t>
            </a:r>
            <a:r>
              <a:rPr lang="fr-FR" sz="1200" dirty="0"/>
              <a:t>, </a:t>
            </a:r>
            <a:r>
              <a:rPr lang="fr-FR" sz="1200" dirty="0" err="1"/>
              <a:t>yurtlara</a:t>
            </a:r>
            <a:r>
              <a:rPr lang="fr-FR" sz="1200" dirty="0"/>
              <a:t>, </a:t>
            </a:r>
            <a:r>
              <a:rPr lang="fr-FR" sz="1200" dirty="0" err="1"/>
              <a:t>ibadethanelere</a:t>
            </a:r>
            <a:r>
              <a:rPr lang="fr-FR" sz="1200" dirty="0"/>
              <a:t>, </a:t>
            </a:r>
            <a:r>
              <a:rPr lang="fr-FR" sz="1200" dirty="0" err="1"/>
              <a:t>araçlara</a:t>
            </a:r>
            <a:r>
              <a:rPr lang="fr-FR" sz="1200" dirty="0"/>
              <a:t> ve </a:t>
            </a:r>
            <a:r>
              <a:rPr lang="fr-FR" sz="1200" dirty="0" err="1"/>
              <a:t>kişilerin</a:t>
            </a:r>
            <a:r>
              <a:rPr lang="fr-FR" sz="1200" dirty="0"/>
              <a:t> tek </a:t>
            </a:r>
            <a:r>
              <a:rPr lang="fr-FR" sz="1200" dirty="0" err="1"/>
              <a:t>tek</a:t>
            </a:r>
            <a:r>
              <a:rPr lang="fr-FR" sz="1200" dirty="0"/>
              <a:t> veya </a:t>
            </a:r>
            <a:r>
              <a:rPr lang="fr-FR" sz="1200" dirty="0" err="1"/>
              <a:t>toplu</a:t>
            </a:r>
            <a:r>
              <a:rPr lang="fr-FR" sz="1200" dirty="0"/>
              <a:t> </a:t>
            </a:r>
            <a:r>
              <a:rPr lang="fr-FR" sz="1200" dirty="0" err="1"/>
              <a:t>halde</a:t>
            </a:r>
            <a:r>
              <a:rPr lang="fr-FR" sz="1200" dirty="0"/>
              <a:t> </a:t>
            </a:r>
            <a:r>
              <a:rPr lang="fr-FR" sz="1200" dirty="0" err="1"/>
              <a:t>bulunduğu</a:t>
            </a:r>
            <a:r>
              <a:rPr lang="fr-FR" sz="1200" dirty="0"/>
              <a:t> </a:t>
            </a:r>
            <a:r>
              <a:rPr lang="fr-FR" sz="1200" dirty="0" err="1"/>
              <a:t>açık</a:t>
            </a:r>
            <a:r>
              <a:rPr lang="fr-FR" sz="1200" dirty="0"/>
              <a:t> veya </a:t>
            </a:r>
            <a:r>
              <a:rPr lang="fr-FR" sz="1200" dirty="0" err="1"/>
              <a:t>kapalı</a:t>
            </a:r>
            <a:r>
              <a:rPr lang="fr-FR" sz="1200" dirty="0"/>
              <a:t> </a:t>
            </a:r>
            <a:r>
              <a:rPr lang="fr-FR" sz="1200" dirty="0" err="1"/>
              <a:t>alanlara</a:t>
            </a:r>
            <a:r>
              <a:rPr lang="fr-FR" sz="1200" dirty="0"/>
              <a:t> </a:t>
            </a:r>
            <a:r>
              <a:rPr lang="fr-FR" sz="1200" dirty="0" err="1"/>
              <a:t>molotof</a:t>
            </a:r>
            <a:r>
              <a:rPr lang="fr-FR" sz="1200" dirty="0"/>
              <a:t>, </a:t>
            </a:r>
            <a:r>
              <a:rPr lang="fr-FR" sz="1200" dirty="0" err="1"/>
              <a:t>patlayıcı</a:t>
            </a:r>
            <a:r>
              <a:rPr lang="fr-FR" sz="1200" dirty="0"/>
              <a:t>, </a:t>
            </a:r>
            <a:r>
              <a:rPr lang="fr-FR" sz="1200" dirty="0" err="1"/>
              <a:t>yanıcı</a:t>
            </a:r>
            <a:r>
              <a:rPr lang="fr-FR" sz="1200" dirty="0"/>
              <a:t>, </a:t>
            </a:r>
            <a:r>
              <a:rPr lang="fr-FR" sz="1200" dirty="0" err="1"/>
              <a:t>yakıcı</a:t>
            </a:r>
            <a:r>
              <a:rPr lang="fr-FR" sz="1200" dirty="0"/>
              <a:t>, </a:t>
            </a:r>
            <a:r>
              <a:rPr lang="fr-FR" sz="1200" dirty="0" err="1"/>
              <a:t>boğucu</a:t>
            </a:r>
            <a:r>
              <a:rPr lang="fr-FR" sz="1200" dirty="0"/>
              <a:t>, </a:t>
            </a:r>
            <a:r>
              <a:rPr lang="fr-FR" sz="1200" dirty="0" err="1"/>
              <a:t>yaralayıcı</a:t>
            </a:r>
            <a:r>
              <a:rPr lang="fr-FR" sz="1200" dirty="0"/>
              <a:t> ve </a:t>
            </a:r>
            <a:r>
              <a:rPr lang="fr-FR" sz="1200" dirty="0" err="1"/>
              <a:t>benzeri</a:t>
            </a:r>
            <a:r>
              <a:rPr lang="fr-FR" sz="1200" dirty="0"/>
              <a:t> </a:t>
            </a:r>
            <a:r>
              <a:rPr lang="fr-FR" sz="1200" dirty="0" err="1"/>
              <a:t>silahlarla</a:t>
            </a:r>
            <a:r>
              <a:rPr lang="fr-FR" sz="1200" dirty="0"/>
              <a:t> </a:t>
            </a:r>
            <a:r>
              <a:rPr lang="fr-FR" sz="1200" dirty="0" err="1"/>
              <a:t>saldıran</a:t>
            </a:r>
            <a:r>
              <a:rPr lang="fr-FR" sz="1200" dirty="0"/>
              <a:t> veya </a:t>
            </a:r>
            <a:r>
              <a:rPr lang="fr-FR" sz="1200" dirty="0" err="1"/>
              <a:t>saldırıya</a:t>
            </a:r>
            <a:r>
              <a:rPr lang="fr-FR" sz="1200" dirty="0"/>
              <a:t> </a:t>
            </a:r>
            <a:r>
              <a:rPr lang="fr-FR" sz="1200" dirty="0" err="1"/>
              <a:t>teşebbüs</a:t>
            </a:r>
            <a:r>
              <a:rPr lang="fr-FR" sz="1200" dirty="0"/>
              <a:t> </a:t>
            </a:r>
            <a:r>
              <a:rPr lang="fr-FR" sz="1200" dirty="0" err="1"/>
              <a:t>edenlere</a:t>
            </a:r>
            <a:r>
              <a:rPr lang="fr-FR" sz="1200" dirty="0"/>
              <a:t> karşı, </a:t>
            </a:r>
            <a:r>
              <a:rPr lang="fr-FR" sz="1200" dirty="0" err="1"/>
              <a:t>saldırıyı</a:t>
            </a:r>
            <a:r>
              <a:rPr lang="fr-FR" sz="1200" dirty="0"/>
              <a:t> etkisiz </a:t>
            </a:r>
            <a:r>
              <a:rPr lang="fr-FR" sz="1200" dirty="0" err="1"/>
              <a:t>kılmak</a:t>
            </a:r>
            <a:r>
              <a:rPr lang="fr-FR" sz="1200" dirty="0"/>
              <a:t> amacıyla ve etkisiz </a:t>
            </a:r>
            <a:r>
              <a:rPr lang="fr-FR" sz="1200" dirty="0" err="1"/>
              <a:t>kılacak</a:t>
            </a:r>
            <a:r>
              <a:rPr lang="fr-FR" sz="1200" dirty="0"/>
              <a:t> ölçüde,</a:t>
            </a:r>
          </a:p>
          <a:p>
            <a:pPr indent="625475" algn="just"/>
            <a:r>
              <a:rPr lang="fr-FR" sz="1200" dirty="0"/>
              <a:t>Silah kullanmaya yetkilidir.</a:t>
            </a:r>
          </a:p>
          <a:p>
            <a:pPr indent="625475" algn="just"/>
            <a:r>
              <a:rPr lang="fr-FR" sz="1200" dirty="0"/>
              <a:t>Polis, </a:t>
            </a:r>
            <a:r>
              <a:rPr lang="fr-FR" sz="1200" dirty="0" err="1"/>
              <a:t>yedinci</a:t>
            </a:r>
            <a:r>
              <a:rPr lang="fr-FR" sz="1200" dirty="0"/>
              <a:t> </a:t>
            </a:r>
            <a:r>
              <a:rPr lang="fr-FR" sz="1200" dirty="0" err="1"/>
              <a:t>fıkranın</a:t>
            </a:r>
            <a:r>
              <a:rPr lang="fr-FR" sz="1200" dirty="0"/>
              <a:t> (c) </a:t>
            </a:r>
            <a:r>
              <a:rPr lang="fr-FR" sz="1200" dirty="0" err="1"/>
              <a:t>bendi</a:t>
            </a:r>
            <a:r>
              <a:rPr lang="fr-FR" sz="1200" dirty="0"/>
              <a:t> kapsamında silah kullanmadan önce </a:t>
            </a:r>
            <a:r>
              <a:rPr lang="fr-FR" sz="1200" dirty="0" err="1"/>
              <a:t>kişiye</a:t>
            </a:r>
            <a:r>
              <a:rPr lang="fr-FR" sz="1200" dirty="0"/>
              <a:t> </a:t>
            </a:r>
            <a:r>
              <a:rPr lang="fr-FR" sz="1200" dirty="0" err="1"/>
              <a:t>duyabileceği</a:t>
            </a:r>
            <a:r>
              <a:rPr lang="fr-FR" sz="1200" dirty="0"/>
              <a:t> şekilde "dur" </a:t>
            </a:r>
            <a:r>
              <a:rPr lang="fr-FR" sz="1200" dirty="0" err="1"/>
              <a:t>çağrısında</a:t>
            </a:r>
            <a:r>
              <a:rPr lang="fr-FR" sz="1200" dirty="0"/>
              <a:t> </a:t>
            </a:r>
            <a:r>
              <a:rPr lang="fr-FR" sz="1200" dirty="0" err="1"/>
              <a:t>bulunur</a:t>
            </a:r>
            <a:r>
              <a:rPr lang="fr-FR" sz="1200" dirty="0"/>
              <a:t>. </a:t>
            </a:r>
            <a:r>
              <a:rPr lang="fr-FR" sz="1200" dirty="0" err="1"/>
              <a:t>Kişinin</a:t>
            </a:r>
            <a:r>
              <a:rPr lang="fr-FR" sz="1200" dirty="0"/>
              <a:t> bu </a:t>
            </a:r>
            <a:r>
              <a:rPr lang="fr-FR" sz="1200" dirty="0" err="1"/>
              <a:t>çağrıya</a:t>
            </a:r>
            <a:r>
              <a:rPr lang="fr-FR" sz="1200" dirty="0"/>
              <a:t> </a:t>
            </a:r>
            <a:r>
              <a:rPr lang="fr-FR" sz="1200" dirty="0" err="1"/>
              <a:t>uymayarak</a:t>
            </a:r>
            <a:r>
              <a:rPr lang="fr-FR" sz="1200" dirty="0"/>
              <a:t> </a:t>
            </a:r>
            <a:r>
              <a:rPr lang="fr-FR" sz="1200" dirty="0" err="1"/>
              <a:t>kaçmaya</a:t>
            </a:r>
            <a:r>
              <a:rPr lang="fr-FR" sz="1200" dirty="0"/>
              <a:t> </a:t>
            </a:r>
            <a:r>
              <a:rPr lang="fr-FR" sz="1200" dirty="0" err="1"/>
              <a:t>devam</a:t>
            </a:r>
            <a:r>
              <a:rPr lang="fr-FR" sz="1200" dirty="0"/>
              <a:t> </a:t>
            </a:r>
            <a:r>
              <a:rPr lang="fr-FR" sz="1200" dirty="0" err="1"/>
              <a:t>etmesi</a:t>
            </a:r>
            <a:r>
              <a:rPr lang="fr-FR" sz="1200" dirty="0"/>
              <a:t> halinde, önce </a:t>
            </a:r>
            <a:r>
              <a:rPr lang="fr-FR" sz="1200" dirty="0" err="1"/>
              <a:t>uyarı</a:t>
            </a:r>
            <a:r>
              <a:rPr lang="fr-FR" sz="1200" dirty="0"/>
              <a:t> amacıyla </a:t>
            </a:r>
            <a:r>
              <a:rPr lang="fr-FR" sz="1200" dirty="0" err="1"/>
              <a:t>silahla</a:t>
            </a:r>
            <a:r>
              <a:rPr lang="fr-FR" sz="1200" dirty="0"/>
              <a:t> ateş </a:t>
            </a:r>
            <a:r>
              <a:rPr lang="fr-FR" sz="1200" dirty="0" err="1"/>
              <a:t>edilebilir</a:t>
            </a:r>
            <a:r>
              <a:rPr lang="fr-FR" sz="1200" dirty="0"/>
              <a:t>. Buna </a:t>
            </a:r>
            <a:r>
              <a:rPr lang="fr-FR" sz="1200" dirty="0" err="1"/>
              <a:t>rağmen</a:t>
            </a:r>
            <a:r>
              <a:rPr lang="fr-FR" sz="1200" dirty="0"/>
              <a:t> </a:t>
            </a:r>
            <a:r>
              <a:rPr lang="fr-FR" sz="1200" dirty="0" err="1"/>
              <a:t>kaçmakta</a:t>
            </a:r>
            <a:r>
              <a:rPr lang="fr-FR" sz="1200" dirty="0"/>
              <a:t> </a:t>
            </a:r>
            <a:r>
              <a:rPr lang="fr-FR" sz="1200" dirty="0" err="1"/>
              <a:t>ısrar</a:t>
            </a:r>
            <a:r>
              <a:rPr lang="fr-FR" sz="1200" dirty="0"/>
              <a:t> </a:t>
            </a:r>
            <a:r>
              <a:rPr lang="fr-FR" sz="1200" dirty="0" err="1"/>
              <a:t>etmesi</a:t>
            </a:r>
            <a:r>
              <a:rPr lang="fr-FR" sz="1200" dirty="0"/>
              <a:t> </a:t>
            </a:r>
            <a:r>
              <a:rPr lang="fr-FR" sz="1200" dirty="0" err="1"/>
              <a:t>dolayısıyla</a:t>
            </a:r>
            <a:r>
              <a:rPr lang="fr-FR" sz="1200" dirty="0"/>
              <a:t> </a:t>
            </a:r>
            <a:r>
              <a:rPr lang="fr-FR" sz="1200" dirty="0" err="1"/>
              <a:t>ele</a:t>
            </a:r>
            <a:r>
              <a:rPr lang="fr-FR" sz="1200" dirty="0"/>
              <a:t> </a:t>
            </a:r>
            <a:r>
              <a:rPr lang="fr-FR" sz="1200" dirty="0" err="1"/>
              <a:t>geçirilmesinin</a:t>
            </a:r>
            <a:r>
              <a:rPr lang="fr-FR" sz="1200" dirty="0"/>
              <a:t> </a:t>
            </a:r>
            <a:r>
              <a:rPr lang="fr-FR" sz="1200" dirty="0" err="1"/>
              <a:t>mümkün</a:t>
            </a:r>
            <a:r>
              <a:rPr lang="fr-FR" sz="1200" dirty="0"/>
              <a:t> </a:t>
            </a:r>
            <a:r>
              <a:rPr lang="fr-FR" sz="1200" dirty="0" err="1"/>
              <a:t>olmaması</a:t>
            </a:r>
            <a:r>
              <a:rPr lang="fr-FR" sz="1200" dirty="0"/>
              <a:t> halinde </a:t>
            </a:r>
            <a:r>
              <a:rPr lang="fr-FR" sz="1200" dirty="0" err="1"/>
              <a:t>ise</a:t>
            </a:r>
            <a:r>
              <a:rPr lang="fr-FR" sz="1200" dirty="0"/>
              <a:t> </a:t>
            </a:r>
            <a:r>
              <a:rPr lang="fr-FR" sz="1200" dirty="0" err="1"/>
              <a:t>kişinin</a:t>
            </a:r>
            <a:r>
              <a:rPr lang="fr-FR" sz="1200" dirty="0"/>
              <a:t> </a:t>
            </a:r>
            <a:r>
              <a:rPr lang="fr-FR" sz="1200" dirty="0" err="1"/>
              <a:t>yakalanmasını</a:t>
            </a:r>
            <a:r>
              <a:rPr lang="fr-FR" sz="1200" dirty="0"/>
              <a:t> </a:t>
            </a:r>
            <a:r>
              <a:rPr lang="fr-FR" sz="1200" dirty="0" err="1"/>
              <a:t>sağlamak</a:t>
            </a:r>
            <a:r>
              <a:rPr lang="fr-FR" sz="1200" dirty="0"/>
              <a:t> amacıyla ve </a:t>
            </a:r>
            <a:r>
              <a:rPr lang="fr-FR" sz="1200" dirty="0" err="1"/>
              <a:t>sağlayacak</a:t>
            </a:r>
            <a:r>
              <a:rPr lang="fr-FR" sz="1200" dirty="0"/>
              <a:t> ölçüde </a:t>
            </a:r>
            <a:r>
              <a:rPr lang="fr-FR" sz="1200" dirty="0" err="1"/>
              <a:t>silahla</a:t>
            </a:r>
            <a:r>
              <a:rPr lang="fr-FR" sz="1200" dirty="0"/>
              <a:t> ateş </a:t>
            </a:r>
            <a:r>
              <a:rPr lang="fr-FR" sz="1200" dirty="0" err="1"/>
              <a:t>edilebilir</a:t>
            </a:r>
            <a:r>
              <a:rPr lang="fr-FR" sz="1200" dirty="0"/>
              <a:t>.</a:t>
            </a:r>
          </a:p>
          <a:p>
            <a:pPr indent="630238" algn="just"/>
            <a:r>
              <a:rPr lang="fr-FR" sz="1200" dirty="0"/>
              <a:t>Polis, direnişi kırmak </a:t>
            </a:r>
            <a:r>
              <a:rPr lang="fr-FR" sz="1200" dirty="0" err="1"/>
              <a:t>ya</a:t>
            </a:r>
            <a:r>
              <a:rPr lang="fr-FR" sz="1200" dirty="0"/>
              <a:t> da </a:t>
            </a:r>
            <a:r>
              <a:rPr lang="fr-FR" sz="1200" dirty="0" err="1"/>
              <a:t>yakalamak</a:t>
            </a:r>
            <a:r>
              <a:rPr lang="fr-FR" sz="1200" dirty="0"/>
              <a:t> amacıyla zor veya silah kullanma </a:t>
            </a:r>
            <a:r>
              <a:rPr lang="fr-FR" sz="1200" dirty="0" err="1"/>
              <a:t>yetkisini</a:t>
            </a:r>
            <a:r>
              <a:rPr lang="fr-FR" sz="1200" dirty="0"/>
              <a:t> </a:t>
            </a:r>
            <a:r>
              <a:rPr lang="fr-FR" sz="1200" dirty="0" err="1"/>
              <a:t>kullanırken</a:t>
            </a:r>
            <a:r>
              <a:rPr lang="fr-FR" sz="1200" dirty="0"/>
              <a:t>, kendisine karşı </a:t>
            </a:r>
            <a:r>
              <a:rPr lang="fr-FR" sz="1200" dirty="0" err="1"/>
              <a:t>silahla</a:t>
            </a:r>
            <a:r>
              <a:rPr lang="fr-FR" sz="1200" dirty="0"/>
              <a:t> </a:t>
            </a:r>
            <a:r>
              <a:rPr lang="fr-FR" sz="1200" dirty="0" err="1"/>
              <a:t>saldırıya</a:t>
            </a:r>
            <a:r>
              <a:rPr lang="fr-FR" sz="1200" dirty="0"/>
              <a:t> </a:t>
            </a:r>
            <a:r>
              <a:rPr lang="fr-FR" sz="1200" dirty="0" err="1"/>
              <a:t>teşebbüs</a:t>
            </a:r>
            <a:r>
              <a:rPr lang="fr-FR" sz="1200" dirty="0"/>
              <a:t> </a:t>
            </a:r>
            <a:r>
              <a:rPr lang="fr-FR" sz="1200" dirty="0" err="1"/>
              <a:t>edilmesi</a:t>
            </a:r>
            <a:r>
              <a:rPr lang="fr-FR" sz="1200" dirty="0"/>
              <a:t> halinde, </a:t>
            </a:r>
            <a:r>
              <a:rPr lang="fr-FR" sz="1200" dirty="0" err="1"/>
              <a:t>silahla</a:t>
            </a:r>
            <a:r>
              <a:rPr lang="fr-FR" sz="1200" dirty="0"/>
              <a:t> </a:t>
            </a:r>
            <a:r>
              <a:rPr lang="fr-FR" sz="1200" dirty="0" err="1"/>
              <a:t>saldırıya</a:t>
            </a:r>
            <a:r>
              <a:rPr lang="fr-FR" sz="1200" dirty="0"/>
              <a:t> </a:t>
            </a:r>
            <a:r>
              <a:rPr lang="fr-FR" sz="1200" dirty="0" err="1"/>
              <a:t>teşebbüs</a:t>
            </a:r>
            <a:r>
              <a:rPr lang="fr-FR" sz="1200" dirty="0"/>
              <a:t> </a:t>
            </a:r>
            <a:r>
              <a:rPr lang="fr-FR" sz="1200" dirty="0" err="1"/>
              <a:t>eden</a:t>
            </a:r>
            <a:r>
              <a:rPr lang="fr-FR" sz="1200" dirty="0"/>
              <a:t> </a:t>
            </a:r>
            <a:r>
              <a:rPr lang="fr-FR" sz="1200" dirty="0" err="1"/>
              <a:t>kişiye</a:t>
            </a:r>
            <a:r>
              <a:rPr lang="fr-FR" sz="1200" dirty="0"/>
              <a:t> karşı </a:t>
            </a:r>
            <a:r>
              <a:rPr lang="fr-FR" sz="1200" dirty="0" err="1"/>
              <a:t>saldırı</a:t>
            </a:r>
            <a:r>
              <a:rPr lang="fr-FR" sz="1200" dirty="0"/>
              <a:t> </a:t>
            </a:r>
            <a:r>
              <a:rPr lang="fr-FR" sz="1200" dirty="0" err="1"/>
              <a:t>tehlikesini</a:t>
            </a:r>
            <a:r>
              <a:rPr lang="fr-FR" sz="1200" dirty="0"/>
              <a:t> etkisiz </a:t>
            </a:r>
            <a:r>
              <a:rPr lang="fr-FR" sz="1200" dirty="0" err="1"/>
              <a:t>kılacak</a:t>
            </a:r>
            <a:r>
              <a:rPr lang="fr-FR" sz="1200" dirty="0"/>
              <a:t> ölçüde </a:t>
            </a:r>
            <a:r>
              <a:rPr lang="fr-FR" sz="1200" dirty="0" err="1"/>
              <a:t>duraksamadan</a:t>
            </a:r>
            <a:r>
              <a:rPr lang="fr-FR" sz="1200" dirty="0"/>
              <a:t> </a:t>
            </a:r>
            <a:r>
              <a:rPr lang="fr-FR" sz="1200" dirty="0" err="1"/>
              <a:t>silahla</a:t>
            </a:r>
            <a:r>
              <a:rPr lang="fr-FR" sz="1200" dirty="0"/>
              <a:t> ateş </a:t>
            </a:r>
            <a:r>
              <a:rPr lang="fr-FR" sz="1200" dirty="0" err="1" smtClean="0"/>
              <a:t>edebili</a:t>
            </a:r>
            <a:r>
              <a:rPr lang="tr-TR" sz="1200" dirty="0" smtClean="0"/>
              <a:t>r</a:t>
            </a:r>
            <a:endParaRPr lang="fr-FR" sz="1200" dirty="0"/>
          </a:p>
        </p:txBody>
      </p:sp>
      <p:sp>
        <p:nvSpPr>
          <p:cNvPr id="8"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47</a:t>
            </a:fld>
            <a:r>
              <a:rPr lang="tr-TR"/>
              <a:t>/116</a:t>
            </a:r>
          </a:p>
        </p:txBody>
      </p:sp>
    </p:spTree>
    <p:extLst>
      <p:ext uri="{BB962C8B-B14F-4D97-AF65-F5344CB8AC3E}">
        <p14:creationId xmlns:p14="http://schemas.microsoft.com/office/powerpoint/2010/main" val="108372298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10" name="Alt Başlık 2"/>
          <p:cNvSpPr txBox="1">
            <a:spLocks/>
          </p:cNvSpPr>
          <p:nvPr/>
        </p:nvSpPr>
        <p:spPr>
          <a:xfrm>
            <a:off x="180976" y="6008274"/>
            <a:ext cx="2609850" cy="6827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800" b="1" dirty="0">
                <a:effectLst>
                  <a:outerShdw blurRad="38100" dist="38100" dir="2700000" algn="tl">
                    <a:srgbClr val="000000">
                      <a:alpha val="43137"/>
                    </a:srgbClr>
                  </a:outerShdw>
                </a:effectLst>
              </a:rPr>
              <a:t>Hukuka Uygunluk Nedenleri</a:t>
            </a:r>
            <a:endParaRPr lang="tr-TR" sz="800" dirty="0" smtClean="0"/>
          </a:p>
          <a:p>
            <a:pPr marL="285750" indent="-285750" algn="l">
              <a:spcBef>
                <a:spcPts val="0"/>
              </a:spcBef>
              <a:buFont typeface="Arial" panose="020B0604020202020204" pitchFamily="34" charset="0"/>
              <a:buChar char="•"/>
            </a:pPr>
            <a:r>
              <a:rPr lang="tr-TR" sz="800" u="sng" dirty="0" smtClean="0">
                <a:effectLst>
                  <a:outerShdw blurRad="38100" dist="38100" dir="2700000" algn="tl">
                    <a:srgbClr val="000000">
                      <a:alpha val="43137"/>
                    </a:srgbClr>
                  </a:outerShdw>
                </a:effectLst>
              </a:rPr>
              <a:t>Kanunun Hükmünü Yerine Getirme (Görevin İfası)</a:t>
            </a:r>
          </a:p>
          <a:p>
            <a:pPr marL="285750" indent="-285750" algn="l">
              <a:spcBef>
                <a:spcPts val="0"/>
              </a:spcBef>
              <a:buFont typeface="Arial" panose="020B0604020202020204" pitchFamily="34" charset="0"/>
              <a:buChar char="•"/>
            </a:pPr>
            <a:r>
              <a:rPr lang="tr-TR" sz="800" dirty="0" smtClean="0"/>
              <a:t>Meşru Savunma</a:t>
            </a:r>
          </a:p>
          <a:p>
            <a:pPr marL="285750" indent="-285750" algn="l">
              <a:spcBef>
                <a:spcPts val="0"/>
              </a:spcBef>
              <a:buFont typeface="Arial" panose="020B0604020202020204" pitchFamily="34" charset="0"/>
              <a:buChar char="•"/>
            </a:pPr>
            <a:r>
              <a:rPr lang="tr-TR" sz="800" dirty="0"/>
              <a:t>Hakkın Kullanılması</a:t>
            </a:r>
          </a:p>
          <a:p>
            <a:pPr marL="285750" indent="-285750" algn="l">
              <a:spcBef>
                <a:spcPts val="0"/>
              </a:spcBef>
              <a:buFont typeface="Arial" panose="020B0604020202020204" pitchFamily="34" charset="0"/>
              <a:buChar char="•"/>
            </a:pPr>
            <a:r>
              <a:rPr lang="tr-TR" sz="800" dirty="0" smtClean="0"/>
              <a:t>İlgilinin </a:t>
            </a:r>
            <a:r>
              <a:rPr lang="tr-TR" sz="800" dirty="0"/>
              <a:t>Rızası</a:t>
            </a:r>
          </a:p>
        </p:txBody>
      </p:sp>
      <p:sp>
        <p:nvSpPr>
          <p:cNvPr id="15" name="Alt Başlık 2"/>
          <p:cNvSpPr txBox="1">
            <a:spLocks/>
          </p:cNvSpPr>
          <p:nvPr/>
        </p:nvSpPr>
        <p:spPr>
          <a:xfrm>
            <a:off x="2790826" y="4689945"/>
            <a:ext cx="8772524" cy="116224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tr-TR" sz="1800" b="1" dirty="0" smtClean="0"/>
              <a:t>Zor Kullanma Yetkisinin kullanımı</a:t>
            </a:r>
          </a:p>
          <a:p>
            <a:pPr marL="285750" indent="-285750" algn="l">
              <a:spcBef>
                <a:spcPts val="0"/>
              </a:spcBef>
              <a:buFont typeface="Arial" panose="020B0604020202020204" pitchFamily="34" charset="0"/>
              <a:buChar char="•"/>
            </a:pPr>
            <a:r>
              <a:rPr lang="tr-TR" sz="1600" dirty="0" smtClean="0"/>
              <a:t>Orantılı olmalı</a:t>
            </a:r>
          </a:p>
          <a:p>
            <a:pPr marL="285750" indent="-285750" algn="l">
              <a:spcBef>
                <a:spcPts val="0"/>
              </a:spcBef>
              <a:buFont typeface="Arial" panose="020B0604020202020204" pitchFamily="34" charset="0"/>
              <a:buChar char="•"/>
            </a:pPr>
            <a:r>
              <a:rPr lang="tr-TR" sz="1600" dirty="0" smtClean="0"/>
              <a:t>Maddi güç uygulanacaksa ilgiliye en hafif etki oluşturandan başlanmalı</a:t>
            </a:r>
          </a:p>
          <a:p>
            <a:pPr marL="285750" indent="-285750" algn="l">
              <a:spcBef>
                <a:spcPts val="0"/>
              </a:spcBef>
              <a:buFont typeface="Arial" panose="020B0604020202020204" pitchFamily="34" charset="0"/>
              <a:buChar char="•"/>
            </a:pPr>
            <a:r>
              <a:rPr lang="tr-TR" sz="1600" dirty="0" smtClean="0"/>
              <a:t>Önceki aşamanın faydasız kalacağı açıkça anlaşılıyorsa doğrudan sonraki aşamaya geçilebilecektir.</a:t>
            </a:r>
          </a:p>
        </p:txBody>
      </p:sp>
      <p:sp>
        <p:nvSpPr>
          <p:cNvPr id="11" name="Alt Başlık 2"/>
          <p:cNvSpPr txBox="1">
            <a:spLocks/>
          </p:cNvSpPr>
          <p:nvPr/>
        </p:nvSpPr>
        <p:spPr>
          <a:xfrm>
            <a:off x="1682883" y="2370403"/>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r>
              <a:rPr lang="tr-TR" sz="2000" dirty="0" smtClean="0">
                <a:effectLst>
                  <a:outerShdw blurRad="38100" dist="38100" dir="2700000" algn="tl">
                    <a:srgbClr val="000000">
                      <a:alpha val="43137"/>
                    </a:srgbClr>
                  </a:outerShdw>
                </a:effectLst>
              </a:rPr>
              <a:t>Kanunun Hükmünü Yerine Getirme (Görevin İfası) 	</a:t>
            </a:r>
            <a:endParaRPr lang="tr-TR" sz="2000" dirty="0">
              <a:effectLst>
                <a:outerShdw blurRad="38100" dist="38100" dir="2700000" algn="tl">
                  <a:srgbClr val="000000">
                    <a:alpha val="43137"/>
                  </a:srgbClr>
                </a:outerShdw>
              </a:effectLst>
            </a:endParaRPr>
          </a:p>
        </p:txBody>
      </p:sp>
      <p:sp>
        <p:nvSpPr>
          <p:cNvPr id="9" name="Alt Başlık 2"/>
          <p:cNvSpPr txBox="1">
            <a:spLocks/>
          </p:cNvSpPr>
          <p:nvPr/>
        </p:nvSpPr>
        <p:spPr>
          <a:xfrm>
            <a:off x="1835283" y="2944142"/>
            <a:ext cx="9144000" cy="159262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600"/>
              </a:spcBef>
            </a:pPr>
            <a:r>
              <a:rPr lang="tr-TR" sz="1800" dirty="0" smtClean="0"/>
              <a:t>	</a:t>
            </a:r>
            <a:r>
              <a:rPr lang="tr-TR" sz="1800" b="1" dirty="0" smtClean="0"/>
              <a:t>Polisin Zor Kullanma Yetkisi</a:t>
            </a:r>
          </a:p>
          <a:p>
            <a:pPr indent="1255713" algn="l">
              <a:spcBef>
                <a:spcPts val="600"/>
              </a:spcBef>
            </a:pPr>
            <a:r>
              <a:rPr lang="tr-TR" sz="1600" dirty="0" smtClean="0"/>
              <a:t>Kademeli olarak artan nispette olacak şekilde;</a:t>
            </a:r>
          </a:p>
          <a:p>
            <a:pPr marL="1350963" indent="355600" algn="l">
              <a:spcBef>
                <a:spcPts val="600"/>
              </a:spcBef>
              <a:buFont typeface="Arial" panose="020B0604020202020204" pitchFamily="34" charset="0"/>
              <a:buChar char="•"/>
            </a:pPr>
            <a:r>
              <a:rPr lang="tr-TR" sz="1600" dirty="0" smtClean="0"/>
              <a:t>Bedeni Kuvvet</a:t>
            </a:r>
          </a:p>
          <a:p>
            <a:pPr marL="1350963" indent="355600" algn="l">
              <a:spcBef>
                <a:spcPts val="600"/>
              </a:spcBef>
              <a:buFont typeface="Arial" panose="020B0604020202020204" pitchFamily="34" charset="0"/>
              <a:buChar char="•"/>
            </a:pPr>
            <a:r>
              <a:rPr lang="tr-TR" sz="1600" dirty="0" smtClean="0"/>
              <a:t>Maddi Güç</a:t>
            </a:r>
          </a:p>
          <a:p>
            <a:pPr marL="1350963" indent="355600" algn="l">
              <a:spcBef>
                <a:spcPts val="600"/>
              </a:spcBef>
              <a:buFont typeface="Arial" panose="020B0604020202020204" pitchFamily="34" charset="0"/>
              <a:buChar char="•"/>
            </a:pPr>
            <a:r>
              <a:rPr lang="tr-TR" sz="1600" dirty="0" smtClean="0"/>
              <a:t>Silah Kullanımı</a:t>
            </a:r>
          </a:p>
        </p:txBody>
      </p:sp>
      <p:sp>
        <p:nvSpPr>
          <p:cNvPr id="8"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48</a:t>
            </a:fld>
            <a:r>
              <a:rPr lang="tr-TR"/>
              <a:t>/116</a:t>
            </a:r>
          </a:p>
        </p:txBody>
      </p:sp>
    </p:spTree>
    <p:extLst>
      <p:ext uri="{BB962C8B-B14F-4D97-AF65-F5344CB8AC3E}">
        <p14:creationId xmlns:p14="http://schemas.microsoft.com/office/powerpoint/2010/main" val="379150552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10" name="Alt Başlık 2"/>
          <p:cNvSpPr txBox="1">
            <a:spLocks/>
          </p:cNvSpPr>
          <p:nvPr/>
        </p:nvSpPr>
        <p:spPr>
          <a:xfrm>
            <a:off x="180976" y="6008274"/>
            <a:ext cx="2609850" cy="6827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800" b="1" dirty="0">
                <a:effectLst>
                  <a:outerShdw blurRad="38100" dist="38100" dir="2700000" algn="tl">
                    <a:srgbClr val="000000">
                      <a:alpha val="43137"/>
                    </a:srgbClr>
                  </a:outerShdw>
                </a:effectLst>
              </a:rPr>
              <a:t>Hukuka Uygunluk Nedenleri</a:t>
            </a:r>
            <a:endParaRPr lang="tr-TR" sz="800" dirty="0" smtClean="0"/>
          </a:p>
          <a:p>
            <a:pPr marL="285750" indent="-285750" algn="l">
              <a:spcBef>
                <a:spcPts val="0"/>
              </a:spcBef>
              <a:buFont typeface="Arial" panose="020B0604020202020204" pitchFamily="34" charset="0"/>
              <a:buChar char="•"/>
            </a:pPr>
            <a:r>
              <a:rPr lang="tr-TR" sz="800" u="sng" dirty="0" smtClean="0">
                <a:effectLst>
                  <a:outerShdw blurRad="38100" dist="38100" dir="2700000" algn="tl">
                    <a:srgbClr val="000000">
                      <a:alpha val="43137"/>
                    </a:srgbClr>
                  </a:outerShdw>
                </a:effectLst>
              </a:rPr>
              <a:t>Kanunun Hükmünü Yerine Getirme (Görevin İfası)</a:t>
            </a:r>
          </a:p>
          <a:p>
            <a:pPr marL="285750" indent="-285750" algn="l">
              <a:spcBef>
                <a:spcPts val="0"/>
              </a:spcBef>
              <a:buFont typeface="Arial" panose="020B0604020202020204" pitchFamily="34" charset="0"/>
              <a:buChar char="•"/>
            </a:pPr>
            <a:r>
              <a:rPr lang="tr-TR" sz="800" dirty="0" smtClean="0"/>
              <a:t>Meşru Savunma</a:t>
            </a:r>
          </a:p>
          <a:p>
            <a:pPr marL="285750" indent="-285750" algn="l">
              <a:spcBef>
                <a:spcPts val="0"/>
              </a:spcBef>
              <a:buFont typeface="Arial" panose="020B0604020202020204" pitchFamily="34" charset="0"/>
              <a:buChar char="•"/>
            </a:pPr>
            <a:r>
              <a:rPr lang="tr-TR" sz="800" dirty="0"/>
              <a:t>Hakkın Kullanılması</a:t>
            </a:r>
          </a:p>
          <a:p>
            <a:pPr marL="285750" indent="-285750" algn="l">
              <a:spcBef>
                <a:spcPts val="0"/>
              </a:spcBef>
              <a:buFont typeface="Arial" panose="020B0604020202020204" pitchFamily="34" charset="0"/>
              <a:buChar char="•"/>
            </a:pPr>
            <a:r>
              <a:rPr lang="tr-TR" sz="800" dirty="0" smtClean="0"/>
              <a:t>İlgilinin </a:t>
            </a:r>
            <a:r>
              <a:rPr lang="tr-TR" sz="800" dirty="0"/>
              <a:t>Rızası</a:t>
            </a:r>
          </a:p>
        </p:txBody>
      </p:sp>
      <p:sp>
        <p:nvSpPr>
          <p:cNvPr id="11" name="Alt Başlık 2"/>
          <p:cNvSpPr txBox="1">
            <a:spLocks/>
          </p:cNvSpPr>
          <p:nvPr/>
        </p:nvSpPr>
        <p:spPr>
          <a:xfrm>
            <a:off x="1682883" y="2370403"/>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r>
              <a:rPr lang="tr-TR" sz="2000" dirty="0" smtClean="0">
                <a:effectLst>
                  <a:outerShdw blurRad="38100" dist="38100" dir="2700000" algn="tl">
                    <a:srgbClr val="000000">
                      <a:alpha val="43137"/>
                    </a:srgbClr>
                  </a:outerShdw>
                </a:effectLst>
              </a:rPr>
              <a:t>Kanunun Hükmünü Yerine Getirme (Görevin İfası) 	</a:t>
            </a:r>
            <a:endParaRPr lang="tr-TR" sz="2000" dirty="0">
              <a:effectLst>
                <a:outerShdw blurRad="38100" dist="38100" dir="2700000" algn="tl">
                  <a:srgbClr val="000000">
                    <a:alpha val="43137"/>
                  </a:srgbClr>
                </a:outerShdw>
              </a:effectLst>
            </a:endParaRPr>
          </a:p>
        </p:txBody>
      </p:sp>
      <p:sp>
        <p:nvSpPr>
          <p:cNvPr id="9" name="Alt Başlık 2"/>
          <p:cNvSpPr txBox="1">
            <a:spLocks/>
          </p:cNvSpPr>
          <p:nvPr/>
        </p:nvSpPr>
        <p:spPr>
          <a:xfrm>
            <a:off x="1835283" y="2657541"/>
            <a:ext cx="10005734" cy="37499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600"/>
              </a:spcBef>
            </a:pPr>
            <a:r>
              <a:rPr lang="tr-TR" sz="1600" dirty="0" smtClean="0"/>
              <a:t>	</a:t>
            </a:r>
            <a:r>
              <a:rPr lang="tr-TR" sz="1600" b="1" dirty="0" smtClean="0"/>
              <a:t>Polisin Silah Kullanma Yetkisi (2559 s. PVSK m.16)</a:t>
            </a:r>
          </a:p>
          <a:p>
            <a:pPr marL="900113" indent="177800" algn="l">
              <a:spcBef>
                <a:spcPts val="600"/>
              </a:spcBef>
              <a:buFont typeface="Arial" panose="020B0604020202020204" pitchFamily="34" charset="0"/>
              <a:buChar char="•"/>
            </a:pPr>
            <a:r>
              <a:rPr lang="tr-TR" sz="1400" dirty="0" smtClean="0"/>
              <a:t>Polis 4 durumda silah kullanmaya yetkilidir:</a:t>
            </a:r>
          </a:p>
          <a:p>
            <a:pPr indent="1433513" algn="just">
              <a:spcBef>
                <a:spcPts val="600"/>
              </a:spcBef>
            </a:pPr>
            <a:r>
              <a:rPr lang="tr-TR" sz="1400" dirty="0" smtClean="0"/>
              <a:t>1. Meşru Savunma</a:t>
            </a:r>
          </a:p>
          <a:p>
            <a:pPr indent="1433513" algn="just">
              <a:spcBef>
                <a:spcPts val="600"/>
              </a:spcBef>
            </a:pPr>
            <a:r>
              <a:rPr lang="tr-TR" sz="1400" dirty="0" smtClean="0"/>
              <a:t>2. Önceki aşamaların (</a:t>
            </a:r>
            <a:r>
              <a:rPr lang="tr-TR" sz="1400" dirty="0"/>
              <a:t>Bedeni </a:t>
            </a:r>
            <a:r>
              <a:rPr lang="tr-TR" sz="1400" dirty="0" smtClean="0"/>
              <a:t>Kuvvet/Maddi Güç) faydasız kalması, faydasız kalacağının açık olması</a:t>
            </a:r>
          </a:p>
          <a:p>
            <a:pPr marL="1619250" indent="-185738" algn="just">
              <a:spcBef>
                <a:spcPts val="600"/>
              </a:spcBef>
            </a:pPr>
            <a:r>
              <a:rPr lang="tr-TR" sz="1400" dirty="0" smtClean="0"/>
              <a:t>3. Haklarında gözaltı, zorla getirme ve yakalama olanların veya suçüstü halindeki şahısların yakalanmasını sağlayacak ölçüde, </a:t>
            </a:r>
          </a:p>
          <a:p>
            <a:pPr indent="1979613" algn="just">
              <a:spcBef>
                <a:spcPts val="600"/>
              </a:spcBef>
            </a:pPr>
            <a:r>
              <a:rPr lang="tr-TR" sz="1400" dirty="0" smtClean="0"/>
              <a:t>Bu durumda silah kullanmak için;</a:t>
            </a:r>
          </a:p>
          <a:p>
            <a:pPr indent="2155825" algn="just">
              <a:spcBef>
                <a:spcPts val="600"/>
              </a:spcBef>
            </a:pPr>
            <a:r>
              <a:rPr lang="tr-TR" sz="1400" dirty="0" smtClean="0"/>
              <a:t>1. Dur çağrısı yapılacak,</a:t>
            </a:r>
          </a:p>
          <a:p>
            <a:pPr indent="2155825" algn="just">
              <a:spcBef>
                <a:spcPts val="600"/>
              </a:spcBef>
            </a:pPr>
            <a:r>
              <a:rPr lang="tr-TR" sz="1400" dirty="0" smtClean="0"/>
              <a:t>2. Kaçmaya devam etmesi halinde uyarı ateşi açılacak,</a:t>
            </a:r>
          </a:p>
          <a:p>
            <a:pPr indent="2155825" algn="just">
              <a:spcBef>
                <a:spcPts val="600"/>
              </a:spcBef>
            </a:pPr>
            <a:r>
              <a:rPr lang="tr-TR" sz="1400" dirty="0" smtClean="0"/>
              <a:t>3. Kaçmaya hala devam etmesi halinde yakalanmasını sağlayacak ölçüde silah kullanılacak.</a:t>
            </a:r>
          </a:p>
          <a:p>
            <a:pPr indent="1979613" algn="just">
              <a:spcBef>
                <a:spcPts val="600"/>
              </a:spcBef>
            </a:pPr>
            <a:r>
              <a:rPr lang="tr-TR" sz="1100" dirty="0" smtClean="0"/>
              <a:t>Buna göre başka surette yakalanma imkanı olan kaçan şahsa hedef gözeterek ateş edilmemelidir. </a:t>
            </a:r>
          </a:p>
          <a:p>
            <a:pPr indent="1433513" algn="just">
              <a:spcBef>
                <a:spcPts val="600"/>
              </a:spcBef>
            </a:pPr>
            <a:r>
              <a:rPr lang="tr-TR" sz="1400" dirty="0" smtClean="0"/>
              <a:t>4. </a:t>
            </a:r>
            <a:r>
              <a:rPr lang="tr-TR" sz="1400" dirty="0"/>
              <a:t>Meşru </a:t>
            </a:r>
            <a:r>
              <a:rPr lang="tr-TR" sz="1400" dirty="0" smtClean="0"/>
              <a:t>Savunmanın özel düzenlenmiş hali</a:t>
            </a:r>
            <a:endParaRPr lang="tr-TR" sz="1400" dirty="0"/>
          </a:p>
          <a:p>
            <a:pPr marL="1077913" indent="-177800" algn="just">
              <a:spcBef>
                <a:spcPts val="600"/>
              </a:spcBef>
              <a:buFont typeface="Arial" panose="020B0604020202020204" pitchFamily="34" charset="0"/>
              <a:buChar char="•"/>
            </a:pPr>
            <a:r>
              <a:rPr lang="tr-TR" sz="1400" dirty="0"/>
              <a:t>Polis, direnişi kırmak ya da yakalamak amacıyla zor veya silah kullanma yetkisini </a:t>
            </a:r>
            <a:r>
              <a:rPr lang="tr-TR" sz="1400" dirty="0" smtClean="0"/>
              <a:t> kullanırken</a:t>
            </a:r>
            <a:r>
              <a:rPr lang="tr-TR" sz="1400" dirty="0"/>
              <a:t>, </a:t>
            </a:r>
            <a:r>
              <a:rPr lang="tr-TR" sz="1400" b="1" dirty="0"/>
              <a:t>kendisine karşı silahla saldırıya teşebbüs edilmesi halinde</a:t>
            </a:r>
            <a:r>
              <a:rPr lang="tr-TR" sz="1400" dirty="0"/>
              <a:t>, silahla saldırıya </a:t>
            </a:r>
            <a:r>
              <a:rPr lang="tr-TR" sz="1400" dirty="0" smtClean="0"/>
              <a:t>teşebbüs eden </a:t>
            </a:r>
            <a:r>
              <a:rPr lang="tr-TR" sz="1400" dirty="0"/>
              <a:t>kişiye karşı </a:t>
            </a:r>
            <a:r>
              <a:rPr lang="tr-TR" sz="1400" u="sng" dirty="0"/>
              <a:t>saldırı tehlikesini etkisiz kılacak ölçüde</a:t>
            </a:r>
            <a:r>
              <a:rPr lang="tr-TR" sz="1400" dirty="0"/>
              <a:t> </a:t>
            </a:r>
            <a:r>
              <a:rPr lang="tr-TR" sz="1400" b="1" dirty="0">
                <a:effectLst>
                  <a:outerShdw blurRad="38100" dist="38100" dir="2700000" algn="tl">
                    <a:srgbClr val="000000">
                      <a:alpha val="43137"/>
                    </a:srgbClr>
                  </a:outerShdw>
                </a:effectLst>
              </a:rPr>
              <a:t>duraksamadan</a:t>
            </a:r>
            <a:r>
              <a:rPr lang="tr-TR" sz="1400" dirty="0"/>
              <a:t> silahla ateş edebilir</a:t>
            </a:r>
            <a:endParaRPr lang="tr-TR" sz="1400" dirty="0" smtClean="0"/>
          </a:p>
        </p:txBody>
      </p:sp>
      <p:sp>
        <p:nvSpPr>
          <p:cNvPr id="7"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49</a:t>
            </a:fld>
            <a:r>
              <a:rPr lang="tr-TR"/>
              <a:t>/116</a:t>
            </a:r>
          </a:p>
        </p:txBody>
      </p:sp>
    </p:spTree>
    <p:extLst>
      <p:ext uri="{BB962C8B-B14F-4D97-AF65-F5344CB8AC3E}">
        <p14:creationId xmlns:p14="http://schemas.microsoft.com/office/powerpoint/2010/main" val="355693248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10" name="Alt Başlık 2"/>
          <p:cNvSpPr txBox="1">
            <a:spLocks/>
          </p:cNvSpPr>
          <p:nvPr/>
        </p:nvSpPr>
        <p:spPr>
          <a:xfrm>
            <a:off x="180976" y="6008274"/>
            <a:ext cx="2609850" cy="6827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800" b="1" dirty="0">
                <a:effectLst>
                  <a:outerShdw blurRad="38100" dist="38100" dir="2700000" algn="tl">
                    <a:srgbClr val="000000">
                      <a:alpha val="43137"/>
                    </a:srgbClr>
                  </a:outerShdw>
                </a:effectLst>
              </a:rPr>
              <a:t>Hukuka Uygunluk Nedenleri</a:t>
            </a:r>
            <a:endParaRPr lang="tr-TR" sz="800" dirty="0" smtClean="0"/>
          </a:p>
          <a:p>
            <a:pPr marL="285750" indent="-285750" algn="l">
              <a:spcBef>
                <a:spcPts val="0"/>
              </a:spcBef>
              <a:buFont typeface="Arial" panose="020B0604020202020204" pitchFamily="34" charset="0"/>
              <a:buChar char="•"/>
            </a:pPr>
            <a:r>
              <a:rPr lang="tr-TR" sz="800" u="sng" dirty="0" smtClean="0"/>
              <a:t>Kanunun Hükmünü Yerine Getirme (Görevin İfası)</a:t>
            </a:r>
          </a:p>
          <a:p>
            <a:pPr marL="285750" indent="-285750" algn="l">
              <a:spcBef>
                <a:spcPts val="0"/>
              </a:spcBef>
              <a:buFont typeface="Arial" panose="020B0604020202020204" pitchFamily="34" charset="0"/>
              <a:buChar char="•"/>
            </a:pPr>
            <a:r>
              <a:rPr lang="tr-TR" sz="800" dirty="0" smtClean="0"/>
              <a:t>Meşru Savunma</a:t>
            </a:r>
          </a:p>
          <a:p>
            <a:pPr marL="285750" indent="-285750" algn="l">
              <a:spcBef>
                <a:spcPts val="0"/>
              </a:spcBef>
              <a:buFont typeface="Arial" panose="020B0604020202020204" pitchFamily="34" charset="0"/>
              <a:buChar char="•"/>
            </a:pPr>
            <a:r>
              <a:rPr lang="tr-TR" sz="800" dirty="0"/>
              <a:t>Hakkın Kullanılması</a:t>
            </a:r>
          </a:p>
          <a:p>
            <a:pPr marL="285750" indent="-285750" algn="l">
              <a:spcBef>
                <a:spcPts val="0"/>
              </a:spcBef>
              <a:buFont typeface="Arial" panose="020B0604020202020204" pitchFamily="34" charset="0"/>
              <a:buChar char="•"/>
            </a:pPr>
            <a:r>
              <a:rPr lang="tr-TR" sz="800" dirty="0" smtClean="0"/>
              <a:t>İlgilinin </a:t>
            </a:r>
            <a:r>
              <a:rPr lang="tr-TR" sz="800" dirty="0"/>
              <a:t>Rızası</a:t>
            </a:r>
          </a:p>
        </p:txBody>
      </p:sp>
      <p:sp>
        <p:nvSpPr>
          <p:cNvPr id="11" name="Alt Başlık 2"/>
          <p:cNvSpPr txBox="1">
            <a:spLocks/>
          </p:cNvSpPr>
          <p:nvPr/>
        </p:nvSpPr>
        <p:spPr>
          <a:xfrm>
            <a:off x="1682883" y="2339148"/>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2000" dirty="0" smtClean="0">
                <a:effectLst>
                  <a:outerShdw blurRad="38100" dist="38100" dir="2700000" algn="tl">
                    <a:srgbClr val="000000">
                      <a:alpha val="43137"/>
                    </a:srgbClr>
                  </a:outerShdw>
                </a:effectLst>
              </a:rPr>
              <a:t>Zor Kullanma ve Silah Kullanma Yetkisinin Orantılı Olması	</a:t>
            </a:r>
            <a:endParaRPr lang="tr-TR" sz="2000" dirty="0">
              <a:effectLst>
                <a:outerShdw blurRad="38100" dist="38100" dir="2700000" algn="tl">
                  <a:srgbClr val="000000">
                    <a:alpha val="43137"/>
                  </a:srgbClr>
                </a:outerShdw>
              </a:effectLst>
            </a:endParaRPr>
          </a:p>
        </p:txBody>
      </p:sp>
      <p:sp>
        <p:nvSpPr>
          <p:cNvPr id="8" name="Alt Başlık 2"/>
          <p:cNvSpPr txBox="1">
            <a:spLocks/>
          </p:cNvSpPr>
          <p:nvPr/>
        </p:nvSpPr>
        <p:spPr>
          <a:xfrm>
            <a:off x="2253124" y="2669707"/>
            <a:ext cx="9587893" cy="3589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1400" dirty="0" smtClean="0"/>
              <a:t>Zor Kullanma;</a:t>
            </a:r>
          </a:p>
          <a:p>
            <a:pPr marL="285750" indent="-285750" algn="just">
              <a:buFont typeface="Arial" panose="020B0604020202020204" pitchFamily="34" charset="0"/>
              <a:buChar char="•"/>
            </a:pPr>
            <a:r>
              <a:rPr lang="tr-TR" sz="1400" dirty="0" smtClean="0"/>
              <a:t>Direnmenin mahiyetine ve derecesine göre tayin edilmelidir</a:t>
            </a:r>
          </a:p>
          <a:p>
            <a:pPr marL="285750" indent="-285750" algn="just">
              <a:buFont typeface="Arial" panose="020B0604020202020204" pitchFamily="34" charset="0"/>
              <a:buChar char="•"/>
            </a:pPr>
            <a:r>
              <a:rPr lang="tr-TR" sz="1400" dirty="0"/>
              <a:t>İlgiliye </a:t>
            </a:r>
            <a:r>
              <a:rPr lang="tr-TR" sz="1400" dirty="0" smtClean="0"/>
              <a:t>en </a:t>
            </a:r>
            <a:r>
              <a:rPr lang="tr-TR" sz="1400" dirty="0"/>
              <a:t>az zarar verecek </a:t>
            </a:r>
            <a:r>
              <a:rPr lang="tr-TR" sz="1400" dirty="0" smtClean="0"/>
              <a:t>yöntem kullanılmalıdır</a:t>
            </a:r>
            <a:endParaRPr lang="tr-TR" sz="1400" dirty="0"/>
          </a:p>
          <a:p>
            <a:pPr marL="285750" indent="-285750" algn="just">
              <a:buFont typeface="Arial" panose="020B0604020202020204" pitchFamily="34" charset="0"/>
              <a:buChar char="•"/>
            </a:pPr>
            <a:r>
              <a:rPr lang="tr-TR" sz="1400" dirty="0" smtClean="0"/>
              <a:t>Direnenleri etkisiz hale getirecek şekilde kademeli olarak artan nispette olmalıdır</a:t>
            </a:r>
          </a:p>
          <a:p>
            <a:pPr marL="285750" indent="-285750" algn="just">
              <a:buFont typeface="Arial" panose="020B0604020202020204" pitchFamily="34" charset="0"/>
              <a:buChar char="•"/>
            </a:pPr>
            <a:r>
              <a:rPr lang="tr-TR" sz="1400" dirty="0" smtClean="0"/>
              <a:t>Önceki </a:t>
            </a:r>
            <a:r>
              <a:rPr lang="tr-TR" sz="1400" dirty="0"/>
              <a:t>aşamanın faydasız kalacağı açıkça anlaşılıyorsa doğrudan sonraki aşamaya </a:t>
            </a:r>
            <a:r>
              <a:rPr lang="tr-TR" sz="1400" dirty="0" smtClean="0"/>
              <a:t>geçilebilecektir</a:t>
            </a:r>
          </a:p>
          <a:p>
            <a:pPr marL="285750" indent="-285750" algn="just">
              <a:buFont typeface="Arial" panose="020B0604020202020204" pitchFamily="34" charset="0"/>
              <a:buChar char="•"/>
            </a:pPr>
            <a:r>
              <a:rPr lang="tr-TR" sz="1400" dirty="0" smtClean="0"/>
              <a:t>Zor kullanmanın direnmeyle orantılı olması; aynı nitelik ve derecede değil, direnmeyi etkisiz kılacak ölçüde güç kullanımını ifade etmektedir. Yani zor kullanmada amaç, direnen kişileri etkisiz hale getirmektir.</a:t>
            </a:r>
          </a:p>
          <a:p>
            <a:pPr marL="285750" indent="-285750" algn="just">
              <a:buFont typeface="Arial" panose="020B0604020202020204" pitchFamily="34" charset="0"/>
              <a:buChar char="•"/>
            </a:pPr>
            <a:r>
              <a:rPr lang="tr-TR" sz="1400" dirty="0" smtClean="0"/>
              <a:t>Toplu kuvvet olarak yapılan müdahalelerde zor kullanmanın derecesi/araç gereçler, müdahale gücünün amiri tarafından tayin/tespit edilecektir.</a:t>
            </a:r>
          </a:p>
          <a:p>
            <a:pPr marL="285750" indent="-285750" algn="just">
              <a:buFont typeface="Arial" panose="020B0604020202020204" pitchFamily="34" charset="0"/>
              <a:buChar char="•"/>
            </a:pPr>
            <a:r>
              <a:rPr lang="tr-TR" sz="1400" dirty="0" smtClean="0"/>
              <a:t>Silah son çare olarak kullanılmalıdır.</a:t>
            </a:r>
          </a:p>
          <a:p>
            <a:pPr marL="285750" indent="-285750" algn="just">
              <a:buFont typeface="Arial" panose="020B0604020202020204" pitchFamily="34" charset="0"/>
              <a:buChar char="•"/>
            </a:pPr>
            <a:r>
              <a:rPr lang="tr-TR" sz="1400" dirty="0" smtClean="0"/>
              <a:t>Silah kullanılması halinde doğrudan öldürme kastıyla hareket edilmemeli, silah en az zarar verecek şekilde kullanılmalıdır.</a:t>
            </a:r>
            <a:endParaRPr lang="tr-TR" sz="1400" dirty="0"/>
          </a:p>
          <a:p>
            <a:pPr marL="285750" indent="-285750" algn="l">
              <a:buFont typeface="Arial" panose="020B0604020202020204" pitchFamily="34" charset="0"/>
              <a:buChar char="•"/>
            </a:pPr>
            <a:r>
              <a:rPr lang="tr-TR" sz="1400" dirty="0" smtClean="0"/>
              <a:t>Kaçan kişiler bakımından açıkça ve ısrarla ikaz etmedikçe silah kullanılmamalı, öldürme kastıyla hareket edilmemelidir.</a:t>
            </a:r>
            <a:endParaRPr lang="tr-TR" sz="1400" dirty="0"/>
          </a:p>
          <a:p>
            <a:pPr marL="285750" indent="-285750" algn="l">
              <a:buFont typeface="Arial" panose="020B0604020202020204" pitchFamily="34" charset="0"/>
              <a:buChar char="•"/>
            </a:pPr>
            <a:endParaRPr lang="tr-TR" sz="1400" dirty="0"/>
          </a:p>
        </p:txBody>
      </p:sp>
      <p:sp>
        <p:nvSpPr>
          <p:cNvPr id="7"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50</a:t>
            </a:fld>
            <a:r>
              <a:rPr lang="tr-TR"/>
              <a:t>/116</a:t>
            </a:r>
          </a:p>
        </p:txBody>
      </p:sp>
    </p:spTree>
    <p:extLst>
      <p:ext uri="{BB962C8B-B14F-4D97-AF65-F5344CB8AC3E}">
        <p14:creationId xmlns:p14="http://schemas.microsoft.com/office/powerpoint/2010/main" val="11396023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10" name="Alt Başlık 2"/>
          <p:cNvSpPr txBox="1">
            <a:spLocks/>
          </p:cNvSpPr>
          <p:nvPr/>
        </p:nvSpPr>
        <p:spPr>
          <a:xfrm>
            <a:off x="180976" y="6008274"/>
            <a:ext cx="2609850" cy="6827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800" b="1" dirty="0">
                <a:effectLst>
                  <a:outerShdw blurRad="38100" dist="38100" dir="2700000" algn="tl">
                    <a:srgbClr val="000000">
                      <a:alpha val="43137"/>
                    </a:srgbClr>
                  </a:outerShdw>
                </a:effectLst>
              </a:rPr>
              <a:t>Hukuka Uygunluk Nedenleri</a:t>
            </a:r>
            <a:endParaRPr lang="tr-TR" sz="800" dirty="0" smtClean="0"/>
          </a:p>
          <a:p>
            <a:pPr marL="285750" indent="-285750" algn="l">
              <a:spcBef>
                <a:spcPts val="0"/>
              </a:spcBef>
              <a:buFont typeface="Arial" panose="020B0604020202020204" pitchFamily="34" charset="0"/>
              <a:buChar char="•"/>
            </a:pPr>
            <a:r>
              <a:rPr lang="tr-TR" sz="800" u="sng" dirty="0" smtClean="0">
                <a:effectLst>
                  <a:outerShdw blurRad="38100" dist="38100" dir="2700000" algn="tl">
                    <a:srgbClr val="000000">
                      <a:alpha val="43137"/>
                    </a:srgbClr>
                  </a:outerShdw>
                </a:effectLst>
              </a:rPr>
              <a:t>Kanunun Hükmünü Yerine Getirme (Görevin İfası)</a:t>
            </a:r>
          </a:p>
          <a:p>
            <a:pPr marL="285750" indent="-285750" algn="l">
              <a:spcBef>
                <a:spcPts val="0"/>
              </a:spcBef>
              <a:buFont typeface="Arial" panose="020B0604020202020204" pitchFamily="34" charset="0"/>
              <a:buChar char="•"/>
            </a:pPr>
            <a:r>
              <a:rPr lang="tr-TR" sz="800" dirty="0" smtClean="0"/>
              <a:t>Meşru Savunma</a:t>
            </a:r>
          </a:p>
          <a:p>
            <a:pPr marL="285750" indent="-285750" algn="l">
              <a:spcBef>
                <a:spcPts val="0"/>
              </a:spcBef>
              <a:buFont typeface="Arial" panose="020B0604020202020204" pitchFamily="34" charset="0"/>
              <a:buChar char="•"/>
            </a:pPr>
            <a:r>
              <a:rPr lang="tr-TR" sz="800" dirty="0"/>
              <a:t>Hakkın Kullanılması</a:t>
            </a:r>
          </a:p>
          <a:p>
            <a:pPr marL="285750" indent="-285750" algn="l">
              <a:spcBef>
                <a:spcPts val="0"/>
              </a:spcBef>
              <a:buFont typeface="Arial" panose="020B0604020202020204" pitchFamily="34" charset="0"/>
              <a:buChar char="•"/>
            </a:pPr>
            <a:r>
              <a:rPr lang="tr-TR" sz="800" dirty="0" smtClean="0"/>
              <a:t>İlgilinin </a:t>
            </a:r>
            <a:r>
              <a:rPr lang="tr-TR" sz="800" dirty="0"/>
              <a:t>Rızası</a:t>
            </a:r>
          </a:p>
        </p:txBody>
      </p:sp>
      <p:sp>
        <p:nvSpPr>
          <p:cNvPr id="9" name="Alt Başlık 2"/>
          <p:cNvSpPr txBox="1">
            <a:spLocks/>
          </p:cNvSpPr>
          <p:nvPr/>
        </p:nvSpPr>
        <p:spPr>
          <a:xfrm>
            <a:off x="1842675" y="2285337"/>
            <a:ext cx="9198363"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tr-TR" b="1" dirty="0" smtClean="0">
                <a:effectLst>
                  <a:outerShdw blurRad="38100" dist="38100" dir="2700000" algn="tl">
                    <a:srgbClr val="000000">
                      <a:alpha val="43137"/>
                    </a:srgbClr>
                  </a:outerShdw>
                </a:effectLst>
              </a:rPr>
              <a:t>2 5 5 9  s. P V S K  m. 16</a:t>
            </a:r>
            <a:endParaRPr lang="tr-TR" b="1" dirty="0">
              <a:effectLst>
                <a:outerShdw blurRad="38100" dist="38100" dir="2700000" algn="tl">
                  <a:srgbClr val="000000">
                    <a:alpha val="43137"/>
                  </a:srgbClr>
                </a:outerShdw>
              </a:effectLst>
            </a:endParaRPr>
          </a:p>
        </p:txBody>
      </p:sp>
      <p:sp>
        <p:nvSpPr>
          <p:cNvPr id="12" name="Alt Başlık 2"/>
          <p:cNvSpPr txBox="1">
            <a:spLocks/>
          </p:cNvSpPr>
          <p:nvPr/>
        </p:nvSpPr>
        <p:spPr>
          <a:xfrm>
            <a:off x="3301295" y="3344534"/>
            <a:ext cx="1378196"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tr-TR" b="1" dirty="0" smtClean="0">
                <a:effectLst>
                  <a:outerShdw blurRad="38100" dist="38100" dir="2700000" algn="tl">
                    <a:srgbClr val="000000">
                      <a:alpha val="43137"/>
                    </a:srgbClr>
                  </a:outerShdw>
                </a:effectLst>
              </a:rPr>
              <a:t>DİRENİŞ 	</a:t>
            </a:r>
            <a:endParaRPr lang="tr-TR" b="1" dirty="0">
              <a:effectLst>
                <a:outerShdw blurRad="38100" dist="38100" dir="2700000" algn="tl">
                  <a:srgbClr val="000000">
                    <a:alpha val="43137"/>
                  </a:srgbClr>
                </a:outerShdw>
              </a:effectLst>
            </a:endParaRPr>
          </a:p>
        </p:txBody>
      </p:sp>
      <p:sp>
        <p:nvSpPr>
          <p:cNvPr id="2" name="Dikdörtgen 1"/>
          <p:cNvSpPr/>
          <p:nvPr/>
        </p:nvSpPr>
        <p:spPr>
          <a:xfrm>
            <a:off x="2393032" y="3816161"/>
            <a:ext cx="3342582" cy="261610"/>
          </a:xfrm>
          <a:prstGeom prst="rect">
            <a:avLst/>
          </a:prstGeom>
        </p:spPr>
        <p:txBody>
          <a:bodyPr wrap="none">
            <a:spAutoFit/>
          </a:bodyPr>
          <a:lstStyle/>
          <a:p>
            <a:r>
              <a:rPr lang="fr-FR" sz="1100" dirty="0"/>
              <a:t>Polis, görevini yaparken direnişle karşılaşması </a:t>
            </a:r>
            <a:r>
              <a:rPr lang="fr-FR" sz="1100" dirty="0" smtClean="0"/>
              <a:t>halinde</a:t>
            </a:r>
            <a:r>
              <a:rPr lang="tr-TR" sz="1100" dirty="0" smtClean="0"/>
              <a:t>…</a:t>
            </a:r>
            <a:endParaRPr lang="fr-FR" sz="1100" dirty="0"/>
          </a:p>
        </p:txBody>
      </p:sp>
      <p:sp>
        <p:nvSpPr>
          <p:cNvPr id="13" name="Alt Başlık 2"/>
          <p:cNvSpPr txBox="1">
            <a:spLocks/>
          </p:cNvSpPr>
          <p:nvPr/>
        </p:nvSpPr>
        <p:spPr>
          <a:xfrm>
            <a:off x="7820978" y="3344534"/>
            <a:ext cx="1378196"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tr-TR" b="1" dirty="0" smtClean="0">
                <a:effectLst>
                  <a:outerShdw blurRad="38100" dist="38100" dir="2700000" algn="tl">
                    <a:srgbClr val="000000">
                      <a:alpha val="43137"/>
                    </a:srgbClr>
                  </a:outerShdw>
                </a:effectLst>
              </a:rPr>
              <a:t>SALDIRI 	</a:t>
            </a:r>
            <a:endParaRPr lang="tr-TR" b="1" dirty="0">
              <a:effectLst>
                <a:outerShdw blurRad="38100" dist="38100" dir="2700000" algn="tl">
                  <a:srgbClr val="000000">
                    <a:alpha val="43137"/>
                  </a:srgbClr>
                </a:outerShdw>
              </a:effectLst>
            </a:endParaRPr>
          </a:p>
        </p:txBody>
      </p:sp>
      <p:sp>
        <p:nvSpPr>
          <p:cNvPr id="3" name="Dikdörtgen 2"/>
          <p:cNvSpPr/>
          <p:nvPr/>
        </p:nvSpPr>
        <p:spPr>
          <a:xfrm>
            <a:off x="6791737" y="3795753"/>
            <a:ext cx="3621504" cy="261610"/>
          </a:xfrm>
          <a:prstGeom prst="rect">
            <a:avLst/>
          </a:prstGeom>
        </p:spPr>
        <p:txBody>
          <a:bodyPr wrap="none">
            <a:spAutoFit/>
          </a:bodyPr>
          <a:lstStyle/>
          <a:p>
            <a:r>
              <a:rPr lang="fr-FR" sz="1100" dirty="0"/>
              <a:t>Polis, kendisine veya </a:t>
            </a:r>
            <a:r>
              <a:rPr lang="fr-FR" sz="1100" dirty="0" err="1"/>
              <a:t>başkasına</a:t>
            </a:r>
            <a:r>
              <a:rPr lang="fr-FR" sz="1100" dirty="0"/>
              <a:t> </a:t>
            </a:r>
            <a:r>
              <a:rPr lang="fr-FR" sz="1100" dirty="0" err="1"/>
              <a:t>yönelik</a:t>
            </a:r>
            <a:r>
              <a:rPr lang="fr-FR" sz="1100" dirty="0"/>
              <a:t> bir </a:t>
            </a:r>
            <a:r>
              <a:rPr lang="fr-FR" sz="1100" dirty="0" err="1"/>
              <a:t>saldırı</a:t>
            </a:r>
            <a:r>
              <a:rPr lang="fr-FR" sz="1100" dirty="0"/>
              <a:t> </a:t>
            </a:r>
            <a:r>
              <a:rPr lang="fr-FR" sz="1100" dirty="0" err="1" smtClean="0"/>
              <a:t>karşısında</a:t>
            </a:r>
            <a:r>
              <a:rPr lang="tr-TR" sz="1100" dirty="0" smtClean="0"/>
              <a:t>…</a:t>
            </a:r>
            <a:endParaRPr lang="fr-FR" sz="1100" dirty="0"/>
          </a:p>
        </p:txBody>
      </p:sp>
      <p:sp>
        <p:nvSpPr>
          <p:cNvPr id="14" name="Dikdörtgen 13"/>
          <p:cNvSpPr/>
          <p:nvPr/>
        </p:nvSpPr>
        <p:spPr>
          <a:xfrm>
            <a:off x="2433876" y="4272823"/>
            <a:ext cx="3260893" cy="369332"/>
          </a:xfrm>
          <a:prstGeom prst="rect">
            <a:avLst/>
          </a:prstGeom>
        </p:spPr>
        <p:txBody>
          <a:bodyPr wrap="none">
            <a:spAutoFit/>
          </a:bodyPr>
          <a:lstStyle/>
          <a:p>
            <a:r>
              <a:rPr lang="tr-TR" dirty="0" smtClean="0"/>
              <a:t>Zor kullanma usulleri tatbik edilir</a:t>
            </a:r>
            <a:endParaRPr lang="fr-FR" dirty="0"/>
          </a:p>
        </p:txBody>
      </p:sp>
      <p:sp>
        <p:nvSpPr>
          <p:cNvPr id="15" name="Dikdörtgen 14"/>
          <p:cNvSpPr/>
          <p:nvPr/>
        </p:nvSpPr>
        <p:spPr>
          <a:xfrm>
            <a:off x="6791737" y="4263676"/>
            <a:ext cx="5062524" cy="923330"/>
          </a:xfrm>
          <a:prstGeom prst="rect">
            <a:avLst/>
          </a:prstGeom>
        </p:spPr>
        <p:txBody>
          <a:bodyPr wrap="square">
            <a:spAutoFit/>
          </a:bodyPr>
          <a:lstStyle/>
          <a:p>
            <a:pPr algn="just"/>
            <a:r>
              <a:rPr lang="tr-TR" dirty="0" smtClean="0"/>
              <a:t>Zor kullanmaya ilişkin koşullara bağlı kalmaksızın, Türk Ceza Kanunun Meşru Savunma hükümleri kapsamında </a:t>
            </a:r>
            <a:r>
              <a:rPr lang="tr-TR" dirty="0" err="1" smtClean="0"/>
              <a:t>SAVUNMA’da</a:t>
            </a:r>
            <a:r>
              <a:rPr lang="tr-TR" dirty="0" smtClean="0"/>
              <a:t> bulunabilecektir.</a:t>
            </a:r>
            <a:endParaRPr lang="fr-FR" dirty="0"/>
          </a:p>
        </p:txBody>
      </p:sp>
      <p:sp>
        <p:nvSpPr>
          <p:cNvPr id="6" name="Aşağı Ok 5"/>
          <p:cNvSpPr/>
          <p:nvPr/>
        </p:nvSpPr>
        <p:spPr>
          <a:xfrm>
            <a:off x="4349234" y="2875034"/>
            <a:ext cx="330257" cy="438660"/>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Aşağı Ok 16"/>
          <p:cNvSpPr/>
          <p:nvPr/>
        </p:nvSpPr>
        <p:spPr>
          <a:xfrm>
            <a:off x="8036404" y="2875034"/>
            <a:ext cx="330257" cy="438660"/>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7" name="Slayt Numarası Yer Tutucusu 6"/>
          <p:cNvSpPr>
            <a:spLocks noGrp="1"/>
          </p:cNvSpPr>
          <p:nvPr>
            <p:ph type="sldNum" sz="quarter" idx="12"/>
          </p:nvPr>
        </p:nvSpPr>
        <p:spPr/>
        <p:txBody>
          <a:bodyPr/>
          <a:lstStyle/>
          <a:p>
            <a:fld id="{39F9BA00-44CD-41D4-A3D8-F864C744DC1F}" type="slidenum">
              <a:rPr lang="tr-TR" smtClean="0"/>
              <a:t>51</a:t>
            </a:fld>
            <a:r>
              <a:rPr lang="tr-TR"/>
              <a:t>/116</a:t>
            </a:r>
          </a:p>
        </p:txBody>
      </p:sp>
    </p:spTree>
    <p:extLst>
      <p:ext uri="{BB962C8B-B14F-4D97-AF65-F5344CB8AC3E}">
        <p14:creationId xmlns:p14="http://schemas.microsoft.com/office/powerpoint/2010/main" val="425035875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10" name="Alt Başlık 2"/>
          <p:cNvSpPr txBox="1">
            <a:spLocks/>
          </p:cNvSpPr>
          <p:nvPr/>
        </p:nvSpPr>
        <p:spPr>
          <a:xfrm>
            <a:off x="180976" y="6008274"/>
            <a:ext cx="2609850" cy="6827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800" b="1" dirty="0">
                <a:effectLst>
                  <a:outerShdw blurRad="38100" dist="38100" dir="2700000" algn="tl">
                    <a:srgbClr val="000000">
                      <a:alpha val="43137"/>
                    </a:srgbClr>
                  </a:outerShdw>
                </a:effectLst>
              </a:rPr>
              <a:t>Hukuka Uygunluk Nedenleri</a:t>
            </a:r>
            <a:endParaRPr lang="tr-TR" sz="800" dirty="0" smtClean="0"/>
          </a:p>
          <a:p>
            <a:pPr marL="285750" indent="-285750" algn="l">
              <a:spcBef>
                <a:spcPts val="0"/>
              </a:spcBef>
              <a:buFont typeface="Arial" panose="020B0604020202020204" pitchFamily="34" charset="0"/>
              <a:buChar char="•"/>
            </a:pPr>
            <a:r>
              <a:rPr lang="tr-TR" sz="800" u="sng" dirty="0" smtClean="0">
                <a:effectLst>
                  <a:outerShdw blurRad="38100" dist="38100" dir="2700000" algn="tl">
                    <a:srgbClr val="000000">
                      <a:alpha val="43137"/>
                    </a:srgbClr>
                  </a:outerShdw>
                </a:effectLst>
              </a:rPr>
              <a:t>Kanunun Hükmünü Yerine Getirme (Görevin İfası)</a:t>
            </a:r>
          </a:p>
          <a:p>
            <a:pPr marL="285750" indent="-285750" algn="l">
              <a:spcBef>
                <a:spcPts val="0"/>
              </a:spcBef>
              <a:buFont typeface="Arial" panose="020B0604020202020204" pitchFamily="34" charset="0"/>
              <a:buChar char="•"/>
            </a:pPr>
            <a:r>
              <a:rPr lang="tr-TR" sz="800" dirty="0" smtClean="0"/>
              <a:t>Meşru Savunma</a:t>
            </a:r>
          </a:p>
          <a:p>
            <a:pPr marL="285750" indent="-285750" algn="l">
              <a:spcBef>
                <a:spcPts val="0"/>
              </a:spcBef>
              <a:buFont typeface="Arial" panose="020B0604020202020204" pitchFamily="34" charset="0"/>
              <a:buChar char="•"/>
            </a:pPr>
            <a:r>
              <a:rPr lang="tr-TR" sz="800" dirty="0"/>
              <a:t>Hakkın Kullanılması</a:t>
            </a:r>
          </a:p>
          <a:p>
            <a:pPr marL="285750" indent="-285750" algn="l">
              <a:spcBef>
                <a:spcPts val="0"/>
              </a:spcBef>
              <a:buFont typeface="Arial" panose="020B0604020202020204" pitchFamily="34" charset="0"/>
              <a:buChar char="•"/>
            </a:pPr>
            <a:r>
              <a:rPr lang="tr-TR" sz="800" dirty="0" smtClean="0"/>
              <a:t>İlgilinin </a:t>
            </a:r>
            <a:r>
              <a:rPr lang="tr-TR" sz="800" dirty="0"/>
              <a:t>Rızası</a:t>
            </a:r>
          </a:p>
        </p:txBody>
      </p:sp>
      <p:sp>
        <p:nvSpPr>
          <p:cNvPr id="9" name="Alt Başlık 2"/>
          <p:cNvSpPr txBox="1">
            <a:spLocks/>
          </p:cNvSpPr>
          <p:nvPr/>
        </p:nvSpPr>
        <p:spPr>
          <a:xfrm>
            <a:off x="1842675" y="2285337"/>
            <a:ext cx="9198363"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1800" dirty="0" smtClean="0">
                <a:effectLst>
                  <a:outerShdw blurRad="38100" dist="38100" dir="2700000" algn="tl">
                    <a:srgbClr val="000000">
                      <a:alpha val="43137"/>
                    </a:srgbClr>
                  </a:outerShdw>
                </a:effectLst>
              </a:rPr>
              <a:t>Suçla Mücadelede Kolluk Görevlilerinin Suç İşleyip </a:t>
            </a:r>
            <a:r>
              <a:rPr lang="tr-TR" sz="1800" dirty="0" err="1" smtClean="0">
                <a:effectLst>
                  <a:outerShdw blurRad="38100" dist="38100" dir="2700000" algn="tl">
                    <a:srgbClr val="000000">
                      <a:alpha val="43137"/>
                    </a:srgbClr>
                  </a:outerShdw>
                </a:effectLst>
              </a:rPr>
              <a:t>İşleyemeceği</a:t>
            </a:r>
            <a:endParaRPr lang="tr-TR" sz="1800" dirty="0">
              <a:effectLst>
                <a:outerShdw blurRad="38100" dist="38100" dir="2700000" algn="tl">
                  <a:srgbClr val="000000">
                    <a:alpha val="43137"/>
                  </a:srgbClr>
                </a:outerShdw>
              </a:effectLst>
            </a:endParaRPr>
          </a:p>
        </p:txBody>
      </p:sp>
      <p:sp>
        <p:nvSpPr>
          <p:cNvPr id="7" name="Dikdörtgen 6"/>
          <p:cNvSpPr/>
          <p:nvPr/>
        </p:nvSpPr>
        <p:spPr>
          <a:xfrm>
            <a:off x="2283724" y="2808063"/>
            <a:ext cx="9070076" cy="1569660"/>
          </a:xfrm>
          <a:prstGeom prst="rect">
            <a:avLst/>
          </a:prstGeom>
        </p:spPr>
        <p:txBody>
          <a:bodyPr wrap="square">
            <a:spAutoFit/>
          </a:bodyPr>
          <a:lstStyle/>
          <a:p>
            <a:r>
              <a:rPr lang="tr-TR" sz="1200" b="1" dirty="0" smtClean="0"/>
              <a:t>5271 s. CMK</a:t>
            </a:r>
          </a:p>
          <a:p>
            <a:r>
              <a:rPr lang="fr-FR" sz="1200" b="1" dirty="0" err="1" smtClean="0"/>
              <a:t>Gizli</a:t>
            </a:r>
            <a:r>
              <a:rPr lang="fr-FR" sz="1200" b="1" dirty="0" smtClean="0"/>
              <a:t> </a:t>
            </a:r>
            <a:r>
              <a:rPr lang="fr-FR" sz="1200" b="1" dirty="0" err="1"/>
              <a:t>soruşturmacı</a:t>
            </a:r>
            <a:r>
              <a:rPr lang="fr-FR" sz="1200" b="1" dirty="0"/>
              <a:t> </a:t>
            </a:r>
            <a:r>
              <a:rPr lang="fr-FR" sz="1200" b="1" dirty="0" err="1" smtClean="0"/>
              <a:t>görevlendirilmesi</a:t>
            </a:r>
            <a:endParaRPr lang="tr-TR" sz="1200" b="1" dirty="0" smtClean="0"/>
          </a:p>
          <a:p>
            <a:pPr algn="just"/>
            <a:r>
              <a:rPr lang="fr-FR" sz="1200" b="1" dirty="0" smtClean="0"/>
              <a:t>Madde </a:t>
            </a:r>
            <a:r>
              <a:rPr lang="fr-FR" sz="1200" b="1" dirty="0"/>
              <a:t>139 – </a:t>
            </a:r>
            <a:r>
              <a:rPr lang="fr-FR" sz="1200" dirty="0"/>
              <a:t>(1) </a:t>
            </a:r>
            <a:r>
              <a:rPr lang="fr-FR" sz="1200" dirty="0" err="1" smtClean="0"/>
              <a:t>Soruşturma</a:t>
            </a:r>
            <a:r>
              <a:rPr lang="fr-FR" sz="1200" dirty="0" smtClean="0"/>
              <a:t> </a:t>
            </a:r>
            <a:r>
              <a:rPr lang="fr-FR" sz="1200" dirty="0" err="1"/>
              <a:t>konusu</a:t>
            </a:r>
            <a:r>
              <a:rPr lang="fr-FR" sz="1200" dirty="0"/>
              <a:t> </a:t>
            </a:r>
            <a:r>
              <a:rPr lang="fr-FR" sz="1200" dirty="0" err="1"/>
              <a:t>suçun</a:t>
            </a:r>
            <a:r>
              <a:rPr lang="fr-FR" sz="1200" dirty="0"/>
              <a:t> </a:t>
            </a:r>
            <a:r>
              <a:rPr lang="fr-FR" sz="1200" dirty="0" err="1"/>
              <a:t>işlendiği</a:t>
            </a:r>
            <a:r>
              <a:rPr lang="fr-FR" sz="1200" dirty="0"/>
              <a:t> </a:t>
            </a:r>
            <a:r>
              <a:rPr lang="fr-FR" sz="1200" dirty="0" err="1"/>
              <a:t>hususunda</a:t>
            </a:r>
            <a:r>
              <a:rPr lang="fr-FR" sz="1200" dirty="0"/>
              <a:t> somut </a:t>
            </a:r>
            <a:r>
              <a:rPr lang="fr-FR" sz="1200" dirty="0" err="1"/>
              <a:t>delillere</a:t>
            </a:r>
            <a:r>
              <a:rPr lang="fr-FR" sz="1200" dirty="0"/>
              <a:t> </a:t>
            </a:r>
            <a:r>
              <a:rPr lang="fr-FR" sz="1200" dirty="0" err="1"/>
              <a:t>dayanan</a:t>
            </a:r>
            <a:r>
              <a:rPr lang="fr-FR" sz="1200" dirty="0"/>
              <a:t> </a:t>
            </a:r>
            <a:r>
              <a:rPr lang="fr-FR" sz="1200" dirty="0" err="1"/>
              <a:t>kuvvetli</a:t>
            </a:r>
            <a:r>
              <a:rPr lang="fr-FR" sz="1200" dirty="0"/>
              <a:t> </a:t>
            </a:r>
            <a:r>
              <a:rPr lang="fr-FR" sz="1200" dirty="0" err="1"/>
              <a:t>şüphe</a:t>
            </a:r>
            <a:r>
              <a:rPr lang="fr-FR" sz="1200" dirty="0"/>
              <a:t> </a:t>
            </a:r>
            <a:r>
              <a:rPr lang="fr-FR" sz="1200" dirty="0" err="1"/>
              <a:t>sebeplerinin</a:t>
            </a:r>
            <a:r>
              <a:rPr lang="fr-FR" sz="1200" dirty="0"/>
              <a:t> </a:t>
            </a:r>
            <a:r>
              <a:rPr lang="fr-FR" sz="1200" dirty="0" err="1"/>
              <a:t>bulunması</a:t>
            </a:r>
            <a:r>
              <a:rPr lang="fr-FR" sz="1200" dirty="0"/>
              <a:t> ve başka surette </a:t>
            </a:r>
            <a:r>
              <a:rPr lang="fr-FR" sz="1200" dirty="0" err="1"/>
              <a:t>delil</a:t>
            </a:r>
            <a:r>
              <a:rPr lang="fr-FR" sz="1200" dirty="0"/>
              <a:t> </a:t>
            </a:r>
            <a:r>
              <a:rPr lang="fr-FR" sz="1200" dirty="0" err="1"/>
              <a:t>elde</a:t>
            </a:r>
            <a:r>
              <a:rPr lang="fr-FR" sz="1200" dirty="0"/>
              <a:t> </a:t>
            </a:r>
            <a:r>
              <a:rPr lang="fr-FR" sz="1200" dirty="0" err="1"/>
              <a:t>edilememesi</a:t>
            </a:r>
            <a:r>
              <a:rPr lang="fr-FR" sz="1200" dirty="0"/>
              <a:t> </a:t>
            </a:r>
            <a:r>
              <a:rPr lang="fr-FR" sz="1200" dirty="0" err="1"/>
              <a:t>hâlinde</a:t>
            </a:r>
            <a:r>
              <a:rPr lang="fr-FR" sz="1200" dirty="0"/>
              <a:t>, </a:t>
            </a:r>
            <a:r>
              <a:rPr lang="fr-FR" sz="1200" dirty="0" err="1"/>
              <a:t>kamu</a:t>
            </a:r>
            <a:r>
              <a:rPr lang="fr-FR" sz="1200" dirty="0"/>
              <a:t> </a:t>
            </a:r>
            <a:r>
              <a:rPr lang="fr-FR" sz="1200" dirty="0" err="1"/>
              <a:t>görevlileri</a:t>
            </a:r>
            <a:r>
              <a:rPr lang="fr-FR" sz="1200" dirty="0"/>
              <a:t> </a:t>
            </a:r>
            <a:r>
              <a:rPr lang="fr-FR" sz="1200" dirty="0" err="1"/>
              <a:t>gizli</a:t>
            </a:r>
            <a:r>
              <a:rPr lang="fr-FR" sz="1200" dirty="0"/>
              <a:t> </a:t>
            </a:r>
            <a:r>
              <a:rPr lang="fr-FR" sz="1200" dirty="0" err="1"/>
              <a:t>soruşturmacı</a:t>
            </a:r>
            <a:r>
              <a:rPr lang="fr-FR" sz="1200" dirty="0"/>
              <a:t> </a:t>
            </a:r>
            <a:r>
              <a:rPr lang="fr-FR" sz="1200" dirty="0" smtClean="0"/>
              <a:t>olarak</a:t>
            </a:r>
            <a:r>
              <a:rPr lang="tr-TR" sz="1200" dirty="0" smtClean="0"/>
              <a:t> </a:t>
            </a:r>
            <a:r>
              <a:rPr lang="fr-FR" sz="1200" dirty="0" err="1"/>
              <a:t>görevlendirilebilir</a:t>
            </a:r>
            <a:r>
              <a:rPr lang="fr-FR" sz="1200" dirty="0" smtClean="0"/>
              <a:t>.</a:t>
            </a:r>
            <a:endParaRPr lang="tr-TR" sz="1200" dirty="0" smtClean="0"/>
          </a:p>
          <a:p>
            <a:pPr algn="just"/>
            <a:r>
              <a:rPr lang="tr-TR" sz="1200" dirty="0" smtClean="0"/>
              <a:t>…</a:t>
            </a:r>
          </a:p>
          <a:p>
            <a:pPr algn="just"/>
            <a:r>
              <a:rPr lang="fr-FR" sz="1200" dirty="0"/>
              <a:t>(4) </a:t>
            </a:r>
            <a:r>
              <a:rPr lang="fr-FR" sz="1200" dirty="0" err="1"/>
              <a:t>Soruşturmacı</a:t>
            </a:r>
            <a:r>
              <a:rPr lang="fr-FR" sz="1200" dirty="0"/>
              <a:t>, </a:t>
            </a:r>
            <a:r>
              <a:rPr lang="fr-FR" sz="1200" dirty="0" err="1"/>
              <a:t>faaliyetlerini</a:t>
            </a:r>
            <a:r>
              <a:rPr lang="fr-FR" sz="1200" dirty="0"/>
              <a:t> </a:t>
            </a:r>
            <a:r>
              <a:rPr lang="fr-FR" sz="1200" dirty="0" err="1"/>
              <a:t>izlemekle</a:t>
            </a:r>
            <a:r>
              <a:rPr lang="fr-FR" sz="1200" dirty="0"/>
              <a:t> </a:t>
            </a:r>
            <a:r>
              <a:rPr lang="fr-FR" sz="1200" dirty="0" err="1"/>
              <a:t>görevlendirildiği</a:t>
            </a:r>
            <a:r>
              <a:rPr lang="fr-FR" sz="1200" dirty="0"/>
              <a:t> </a:t>
            </a:r>
            <a:r>
              <a:rPr lang="fr-FR" sz="1200" dirty="0" err="1"/>
              <a:t>örgüte</a:t>
            </a:r>
            <a:r>
              <a:rPr lang="fr-FR" sz="1200" dirty="0"/>
              <a:t> </a:t>
            </a:r>
            <a:r>
              <a:rPr lang="fr-FR" sz="1200" dirty="0" err="1"/>
              <a:t>ilişkin</a:t>
            </a:r>
            <a:r>
              <a:rPr lang="fr-FR" sz="1200" dirty="0"/>
              <a:t> </a:t>
            </a:r>
            <a:r>
              <a:rPr lang="fr-FR" sz="1200" dirty="0" err="1"/>
              <a:t>her</a:t>
            </a:r>
            <a:r>
              <a:rPr lang="fr-FR" sz="1200" dirty="0"/>
              <a:t> </a:t>
            </a:r>
            <a:r>
              <a:rPr lang="fr-FR" sz="1200" dirty="0" err="1"/>
              <a:t>türlü</a:t>
            </a:r>
            <a:r>
              <a:rPr lang="fr-FR" sz="1200" dirty="0"/>
              <a:t> </a:t>
            </a:r>
            <a:r>
              <a:rPr lang="fr-FR" sz="1200" dirty="0" err="1"/>
              <a:t>araştırmada</a:t>
            </a:r>
            <a:r>
              <a:rPr lang="fr-FR" sz="1200" dirty="0"/>
              <a:t> bulunmak ve bu </a:t>
            </a:r>
            <a:r>
              <a:rPr lang="fr-FR" sz="1200" dirty="0" err="1"/>
              <a:t>örgütün</a:t>
            </a:r>
            <a:r>
              <a:rPr lang="fr-FR" sz="1200" dirty="0"/>
              <a:t> </a:t>
            </a:r>
            <a:r>
              <a:rPr lang="fr-FR" sz="1200" dirty="0" err="1"/>
              <a:t>faaliyetleri</a:t>
            </a:r>
            <a:r>
              <a:rPr lang="fr-FR" sz="1200" dirty="0"/>
              <a:t> çerçevesinde </a:t>
            </a:r>
            <a:r>
              <a:rPr lang="fr-FR" sz="1200" dirty="0" err="1"/>
              <a:t>işlenen</a:t>
            </a:r>
            <a:r>
              <a:rPr lang="fr-FR" sz="1200" dirty="0"/>
              <a:t> </a:t>
            </a:r>
            <a:r>
              <a:rPr lang="fr-FR" sz="1200" dirty="0" err="1"/>
              <a:t>suçlarla</a:t>
            </a:r>
            <a:r>
              <a:rPr lang="fr-FR" sz="1200" dirty="0"/>
              <a:t> ilgili </a:t>
            </a:r>
            <a:r>
              <a:rPr lang="fr-FR" sz="1200" dirty="0" err="1"/>
              <a:t>delilleri</a:t>
            </a:r>
            <a:r>
              <a:rPr lang="fr-FR" sz="1200" dirty="0"/>
              <a:t> </a:t>
            </a:r>
            <a:r>
              <a:rPr lang="fr-FR" sz="1200" dirty="0" err="1"/>
              <a:t>toplamakla</a:t>
            </a:r>
            <a:r>
              <a:rPr lang="fr-FR" sz="1200" dirty="0"/>
              <a:t> </a:t>
            </a:r>
            <a:r>
              <a:rPr lang="fr-FR" sz="1200" dirty="0" err="1"/>
              <a:t>yükümlüdür</a:t>
            </a:r>
            <a:r>
              <a:rPr lang="fr-FR" sz="1200" dirty="0" smtClean="0"/>
              <a:t>.</a:t>
            </a:r>
            <a:endParaRPr lang="tr-TR" sz="1200" dirty="0" smtClean="0"/>
          </a:p>
          <a:p>
            <a:pPr algn="just"/>
            <a:r>
              <a:rPr lang="fr-FR" sz="1200" dirty="0"/>
              <a:t>(5) </a:t>
            </a:r>
            <a:r>
              <a:rPr lang="fr-FR" sz="1200" dirty="0" err="1"/>
              <a:t>Soruşturmacı</a:t>
            </a:r>
            <a:r>
              <a:rPr lang="fr-FR" sz="1200" dirty="0"/>
              <a:t>, görevini yerine </a:t>
            </a:r>
            <a:r>
              <a:rPr lang="fr-FR" sz="1200" dirty="0" err="1"/>
              <a:t>getirirken</a:t>
            </a:r>
            <a:r>
              <a:rPr lang="fr-FR" sz="1200" dirty="0"/>
              <a:t> </a:t>
            </a:r>
            <a:r>
              <a:rPr lang="fr-FR" sz="1200" dirty="0" err="1"/>
              <a:t>suç</a:t>
            </a:r>
            <a:r>
              <a:rPr lang="fr-FR" sz="1200" dirty="0"/>
              <a:t> </a:t>
            </a:r>
            <a:r>
              <a:rPr lang="fr-FR" sz="1200" dirty="0" err="1"/>
              <a:t>işleyemez</a:t>
            </a:r>
            <a:r>
              <a:rPr lang="fr-FR" sz="1200" dirty="0"/>
              <a:t> ve </a:t>
            </a:r>
            <a:r>
              <a:rPr lang="fr-FR" sz="1200" dirty="0" err="1"/>
              <a:t>görevlendirildiği</a:t>
            </a:r>
            <a:r>
              <a:rPr lang="fr-FR" sz="1200" dirty="0"/>
              <a:t> </a:t>
            </a:r>
            <a:r>
              <a:rPr lang="fr-FR" sz="1200" dirty="0" err="1"/>
              <a:t>örgütün</a:t>
            </a:r>
            <a:r>
              <a:rPr lang="fr-FR" sz="1200" dirty="0"/>
              <a:t> </a:t>
            </a:r>
            <a:r>
              <a:rPr lang="fr-FR" sz="1200" dirty="0" err="1"/>
              <a:t>işlemekte</a:t>
            </a:r>
            <a:r>
              <a:rPr lang="fr-FR" sz="1200" dirty="0"/>
              <a:t> olduğu </a:t>
            </a:r>
            <a:r>
              <a:rPr lang="fr-FR" sz="1200" dirty="0" err="1"/>
              <a:t>suçlardan</a:t>
            </a:r>
            <a:r>
              <a:rPr lang="fr-FR" sz="1200" dirty="0"/>
              <a:t> </a:t>
            </a:r>
            <a:r>
              <a:rPr lang="fr-FR" sz="1200" dirty="0" err="1"/>
              <a:t>sorumlu</a:t>
            </a:r>
            <a:r>
              <a:rPr lang="fr-FR" sz="1200" dirty="0"/>
              <a:t> </a:t>
            </a:r>
            <a:r>
              <a:rPr lang="fr-FR" sz="1200" dirty="0" err="1"/>
              <a:t>tutulamaz</a:t>
            </a:r>
            <a:r>
              <a:rPr lang="fr-FR" sz="1200" dirty="0"/>
              <a:t>.</a:t>
            </a:r>
          </a:p>
        </p:txBody>
      </p:sp>
      <p:sp>
        <p:nvSpPr>
          <p:cNvPr id="18" name="Dikdörtgen 17"/>
          <p:cNvSpPr/>
          <p:nvPr/>
        </p:nvSpPr>
        <p:spPr>
          <a:xfrm>
            <a:off x="2790826" y="4388138"/>
            <a:ext cx="8661779" cy="307777"/>
          </a:xfrm>
          <a:prstGeom prst="rect">
            <a:avLst/>
          </a:prstGeom>
        </p:spPr>
        <p:txBody>
          <a:bodyPr wrap="square">
            <a:spAutoFit/>
          </a:bodyPr>
          <a:lstStyle/>
          <a:p>
            <a:endParaRPr lang="fr-FR" sz="1400" dirty="0"/>
          </a:p>
        </p:txBody>
      </p:sp>
      <p:sp>
        <p:nvSpPr>
          <p:cNvPr id="19" name="Dikdörtgen 18"/>
          <p:cNvSpPr/>
          <p:nvPr/>
        </p:nvSpPr>
        <p:spPr>
          <a:xfrm>
            <a:off x="2283724" y="4621831"/>
            <a:ext cx="9251051" cy="738664"/>
          </a:xfrm>
          <a:prstGeom prst="rect">
            <a:avLst/>
          </a:prstGeom>
        </p:spPr>
        <p:txBody>
          <a:bodyPr wrap="square">
            <a:spAutoFit/>
          </a:bodyPr>
          <a:lstStyle/>
          <a:p>
            <a:pPr algn="just"/>
            <a:r>
              <a:rPr lang="tr-TR" sz="1400" b="1" dirty="0" smtClean="0"/>
              <a:t>Kontrollü Teslimat </a:t>
            </a:r>
            <a:r>
              <a:rPr lang="tr-TR" sz="1400" dirty="0" smtClean="0"/>
              <a:t>(4208 s. Kanun kapsamında) : Bir suç soruşturmasında faillerin kimliklerinin tespiti, suç konusu malların yakalanması ve delillerin tespiti amacıyla, soruşturma makamlarının bilgisi ve sorumluluğu dahilinde, yasadışı malların ülkeye girmesine, ülkeden geçmesine veya çıkmasına müsaade etmektir. </a:t>
            </a:r>
            <a:endParaRPr lang="fr-FR" sz="1400" dirty="0"/>
          </a:p>
        </p:txBody>
      </p:sp>
      <p:sp>
        <p:nvSpPr>
          <p:cNvPr id="20" name="Dikdörtgen 19"/>
          <p:cNvSpPr/>
          <p:nvPr/>
        </p:nvSpPr>
        <p:spPr>
          <a:xfrm>
            <a:off x="2034796" y="5594188"/>
            <a:ext cx="9148996" cy="307777"/>
          </a:xfrm>
          <a:prstGeom prst="rect">
            <a:avLst/>
          </a:prstGeom>
        </p:spPr>
        <p:txBody>
          <a:bodyPr wrap="square">
            <a:spAutoFit/>
          </a:bodyPr>
          <a:lstStyle/>
          <a:p>
            <a:pPr algn="just"/>
            <a:r>
              <a:rPr lang="tr-TR" sz="1400" b="1" dirty="0" smtClean="0"/>
              <a:t>Her 2 durumda da polisin suç işleme, tamamen masum kişileri suça itme veya suç işlenmesini teşvik etme hakkı YOKTUR. </a:t>
            </a:r>
            <a:endParaRPr lang="fr-FR" sz="1400" dirty="0"/>
          </a:p>
        </p:txBody>
      </p:sp>
      <p:sp>
        <p:nvSpPr>
          <p:cNvPr id="11"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52</a:t>
            </a:fld>
            <a:r>
              <a:rPr lang="tr-TR"/>
              <a:t>/116</a:t>
            </a:r>
          </a:p>
        </p:txBody>
      </p:sp>
    </p:spTree>
    <p:extLst>
      <p:ext uri="{BB962C8B-B14F-4D97-AF65-F5344CB8AC3E}">
        <p14:creationId xmlns:p14="http://schemas.microsoft.com/office/powerpoint/2010/main" val="65433359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10" name="Alt Başlık 2"/>
          <p:cNvSpPr txBox="1">
            <a:spLocks/>
          </p:cNvSpPr>
          <p:nvPr/>
        </p:nvSpPr>
        <p:spPr>
          <a:xfrm>
            <a:off x="180976" y="6008274"/>
            <a:ext cx="2609850" cy="6827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800" b="1" dirty="0">
                <a:effectLst>
                  <a:outerShdw blurRad="38100" dist="38100" dir="2700000" algn="tl">
                    <a:srgbClr val="000000">
                      <a:alpha val="43137"/>
                    </a:srgbClr>
                  </a:outerShdw>
                </a:effectLst>
              </a:rPr>
              <a:t>Hukuka Uygunluk Nedenleri</a:t>
            </a:r>
            <a:endParaRPr lang="tr-TR" sz="800" dirty="0" smtClean="0"/>
          </a:p>
          <a:p>
            <a:pPr marL="285750" indent="-285750" algn="l">
              <a:spcBef>
                <a:spcPts val="0"/>
              </a:spcBef>
              <a:buFont typeface="Arial" panose="020B0604020202020204" pitchFamily="34" charset="0"/>
              <a:buChar char="•"/>
            </a:pPr>
            <a:r>
              <a:rPr lang="tr-TR" sz="800" dirty="0" smtClean="0"/>
              <a:t>Kanunun Hükmünü Yerine Getirme (Görevin İfası)</a:t>
            </a:r>
          </a:p>
          <a:p>
            <a:pPr marL="285750" indent="-285750" algn="l">
              <a:spcBef>
                <a:spcPts val="0"/>
              </a:spcBef>
              <a:buFont typeface="Arial" panose="020B0604020202020204" pitchFamily="34" charset="0"/>
              <a:buChar char="•"/>
            </a:pPr>
            <a:r>
              <a:rPr lang="tr-TR" sz="800" u="sng" dirty="0" smtClean="0">
                <a:effectLst>
                  <a:outerShdw blurRad="38100" dist="38100" dir="2700000" algn="tl">
                    <a:srgbClr val="000000">
                      <a:alpha val="43137"/>
                    </a:srgbClr>
                  </a:outerShdw>
                </a:effectLst>
              </a:rPr>
              <a:t>Meşru Savunma</a:t>
            </a:r>
          </a:p>
          <a:p>
            <a:pPr marL="285750" indent="-285750" algn="l">
              <a:spcBef>
                <a:spcPts val="0"/>
              </a:spcBef>
              <a:buFont typeface="Arial" panose="020B0604020202020204" pitchFamily="34" charset="0"/>
              <a:buChar char="•"/>
            </a:pPr>
            <a:r>
              <a:rPr lang="tr-TR" sz="800" dirty="0"/>
              <a:t>Hakkın Kullanılması</a:t>
            </a:r>
          </a:p>
          <a:p>
            <a:pPr marL="285750" indent="-285750" algn="l">
              <a:spcBef>
                <a:spcPts val="0"/>
              </a:spcBef>
              <a:buFont typeface="Arial" panose="020B0604020202020204" pitchFamily="34" charset="0"/>
              <a:buChar char="•"/>
            </a:pPr>
            <a:r>
              <a:rPr lang="tr-TR" sz="800" dirty="0" smtClean="0"/>
              <a:t>İlgilinin </a:t>
            </a:r>
            <a:r>
              <a:rPr lang="tr-TR" sz="800" dirty="0"/>
              <a:t>Rızası</a:t>
            </a:r>
          </a:p>
        </p:txBody>
      </p:sp>
      <p:sp>
        <p:nvSpPr>
          <p:cNvPr id="9" name="Alt Başlık 2"/>
          <p:cNvSpPr txBox="1">
            <a:spLocks/>
          </p:cNvSpPr>
          <p:nvPr/>
        </p:nvSpPr>
        <p:spPr>
          <a:xfrm>
            <a:off x="1842675" y="2285337"/>
            <a:ext cx="9198363" cy="517036"/>
          </a:xfrm>
          <a:prstGeom prst="rect">
            <a:avLst/>
          </a:prstGeom>
        </p:spPr>
        <p:txBody>
          <a:bodyPr vert="horz" lIns="91440" tIns="45720" rIns="91440" bIns="45720" rtlCol="0">
            <a:noAutofit/>
          </a:bodyPr>
          <a:lstStyle>
            <a:defPPr>
              <a:defRPr lang="tr-TR"/>
            </a:defPPr>
            <a:lvl1pPr marL="285750" indent="-285750">
              <a:lnSpc>
                <a:spcPct val="90000"/>
              </a:lnSpc>
              <a:spcBef>
                <a:spcPts val="1000"/>
              </a:spcBef>
              <a:buFont typeface="Arial" panose="020B0604020202020204" pitchFamily="34" charset="0"/>
              <a:buChar char="•"/>
              <a:defRPr sz="2000">
                <a:effectLst>
                  <a:outerShdw blurRad="38100" dist="38100" dir="2700000" algn="tl">
                    <a:srgbClr val="000000">
                      <a:alpha val="43137"/>
                    </a:srgbClr>
                  </a:outerShdw>
                </a:effectLst>
              </a:defRPr>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r>
              <a:rPr lang="tr-TR" dirty="0"/>
              <a:t>Meşru Savunma</a:t>
            </a:r>
          </a:p>
        </p:txBody>
      </p:sp>
      <p:sp>
        <p:nvSpPr>
          <p:cNvPr id="18" name="Dikdörtgen 17"/>
          <p:cNvSpPr/>
          <p:nvPr/>
        </p:nvSpPr>
        <p:spPr>
          <a:xfrm>
            <a:off x="2790826" y="4388138"/>
            <a:ext cx="8661779" cy="307777"/>
          </a:xfrm>
          <a:prstGeom prst="rect">
            <a:avLst/>
          </a:prstGeom>
        </p:spPr>
        <p:txBody>
          <a:bodyPr wrap="square">
            <a:spAutoFit/>
          </a:bodyPr>
          <a:lstStyle/>
          <a:p>
            <a:endParaRPr lang="fr-FR" sz="1400" dirty="0"/>
          </a:p>
        </p:txBody>
      </p:sp>
      <p:sp>
        <p:nvSpPr>
          <p:cNvPr id="20" name="Dikdörtgen 19"/>
          <p:cNvSpPr/>
          <p:nvPr/>
        </p:nvSpPr>
        <p:spPr>
          <a:xfrm>
            <a:off x="2475809" y="2678278"/>
            <a:ext cx="8735116" cy="830997"/>
          </a:xfrm>
          <a:prstGeom prst="rect">
            <a:avLst/>
          </a:prstGeom>
        </p:spPr>
        <p:txBody>
          <a:bodyPr wrap="square">
            <a:spAutoFit/>
          </a:bodyPr>
          <a:lstStyle/>
          <a:p>
            <a:pPr algn="just"/>
            <a:r>
              <a:rPr lang="tr-TR" sz="1200" b="1" dirty="0" smtClean="0"/>
              <a:t>5237 s. TCK </a:t>
            </a:r>
          </a:p>
          <a:p>
            <a:pPr algn="just"/>
            <a:r>
              <a:rPr lang="fr-FR" sz="1200" b="1" dirty="0" smtClean="0"/>
              <a:t>Meşru </a:t>
            </a:r>
            <a:r>
              <a:rPr lang="fr-FR" sz="1200" b="1" dirty="0" err="1"/>
              <a:t>savunma</a:t>
            </a:r>
            <a:r>
              <a:rPr lang="fr-FR" sz="1200" b="1" dirty="0"/>
              <a:t> ve </a:t>
            </a:r>
            <a:r>
              <a:rPr lang="fr-FR" sz="1200" b="1" dirty="0" err="1"/>
              <a:t>zorunluluk</a:t>
            </a:r>
            <a:r>
              <a:rPr lang="fr-FR" sz="1200" b="1" dirty="0"/>
              <a:t> </a:t>
            </a:r>
            <a:r>
              <a:rPr lang="fr-FR" sz="1200" b="1" dirty="0" err="1" smtClean="0"/>
              <a:t>hali</a:t>
            </a:r>
            <a:endParaRPr lang="tr-TR" sz="1200" b="1" dirty="0" smtClean="0"/>
          </a:p>
          <a:p>
            <a:pPr algn="just"/>
            <a:r>
              <a:rPr lang="fr-FR" sz="1200" b="1" dirty="0" smtClean="0"/>
              <a:t>Madde </a:t>
            </a:r>
            <a:r>
              <a:rPr lang="fr-FR" sz="1200" b="1" dirty="0"/>
              <a:t>25- </a:t>
            </a:r>
            <a:r>
              <a:rPr lang="fr-FR" sz="1200" dirty="0"/>
              <a:t>(1) </a:t>
            </a:r>
            <a:r>
              <a:rPr lang="fr-FR" sz="1200" dirty="0" err="1"/>
              <a:t>Gerek</a:t>
            </a:r>
            <a:r>
              <a:rPr lang="fr-FR" sz="1200" dirty="0"/>
              <a:t> kendisine ve </a:t>
            </a:r>
            <a:r>
              <a:rPr lang="fr-FR" sz="1200" dirty="0" err="1"/>
              <a:t>gerek</a:t>
            </a:r>
            <a:r>
              <a:rPr lang="fr-FR" sz="1200" dirty="0"/>
              <a:t> </a:t>
            </a:r>
            <a:r>
              <a:rPr lang="fr-FR" sz="1200" dirty="0" err="1"/>
              <a:t>başkasına</a:t>
            </a:r>
            <a:r>
              <a:rPr lang="fr-FR" sz="1200" dirty="0"/>
              <a:t> ait bir hakka </a:t>
            </a:r>
            <a:r>
              <a:rPr lang="fr-FR" sz="1200" dirty="0" err="1"/>
              <a:t>yönelmiş</a:t>
            </a:r>
            <a:r>
              <a:rPr lang="fr-FR" sz="1200" dirty="0"/>
              <a:t>, </a:t>
            </a:r>
            <a:r>
              <a:rPr lang="fr-FR" sz="1200" dirty="0" err="1"/>
              <a:t>gerçekleşen</a:t>
            </a:r>
            <a:r>
              <a:rPr lang="fr-FR" sz="1200" dirty="0"/>
              <a:t>, </a:t>
            </a:r>
            <a:r>
              <a:rPr lang="fr-FR" sz="1200" dirty="0" err="1"/>
              <a:t>gerçekleşmesi</a:t>
            </a:r>
            <a:r>
              <a:rPr lang="fr-FR" sz="1200" dirty="0"/>
              <a:t> veya </a:t>
            </a:r>
            <a:r>
              <a:rPr lang="fr-FR" sz="1200" dirty="0" err="1"/>
              <a:t>tekrarı</a:t>
            </a:r>
            <a:r>
              <a:rPr lang="fr-FR" sz="1200" dirty="0"/>
              <a:t> </a:t>
            </a:r>
            <a:r>
              <a:rPr lang="fr-FR" sz="1200" dirty="0" err="1"/>
              <a:t>muhakkak</a:t>
            </a:r>
            <a:r>
              <a:rPr lang="fr-FR" sz="1200" dirty="0"/>
              <a:t> olan </a:t>
            </a:r>
            <a:r>
              <a:rPr lang="fr-FR" sz="1200" dirty="0" err="1"/>
              <a:t>haksız</a:t>
            </a:r>
            <a:r>
              <a:rPr lang="fr-FR" sz="1200" dirty="0"/>
              <a:t> bir </a:t>
            </a:r>
            <a:r>
              <a:rPr lang="fr-FR" sz="1200" dirty="0" err="1"/>
              <a:t>saldırıyı</a:t>
            </a:r>
            <a:r>
              <a:rPr lang="fr-FR" sz="1200" dirty="0"/>
              <a:t> o anda </a:t>
            </a:r>
            <a:r>
              <a:rPr lang="fr-FR" sz="1200" dirty="0" err="1"/>
              <a:t>hal</a:t>
            </a:r>
            <a:r>
              <a:rPr lang="fr-FR" sz="1200" dirty="0"/>
              <a:t> ve </a:t>
            </a:r>
            <a:r>
              <a:rPr lang="fr-FR" sz="1200" dirty="0" err="1"/>
              <a:t>koşullara</a:t>
            </a:r>
            <a:r>
              <a:rPr lang="fr-FR" sz="1200" dirty="0"/>
              <a:t> göre </a:t>
            </a:r>
            <a:r>
              <a:rPr lang="fr-FR" sz="1200" dirty="0" err="1"/>
              <a:t>saldırı</a:t>
            </a:r>
            <a:r>
              <a:rPr lang="fr-FR" sz="1200" dirty="0"/>
              <a:t> ile </a:t>
            </a:r>
            <a:r>
              <a:rPr lang="fr-FR" sz="1200" dirty="0" err="1"/>
              <a:t>orantılı</a:t>
            </a:r>
            <a:r>
              <a:rPr lang="fr-FR" sz="1200" dirty="0"/>
              <a:t> </a:t>
            </a:r>
            <a:r>
              <a:rPr lang="fr-FR" sz="1200" dirty="0" err="1"/>
              <a:t>biçimde</a:t>
            </a:r>
            <a:r>
              <a:rPr lang="fr-FR" sz="1200" dirty="0"/>
              <a:t> </a:t>
            </a:r>
            <a:r>
              <a:rPr lang="fr-FR" sz="1200" dirty="0" err="1"/>
              <a:t>defetmek</a:t>
            </a:r>
            <a:r>
              <a:rPr lang="fr-FR" sz="1200" dirty="0"/>
              <a:t> </a:t>
            </a:r>
            <a:r>
              <a:rPr lang="fr-FR" sz="1200" dirty="0" err="1"/>
              <a:t>zorunluluğu</a:t>
            </a:r>
            <a:r>
              <a:rPr lang="fr-FR" sz="1200" dirty="0"/>
              <a:t> ile </a:t>
            </a:r>
            <a:r>
              <a:rPr lang="fr-FR" sz="1200" dirty="0" err="1"/>
              <a:t>işlenen</a:t>
            </a:r>
            <a:r>
              <a:rPr lang="fr-FR" sz="1200" dirty="0"/>
              <a:t> </a:t>
            </a:r>
            <a:r>
              <a:rPr lang="fr-FR" sz="1200" dirty="0" err="1"/>
              <a:t>fiillerden</a:t>
            </a:r>
            <a:r>
              <a:rPr lang="fr-FR" sz="1200" dirty="0"/>
              <a:t> </a:t>
            </a:r>
            <a:r>
              <a:rPr lang="fr-FR" sz="1200" dirty="0" err="1"/>
              <a:t>dolayı</a:t>
            </a:r>
            <a:r>
              <a:rPr lang="fr-FR" sz="1200" dirty="0"/>
              <a:t> </a:t>
            </a:r>
            <a:r>
              <a:rPr lang="fr-FR" sz="1200" dirty="0" err="1"/>
              <a:t>faile</a:t>
            </a:r>
            <a:r>
              <a:rPr lang="fr-FR" sz="1200" dirty="0"/>
              <a:t> </a:t>
            </a:r>
            <a:r>
              <a:rPr lang="fr-FR" sz="1200" dirty="0" err="1"/>
              <a:t>ceza</a:t>
            </a:r>
            <a:r>
              <a:rPr lang="fr-FR" sz="1200" dirty="0"/>
              <a:t> </a:t>
            </a:r>
            <a:r>
              <a:rPr lang="fr-FR" sz="1200" dirty="0" err="1"/>
              <a:t>verilmez</a:t>
            </a:r>
            <a:r>
              <a:rPr lang="fr-FR" sz="1200" dirty="0"/>
              <a:t>.</a:t>
            </a:r>
          </a:p>
        </p:txBody>
      </p:sp>
      <p:sp>
        <p:nvSpPr>
          <p:cNvPr id="8"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53</a:t>
            </a:fld>
            <a:r>
              <a:rPr lang="tr-TR"/>
              <a:t>/116</a:t>
            </a:r>
          </a:p>
        </p:txBody>
      </p:sp>
    </p:spTree>
    <p:extLst>
      <p:ext uri="{BB962C8B-B14F-4D97-AF65-F5344CB8AC3E}">
        <p14:creationId xmlns:p14="http://schemas.microsoft.com/office/powerpoint/2010/main" val="131142546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10" name="Alt Başlık 2"/>
          <p:cNvSpPr txBox="1">
            <a:spLocks/>
          </p:cNvSpPr>
          <p:nvPr/>
        </p:nvSpPr>
        <p:spPr>
          <a:xfrm>
            <a:off x="180976" y="6008274"/>
            <a:ext cx="2609850" cy="6827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800" b="1" dirty="0">
                <a:effectLst>
                  <a:outerShdw blurRad="38100" dist="38100" dir="2700000" algn="tl">
                    <a:srgbClr val="000000">
                      <a:alpha val="43137"/>
                    </a:srgbClr>
                  </a:outerShdw>
                </a:effectLst>
              </a:rPr>
              <a:t>Hukuka Uygunluk Nedenleri</a:t>
            </a:r>
            <a:endParaRPr lang="tr-TR" sz="800" dirty="0" smtClean="0"/>
          </a:p>
          <a:p>
            <a:pPr marL="285750" indent="-285750" algn="l">
              <a:spcBef>
                <a:spcPts val="0"/>
              </a:spcBef>
              <a:buFont typeface="Arial" panose="020B0604020202020204" pitchFamily="34" charset="0"/>
              <a:buChar char="•"/>
            </a:pPr>
            <a:r>
              <a:rPr lang="tr-TR" sz="800" dirty="0" smtClean="0"/>
              <a:t>Kanunun Hükmünü Yerine Getirme (Görevin İfası)</a:t>
            </a:r>
          </a:p>
          <a:p>
            <a:pPr marL="285750" indent="-285750" algn="l">
              <a:spcBef>
                <a:spcPts val="0"/>
              </a:spcBef>
              <a:buFont typeface="Arial" panose="020B0604020202020204" pitchFamily="34" charset="0"/>
              <a:buChar char="•"/>
            </a:pPr>
            <a:r>
              <a:rPr lang="tr-TR" sz="800" u="sng" dirty="0" smtClean="0">
                <a:effectLst>
                  <a:outerShdw blurRad="38100" dist="38100" dir="2700000" algn="tl">
                    <a:srgbClr val="000000">
                      <a:alpha val="43137"/>
                    </a:srgbClr>
                  </a:outerShdw>
                </a:effectLst>
              </a:rPr>
              <a:t>Meşru Savunma</a:t>
            </a:r>
          </a:p>
          <a:p>
            <a:pPr marL="285750" indent="-285750" algn="l">
              <a:spcBef>
                <a:spcPts val="0"/>
              </a:spcBef>
              <a:buFont typeface="Arial" panose="020B0604020202020204" pitchFamily="34" charset="0"/>
              <a:buChar char="•"/>
            </a:pPr>
            <a:r>
              <a:rPr lang="tr-TR" sz="800" dirty="0"/>
              <a:t>Hakkın Kullanılması</a:t>
            </a:r>
          </a:p>
          <a:p>
            <a:pPr marL="285750" indent="-285750" algn="l">
              <a:spcBef>
                <a:spcPts val="0"/>
              </a:spcBef>
              <a:buFont typeface="Arial" panose="020B0604020202020204" pitchFamily="34" charset="0"/>
              <a:buChar char="•"/>
            </a:pPr>
            <a:r>
              <a:rPr lang="tr-TR" sz="800" dirty="0" smtClean="0"/>
              <a:t>İlgilinin </a:t>
            </a:r>
            <a:r>
              <a:rPr lang="tr-TR" sz="800" dirty="0"/>
              <a:t>Rızası</a:t>
            </a:r>
          </a:p>
        </p:txBody>
      </p:sp>
      <p:sp>
        <p:nvSpPr>
          <p:cNvPr id="9" name="Alt Başlık 2"/>
          <p:cNvSpPr txBox="1">
            <a:spLocks/>
          </p:cNvSpPr>
          <p:nvPr/>
        </p:nvSpPr>
        <p:spPr>
          <a:xfrm>
            <a:off x="1842675" y="2285337"/>
            <a:ext cx="9198363" cy="517036"/>
          </a:xfrm>
          <a:prstGeom prst="rect">
            <a:avLst/>
          </a:prstGeom>
        </p:spPr>
        <p:txBody>
          <a:bodyPr vert="horz" lIns="91440" tIns="45720" rIns="91440" bIns="45720" rtlCol="0">
            <a:noAutofit/>
          </a:bodyPr>
          <a:lstStyle>
            <a:defPPr>
              <a:defRPr lang="tr-TR"/>
            </a:defPPr>
            <a:lvl1pPr marL="285750" indent="-285750">
              <a:lnSpc>
                <a:spcPct val="90000"/>
              </a:lnSpc>
              <a:spcBef>
                <a:spcPts val="1000"/>
              </a:spcBef>
              <a:buFont typeface="Arial" panose="020B0604020202020204" pitchFamily="34" charset="0"/>
              <a:buChar char="•"/>
              <a:defRPr sz="2000">
                <a:effectLst>
                  <a:outerShdw blurRad="38100" dist="38100" dir="2700000" algn="tl">
                    <a:srgbClr val="000000">
                      <a:alpha val="43137"/>
                    </a:srgbClr>
                  </a:outerShdw>
                </a:effectLst>
              </a:defRPr>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pPr marL="0" indent="0" algn="ctr">
              <a:buNone/>
            </a:pPr>
            <a:r>
              <a:rPr lang="tr-TR" b="1" dirty="0" smtClean="0"/>
              <a:t>M e ş r u  S a v u n m a</a:t>
            </a:r>
            <a:endParaRPr lang="tr-TR" b="1" dirty="0"/>
          </a:p>
        </p:txBody>
      </p:sp>
      <p:sp>
        <p:nvSpPr>
          <p:cNvPr id="18" name="Dikdörtgen 17"/>
          <p:cNvSpPr/>
          <p:nvPr/>
        </p:nvSpPr>
        <p:spPr>
          <a:xfrm>
            <a:off x="2790826" y="4388138"/>
            <a:ext cx="8661779" cy="307777"/>
          </a:xfrm>
          <a:prstGeom prst="rect">
            <a:avLst/>
          </a:prstGeom>
        </p:spPr>
        <p:txBody>
          <a:bodyPr wrap="square">
            <a:spAutoFit/>
          </a:bodyPr>
          <a:lstStyle/>
          <a:p>
            <a:endParaRPr lang="fr-FR" sz="1400" dirty="0"/>
          </a:p>
        </p:txBody>
      </p:sp>
      <p:sp>
        <p:nvSpPr>
          <p:cNvPr id="20" name="Dikdörtgen 19"/>
          <p:cNvSpPr/>
          <p:nvPr/>
        </p:nvSpPr>
        <p:spPr>
          <a:xfrm>
            <a:off x="3073054" y="2854026"/>
            <a:ext cx="2696997" cy="338554"/>
          </a:xfrm>
          <a:prstGeom prst="rect">
            <a:avLst/>
          </a:prstGeom>
        </p:spPr>
        <p:txBody>
          <a:bodyPr wrap="square">
            <a:spAutoFit/>
          </a:bodyPr>
          <a:lstStyle/>
          <a:p>
            <a:pPr algn="just"/>
            <a:r>
              <a:rPr lang="tr-TR" sz="1600" b="1" dirty="0" smtClean="0"/>
              <a:t>Saldırıya ilişkin şartlar</a:t>
            </a:r>
            <a:endParaRPr lang="fr-FR" sz="1600" dirty="0"/>
          </a:p>
        </p:txBody>
      </p:sp>
      <p:sp>
        <p:nvSpPr>
          <p:cNvPr id="11" name="Dikdörtgen 10"/>
          <p:cNvSpPr/>
          <p:nvPr/>
        </p:nvSpPr>
        <p:spPr>
          <a:xfrm>
            <a:off x="7963041" y="2867771"/>
            <a:ext cx="2696997" cy="338554"/>
          </a:xfrm>
          <a:prstGeom prst="rect">
            <a:avLst/>
          </a:prstGeom>
        </p:spPr>
        <p:txBody>
          <a:bodyPr wrap="square">
            <a:spAutoFit/>
          </a:bodyPr>
          <a:lstStyle/>
          <a:p>
            <a:pPr algn="just"/>
            <a:r>
              <a:rPr lang="tr-TR" sz="1600" b="1" dirty="0" smtClean="0"/>
              <a:t>Savunmaya ilişkin şartlar</a:t>
            </a:r>
            <a:endParaRPr lang="fr-FR" sz="1600" dirty="0"/>
          </a:p>
        </p:txBody>
      </p:sp>
      <p:sp>
        <p:nvSpPr>
          <p:cNvPr id="12" name="Dikdörtgen 11"/>
          <p:cNvSpPr/>
          <p:nvPr/>
        </p:nvSpPr>
        <p:spPr>
          <a:xfrm>
            <a:off x="2259331" y="3139180"/>
            <a:ext cx="4911143" cy="2731517"/>
          </a:xfrm>
          <a:prstGeom prst="rect">
            <a:avLst/>
          </a:prstGeom>
        </p:spPr>
        <p:txBody>
          <a:bodyPr wrap="square">
            <a:spAutoFit/>
          </a:bodyPr>
          <a:lstStyle/>
          <a:p>
            <a:pPr marL="104775" indent="-104775" algn="just">
              <a:buFont typeface="Arial" panose="020B0604020202020204" pitchFamily="34" charset="0"/>
              <a:buChar char="•"/>
            </a:pPr>
            <a:r>
              <a:rPr lang="tr-TR" sz="1400" dirty="0"/>
              <a:t>Maddi nitelikli bir saldırının varlığı</a:t>
            </a:r>
          </a:p>
          <a:p>
            <a:pPr marL="104775" indent="-104775" algn="just">
              <a:buFont typeface="Arial" panose="020B0604020202020204" pitchFamily="34" charset="0"/>
              <a:buChar char="•"/>
            </a:pPr>
            <a:r>
              <a:rPr lang="tr-TR" sz="1400" dirty="0"/>
              <a:t>Saldırının haksız olması</a:t>
            </a:r>
          </a:p>
          <a:p>
            <a:pPr marL="257175" indent="-76200" algn="just">
              <a:buFont typeface="Wingdings" panose="05000000000000000000" pitchFamily="2" charset="2"/>
              <a:buChar char="ü"/>
            </a:pPr>
            <a:r>
              <a:rPr lang="tr-TR" sz="1050" dirty="0" smtClean="0"/>
              <a:t>Hukuka aykırı olması yeterlidir, suç olması gerekmez</a:t>
            </a:r>
          </a:p>
          <a:p>
            <a:pPr marL="257175" indent="-76200" algn="just">
              <a:buFont typeface="Wingdings" panose="05000000000000000000" pitchFamily="2" charset="2"/>
              <a:buChar char="ü"/>
            </a:pPr>
            <a:r>
              <a:rPr lang="tr-TR" sz="1050" dirty="0"/>
              <a:t>S</a:t>
            </a:r>
            <a:r>
              <a:rPr lang="tr-TR" sz="1050" dirty="0" smtClean="0"/>
              <a:t>aldırıda </a:t>
            </a:r>
            <a:r>
              <a:rPr lang="tr-TR" sz="1050" dirty="0"/>
              <a:t>bulunan kişinin kusur yeteneğine sahip olması gerekli değildir. Bu bakımdan, akıl hastası veya yaşı küçük </a:t>
            </a:r>
            <a:r>
              <a:rPr lang="tr-TR" sz="1050" dirty="0" smtClean="0"/>
              <a:t>olması nedeniyle </a:t>
            </a:r>
            <a:r>
              <a:rPr lang="tr-TR" sz="1050" dirty="0"/>
              <a:t>kusur yeteneğine sahip olmayan kişilerin saldırılarına karşı da meşru </a:t>
            </a:r>
            <a:r>
              <a:rPr lang="tr-TR" sz="1050" dirty="0" smtClean="0"/>
              <a:t>savunma mümkündür</a:t>
            </a:r>
            <a:r>
              <a:rPr lang="tr-TR" sz="1050" dirty="0"/>
              <a:t>. Hayvan saldırısı, hayvan insanlar tarafından araç olarak kullanılmadığı sürece, bir saldırı olarak nitelendirilemez</a:t>
            </a:r>
            <a:endParaRPr lang="tr-TR" sz="1050" dirty="0" smtClean="0"/>
          </a:p>
          <a:p>
            <a:pPr marL="104775" indent="-104775" algn="just">
              <a:buFont typeface="Arial" panose="020B0604020202020204" pitchFamily="34" charset="0"/>
              <a:buChar char="•"/>
            </a:pPr>
            <a:r>
              <a:rPr lang="tr-TR" sz="1400" dirty="0"/>
              <a:t>Saldırının mevcut veya gerçekleşmesi/tekrarı muhakkak olmalı</a:t>
            </a:r>
          </a:p>
          <a:p>
            <a:pPr marL="257175" indent="-76200" algn="just">
              <a:buFont typeface="Wingdings" panose="05000000000000000000" pitchFamily="2" charset="2"/>
              <a:buChar char="ü"/>
            </a:pPr>
            <a:r>
              <a:rPr lang="tr-TR" sz="1050" dirty="0"/>
              <a:t>Meşru savunmanın zaman bakımından sınırı mevcuttur. Savunma ve saldırı aynı anda bulunmalıdır, yani savunma, halen var olan bir saldırıya yönelik olmalıdır</a:t>
            </a:r>
          </a:p>
          <a:p>
            <a:pPr marL="104775" indent="-104775" algn="just">
              <a:buFont typeface="Arial" panose="020B0604020202020204" pitchFamily="34" charset="0"/>
              <a:buChar char="•"/>
            </a:pPr>
            <a:r>
              <a:rPr lang="tr-TR" sz="1400" dirty="0"/>
              <a:t>Saldırının bir hakka yönelik olması</a:t>
            </a:r>
          </a:p>
          <a:p>
            <a:pPr marL="257175" indent="-76200" algn="just">
              <a:buFont typeface="Wingdings" panose="05000000000000000000" pitchFamily="2" charset="2"/>
              <a:buChar char="ü"/>
            </a:pPr>
            <a:r>
              <a:rPr lang="tr-TR" sz="1050" dirty="0"/>
              <a:t>Saldırı mutlaka savunmada bulunanın hakkına yönelik olmak zorunda değildir, 3. kişilerin hakkına yönelik de </a:t>
            </a:r>
            <a:r>
              <a:rPr lang="tr-TR" sz="1050" dirty="0" smtClean="0"/>
              <a:t>olabilir. </a:t>
            </a:r>
            <a:r>
              <a:rPr lang="tr-TR" sz="1050" dirty="0" smtClean="0">
                <a:effectLst>
                  <a:outerShdw blurRad="38100" dist="38100" dir="2700000" algn="tl">
                    <a:srgbClr val="000000">
                      <a:alpha val="43137"/>
                    </a:srgbClr>
                  </a:outerShdw>
                </a:effectLst>
              </a:rPr>
              <a:t>3.Kişi lehine meşru savunma</a:t>
            </a:r>
          </a:p>
          <a:p>
            <a:pPr marL="257175" indent="-76200" algn="just">
              <a:buFont typeface="Wingdings" panose="05000000000000000000" pitchFamily="2" charset="2"/>
              <a:buChar char="ü"/>
            </a:pPr>
            <a:r>
              <a:rPr lang="tr-TR" sz="1050" dirty="0" smtClean="0"/>
              <a:t>Saldırıya uğrayan hakkın hukuken güvence altına alınmış olması yeterlidir.</a:t>
            </a:r>
            <a:endParaRPr lang="fr-FR" sz="1050" dirty="0"/>
          </a:p>
        </p:txBody>
      </p:sp>
      <p:sp>
        <p:nvSpPr>
          <p:cNvPr id="13" name="Dikdörtgen 12"/>
          <p:cNvSpPr/>
          <p:nvPr/>
        </p:nvSpPr>
        <p:spPr>
          <a:xfrm>
            <a:off x="7336382" y="3209131"/>
            <a:ext cx="4116223" cy="2800767"/>
          </a:xfrm>
          <a:prstGeom prst="rect">
            <a:avLst/>
          </a:prstGeom>
        </p:spPr>
        <p:txBody>
          <a:bodyPr wrap="square">
            <a:spAutoFit/>
          </a:bodyPr>
          <a:lstStyle/>
          <a:p>
            <a:pPr marL="104775" indent="-104775" algn="just">
              <a:buFont typeface="Arial" panose="020B0604020202020204" pitchFamily="34" charset="0"/>
              <a:buChar char="•"/>
            </a:pPr>
            <a:r>
              <a:rPr lang="tr-TR" sz="1400" dirty="0" smtClean="0"/>
              <a:t>Savunmanın zorunlu olması</a:t>
            </a:r>
          </a:p>
          <a:p>
            <a:pPr marL="257175" indent="-76200" algn="just">
              <a:buFont typeface="Wingdings" panose="05000000000000000000" pitchFamily="2" charset="2"/>
              <a:buChar char="ü"/>
            </a:pPr>
            <a:r>
              <a:rPr lang="tr-TR" sz="1200" dirty="0"/>
              <a:t>Saldırıdan kurtulmak için başka çare </a:t>
            </a:r>
            <a:r>
              <a:rPr lang="tr-TR" sz="1200" dirty="0" smtClean="0"/>
              <a:t>olmamalıdır. Ancak saldırı karşısında savunmada </a:t>
            </a:r>
            <a:r>
              <a:rPr lang="tr-TR" sz="1200" dirty="0"/>
              <a:t>bulunan </a:t>
            </a:r>
            <a:r>
              <a:rPr lang="tr-TR" sz="1200" dirty="0" smtClean="0"/>
              <a:t>kimsenin, </a:t>
            </a:r>
            <a:r>
              <a:rPr lang="tr-TR" sz="1200" dirty="0"/>
              <a:t>somut duruma göre kaçarak saldırıdan </a:t>
            </a:r>
            <a:r>
              <a:rPr lang="tr-TR" sz="1200" dirty="0" smtClean="0"/>
              <a:t>kurtulma imkanının imkânının </a:t>
            </a:r>
            <a:r>
              <a:rPr lang="tr-TR" sz="1200" dirty="0"/>
              <a:t>olup </a:t>
            </a:r>
            <a:r>
              <a:rPr lang="tr-TR" sz="1200" dirty="0" smtClean="0"/>
              <a:t>olmadığına </a:t>
            </a:r>
            <a:r>
              <a:rPr lang="tr-TR" sz="1200" dirty="0"/>
              <a:t>bakılmaz. </a:t>
            </a:r>
            <a:r>
              <a:rPr lang="tr-TR" sz="1200" dirty="0" smtClean="0"/>
              <a:t>Nitekim kaçma imkanı </a:t>
            </a:r>
            <a:r>
              <a:rPr lang="tr-TR" sz="1200" dirty="0"/>
              <a:t>olmasına </a:t>
            </a:r>
            <a:r>
              <a:rPr lang="tr-TR" sz="1200" dirty="0" smtClean="0"/>
              <a:t>rağmen, kaçmayıp </a:t>
            </a:r>
            <a:r>
              <a:rPr lang="tr-TR" sz="1200" dirty="0"/>
              <a:t>savunmada </a:t>
            </a:r>
            <a:r>
              <a:rPr lang="tr-TR" sz="1200" dirty="0" smtClean="0"/>
              <a:t>bulunan kimsenin hareketi meşru </a:t>
            </a:r>
            <a:r>
              <a:rPr lang="tr-TR" sz="1200" dirty="0"/>
              <a:t>savunma </a:t>
            </a:r>
            <a:r>
              <a:rPr lang="tr-TR" sz="1200" dirty="0" smtClean="0"/>
              <a:t>oluşturur</a:t>
            </a:r>
            <a:r>
              <a:rPr lang="tr-TR" sz="1200" dirty="0"/>
              <a:t>.</a:t>
            </a:r>
          </a:p>
          <a:p>
            <a:pPr marL="104775" indent="-104775" algn="just">
              <a:buFont typeface="Arial" panose="020B0604020202020204" pitchFamily="34" charset="0"/>
              <a:buChar char="•"/>
            </a:pPr>
            <a:r>
              <a:rPr lang="tr-TR" sz="1400" dirty="0" smtClean="0"/>
              <a:t>Savunmayla saldırı arasında nedensellik</a:t>
            </a:r>
          </a:p>
          <a:p>
            <a:pPr marL="257175" indent="-76200" algn="just">
              <a:buFont typeface="Wingdings" panose="05000000000000000000" pitchFamily="2" charset="2"/>
              <a:buChar char="ü"/>
            </a:pPr>
            <a:r>
              <a:rPr lang="tr-TR" sz="1200" dirty="0"/>
              <a:t>Savunma saldırının sonucu olmalıdır</a:t>
            </a:r>
          </a:p>
          <a:p>
            <a:pPr marL="104775" indent="-104775" algn="just">
              <a:buFont typeface="Arial" panose="020B0604020202020204" pitchFamily="34" charset="0"/>
              <a:buChar char="•"/>
            </a:pPr>
            <a:r>
              <a:rPr lang="tr-TR" sz="1400" dirty="0" smtClean="0"/>
              <a:t>Savunma saldırgana karşı yapılmalı</a:t>
            </a:r>
          </a:p>
          <a:p>
            <a:pPr marL="104775" indent="-104775" algn="just">
              <a:buFont typeface="Arial" panose="020B0604020202020204" pitchFamily="34" charset="0"/>
              <a:buChar char="•"/>
            </a:pPr>
            <a:r>
              <a:rPr lang="tr-TR" sz="1400" dirty="0" smtClean="0"/>
              <a:t>Savunmayla saldırı arasında orantı bulunması</a:t>
            </a:r>
          </a:p>
          <a:p>
            <a:pPr marL="257175" indent="-76200" algn="just">
              <a:buFont typeface="Wingdings" panose="05000000000000000000" pitchFamily="2" charset="2"/>
              <a:buChar char="ü"/>
            </a:pPr>
            <a:r>
              <a:rPr lang="tr-TR" sz="1200" dirty="0"/>
              <a:t>Saldırı anındaki hal ve koşullara göre orantı </a:t>
            </a:r>
            <a:r>
              <a:rPr lang="tr-TR" sz="1200" dirty="0" smtClean="0"/>
              <a:t>bulunmalı</a:t>
            </a:r>
          </a:p>
          <a:p>
            <a:pPr marL="257175" indent="-76200" algn="just">
              <a:buFont typeface="Wingdings" panose="05000000000000000000" pitchFamily="2" charset="2"/>
              <a:buChar char="ü"/>
            </a:pPr>
            <a:r>
              <a:rPr lang="tr-TR" sz="1200" dirty="0" smtClean="0"/>
              <a:t>Saldırgana en az zarar verecek yeterli savunma tercih edilmelidir</a:t>
            </a:r>
            <a:endParaRPr lang="tr-TR" sz="1200" dirty="0"/>
          </a:p>
        </p:txBody>
      </p:sp>
      <p:sp>
        <p:nvSpPr>
          <p:cNvPr id="2" name="Aşağı Ok 1"/>
          <p:cNvSpPr/>
          <p:nvPr/>
        </p:nvSpPr>
        <p:spPr>
          <a:xfrm>
            <a:off x="4774004" y="2543855"/>
            <a:ext cx="135071" cy="323916"/>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Aşağı Ok 13"/>
          <p:cNvSpPr/>
          <p:nvPr/>
        </p:nvSpPr>
        <p:spPr>
          <a:xfrm>
            <a:off x="8086013" y="2541049"/>
            <a:ext cx="135071" cy="323916"/>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Metin kutusu 2"/>
          <p:cNvSpPr txBox="1"/>
          <p:nvPr/>
        </p:nvSpPr>
        <p:spPr>
          <a:xfrm>
            <a:off x="4534545" y="6008274"/>
            <a:ext cx="4776994" cy="461665"/>
          </a:xfrm>
          <a:prstGeom prst="rect">
            <a:avLst/>
          </a:prstGeom>
          <a:noFill/>
        </p:spPr>
        <p:txBody>
          <a:bodyPr wrap="square" rtlCol="0">
            <a:spAutoFit/>
          </a:bodyPr>
          <a:lstStyle/>
          <a:p>
            <a:r>
              <a:rPr lang="tr-TR" sz="1200" dirty="0" smtClean="0"/>
              <a:t>Meşru savunmada sınır aşılır ancak bu aşım mazur görülebilecek heyecan, korku veya telaştan ileri gelmiş ise </a:t>
            </a:r>
            <a:r>
              <a:rPr lang="tr-TR" sz="1200" b="1" u="sng" dirty="0" smtClean="0">
                <a:effectLst>
                  <a:outerShdw blurRad="38100" dist="38100" dir="2700000" algn="tl">
                    <a:srgbClr val="000000">
                      <a:alpha val="43137"/>
                    </a:srgbClr>
                  </a:outerShdw>
                </a:effectLst>
              </a:rPr>
              <a:t>ceza verilmez</a:t>
            </a:r>
            <a:r>
              <a:rPr lang="tr-TR" sz="1200" dirty="0" smtClean="0"/>
              <a:t>. (5237 s. K. m. 27)</a:t>
            </a:r>
            <a:endParaRPr lang="fr-FR" sz="1200" dirty="0"/>
          </a:p>
        </p:txBody>
      </p:sp>
      <p:sp>
        <p:nvSpPr>
          <p:cNvPr id="15"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6" name="Slayt Numarası Yer Tutucusu 5"/>
          <p:cNvSpPr>
            <a:spLocks noGrp="1"/>
          </p:cNvSpPr>
          <p:nvPr>
            <p:ph type="sldNum" sz="quarter" idx="12"/>
          </p:nvPr>
        </p:nvSpPr>
        <p:spPr/>
        <p:txBody>
          <a:bodyPr/>
          <a:lstStyle/>
          <a:p>
            <a:fld id="{39F9BA00-44CD-41D4-A3D8-F864C744DC1F}" type="slidenum">
              <a:rPr lang="tr-TR" smtClean="0"/>
              <a:t>54</a:t>
            </a:fld>
            <a:r>
              <a:rPr lang="tr-TR"/>
              <a:t>/116</a:t>
            </a:r>
          </a:p>
        </p:txBody>
      </p:sp>
    </p:spTree>
    <p:extLst>
      <p:ext uri="{BB962C8B-B14F-4D97-AF65-F5344CB8AC3E}">
        <p14:creationId xmlns:p14="http://schemas.microsoft.com/office/powerpoint/2010/main" val="426722232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10" name="Alt Başlık 2"/>
          <p:cNvSpPr txBox="1">
            <a:spLocks/>
          </p:cNvSpPr>
          <p:nvPr/>
        </p:nvSpPr>
        <p:spPr>
          <a:xfrm>
            <a:off x="180976" y="6008274"/>
            <a:ext cx="2609850" cy="6827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800" b="1" dirty="0">
                <a:effectLst>
                  <a:outerShdw blurRad="38100" dist="38100" dir="2700000" algn="tl">
                    <a:srgbClr val="000000">
                      <a:alpha val="43137"/>
                    </a:srgbClr>
                  </a:outerShdw>
                </a:effectLst>
              </a:rPr>
              <a:t>Hukuka Uygunluk Nedenleri</a:t>
            </a:r>
            <a:endParaRPr lang="tr-TR" sz="800" dirty="0" smtClean="0"/>
          </a:p>
          <a:p>
            <a:pPr marL="285750" indent="-285750" algn="l">
              <a:spcBef>
                <a:spcPts val="0"/>
              </a:spcBef>
              <a:buFont typeface="Arial" panose="020B0604020202020204" pitchFamily="34" charset="0"/>
              <a:buChar char="•"/>
            </a:pPr>
            <a:r>
              <a:rPr lang="tr-TR" sz="800" dirty="0" smtClean="0"/>
              <a:t>Kanunun Hükmünü Yerine Getirme (Görevin İfası)</a:t>
            </a:r>
          </a:p>
          <a:p>
            <a:pPr marL="285750" indent="-285750" algn="l">
              <a:spcBef>
                <a:spcPts val="0"/>
              </a:spcBef>
              <a:buFont typeface="Arial" panose="020B0604020202020204" pitchFamily="34" charset="0"/>
              <a:buChar char="•"/>
            </a:pPr>
            <a:r>
              <a:rPr lang="tr-TR" sz="800" dirty="0" smtClean="0"/>
              <a:t>Meşru Savunma</a:t>
            </a:r>
          </a:p>
          <a:p>
            <a:pPr marL="285750" indent="-285750" algn="l">
              <a:spcBef>
                <a:spcPts val="0"/>
              </a:spcBef>
              <a:buFont typeface="Arial" panose="020B0604020202020204" pitchFamily="34" charset="0"/>
              <a:buChar char="•"/>
            </a:pPr>
            <a:r>
              <a:rPr lang="tr-TR" sz="800" u="sng" dirty="0">
                <a:effectLst>
                  <a:outerShdw blurRad="38100" dist="38100" dir="2700000" algn="tl">
                    <a:srgbClr val="000000">
                      <a:alpha val="43137"/>
                    </a:srgbClr>
                  </a:outerShdw>
                </a:effectLst>
              </a:rPr>
              <a:t>Hakkın Kullanılması</a:t>
            </a:r>
          </a:p>
          <a:p>
            <a:pPr marL="285750" indent="-285750" algn="l">
              <a:spcBef>
                <a:spcPts val="0"/>
              </a:spcBef>
              <a:buFont typeface="Arial" panose="020B0604020202020204" pitchFamily="34" charset="0"/>
              <a:buChar char="•"/>
            </a:pPr>
            <a:r>
              <a:rPr lang="tr-TR" sz="800" dirty="0" smtClean="0"/>
              <a:t>İlgilinin </a:t>
            </a:r>
            <a:r>
              <a:rPr lang="tr-TR" sz="800" dirty="0"/>
              <a:t>Rızası</a:t>
            </a:r>
          </a:p>
        </p:txBody>
      </p:sp>
      <p:sp>
        <p:nvSpPr>
          <p:cNvPr id="9" name="Alt Başlık 2"/>
          <p:cNvSpPr txBox="1">
            <a:spLocks/>
          </p:cNvSpPr>
          <p:nvPr/>
        </p:nvSpPr>
        <p:spPr>
          <a:xfrm>
            <a:off x="1842675" y="2285337"/>
            <a:ext cx="9198363" cy="517036"/>
          </a:xfrm>
          <a:prstGeom prst="rect">
            <a:avLst/>
          </a:prstGeom>
        </p:spPr>
        <p:txBody>
          <a:bodyPr vert="horz" lIns="91440" tIns="45720" rIns="91440" bIns="45720" rtlCol="0">
            <a:noAutofit/>
          </a:bodyPr>
          <a:lstStyle>
            <a:defPPr>
              <a:defRPr lang="tr-TR"/>
            </a:defPPr>
            <a:lvl1pPr marL="285750" indent="-285750">
              <a:lnSpc>
                <a:spcPct val="90000"/>
              </a:lnSpc>
              <a:spcBef>
                <a:spcPts val="1000"/>
              </a:spcBef>
              <a:buFont typeface="Arial" panose="020B0604020202020204" pitchFamily="34" charset="0"/>
              <a:buChar char="•"/>
              <a:defRPr sz="2000">
                <a:effectLst>
                  <a:outerShdw blurRad="38100" dist="38100" dir="2700000" algn="tl">
                    <a:srgbClr val="000000">
                      <a:alpha val="43137"/>
                    </a:srgbClr>
                  </a:outerShdw>
                </a:effectLst>
              </a:defRPr>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r>
              <a:rPr lang="tr-TR" dirty="0"/>
              <a:t>Hakkın Kullanılması</a:t>
            </a:r>
          </a:p>
        </p:txBody>
      </p:sp>
      <p:sp>
        <p:nvSpPr>
          <p:cNvPr id="18" name="Dikdörtgen 17"/>
          <p:cNvSpPr/>
          <p:nvPr/>
        </p:nvSpPr>
        <p:spPr>
          <a:xfrm>
            <a:off x="2790826" y="4388138"/>
            <a:ext cx="8661779" cy="307777"/>
          </a:xfrm>
          <a:prstGeom prst="rect">
            <a:avLst/>
          </a:prstGeom>
        </p:spPr>
        <p:txBody>
          <a:bodyPr wrap="square">
            <a:spAutoFit/>
          </a:bodyPr>
          <a:lstStyle/>
          <a:p>
            <a:endParaRPr lang="fr-FR" sz="1400" dirty="0"/>
          </a:p>
        </p:txBody>
      </p:sp>
      <p:sp>
        <p:nvSpPr>
          <p:cNvPr id="6" name="Dikdörtgen 5"/>
          <p:cNvSpPr/>
          <p:nvPr/>
        </p:nvSpPr>
        <p:spPr>
          <a:xfrm>
            <a:off x="3124200" y="2657199"/>
            <a:ext cx="6096000" cy="646331"/>
          </a:xfrm>
          <a:prstGeom prst="rect">
            <a:avLst/>
          </a:prstGeom>
        </p:spPr>
        <p:txBody>
          <a:bodyPr>
            <a:spAutoFit/>
          </a:bodyPr>
          <a:lstStyle/>
          <a:p>
            <a:r>
              <a:rPr lang="tr-TR" sz="1200" b="1" dirty="0"/>
              <a:t>5237 s. TCK </a:t>
            </a:r>
          </a:p>
          <a:p>
            <a:r>
              <a:rPr lang="fr-FR" sz="1200" b="1" dirty="0" err="1" smtClean="0"/>
              <a:t>Hakkın</a:t>
            </a:r>
            <a:r>
              <a:rPr lang="fr-FR" sz="1200" b="1" dirty="0" smtClean="0"/>
              <a:t> </a:t>
            </a:r>
            <a:r>
              <a:rPr lang="fr-FR" sz="1200" b="1" dirty="0" err="1"/>
              <a:t>kullanılması</a:t>
            </a:r>
            <a:r>
              <a:rPr lang="fr-FR" sz="1200" b="1" dirty="0"/>
              <a:t> ve </a:t>
            </a:r>
            <a:r>
              <a:rPr lang="fr-FR" sz="1200" b="1" dirty="0" err="1"/>
              <a:t>ilgilinin</a:t>
            </a:r>
            <a:r>
              <a:rPr lang="fr-FR" sz="1200" b="1" dirty="0"/>
              <a:t> </a:t>
            </a:r>
            <a:r>
              <a:rPr lang="fr-FR" sz="1200" b="1" dirty="0" err="1" smtClean="0"/>
              <a:t>rızası</a:t>
            </a:r>
            <a:endParaRPr lang="tr-TR" sz="1200" b="1" dirty="0" smtClean="0"/>
          </a:p>
          <a:p>
            <a:pPr algn="just"/>
            <a:r>
              <a:rPr lang="fr-FR" sz="1200" b="1" dirty="0" err="1" smtClean="0"/>
              <a:t>Madde</a:t>
            </a:r>
            <a:r>
              <a:rPr lang="fr-FR" sz="1200" b="1" dirty="0" smtClean="0"/>
              <a:t> </a:t>
            </a:r>
            <a:r>
              <a:rPr lang="fr-FR" sz="1200" b="1" dirty="0"/>
              <a:t>26-</a:t>
            </a:r>
            <a:r>
              <a:rPr lang="fr-FR" sz="1200" dirty="0"/>
              <a:t> (1) </a:t>
            </a:r>
            <a:r>
              <a:rPr lang="fr-FR" sz="1200" dirty="0" err="1"/>
              <a:t>Hakkını</a:t>
            </a:r>
            <a:r>
              <a:rPr lang="fr-FR" sz="1200" dirty="0"/>
              <a:t> </a:t>
            </a:r>
            <a:r>
              <a:rPr lang="fr-FR" sz="1200" dirty="0" err="1"/>
              <a:t>kullanan</a:t>
            </a:r>
            <a:r>
              <a:rPr lang="fr-FR" sz="1200" dirty="0"/>
              <a:t> </a:t>
            </a:r>
            <a:r>
              <a:rPr lang="fr-FR" sz="1200" dirty="0" err="1"/>
              <a:t>kimseye</a:t>
            </a:r>
            <a:r>
              <a:rPr lang="fr-FR" sz="1200" dirty="0"/>
              <a:t> </a:t>
            </a:r>
            <a:r>
              <a:rPr lang="fr-FR" sz="1200" dirty="0" err="1"/>
              <a:t>ceza</a:t>
            </a:r>
            <a:r>
              <a:rPr lang="fr-FR" sz="1200" dirty="0"/>
              <a:t> </a:t>
            </a:r>
            <a:r>
              <a:rPr lang="fr-FR" sz="1200" dirty="0" err="1"/>
              <a:t>verilmez</a:t>
            </a:r>
            <a:endParaRPr lang="fr-FR" sz="1200" dirty="0"/>
          </a:p>
        </p:txBody>
      </p:sp>
      <p:sp>
        <p:nvSpPr>
          <p:cNvPr id="7" name="Metin kutusu 6"/>
          <p:cNvSpPr txBox="1"/>
          <p:nvPr/>
        </p:nvSpPr>
        <p:spPr>
          <a:xfrm>
            <a:off x="2409825" y="3878122"/>
            <a:ext cx="8782050" cy="646331"/>
          </a:xfrm>
          <a:prstGeom prst="rect">
            <a:avLst/>
          </a:prstGeom>
          <a:noFill/>
        </p:spPr>
        <p:txBody>
          <a:bodyPr wrap="square" rtlCol="0">
            <a:spAutoFit/>
          </a:bodyPr>
          <a:lstStyle/>
          <a:p>
            <a:r>
              <a:rPr lang="tr-TR" dirty="0" smtClean="0"/>
              <a:t>Hak kavramı, hem özel hukuktan hem de kamu hukukundan kaynaklanan tüm hakları ifade eder. </a:t>
            </a:r>
            <a:endParaRPr lang="fr-FR" dirty="0"/>
          </a:p>
        </p:txBody>
      </p:sp>
      <p:sp>
        <p:nvSpPr>
          <p:cNvPr id="17" name="Metin kutusu 16"/>
          <p:cNvSpPr txBox="1"/>
          <p:nvPr/>
        </p:nvSpPr>
        <p:spPr>
          <a:xfrm>
            <a:off x="2876550" y="4562708"/>
            <a:ext cx="8782050" cy="1631216"/>
          </a:xfrm>
          <a:prstGeom prst="rect">
            <a:avLst/>
          </a:prstGeom>
          <a:noFill/>
        </p:spPr>
        <p:txBody>
          <a:bodyPr wrap="square" rtlCol="0">
            <a:spAutoFit/>
          </a:bodyPr>
          <a:lstStyle/>
          <a:p>
            <a:r>
              <a:rPr lang="tr-TR" dirty="0" smtClean="0"/>
              <a:t>Hakkın kullanılmasının şartları:</a:t>
            </a:r>
          </a:p>
          <a:p>
            <a:r>
              <a:rPr lang="tr-TR" dirty="0" smtClean="0"/>
              <a:t>1.Subjektif bir hakkın varlığı</a:t>
            </a:r>
          </a:p>
          <a:p>
            <a:r>
              <a:rPr lang="tr-TR" dirty="0" smtClean="0"/>
              <a:t>2.Hakkın doğrudan doğruya kullanılabilmesi</a:t>
            </a:r>
          </a:p>
          <a:p>
            <a:pPr marL="361950" indent="-180975" algn="just">
              <a:buFont typeface="Wingdings" panose="05000000000000000000" pitchFamily="2" charset="2"/>
              <a:buChar char="ü"/>
            </a:pPr>
            <a:r>
              <a:rPr lang="tr-TR" sz="1200" dirty="0" smtClean="0"/>
              <a:t>Hak bir merciin aracılığıyla kullanılmak zorunda ise bu uygunluk nedeninden faydalanılamaz. 3091 sayılı </a:t>
            </a:r>
            <a:r>
              <a:rPr lang="tr-TR" sz="1200" dirty="0"/>
              <a:t>Kanun </a:t>
            </a:r>
            <a:r>
              <a:rPr lang="tr-TR" sz="800" dirty="0"/>
              <a:t>Taşınmaz mallara tecavüz veya müdahale edilmesi halinde; taşınmaz mal merkez ilçe sınırları içinde ise, il valisi veya görevlendireceği vali yardımcısı, diğer ilçelerde ise kaymakamlar tarafından bu tecavüz veya müdahalenin önlenmesine karar verilir ve taşınmaz mal yerinde zilyedine teslim edilir </a:t>
            </a:r>
            <a:endParaRPr lang="tr-TR" sz="1200" dirty="0" smtClean="0"/>
          </a:p>
          <a:p>
            <a:r>
              <a:rPr lang="tr-TR" dirty="0" smtClean="0"/>
              <a:t>3. Hakkın kötüye kullanılmaması</a:t>
            </a:r>
            <a:endParaRPr lang="fr-FR" dirty="0"/>
          </a:p>
        </p:txBody>
      </p:sp>
      <p:sp>
        <p:nvSpPr>
          <p:cNvPr id="2" name="Metin kutusu 1"/>
          <p:cNvSpPr txBox="1"/>
          <p:nvPr/>
        </p:nvSpPr>
        <p:spPr>
          <a:xfrm>
            <a:off x="5969610" y="5993869"/>
            <a:ext cx="4595813" cy="307777"/>
          </a:xfrm>
          <a:prstGeom prst="rect">
            <a:avLst/>
          </a:prstGeom>
          <a:noFill/>
        </p:spPr>
        <p:txBody>
          <a:bodyPr wrap="square" rtlCol="0">
            <a:spAutoFit/>
          </a:bodyPr>
          <a:lstStyle/>
          <a:p>
            <a:r>
              <a:rPr lang="tr-TR" sz="1400" dirty="0" smtClean="0">
                <a:effectLst>
                  <a:outerShdw blurRad="38100" dist="38100" dir="2700000" algn="tl">
                    <a:srgbClr val="000000">
                      <a:alpha val="43137"/>
                    </a:srgbClr>
                  </a:outerShdw>
                </a:effectLst>
              </a:rPr>
              <a:t>Örnek için bakınız Türk Medeni Kanunu m.740</a:t>
            </a:r>
            <a:endParaRPr lang="fr-FR" sz="1400" dirty="0">
              <a:effectLst>
                <a:outerShdw blurRad="38100" dist="38100" dir="2700000" algn="tl">
                  <a:srgbClr val="000000">
                    <a:alpha val="43137"/>
                  </a:srgbClr>
                </a:outerShdw>
              </a:effectLst>
            </a:endParaRPr>
          </a:p>
        </p:txBody>
      </p:sp>
      <p:sp>
        <p:nvSpPr>
          <p:cNvPr id="12" name="Metin kutusu 11"/>
          <p:cNvSpPr txBox="1"/>
          <p:nvPr/>
        </p:nvSpPr>
        <p:spPr>
          <a:xfrm>
            <a:off x="2409825" y="3493118"/>
            <a:ext cx="8782050" cy="369332"/>
          </a:xfrm>
          <a:prstGeom prst="rect">
            <a:avLst/>
          </a:prstGeom>
          <a:noFill/>
        </p:spPr>
        <p:txBody>
          <a:bodyPr wrap="square" rtlCol="0">
            <a:spAutoFit/>
          </a:bodyPr>
          <a:lstStyle/>
          <a:p>
            <a:r>
              <a:rPr lang="tr-TR" dirty="0" smtClean="0"/>
              <a:t>Hak=Hukuk tarafından korunan her türlü menfaat </a:t>
            </a:r>
            <a:endParaRPr lang="fr-FR" dirty="0"/>
          </a:p>
        </p:txBody>
      </p:sp>
      <p:sp>
        <p:nvSpPr>
          <p:cNvPr id="13"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55</a:t>
            </a:fld>
            <a:r>
              <a:rPr lang="tr-TR"/>
              <a:t>/116</a:t>
            </a:r>
          </a:p>
        </p:txBody>
      </p:sp>
      <p:sp>
        <p:nvSpPr>
          <p:cNvPr id="3" name="Dikdörtgen 2"/>
          <p:cNvSpPr/>
          <p:nvPr/>
        </p:nvSpPr>
        <p:spPr>
          <a:xfrm>
            <a:off x="4624387" y="6235374"/>
            <a:ext cx="6096000" cy="461665"/>
          </a:xfrm>
          <a:prstGeom prst="rect">
            <a:avLst/>
          </a:prstGeom>
        </p:spPr>
        <p:txBody>
          <a:bodyPr>
            <a:spAutoFit/>
          </a:bodyPr>
          <a:lstStyle/>
          <a:p>
            <a:pPr algn="just"/>
            <a:r>
              <a:rPr lang="tr-TR" sz="800" dirty="0"/>
              <a:t>Madde 740- Komşunun arazisine taşarak zarar veren dal ve kökler, onun istemi üzerine uygun bir süre içinde kaldırılmazsa, komşu bu dal ve kökleri kesip kendi mülkiyetine geçirebilir.</a:t>
            </a:r>
          </a:p>
          <a:p>
            <a:pPr algn="just"/>
            <a:r>
              <a:rPr lang="tr-TR" sz="800" dirty="0" smtClean="0"/>
              <a:t>Ekilmiş </a:t>
            </a:r>
            <a:r>
              <a:rPr lang="tr-TR" sz="800" dirty="0"/>
              <a:t>veya üzerine yapı yapılmış arazisine dalların taşmasına katlanan komşu, bu dallarda yetişen </a:t>
            </a:r>
            <a:r>
              <a:rPr lang="tr-TR" sz="800" dirty="0" err="1"/>
              <a:t>meyvaları</a:t>
            </a:r>
            <a:r>
              <a:rPr lang="tr-TR" sz="800" dirty="0"/>
              <a:t> toplama hakkına sahip olur.</a:t>
            </a:r>
          </a:p>
        </p:txBody>
      </p:sp>
    </p:spTree>
    <p:extLst>
      <p:ext uri="{BB962C8B-B14F-4D97-AF65-F5344CB8AC3E}">
        <p14:creationId xmlns:p14="http://schemas.microsoft.com/office/powerpoint/2010/main" val="188152010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10" name="Alt Başlık 2"/>
          <p:cNvSpPr txBox="1">
            <a:spLocks/>
          </p:cNvSpPr>
          <p:nvPr/>
        </p:nvSpPr>
        <p:spPr>
          <a:xfrm>
            <a:off x="180976" y="6008274"/>
            <a:ext cx="2609850" cy="6827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800" b="1" dirty="0">
                <a:effectLst>
                  <a:outerShdw blurRad="38100" dist="38100" dir="2700000" algn="tl">
                    <a:srgbClr val="000000">
                      <a:alpha val="43137"/>
                    </a:srgbClr>
                  </a:outerShdw>
                </a:effectLst>
              </a:rPr>
              <a:t>Hukuka Uygunluk Nedenleri</a:t>
            </a:r>
            <a:endParaRPr lang="tr-TR" sz="800" dirty="0" smtClean="0"/>
          </a:p>
          <a:p>
            <a:pPr marL="285750" indent="-285750" algn="l">
              <a:spcBef>
                <a:spcPts val="0"/>
              </a:spcBef>
              <a:buFont typeface="Arial" panose="020B0604020202020204" pitchFamily="34" charset="0"/>
              <a:buChar char="•"/>
            </a:pPr>
            <a:r>
              <a:rPr lang="tr-TR" sz="800" dirty="0" smtClean="0"/>
              <a:t>Kanunun Hükmünü Yerine Getirme (Görevin İfası)</a:t>
            </a:r>
          </a:p>
          <a:p>
            <a:pPr marL="285750" indent="-285750" algn="l">
              <a:spcBef>
                <a:spcPts val="0"/>
              </a:spcBef>
              <a:buFont typeface="Arial" panose="020B0604020202020204" pitchFamily="34" charset="0"/>
              <a:buChar char="•"/>
            </a:pPr>
            <a:r>
              <a:rPr lang="tr-TR" sz="800" dirty="0" smtClean="0"/>
              <a:t>Meşru Savunma</a:t>
            </a:r>
          </a:p>
          <a:p>
            <a:pPr marL="285750" indent="-285750" algn="l">
              <a:spcBef>
                <a:spcPts val="0"/>
              </a:spcBef>
              <a:buFont typeface="Arial" panose="020B0604020202020204" pitchFamily="34" charset="0"/>
              <a:buChar char="•"/>
            </a:pPr>
            <a:r>
              <a:rPr lang="tr-TR" sz="800" u="sng" dirty="0">
                <a:effectLst>
                  <a:outerShdw blurRad="38100" dist="38100" dir="2700000" algn="tl">
                    <a:srgbClr val="000000">
                      <a:alpha val="43137"/>
                    </a:srgbClr>
                  </a:outerShdw>
                </a:effectLst>
              </a:rPr>
              <a:t>Hakkın Kullanılması</a:t>
            </a:r>
          </a:p>
          <a:p>
            <a:pPr marL="285750" indent="-285750" algn="l">
              <a:spcBef>
                <a:spcPts val="0"/>
              </a:spcBef>
              <a:buFont typeface="Arial" panose="020B0604020202020204" pitchFamily="34" charset="0"/>
              <a:buChar char="•"/>
            </a:pPr>
            <a:r>
              <a:rPr lang="tr-TR" sz="800" dirty="0" smtClean="0"/>
              <a:t>İlgilinin </a:t>
            </a:r>
            <a:r>
              <a:rPr lang="tr-TR" sz="800" dirty="0"/>
              <a:t>Rızası</a:t>
            </a:r>
          </a:p>
        </p:txBody>
      </p:sp>
      <p:sp>
        <p:nvSpPr>
          <p:cNvPr id="9" name="Alt Başlık 2"/>
          <p:cNvSpPr txBox="1">
            <a:spLocks/>
          </p:cNvSpPr>
          <p:nvPr/>
        </p:nvSpPr>
        <p:spPr>
          <a:xfrm>
            <a:off x="1842675" y="2285337"/>
            <a:ext cx="9198363" cy="517036"/>
          </a:xfrm>
          <a:prstGeom prst="rect">
            <a:avLst/>
          </a:prstGeom>
        </p:spPr>
        <p:txBody>
          <a:bodyPr vert="horz" lIns="91440" tIns="45720" rIns="91440" bIns="45720" rtlCol="0">
            <a:noAutofit/>
          </a:bodyPr>
          <a:lstStyle>
            <a:defPPr>
              <a:defRPr lang="tr-TR"/>
            </a:defPPr>
            <a:lvl1pPr marL="285750" indent="-285750">
              <a:lnSpc>
                <a:spcPct val="90000"/>
              </a:lnSpc>
              <a:spcBef>
                <a:spcPts val="1000"/>
              </a:spcBef>
              <a:buFont typeface="Arial" panose="020B0604020202020204" pitchFamily="34" charset="0"/>
              <a:buChar char="•"/>
              <a:defRPr sz="2000">
                <a:effectLst>
                  <a:outerShdw blurRad="38100" dist="38100" dir="2700000" algn="tl">
                    <a:srgbClr val="000000">
                      <a:alpha val="43137"/>
                    </a:srgbClr>
                  </a:outerShdw>
                </a:effectLst>
              </a:defRPr>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r>
              <a:rPr lang="tr-TR" dirty="0"/>
              <a:t>Hakkın Kullanılması</a:t>
            </a:r>
          </a:p>
        </p:txBody>
      </p:sp>
      <p:sp>
        <p:nvSpPr>
          <p:cNvPr id="18" name="Dikdörtgen 17"/>
          <p:cNvSpPr/>
          <p:nvPr/>
        </p:nvSpPr>
        <p:spPr>
          <a:xfrm>
            <a:off x="2790826" y="4388138"/>
            <a:ext cx="8661779" cy="307777"/>
          </a:xfrm>
          <a:prstGeom prst="rect">
            <a:avLst/>
          </a:prstGeom>
        </p:spPr>
        <p:txBody>
          <a:bodyPr wrap="square">
            <a:spAutoFit/>
          </a:bodyPr>
          <a:lstStyle/>
          <a:p>
            <a:endParaRPr lang="fr-FR" sz="1400" dirty="0"/>
          </a:p>
        </p:txBody>
      </p:sp>
      <p:sp>
        <p:nvSpPr>
          <p:cNvPr id="6" name="Dikdörtgen 5"/>
          <p:cNvSpPr/>
          <p:nvPr/>
        </p:nvSpPr>
        <p:spPr>
          <a:xfrm>
            <a:off x="2357563" y="2649284"/>
            <a:ext cx="4084293" cy="646331"/>
          </a:xfrm>
          <a:prstGeom prst="rect">
            <a:avLst/>
          </a:prstGeom>
        </p:spPr>
        <p:txBody>
          <a:bodyPr wrap="square">
            <a:spAutoFit/>
          </a:bodyPr>
          <a:lstStyle/>
          <a:p>
            <a:r>
              <a:rPr lang="tr-TR" sz="1200" b="1" dirty="0"/>
              <a:t>5237 s. TCK </a:t>
            </a:r>
          </a:p>
          <a:p>
            <a:r>
              <a:rPr lang="fr-FR" sz="1200" b="1" dirty="0" err="1" smtClean="0"/>
              <a:t>Hakkın</a:t>
            </a:r>
            <a:r>
              <a:rPr lang="fr-FR" sz="1200" b="1" dirty="0" smtClean="0"/>
              <a:t> </a:t>
            </a:r>
            <a:r>
              <a:rPr lang="fr-FR" sz="1200" b="1" dirty="0" err="1"/>
              <a:t>kullanılması</a:t>
            </a:r>
            <a:r>
              <a:rPr lang="fr-FR" sz="1200" b="1" dirty="0"/>
              <a:t> ve </a:t>
            </a:r>
            <a:r>
              <a:rPr lang="fr-FR" sz="1200" b="1" dirty="0" err="1"/>
              <a:t>ilgilinin</a:t>
            </a:r>
            <a:r>
              <a:rPr lang="fr-FR" sz="1200" b="1" dirty="0"/>
              <a:t> </a:t>
            </a:r>
            <a:r>
              <a:rPr lang="fr-FR" sz="1200" b="1" dirty="0" err="1" smtClean="0"/>
              <a:t>rızası</a:t>
            </a:r>
            <a:endParaRPr lang="tr-TR" sz="1200" b="1" dirty="0" smtClean="0"/>
          </a:p>
          <a:p>
            <a:pPr algn="just"/>
            <a:r>
              <a:rPr lang="fr-FR" sz="1200" b="1" dirty="0" err="1" smtClean="0"/>
              <a:t>Madde</a:t>
            </a:r>
            <a:r>
              <a:rPr lang="fr-FR" sz="1200" b="1" dirty="0" smtClean="0"/>
              <a:t> </a:t>
            </a:r>
            <a:r>
              <a:rPr lang="fr-FR" sz="1200" b="1" dirty="0"/>
              <a:t>26-</a:t>
            </a:r>
            <a:r>
              <a:rPr lang="fr-FR" sz="1200" dirty="0"/>
              <a:t> (1) </a:t>
            </a:r>
            <a:r>
              <a:rPr lang="fr-FR" sz="1200" dirty="0" err="1"/>
              <a:t>Hakkını</a:t>
            </a:r>
            <a:r>
              <a:rPr lang="fr-FR" sz="1200" dirty="0"/>
              <a:t> </a:t>
            </a:r>
            <a:r>
              <a:rPr lang="fr-FR" sz="1200" dirty="0" err="1"/>
              <a:t>kullanan</a:t>
            </a:r>
            <a:r>
              <a:rPr lang="fr-FR" sz="1200" dirty="0"/>
              <a:t> </a:t>
            </a:r>
            <a:r>
              <a:rPr lang="fr-FR" sz="1200" dirty="0" err="1"/>
              <a:t>kimseye</a:t>
            </a:r>
            <a:r>
              <a:rPr lang="fr-FR" sz="1200" dirty="0"/>
              <a:t> ceza </a:t>
            </a:r>
            <a:r>
              <a:rPr lang="fr-FR" sz="1200" dirty="0" err="1"/>
              <a:t>verilmez</a:t>
            </a:r>
            <a:endParaRPr lang="fr-FR" sz="1200" dirty="0"/>
          </a:p>
        </p:txBody>
      </p:sp>
      <p:sp>
        <p:nvSpPr>
          <p:cNvPr id="7" name="Metin kutusu 6"/>
          <p:cNvSpPr txBox="1"/>
          <p:nvPr/>
        </p:nvSpPr>
        <p:spPr>
          <a:xfrm>
            <a:off x="2670555" y="3722202"/>
            <a:ext cx="8782050" cy="646331"/>
          </a:xfrm>
          <a:prstGeom prst="rect">
            <a:avLst/>
          </a:prstGeom>
          <a:noFill/>
        </p:spPr>
        <p:txBody>
          <a:bodyPr wrap="square" rtlCol="0">
            <a:spAutoFit/>
          </a:bodyPr>
          <a:lstStyle/>
          <a:p>
            <a:r>
              <a:rPr lang="tr-TR" dirty="0" smtClean="0"/>
              <a:t>Hukuka uygunluk hak kavramı, hem özel hukuktan hem de kamu hukukundan kaynaklanan tüm hakları ifade eder. </a:t>
            </a:r>
            <a:endParaRPr lang="fr-FR" dirty="0"/>
          </a:p>
        </p:txBody>
      </p:sp>
      <p:sp>
        <p:nvSpPr>
          <p:cNvPr id="17" name="Metin kutusu 16"/>
          <p:cNvSpPr txBox="1"/>
          <p:nvPr/>
        </p:nvSpPr>
        <p:spPr>
          <a:xfrm>
            <a:off x="2670555" y="4394569"/>
            <a:ext cx="8782050" cy="1569660"/>
          </a:xfrm>
          <a:prstGeom prst="rect">
            <a:avLst/>
          </a:prstGeom>
          <a:noFill/>
        </p:spPr>
        <p:txBody>
          <a:bodyPr wrap="square" rtlCol="0">
            <a:spAutoFit/>
          </a:bodyPr>
          <a:lstStyle/>
          <a:p>
            <a:r>
              <a:rPr lang="tr-TR" dirty="0" smtClean="0"/>
              <a:t>Hakkın kullanılmasının şartları:</a:t>
            </a:r>
          </a:p>
          <a:p>
            <a:r>
              <a:rPr lang="tr-TR" dirty="0" smtClean="0"/>
              <a:t>1.Subjektif bir hakkın varlığı</a:t>
            </a:r>
          </a:p>
          <a:p>
            <a:r>
              <a:rPr lang="tr-TR" dirty="0" smtClean="0"/>
              <a:t>2.Hakkın doğrudan doğruya kullanılabilmesi</a:t>
            </a:r>
          </a:p>
          <a:p>
            <a:pPr marL="361950" indent="-180975">
              <a:buFont typeface="Wingdings" panose="05000000000000000000" pitchFamily="2" charset="2"/>
              <a:buChar char="ü"/>
            </a:pPr>
            <a:r>
              <a:rPr lang="tr-TR" sz="1200" dirty="0" smtClean="0"/>
              <a:t>Hak bir merciin aracılığıyla kullanılmak zorunda ise bu uygunluk nedeninden faydalanılamaz. Örneğin alacağın Mahkeme ilamıyla kesinleşmesi durumunda dahi kişi kendi başına haciz yapamaz, bu işlemi ancak icra organlarının aracılığıyla gerçekleştirebilir.</a:t>
            </a:r>
          </a:p>
          <a:p>
            <a:r>
              <a:rPr lang="tr-TR" dirty="0" smtClean="0"/>
              <a:t>3. Hakkın kötüye kullanılmaması</a:t>
            </a:r>
            <a:endParaRPr lang="fr-FR" dirty="0"/>
          </a:p>
        </p:txBody>
      </p:sp>
      <p:sp>
        <p:nvSpPr>
          <p:cNvPr id="2" name="Metin kutusu 1"/>
          <p:cNvSpPr txBox="1"/>
          <p:nvPr/>
        </p:nvSpPr>
        <p:spPr>
          <a:xfrm>
            <a:off x="8314340" y="2310999"/>
            <a:ext cx="2990850" cy="1323439"/>
          </a:xfrm>
          <a:prstGeom prst="rect">
            <a:avLst/>
          </a:prstGeom>
          <a:noFill/>
        </p:spPr>
        <p:txBody>
          <a:bodyPr wrap="square" rtlCol="0">
            <a:spAutoFit/>
          </a:bodyPr>
          <a:lstStyle/>
          <a:p>
            <a:r>
              <a:rPr lang="tr-TR" sz="1200" dirty="0" smtClean="0"/>
              <a:t>Örnekler için bakınız</a:t>
            </a:r>
            <a:endParaRPr lang="tr-TR" sz="1200" dirty="0"/>
          </a:p>
          <a:p>
            <a:r>
              <a:rPr lang="tr-TR" sz="1200" dirty="0" smtClean="0"/>
              <a:t>*Şikayet hakkının kullanılacağının söylenmesi</a:t>
            </a:r>
          </a:p>
          <a:p>
            <a:r>
              <a:rPr lang="tr-TR" sz="1200" dirty="0" smtClean="0"/>
              <a:t>*Türk Medeni Kanunu m.740</a:t>
            </a:r>
          </a:p>
          <a:p>
            <a:r>
              <a:rPr lang="tr-TR" sz="1200" dirty="0" smtClean="0"/>
              <a:t>*Borçlar Kanunu m.68</a:t>
            </a:r>
          </a:p>
          <a:p>
            <a:pPr algn="just"/>
            <a:r>
              <a:rPr lang="fr-FR" sz="800" dirty="0"/>
              <a:t>MADDE 68- </a:t>
            </a:r>
            <a:r>
              <a:rPr lang="fr-FR" sz="800" dirty="0" err="1"/>
              <a:t>Bir</a:t>
            </a:r>
            <a:r>
              <a:rPr lang="fr-FR" sz="800" dirty="0"/>
              <a:t> </a:t>
            </a:r>
            <a:r>
              <a:rPr lang="fr-FR" sz="800" dirty="0" err="1"/>
              <a:t>kişinin</a:t>
            </a:r>
            <a:r>
              <a:rPr lang="fr-FR" sz="800" dirty="0"/>
              <a:t> </a:t>
            </a:r>
            <a:r>
              <a:rPr lang="fr-FR" sz="800" dirty="0" err="1"/>
              <a:t>hayvanı</a:t>
            </a:r>
            <a:r>
              <a:rPr lang="fr-FR" sz="800" dirty="0"/>
              <a:t>, </a:t>
            </a:r>
            <a:r>
              <a:rPr lang="fr-FR" sz="800" dirty="0" err="1"/>
              <a:t>başkasının</a:t>
            </a:r>
            <a:r>
              <a:rPr lang="fr-FR" sz="800" dirty="0"/>
              <a:t> </a:t>
            </a:r>
            <a:r>
              <a:rPr lang="fr-FR" sz="800" dirty="0" err="1"/>
              <a:t>taşınmazı</a:t>
            </a:r>
            <a:r>
              <a:rPr lang="fr-FR" sz="800" dirty="0"/>
              <a:t> </a:t>
            </a:r>
            <a:r>
              <a:rPr lang="fr-FR" sz="800" dirty="0" err="1"/>
              <a:t>üzerinde</a:t>
            </a:r>
            <a:r>
              <a:rPr lang="fr-FR" sz="800" dirty="0"/>
              <a:t> </a:t>
            </a:r>
            <a:r>
              <a:rPr lang="fr-FR" sz="800" dirty="0" err="1"/>
              <a:t>bir</a:t>
            </a:r>
            <a:r>
              <a:rPr lang="fr-FR" sz="800" dirty="0"/>
              <a:t> </a:t>
            </a:r>
            <a:r>
              <a:rPr lang="fr-FR" sz="800" dirty="0" err="1"/>
              <a:t>zarar</a:t>
            </a:r>
            <a:r>
              <a:rPr lang="fr-FR" sz="800" dirty="0"/>
              <a:t> </a:t>
            </a:r>
            <a:r>
              <a:rPr lang="fr-FR" sz="800" dirty="0" err="1"/>
              <a:t>verdiği</a:t>
            </a:r>
            <a:r>
              <a:rPr lang="fr-FR" sz="800" dirty="0"/>
              <a:t> </a:t>
            </a:r>
            <a:r>
              <a:rPr lang="fr-FR" sz="800" dirty="0" err="1"/>
              <a:t>takdirde</a:t>
            </a:r>
            <a:r>
              <a:rPr lang="fr-FR" sz="800" dirty="0"/>
              <a:t>, </a:t>
            </a:r>
            <a:r>
              <a:rPr lang="fr-FR" sz="800" dirty="0" err="1"/>
              <a:t>taşınmazın</a:t>
            </a:r>
            <a:r>
              <a:rPr lang="fr-FR" sz="800" dirty="0"/>
              <a:t> </a:t>
            </a:r>
            <a:r>
              <a:rPr lang="fr-FR" sz="800" dirty="0" err="1"/>
              <a:t>zilyedi</a:t>
            </a:r>
            <a:r>
              <a:rPr lang="fr-FR" sz="800" dirty="0"/>
              <a:t>, o </a:t>
            </a:r>
            <a:r>
              <a:rPr lang="fr-FR" sz="800" dirty="0" err="1"/>
              <a:t>hayvanı</a:t>
            </a:r>
            <a:r>
              <a:rPr lang="fr-FR" sz="800" dirty="0"/>
              <a:t> </a:t>
            </a:r>
            <a:r>
              <a:rPr lang="fr-FR" sz="800" dirty="0" err="1"/>
              <a:t>yakalayabilir</a:t>
            </a:r>
            <a:r>
              <a:rPr lang="fr-FR" sz="800" dirty="0"/>
              <a:t>, </a:t>
            </a:r>
            <a:r>
              <a:rPr lang="fr-FR" sz="800" dirty="0" err="1"/>
              <a:t>zararı</a:t>
            </a:r>
            <a:r>
              <a:rPr lang="fr-FR" sz="800" dirty="0"/>
              <a:t> </a:t>
            </a:r>
            <a:r>
              <a:rPr lang="fr-FR" sz="800" dirty="0" err="1"/>
              <a:t>giderilinceye</a:t>
            </a:r>
            <a:r>
              <a:rPr lang="fr-FR" sz="800" dirty="0"/>
              <a:t> </a:t>
            </a:r>
            <a:r>
              <a:rPr lang="fr-FR" sz="800" dirty="0" err="1"/>
              <a:t>kadar</a:t>
            </a:r>
            <a:r>
              <a:rPr lang="fr-FR" sz="800" dirty="0"/>
              <a:t> </a:t>
            </a:r>
            <a:r>
              <a:rPr lang="fr-FR" sz="800" dirty="0" err="1"/>
              <a:t>alıkoyabilir</a:t>
            </a:r>
            <a:r>
              <a:rPr lang="fr-FR" sz="800" dirty="0"/>
              <a:t>; </a:t>
            </a:r>
            <a:r>
              <a:rPr lang="fr-FR" sz="800" dirty="0" err="1"/>
              <a:t>hatta</a:t>
            </a:r>
            <a:r>
              <a:rPr lang="fr-FR" sz="800" dirty="0"/>
              <a:t> </a:t>
            </a:r>
            <a:r>
              <a:rPr lang="fr-FR" sz="800" dirty="0" err="1"/>
              <a:t>durum</a:t>
            </a:r>
            <a:r>
              <a:rPr lang="fr-FR" sz="800" dirty="0"/>
              <a:t> </a:t>
            </a:r>
            <a:r>
              <a:rPr lang="fr-FR" sz="800" dirty="0" err="1"/>
              <a:t>ve</a:t>
            </a:r>
            <a:r>
              <a:rPr lang="fr-FR" sz="800" dirty="0"/>
              <a:t> </a:t>
            </a:r>
            <a:r>
              <a:rPr lang="fr-FR" sz="800" dirty="0" err="1"/>
              <a:t>koşullar</a:t>
            </a:r>
            <a:r>
              <a:rPr lang="fr-FR" sz="800" dirty="0"/>
              <a:t> </a:t>
            </a:r>
            <a:r>
              <a:rPr lang="fr-FR" sz="800" dirty="0" err="1"/>
              <a:t>haklı</a:t>
            </a:r>
            <a:r>
              <a:rPr lang="fr-FR" sz="800" dirty="0"/>
              <a:t> </a:t>
            </a:r>
            <a:r>
              <a:rPr lang="fr-FR" sz="800" dirty="0" err="1"/>
              <a:t>gösteriyorsa</a:t>
            </a:r>
            <a:r>
              <a:rPr lang="fr-FR" sz="800" dirty="0"/>
              <a:t> </a:t>
            </a:r>
            <a:r>
              <a:rPr lang="fr-FR" sz="800" dirty="0" err="1"/>
              <a:t>hayvanı</a:t>
            </a:r>
            <a:r>
              <a:rPr lang="fr-FR" sz="800" dirty="0"/>
              <a:t> </a:t>
            </a:r>
            <a:r>
              <a:rPr lang="fr-FR" sz="800" dirty="0" err="1"/>
              <a:t>diğer</a:t>
            </a:r>
            <a:r>
              <a:rPr lang="fr-FR" sz="800" dirty="0"/>
              <a:t> </a:t>
            </a:r>
            <a:r>
              <a:rPr lang="fr-FR" sz="800" dirty="0" err="1"/>
              <a:t>yollarla</a:t>
            </a:r>
            <a:r>
              <a:rPr lang="fr-FR" sz="800" dirty="0"/>
              <a:t> </a:t>
            </a:r>
            <a:r>
              <a:rPr lang="fr-FR" sz="800" dirty="0" err="1"/>
              <a:t>etkisiz</a:t>
            </a:r>
            <a:r>
              <a:rPr lang="fr-FR" sz="800" dirty="0"/>
              <a:t> hâle </a:t>
            </a:r>
            <a:r>
              <a:rPr lang="fr-FR" sz="800" dirty="0" err="1"/>
              <a:t>getirebilir</a:t>
            </a:r>
            <a:r>
              <a:rPr lang="fr-FR" sz="800" dirty="0"/>
              <a:t>.</a:t>
            </a:r>
          </a:p>
        </p:txBody>
      </p:sp>
      <p:sp>
        <p:nvSpPr>
          <p:cNvPr id="12" name="Metin kutusu 11"/>
          <p:cNvSpPr txBox="1"/>
          <p:nvPr/>
        </p:nvSpPr>
        <p:spPr>
          <a:xfrm>
            <a:off x="2670555" y="3378540"/>
            <a:ext cx="8782050" cy="369332"/>
          </a:xfrm>
          <a:prstGeom prst="rect">
            <a:avLst/>
          </a:prstGeom>
          <a:noFill/>
        </p:spPr>
        <p:txBody>
          <a:bodyPr wrap="square" rtlCol="0">
            <a:spAutoFit/>
          </a:bodyPr>
          <a:lstStyle/>
          <a:p>
            <a:r>
              <a:rPr lang="tr-TR" dirty="0" smtClean="0"/>
              <a:t>Hak = Hukuk tarafından korunan menfaat</a:t>
            </a:r>
            <a:endParaRPr lang="fr-FR" dirty="0"/>
          </a:p>
        </p:txBody>
      </p:sp>
      <p:sp>
        <p:nvSpPr>
          <p:cNvPr id="14"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56</a:t>
            </a:fld>
            <a:r>
              <a:rPr lang="tr-TR"/>
              <a:t>/116</a:t>
            </a:r>
          </a:p>
        </p:txBody>
      </p:sp>
    </p:spTree>
    <p:extLst>
      <p:ext uri="{BB962C8B-B14F-4D97-AF65-F5344CB8AC3E}">
        <p14:creationId xmlns:p14="http://schemas.microsoft.com/office/powerpoint/2010/main" val="188152010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Hukuka Uygunluk Nedenleri	</a:t>
            </a:r>
            <a:endParaRPr lang="tr-TR" b="1" dirty="0"/>
          </a:p>
        </p:txBody>
      </p:sp>
      <p:sp>
        <p:nvSpPr>
          <p:cNvPr id="10" name="Alt Başlık 2"/>
          <p:cNvSpPr txBox="1">
            <a:spLocks/>
          </p:cNvSpPr>
          <p:nvPr/>
        </p:nvSpPr>
        <p:spPr>
          <a:xfrm>
            <a:off x="180976" y="6008274"/>
            <a:ext cx="2609850" cy="6827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800" b="1" dirty="0">
                <a:effectLst>
                  <a:outerShdw blurRad="38100" dist="38100" dir="2700000" algn="tl">
                    <a:srgbClr val="000000">
                      <a:alpha val="43137"/>
                    </a:srgbClr>
                  </a:outerShdw>
                </a:effectLst>
              </a:rPr>
              <a:t>Hukuka Uygunluk Nedenleri</a:t>
            </a:r>
            <a:endParaRPr lang="tr-TR" sz="800" dirty="0" smtClean="0"/>
          </a:p>
          <a:p>
            <a:pPr marL="285750" indent="-285750" algn="l">
              <a:spcBef>
                <a:spcPts val="0"/>
              </a:spcBef>
              <a:buFont typeface="Arial" panose="020B0604020202020204" pitchFamily="34" charset="0"/>
              <a:buChar char="•"/>
            </a:pPr>
            <a:r>
              <a:rPr lang="tr-TR" sz="800" dirty="0" smtClean="0"/>
              <a:t>Kanunun Hükmünü Yerine Getirme (Görevin İfası)</a:t>
            </a:r>
          </a:p>
          <a:p>
            <a:pPr marL="285750" indent="-285750" algn="l">
              <a:spcBef>
                <a:spcPts val="0"/>
              </a:spcBef>
              <a:buFont typeface="Arial" panose="020B0604020202020204" pitchFamily="34" charset="0"/>
              <a:buChar char="•"/>
            </a:pPr>
            <a:r>
              <a:rPr lang="tr-TR" sz="800" dirty="0" smtClean="0"/>
              <a:t>Meşru Savunma</a:t>
            </a:r>
          </a:p>
          <a:p>
            <a:pPr marL="285750" indent="-285750" algn="l">
              <a:spcBef>
                <a:spcPts val="0"/>
              </a:spcBef>
              <a:buFont typeface="Arial" panose="020B0604020202020204" pitchFamily="34" charset="0"/>
              <a:buChar char="•"/>
            </a:pPr>
            <a:r>
              <a:rPr lang="tr-TR" sz="800" dirty="0"/>
              <a:t>Hakkın Kullanılması</a:t>
            </a:r>
          </a:p>
          <a:p>
            <a:pPr marL="285750" indent="-285750" algn="l">
              <a:spcBef>
                <a:spcPts val="0"/>
              </a:spcBef>
              <a:buFont typeface="Arial" panose="020B0604020202020204" pitchFamily="34" charset="0"/>
              <a:buChar char="•"/>
            </a:pPr>
            <a:r>
              <a:rPr lang="tr-TR" sz="800" u="sng" dirty="0">
                <a:effectLst>
                  <a:outerShdw blurRad="38100" dist="38100" dir="2700000" algn="tl">
                    <a:srgbClr val="000000">
                      <a:alpha val="43137"/>
                    </a:srgbClr>
                  </a:outerShdw>
                </a:effectLst>
              </a:rPr>
              <a:t>İlgilinin Rızası</a:t>
            </a:r>
          </a:p>
        </p:txBody>
      </p:sp>
      <p:sp>
        <p:nvSpPr>
          <p:cNvPr id="9" name="Alt Başlık 2"/>
          <p:cNvSpPr txBox="1">
            <a:spLocks/>
          </p:cNvSpPr>
          <p:nvPr/>
        </p:nvSpPr>
        <p:spPr>
          <a:xfrm>
            <a:off x="1842675" y="2285337"/>
            <a:ext cx="9198363" cy="517036"/>
          </a:xfrm>
          <a:prstGeom prst="rect">
            <a:avLst/>
          </a:prstGeom>
        </p:spPr>
        <p:txBody>
          <a:bodyPr vert="horz" lIns="91440" tIns="45720" rIns="91440" bIns="45720" rtlCol="0">
            <a:noAutofit/>
          </a:bodyPr>
          <a:lstStyle>
            <a:defPPr>
              <a:defRPr lang="tr-TR"/>
            </a:defPPr>
            <a:lvl1pPr marL="285750" indent="-285750">
              <a:lnSpc>
                <a:spcPct val="90000"/>
              </a:lnSpc>
              <a:spcBef>
                <a:spcPts val="1000"/>
              </a:spcBef>
              <a:buFont typeface="Arial" panose="020B0604020202020204" pitchFamily="34" charset="0"/>
              <a:buChar char="•"/>
              <a:defRPr sz="2000">
                <a:effectLst>
                  <a:outerShdw blurRad="38100" dist="38100" dir="2700000" algn="tl">
                    <a:srgbClr val="000000">
                      <a:alpha val="43137"/>
                    </a:srgbClr>
                  </a:outerShdw>
                </a:effectLst>
              </a:defRPr>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r>
              <a:rPr lang="tr-TR" dirty="0" smtClean="0"/>
              <a:t>İlgilinin Rızası</a:t>
            </a:r>
            <a:endParaRPr lang="tr-TR" dirty="0"/>
          </a:p>
        </p:txBody>
      </p:sp>
      <p:sp>
        <p:nvSpPr>
          <p:cNvPr id="18" name="Dikdörtgen 17"/>
          <p:cNvSpPr/>
          <p:nvPr/>
        </p:nvSpPr>
        <p:spPr>
          <a:xfrm>
            <a:off x="2790826" y="4388138"/>
            <a:ext cx="8661779" cy="307777"/>
          </a:xfrm>
          <a:prstGeom prst="rect">
            <a:avLst/>
          </a:prstGeom>
        </p:spPr>
        <p:txBody>
          <a:bodyPr wrap="square">
            <a:spAutoFit/>
          </a:bodyPr>
          <a:lstStyle/>
          <a:p>
            <a:endParaRPr lang="fr-FR" sz="1400" dirty="0"/>
          </a:p>
        </p:txBody>
      </p:sp>
      <p:sp>
        <p:nvSpPr>
          <p:cNvPr id="6" name="Dikdörtgen 5"/>
          <p:cNvSpPr/>
          <p:nvPr/>
        </p:nvSpPr>
        <p:spPr>
          <a:xfrm>
            <a:off x="2422905" y="2728289"/>
            <a:ext cx="6587745" cy="1015663"/>
          </a:xfrm>
          <a:prstGeom prst="rect">
            <a:avLst/>
          </a:prstGeom>
        </p:spPr>
        <p:txBody>
          <a:bodyPr wrap="square">
            <a:spAutoFit/>
          </a:bodyPr>
          <a:lstStyle/>
          <a:p>
            <a:r>
              <a:rPr lang="tr-TR" sz="1200" b="1" dirty="0"/>
              <a:t>5237 s. TCK </a:t>
            </a:r>
          </a:p>
          <a:p>
            <a:r>
              <a:rPr lang="fr-FR" sz="1200" b="1" dirty="0" err="1" smtClean="0"/>
              <a:t>Hakkın</a:t>
            </a:r>
            <a:r>
              <a:rPr lang="fr-FR" sz="1200" b="1" dirty="0" smtClean="0"/>
              <a:t> </a:t>
            </a:r>
            <a:r>
              <a:rPr lang="fr-FR" sz="1200" b="1" dirty="0" err="1"/>
              <a:t>kullanılması</a:t>
            </a:r>
            <a:r>
              <a:rPr lang="fr-FR" sz="1200" b="1" dirty="0"/>
              <a:t> ve </a:t>
            </a:r>
            <a:r>
              <a:rPr lang="fr-FR" sz="1200" b="1" dirty="0" err="1"/>
              <a:t>ilgilinin</a:t>
            </a:r>
            <a:r>
              <a:rPr lang="fr-FR" sz="1200" b="1" dirty="0"/>
              <a:t> </a:t>
            </a:r>
            <a:r>
              <a:rPr lang="fr-FR" sz="1200" b="1" dirty="0" err="1" smtClean="0"/>
              <a:t>rızası</a:t>
            </a:r>
            <a:endParaRPr lang="tr-TR" sz="1200" b="1" dirty="0" smtClean="0"/>
          </a:p>
          <a:p>
            <a:r>
              <a:rPr lang="fr-FR" sz="1200" b="1" dirty="0" err="1" smtClean="0"/>
              <a:t>Madde</a:t>
            </a:r>
            <a:r>
              <a:rPr lang="fr-FR" sz="1200" b="1" dirty="0" smtClean="0"/>
              <a:t> </a:t>
            </a:r>
            <a:r>
              <a:rPr lang="fr-FR" sz="1200" b="1" dirty="0"/>
              <a:t>26-</a:t>
            </a:r>
            <a:r>
              <a:rPr lang="fr-FR" sz="1200" dirty="0"/>
              <a:t> </a:t>
            </a:r>
            <a:r>
              <a:rPr lang="tr-TR" sz="1200" dirty="0" smtClean="0"/>
              <a:t>….</a:t>
            </a:r>
          </a:p>
          <a:p>
            <a:pPr algn="just"/>
            <a:r>
              <a:rPr lang="fr-FR" sz="1200" dirty="0" smtClean="0"/>
              <a:t>(</a:t>
            </a:r>
            <a:r>
              <a:rPr lang="fr-FR" sz="1200" dirty="0"/>
              <a:t>2) </a:t>
            </a:r>
            <a:r>
              <a:rPr lang="fr-FR" sz="1200" dirty="0" err="1"/>
              <a:t>Kişinin</a:t>
            </a:r>
            <a:r>
              <a:rPr lang="fr-FR" sz="1200" dirty="0"/>
              <a:t> </a:t>
            </a:r>
            <a:r>
              <a:rPr lang="fr-FR" sz="1200" dirty="0" err="1"/>
              <a:t>üzerinde</a:t>
            </a:r>
            <a:r>
              <a:rPr lang="fr-FR" sz="1200" dirty="0"/>
              <a:t> </a:t>
            </a:r>
            <a:r>
              <a:rPr lang="fr-FR" sz="1200" dirty="0" err="1"/>
              <a:t>mutlak</a:t>
            </a:r>
            <a:r>
              <a:rPr lang="fr-FR" sz="1200" dirty="0"/>
              <a:t> surette </a:t>
            </a:r>
            <a:r>
              <a:rPr lang="fr-FR" sz="1200" dirty="0" err="1"/>
              <a:t>tasarruf</a:t>
            </a:r>
            <a:r>
              <a:rPr lang="fr-FR" sz="1200" dirty="0"/>
              <a:t> </a:t>
            </a:r>
            <a:r>
              <a:rPr lang="fr-FR" sz="1200" dirty="0" err="1"/>
              <a:t>edebileceği</a:t>
            </a:r>
            <a:r>
              <a:rPr lang="fr-FR" sz="1200" dirty="0"/>
              <a:t> </a:t>
            </a:r>
            <a:r>
              <a:rPr lang="fr-FR" sz="1200" dirty="0" err="1"/>
              <a:t>bir</a:t>
            </a:r>
            <a:r>
              <a:rPr lang="fr-FR" sz="1200" dirty="0"/>
              <a:t> </a:t>
            </a:r>
            <a:r>
              <a:rPr lang="fr-FR" sz="1200" dirty="0" err="1"/>
              <a:t>hakkına</a:t>
            </a:r>
            <a:r>
              <a:rPr lang="fr-FR" sz="1200" dirty="0"/>
              <a:t> </a:t>
            </a:r>
            <a:r>
              <a:rPr lang="fr-FR" sz="1200" dirty="0" err="1"/>
              <a:t>ilişkin</a:t>
            </a:r>
            <a:r>
              <a:rPr lang="fr-FR" sz="1200" dirty="0"/>
              <a:t> </a:t>
            </a:r>
            <a:r>
              <a:rPr lang="fr-FR" sz="1200" dirty="0" err="1"/>
              <a:t>olmak</a:t>
            </a:r>
            <a:r>
              <a:rPr lang="fr-FR" sz="1200" dirty="0"/>
              <a:t> </a:t>
            </a:r>
            <a:r>
              <a:rPr lang="fr-FR" sz="1200" dirty="0" err="1"/>
              <a:t>üzere</a:t>
            </a:r>
            <a:r>
              <a:rPr lang="fr-FR" sz="1200" dirty="0"/>
              <a:t>, </a:t>
            </a:r>
            <a:r>
              <a:rPr lang="fr-FR" sz="1200" u="sng" dirty="0" err="1"/>
              <a:t>açıkladığı</a:t>
            </a:r>
            <a:r>
              <a:rPr lang="fr-FR" sz="1200" u="sng" dirty="0"/>
              <a:t> </a:t>
            </a:r>
            <a:r>
              <a:rPr lang="fr-FR" sz="1200" u="sng" dirty="0" err="1"/>
              <a:t>rızası</a:t>
            </a:r>
            <a:r>
              <a:rPr lang="fr-FR" sz="1200" u="sng" dirty="0"/>
              <a:t> </a:t>
            </a:r>
            <a:r>
              <a:rPr lang="fr-FR" sz="1200" u="sng" dirty="0" err="1"/>
              <a:t>çerçevesinde</a:t>
            </a:r>
            <a:r>
              <a:rPr lang="fr-FR" sz="1200" dirty="0"/>
              <a:t> </a:t>
            </a:r>
            <a:r>
              <a:rPr lang="fr-FR" sz="1200" dirty="0" err="1"/>
              <a:t>işlenen</a:t>
            </a:r>
            <a:r>
              <a:rPr lang="fr-FR" sz="1200" dirty="0"/>
              <a:t> </a:t>
            </a:r>
            <a:r>
              <a:rPr lang="fr-FR" sz="1200" dirty="0" err="1"/>
              <a:t>fiilden</a:t>
            </a:r>
            <a:r>
              <a:rPr lang="fr-FR" sz="1200" dirty="0"/>
              <a:t> dolayı </a:t>
            </a:r>
            <a:r>
              <a:rPr lang="fr-FR" sz="1200" dirty="0" err="1"/>
              <a:t>kimseye</a:t>
            </a:r>
            <a:r>
              <a:rPr lang="fr-FR" sz="1200" dirty="0"/>
              <a:t> ceza </a:t>
            </a:r>
            <a:r>
              <a:rPr lang="fr-FR" sz="1200" dirty="0" err="1"/>
              <a:t>verilmez</a:t>
            </a:r>
            <a:r>
              <a:rPr lang="fr-FR" sz="1200" dirty="0"/>
              <a:t>.</a:t>
            </a:r>
          </a:p>
        </p:txBody>
      </p:sp>
      <p:sp>
        <p:nvSpPr>
          <p:cNvPr id="17" name="Metin kutusu 16"/>
          <p:cNvSpPr txBox="1"/>
          <p:nvPr/>
        </p:nvSpPr>
        <p:spPr>
          <a:xfrm>
            <a:off x="2790826" y="3743952"/>
            <a:ext cx="9286875" cy="2308324"/>
          </a:xfrm>
          <a:prstGeom prst="rect">
            <a:avLst/>
          </a:prstGeom>
          <a:noFill/>
        </p:spPr>
        <p:txBody>
          <a:bodyPr wrap="square" rtlCol="0">
            <a:spAutoFit/>
          </a:bodyPr>
          <a:lstStyle/>
          <a:p>
            <a:r>
              <a:rPr lang="tr-TR" dirty="0" smtClean="0"/>
              <a:t>Şartları:</a:t>
            </a:r>
          </a:p>
          <a:p>
            <a:r>
              <a:rPr lang="tr-TR" dirty="0" smtClean="0"/>
              <a:t>1.Rızaya ehliyet</a:t>
            </a:r>
          </a:p>
          <a:p>
            <a:pPr marL="361950" indent="-180975">
              <a:buFont typeface="Wingdings" panose="05000000000000000000" pitchFamily="2" charset="2"/>
              <a:buChar char="ü"/>
            </a:pPr>
            <a:r>
              <a:rPr lang="tr-TR" sz="1200" dirty="0" smtClean="0"/>
              <a:t>Temyiz </a:t>
            </a:r>
            <a:r>
              <a:rPr lang="tr-TR" sz="1200" dirty="0"/>
              <a:t>kudretine sahip olmak</a:t>
            </a:r>
          </a:p>
          <a:p>
            <a:r>
              <a:rPr lang="tr-TR" dirty="0" smtClean="0"/>
              <a:t>2.Rıza açıklaması</a:t>
            </a:r>
          </a:p>
          <a:p>
            <a:pPr marL="361950" indent="-180975">
              <a:buFont typeface="Wingdings" panose="05000000000000000000" pitchFamily="2" charset="2"/>
              <a:buChar char="ü"/>
            </a:pPr>
            <a:r>
              <a:rPr lang="tr-TR" sz="1200" dirty="0" smtClean="0"/>
              <a:t>Rıza açıklaması yazılı veya sözlü, açık ya da örtülü olabilir.</a:t>
            </a:r>
          </a:p>
          <a:p>
            <a:pPr marL="361950" indent="-180975">
              <a:buFont typeface="Wingdings" panose="05000000000000000000" pitchFamily="2" charset="2"/>
              <a:buChar char="ü"/>
            </a:pPr>
            <a:r>
              <a:rPr lang="tr-TR" sz="1200" dirty="0" smtClean="0"/>
              <a:t>Rıza, suç işlenmeden önce veya en geç işlendiği sırada açıklanmalıdır. Sonraki rıza açıklaması geçerli değildir. </a:t>
            </a:r>
          </a:p>
          <a:p>
            <a:pPr marL="361950" indent="-180975">
              <a:buFont typeface="Wingdings" panose="05000000000000000000" pitchFamily="2" charset="2"/>
              <a:buChar char="ü"/>
            </a:pPr>
            <a:r>
              <a:rPr lang="tr-TR" sz="1200" dirty="0" smtClean="0"/>
              <a:t>Kanun tarafından belli şekilde açıklanması öngörülmediği sürece, suskun kalmak suretiyle de açıklanabilir.</a:t>
            </a:r>
          </a:p>
          <a:p>
            <a:pPr marL="361950" indent="-180975">
              <a:buFont typeface="Wingdings" panose="05000000000000000000" pitchFamily="2" charset="2"/>
              <a:buChar char="ü"/>
            </a:pPr>
            <a:r>
              <a:rPr lang="tr-TR" sz="1200" dirty="0" smtClean="0"/>
              <a:t>Cebir, şiddet, tehdit, hile gibi iradeyi sakatlayan durumlar neticesinde verilen rıza geçerli bir rıza olmaz ve hukuka uygunluk nedeni oluşturmaz</a:t>
            </a:r>
          </a:p>
          <a:p>
            <a:r>
              <a:rPr lang="tr-TR" dirty="0" smtClean="0"/>
              <a:t>3. Rızanın konusu</a:t>
            </a:r>
          </a:p>
          <a:p>
            <a:pPr marL="361950" indent="-180975">
              <a:buFont typeface="Wingdings" panose="05000000000000000000" pitchFamily="2" charset="2"/>
              <a:buChar char="ü"/>
            </a:pPr>
            <a:r>
              <a:rPr lang="tr-TR" sz="1200" dirty="0" smtClean="0"/>
              <a:t>Ancak </a:t>
            </a:r>
            <a:r>
              <a:rPr lang="tr-TR" sz="1200" dirty="0"/>
              <a:t>hukuk düzeninin tanıdığı bir hak üzerinde rıza gösterilebilir</a:t>
            </a:r>
          </a:p>
        </p:txBody>
      </p:sp>
      <p:sp>
        <p:nvSpPr>
          <p:cNvPr id="12"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57</a:t>
            </a:fld>
            <a:r>
              <a:rPr lang="tr-TR"/>
              <a:t>/116</a:t>
            </a:r>
          </a:p>
        </p:txBody>
      </p:sp>
    </p:spTree>
    <p:extLst>
      <p:ext uri="{BB962C8B-B14F-4D97-AF65-F5344CB8AC3E}">
        <p14:creationId xmlns:p14="http://schemas.microsoft.com/office/powerpoint/2010/main" val="20335443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Kusurluluk ile Kusurluluğu Kaldıran ve Azaltan Nedenler	</a:t>
            </a:r>
            <a:endParaRPr lang="tr-TR" b="1" dirty="0"/>
          </a:p>
        </p:txBody>
      </p:sp>
      <p:sp>
        <p:nvSpPr>
          <p:cNvPr id="18" name="Dikdörtgen 17"/>
          <p:cNvSpPr/>
          <p:nvPr/>
        </p:nvSpPr>
        <p:spPr>
          <a:xfrm>
            <a:off x="2790826" y="4388138"/>
            <a:ext cx="8661779" cy="307777"/>
          </a:xfrm>
          <a:prstGeom prst="rect">
            <a:avLst/>
          </a:prstGeom>
        </p:spPr>
        <p:txBody>
          <a:bodyPr wrap="square">
            <a:spAutoFit/>
          </a:bodyPr>
          <a:lstStyle/>
          <a:p>
            <a:endParaRPr lang="fr-FR" sz="1400" dirty="0"/>
          </a:p>
        </p:txBody>
      </p:sp>
      <p:sp>
        <p:nvSpPr>
          <p:cNvPr id="2" name="Dikdörtgen 1"/>
          <p:cNvSpPr/>
          <p:nvPr/>
        </p:nvSpPr>
        <p:spPr>
          <a:xfrm>
            <a:off x="1150374" y="2187535"/>
            <a:ext cx="10690643" cy="4093428"/>
          </a:xfrm>
          <a:prstGeom prst="rect">
            <a:avLst/>
          </a:prstGeom>
        </p:spPr>
        <p:txBody>
          <a:bodyPr wrap="square">
            <a:spAutoFit/>
          </a:bodyPr>
          <a:lstStyle/>
          <a:p>
            <a:pPr indent="360000" algn="just">
              <a:lnSpc>
                <a:spcPct val="150000"/>
              </a:lnSpc>
            </a:pPr>
            <a:r>
              <a:rPr lang="fr-FR" sz="1300" dirty="0" smtClean="0"/>
              <a:t>Haksızlık</a:t>
            </a:r>
            <a:r>
              <a:rPr lang="tr-TR" sz="1300" dirty="0"/>
              <a:t>=</a:t>
            </a:r>
            <a:r>
              <a:rPr lang="fr-FR" sz="1300" dirty="0" smtClean="0"/>
              <a:t>hukuk düzen</a:t>
            </a:r>
            <a:r>
              <a:rPr lang="tr-TR" sz="1300" dirty="0" smtClean="0"/>
              <a:t>i</a:t>
            </a:r>
            <a:r>
              <a:rPr lang="fr-FR" sz="1300" dirty="0" smtClean="0"/>
              <a:t>n</a:t>
            </a:r>
            <a:r>
              <a:rPr lang="tr-TR" sz="1300" dirty="0" smtClean="0"/>
              <a:t>i</a:t>
            </a:r>
            <a:r>
              <a:rPr lang="fr-FR" sz="1300" dirty="0" smtClean="0"/>
              <a:t>n davranı</a:t>
            </a:r>
            <a:r>
              <a:rPr lang="tr-TR" sz="1300" dirty="0" smtClean="0"/>
              <a:t>ş</a:t>
            </a:r>
            <a:r>
              <a:rPr lang="fr-FR" sz="1300" dirty="0" smtClean="0"/>
              <a:t> normlarıyla</a:t>
            </a:r>
            <a:r>
              <a:rPr lang="tr-TR" sz="1300" dirty="0" smtClean="0"/>
              <a:t> yasakladığı </a:t>
            </a:r>
            <a:r>
              <a:rPr lang="fr-FR" sz="1300" dirty="0" smtClean="0"/>
              <a:t>f</a:t>
            </a:r>
            <a:r>
              <a:rPr lang="tr-TR" sz="1300" dirty="0" smtClean="0"/>
              <a:t>ii</a:t>
            </a:r>
            <a:r>
              <a:rPr lang="fr-FR" sz="1300" dirty="0" smtClean="0"/>
              <a:t>ller</a:t>
            </a:r>
            <a:endParaRPr lang="tr-TR" sz="1300" dirty="0" smtClean="0"/>
          </a:p>
          <a:p>
            <a:pPr indent="360000" algn="just">
              <a:lnSpc>
                <a:spcPct val="150000"/>
              </a:lnSpc>
            </a:pPr>
            <a:r>
              <a:rPr lang="tr-TR" sz="1300" dirty="0" smtClean="0"/>
              <a:t>Bir eylemin haksızlık türünden eylem olup olmadığının tespitinde </a:t>
            </a:r>
            <a:r>
              <a:rPr lang="fr-FR" sz="1300" dirty="0" smtClean="0"/>
              <a:t>fa</a:t>
            </a:r>
            <a:r>
              <a:rPr lang="tr-TR" sz="1300" dirty="0" smtClean="0"/>
              <a:t>i</a:t>
            </a:r>
            <a:r>
              <a:rPr lang="fr-FR" sz="1300" dirty="0" smtClean="0"/>
              <a:t>l d</a:t>
            </a:r>
            <a:r>
              <a:rPr lang="tr-TR" sz="1300" dirty="0" smtClean="0"/>
              <a:t>i</a:t>
            </a:r>
            <a:r>
              <a:rPr lang="fr-FR" sz="1300" dirty="0" smtClean="0"/>
              <a:t>kkate</a:t>
            </a:r>
            <a:r>
              <a:rPr lang="tr-TR" sz="1300" dirty="0" smtClean="0"/>
              <a:t> alınmaz, yani OBJEKTİF değerlendirme yapılır.</a:t>
            </a:r>
          </a:p>
          <a:p>
            <a:pPr indent="360000" algn="just">
              <a:lnSpc>
                <a:spcPct val="150000"/>
              </a:lnSpc>
            </a:pPr>
            <a:r>
              <a:rPr lang="tr-TR" sz="1300" dirty="0" smtClean="0"/>
              <a:t>İş</a:t>
            </a:r>
            <a:r>
              <a:rPr lang="fr-FR" sz="1300" dirty="0" smtClean="0"/>
              <a:t>lenen f</a:t>
            </a:r>
            <a:r>
              <a:rPr lang="tr-TR" sz="1300" dirty="0" smtClean="0"/>
              <a:t>ii</a:t>
            </a:r>
            <a:r>
              <a:rPr lang="fr-FR" sz="1300" dirty="0" smtClean="0"/>
              <a:t>l</a:t>
            </a:r>
            <a:r>
              <a:rPr lang="tr-TR" sz="1300" dirty="0" smtClean="0"/>
              <a:t>i</a:t>
            </a:r>
            <a:r>
              <a:rPr lang="fr-FR" sz="1300" dirty="0" smtClean="0"/>
              <a:t>n fa</a:t>
            </a:r>
            <a:r>
              <a:rPr lang="tr-TR" sz="1300" dirty="0" smtClean="0"/>
              <a:t>i</a:t>
            </a:r>
            <a:r>
              <a:rPr lang="fr-FR" sz="1300" dirty="0" smtClean="0"/>
              <a:t>l bakımından</a:t>
            </a:r>
            <a:r>
              <a:rPr lang="tr-TR" sz="1300" dirty="0" smtClean="0"/>
              <a:t> </a:t>
            </a:r>
            <a:r>
              <a:rPr lang="fr-FR" sz="1300" dirty="0" smtClean="0"/>
              <a:t>degerlend</a:t>
            </a:r>
            <a:r>
              <a:rPr lang="tr-TR" sz="1300" dirty="0" smtClean="0"/>
              <a:t>i</a:t>
            </a:r>
            <a:r>
              <a:rPr lang="fr-FR" sz="1300" dirty="0" smtClean="0"/>
              <a:t>r</a:t>
            </a:r>
            <a:r>
              <a:rPr lang="tr-TR" sz="1300" dirty="0" smtClean="0"/>
              <a:t>i</a:t>
            </a:r>
            <a:r>
              <a:rPr lang="fr-FR" sz="1300" dirty="0" smtClean="0"/>
              <a:t>lmes</a:t>
            </a:r>
            <a:r>
              <a:rPr lang="tr-TR" sz="1300" dirty="0" smtClean="0"/>
              <a:t>i</a:t>
            </a:r>
            <a:r>
              <a:rPr lang="fr-FR" sz="1300" dirty="0" smtClean="0"/>
              <a:t>ne geç</a:t>
            </a:r>
            <a:r>
              <a:rPr lang="tr-TR" sz="1300" dirty="0" smtClean="0"/>
              <a:t>i</a:t>
            </a:r>
            <a:r>
              <a:rPr lang="fr-FR" sz="1300" dirty="0" smtClean="0"/>
              <a:t>ld</a:t>
            </a:r>
            <a:r>
              <a:rPr lang="tr-TR" sz="1300" dirty="0" smtClean="0"/>
              <a:t>i</a:t>
            </a:r>
            <a:r>
              <a:rPr lang="tr-TR" sz="1300" dirty="0"/>
              <a:t>ğ</a:t>
            </a:r>
            <a:r>
              <a:rPr lang="tr-TR" sz="1300" dirty="0" smtClean="0"/>
              <a:t>i</a:t>
            </a:r>
            <a:r>
              <a:rPr lang="fr-FR" sz="1300" dirty="0" smtClean="0"/>
              <a:t> sa</a:t>
            </a:r>
            <a:r>
              <a:rPr lang="tr-TR" sz="1300" dirty="0" smtClean="0"/>
              <a:t>fh</a:t>
            </a:r>
            <a:r>
              <a:rPr lang="fr-FR" sz="1300" dirty="0" smtClean="0"/>
              <a:t>ada </a:t>
            </a:r>
            <a:r>
              <a:rPr lang="tr-TR" sz="1300" dirty="0" smtClean="0"/>
              <a:t>ise </a:t>
            </a:r>
            <a:r>
              <a:rPr lang="fr-FR" sz="1300" dirty="0" smtClean="0"/>
              <a:t>kar</a:t>
            </a:r>
            <a:r>
              <a:rPr lang="tr-TR" sz="1300" dirty="0" smtClean="0"/>
              <a:t>ş</a:t>
            </a:r>
            <a:r>
              <a:rPr lang="fr-FR" sz="1300" dirty="0" err="1" smtClean="0"/>
              <a:t>ımıza</a:t>
            </a:r>
            <a:r>
              <a:rPr lang="fr-FR" sz="1300" dirty="0" smtClean="0"/>
              <a:t> </a:t>
            </a:r>
            <a:r>
              <a:rPr lang="tr-TR" sz="1300" dirty="0" smtClean="0"/>
              <a:t>kusur </a:t>
            </a:r>
            <a:r>
              <a:rPr lang="tr-TR" sz="1300" dirty="0" err="1" smtClean="0"/>
              <a:t>çı</a:t>
            </a:r>
            <a:r>
              <a:rPr lang="fr-FR" sz="1300" dirty="0" smtClean="0"/>
              <a:t>k</a:t>
            </a:r>
            <a:r>
              <a:rPr lang="tr-TR" sz="1300" dirty="0" smtClean="0"/>
              <a:t>ar.</a:t>
            </a:r>
          </a:p>
          <a:p>
            <a:pPr indent="360000" algn="just">
              <a:lnSpc>
                <a:spcPct val="150000"/>
              </a:lnSpc>
            </a:pPr>
            <a:r>
              <a:rPr lang="fr-FR" sz="1300" dirty="0" err="1" smtClean="0"/>
              <a:t>Kusur</a:t>
            </a:r>
            <a:r>
              <a:rPr lang="tr-TR" sz="1300" dirty="0" smtClean="0"/>
              <a:t>,</a:t>
            </a:r>
            <a:r>
              <a:rPr lang="fr-FR" sz="1300" dirty="0" smtClean="0"/>
              <a:t> suçun</a:t>
            </a:r>
            <a:r>
              <a:rPr lang="tr-TR" sz="1300" dirty="0" smtClean="0"/>
              <a:t> bir unsuru olmayıp (Ne objektif-maddi ne de sübjektif-manevi) suça ilişkin </a:t>
            </a:r>
            <a:r>
              <a:rPr lang="fr-FR" sz="1300" dirty="0" smtClean="0"/>
              <a:t>t</a:t>
            </a:r>
            <a:r>
              <a:rPr lang="tr-TR" sz="1300" dirty="0" smtClean="0"/>
              <a:t>i</a:t>
            </a:r>
            <a:r>
              <a:rPr lang="fr-FR" sz="1300" dirty="0" smtClean="0"/>
              <a:t>p</a:t>
            </a:r>
            <a:r>
              <a:rPr lang="tr-TR" sz="1300" dirty="0" smtClean="0"/>
              <a:t>i</a:t>
            </a:r>
            <a:r>
              <a:rPr lang="fr-FR" sz="1300" dirty="0" smtClean="0"/>
              <a:t>kl</a:t>
            </a:r>
            <a:r>
              <a:rPr lang="tr-TR" sz="1300" dirty="0" smtClean="0"/>
              <a:t>i</a:t>
            </a:r>
            <a:r>
              <a:rPr lang="fr-FR" sz="1300" dirty="0" smtClean="0"/>
              <a:t>k </a:t>
            </a:r>
            <a:r>
              <a:rPr lang="fr-FR" sz="1300" dirty="0"/>
              <a:t>ve hukuka aykırılık unsurundan </a:t>
            </a:r>
            <a:r>
              <a:rPr lang="fr-FR" sz="1300" dirty="0" smtClean="0"/>
              <a:t>sonrak</a:t>
            </a:r>
            <a:r>
              <a:rPr lang="tr-TR" sz="1300" dirty="0" smtClean="0"/>
              <a:t>i</a:t>
            </a:r>
            <a:r>
              <a:rPr lang="fr-FR" sz="1300" dirty="0" smtClean="0"/>
              <a:t> </a:t>
            </a:r>
            <a:r>
              <a:rPr lang="fr-FR" sz="1300" dirty="0"/>
              <a:t>üçüncü </a:t>
            </a:r>
            <a:r>
              <a:rPr lang="fr-FR" sz="1300" dirty="0" smtClean="0"/>
              <a:t>sa</a:t>
            </a:r>
            <a:r>
              <a:rPr lang="tr-TR" sz="1300" dirty="0" smtClean="0"/>
              <a:t>fh</a:t>
            </a:r>
            <a:r>
              <a:rPr lang="fr-FR" sz="1300" dirty="0" smtClean="0"/>
              <a:t>ada </a:t>
            </a:r>
            <a:r>
              <a:rPr lang="tr-TR" sz="1300" dirty="0" smtClean="0"/>
              <a:t>i</a:t>
            </a:r>
            <a:r>
              <a:rPr lang="fr-FR" sz="1300" dirty="0" smtClean="0"/>
              <a:t>ncelenmekted</a:t>
            </a:r>
            <a:r>
              <a:rPr lang="tr-TR" sz="1300" dirty="0"/>
              <a:t>i</a:t>
            </a:r>
            <a:r>
              <a:rPr lang="fr-FR" sz="1300" dirty="0" smtClean="0"/>
              <a:t>r.</a:t>
            </a:r>
            <a:endParaRPr lang="tr-TR" sz="1300" dirty="0" smtClean="0"/>
          </a:p>
          <a:p>
            <a:pPr indent="360000" algn="just">
              <a:lnSpc>
                <a:spcPct val="150000"/>
              </a:lnSpc>
            </a:pPr>
            <a:r>
              <a:rPr lang="fr-FR" sz="1300" dirty="0" smtClean="0"/>
              <a:t>Buna </a:t>
            </a:r>
            <a:r>
              <a:rPr lang="fr-FR" sz="1300" dirty="0"/>
              <a:t>göre, </a:t>
            </a:r>
            <a:r>
              <a:rPr lang="fr-FR" sz="1300" dirty="0" smtClean="0"/>
              <a:t>ceza</a:t>
            </a:r>
            <a:r>
              <a:rPr lang="tr-TR" sz="1300" dirty="0" smtClean="0"/>
              <a:t>i</a:t>
            </a:r>
            <a:r>
              <a:rPr lang="fr-FR" sz="1300" dirty="0" smtClean="0"/>
              <a:t> </a:t>
            </a:r>
            <a:r>
              <a:rPr lang="fr-FR" sz="1300" dirty="0"/>
              <a:t>sorumluluk </a:t>
            </a:r>
            <a:r>
              <a:rPr lang="tr-TR" sz="1300" dirty="0" smtClean="0"/>
              <a:t>i</a:t>
            </a:r>
            <a:r>
              <a:rPr lang="fr-FR" sz="1300" dirty="0" smtClean="0"/>
              <a:t>ç</a:t>
            </a:r>
            <a:r>
              <a:rPr lang="tr-TR" sz="1300" dirty="0" smtClean="0"/>
              <a:t>i</a:t>
            </a:r>
            <a:r>
              <a:rPr lang="fr-FR" sz="1300" dirty="0" smtClean="0"/>
              <a:t>n fa</a:t>
            </a:r>
            <a:r>
              <a:rPr lang="tr-TR" sz="1300" dirty="0" smtClean="0"/>
              <a:t>i</a:t>
            </a:r>
            <a:r>
              <a:rPr lang="fr-FR" sz="1300" dirty="0" smtClean="0"/>
              <a:t>l</a:t>
            </a:r>
            <a:r>
              <a:rPr lang="tr-TR" sz="1300" dirty="0" smtClean="0"/>
              <a:t>i</a:t>
            </a:r>
            <a:r>
              <a:rPr lang="fr-FR" sz="1300" dirty="0" smtClean="0"/>
              <a:t>n t</a:t>
            </a:r>
            <a:r>
              <a:rPr lang="tr-TR" sz="1300" dirty="0" smtClean="0"/>
              <a:t>i</a:t>
            </a:r>
            <a:r>
              <a:rPr lang="fr-FR" sz="1300" dirty="0" smtClean="0"/>
              <a:t>p</a:t>
            </a:r>
            <a:r>
              <a:rPr lang="tr-TR" sz="1300" dirty="0" smtClean="0"/>
              <a:t>i</a:t>
            </a:r>
            <a:r>
              <a:rPr lang="fr-FR" sz="1300" dirty="0" smtClean="0"/>
              <a:t>kl</a:t>
            </a:r>
            <a:r>
              <a:rPr lang="tr-TR" sz="1300" dirty="0" smtClean="0"/>
              <a:t>iği</a:t>
            </a:r>
            <a:r>
              <a:rPr lang="fr-FR" sz="1300" dirty="0" smtClean="0"/>
              <a:t>n madd</a:t>
            </a:r>
            <a:r>
              <a:rPr lang="tr-TR" sz="1300" dirty="0" smtClean="0"/>
              <a:t>i</a:t>
            </a:r>
            <a:r>
              <a:rPr lang="fr-FR" sz="1300" dirty="0" smtClean="0"/>
              <a:t> </a:t>
            </a:r>
            <a:r>
              <a:rPr lang="fr-FR" sz="1300" dirty="0"/>
              <a:t>ve </a:t>
            </a:r>
            <a:r>
              <a:rPr lang="fr-FR" sz="1300" dirty="0" smtClean="0"/>
              <a:t>manev</a:t>
            </a:r>
            <a:r>
              <a:rPr lang="tr-TR" sz="1300" dirty="0" smtClean="0"/>
              <a:t>i</a:t>
            </a:r>
            <a:r>
              <a:rPr lang="fr-FR" sz="1300" dirty="0" smtClean="0"/>
              <a:t> </a:t>
            </a:r>
            <a:r>
              <a:rPr lang="fr-FR" sz="1300" dirty="0"/>
              <a:t>unsuru </a:t>
            </a:r>
            <a:r>
              <a:rPr lang="tr-TR" sz="1300" dirty="0" smtClean="0"/>
              <a:t>i</a:t>
            </a:r>
            <a:r>
              <a:rPr lang="fr-FR" sz="1300" dirty="0" smtClean="0"/>
              <a:t>le hukuka</a:t>
            </a:r>
            <a:r>
              <a:rPr lang="tr-TR" sz="1300" dirty="0" smtClean="0"/>
              <a:t> </a:t>
            </a:r>
            <a:r>
              <a:rPr lang="fr-FR" sz="1300" dirty="0" smtClean="0"/>
              <a:t>aykırılık </a:t>
            </a:r>
            <a:r>
              <a:rPr lang="fr-FR" sz="1300" dirty="0"/>
              <a:t>unsurunu </a:t>
            </a:r>
            <a:r>
              <a:rPr lang="fr-FR" sz="1300" dirty="0" smtClean="0"/>
              <a:t>gerçekle</a:t>
            </a:r>
            <a:r>
              <a:rPr lang="tr-TR" sz="1300" dirty="0" smtClean="0"/>
              <a:t>ş</a:t>
            </a:r>
            <a:r>
              <a:rPr lang="fr-FR" sz="1300" dirty="0" smtClean="0"/>
              <a:t>t</a:t>
            </a:r>
            <a:r>
              <a:rPr lang="tr-TR" sz="1300" dirty="0" smtClean="0"/>
              <a:t>i</a:t>
            </a:r>
            <a:r>
              <a:rPr lang="fr-FR" sz="1300" dirty="0" smtClean="0"/>
              <a:t>rmes</a:t>
            </a:r>
            <a:r>
              <a:rPr lang="tr-TR" sz="1300" dirty="0" smtClean="0"/>
              <a:t>i</a:t>
            </a:r>
            <a:r>
              <a:rPr lang="fr-FR" sz="1300" dirty="0" smtClean="0"/>
              <a:t> yeterl</a:t>
            </a:r>
            <a:r>
              <a:rPr lang="tr-TR" sz="1300" dirty="0" smtClean="0"/>
              <a:t>i</a:t>
            </a:r>
            <a:r>
              <a:rPr lang="fr-FR" sz="1300" dirty="0" smtClean="0"/>
              <a:t> deg</a:t>
            </a:r>
            <a:r>
              <a:rPr lang="tr-TR" sz="1300" dirty="0" smtClean="0"/>
              <a:t>i</a:t>
            </a:r>
            <a:r>
              <a:rPr lang="fr-FR" sz="1300" dirty="0" smtClean="0"/>
              <a:t>ld</a:t>
            </a:r>
            <a:r>
              <a:rPr lang="tr-TR" sz="1300" dirty="0" smtClean="0"/>
              <a:t>i</a:t>
            </a:r>
            <a:r>
              <a:rPr lang="fr-FR" sz="1300" dirty="0" smtClean="0"/>
              <a:t>r</a:t>
            </a:r>
            <a:r>
              <a:rPr lang="fr-FR" sz="1300" dirty="0"/>
              <a:t>. Ayrıca </a:t>
            </a:r>
            <a:r>
              <a:rPr lang="tr-TR" sz="1300" dirty="0" smtClean="0"/>
              <a:t>iş</a:t>
            </a:r>
            <a:r>
              <a:rPr lang="fr-FR" sz="1300" dirty="0" smtClean="0"/>
              <a:t>lem</a:t>
            </a:r>
            <a:r>
              <a:rPr lang="tr-TR" sz="1300" dirty="0" smtClean="0"/>
              <a:t>iş</a:t>
            </a:r>
            <a:r>
              <a:rPr lang="fr-FR" sz="1300" dirty="0" smtClean="0"/>
              <a:t> </a:t>
            </a:r>
            <a:r>
              <a:rPr lang="fr-FR" sz="1300" dirty="0"/>
              <a:t>oldugu bu </a:t>
            </a:r>
            <a:r>
              <a:rPr lang="fr-FR" sz="1300" dirty="0" smtClean="0"/>
              <a:t>f</a:t>
            </a:r>
            <a:r>
              <a:rPr lang="tr-TR" sz="1300" dirty="0" smtClean="0"/>
              <a:t>ii</a:t>
            </a:r>
            <a:r>
              <a:rPr lang="fr-FR" sz="1300" dirty="0" smtClean="0"/>
              <a:t>lden dolayı</a:t>
            </a:r>
            <a:r>
              <a:rPr lang="tr-TR" sz="1300" dirty="0" smtClean="0"/>
              <a:t> </a:t>
            </a:r>
            <a:r>
              <a:rPr lang="fr-FR" sz="1300" dirty="0" smtClean="0"/>
              <a:t>fa</a:t>
            </a:r>
            <a:r>
              <a:rPr lang="tr-TR" sz="1300" dirty="0" smtClean="0"/>
              <a:t>i</a:t>
            </a:r>
            <a:r>
              <a:rPr lang="fr-FR" sz="1300" dirty="0" smtClean="0"/>
              <a:t>l </a:t>
            </a:r>
            <a:r>
              <a:rPr lang="fr-FR" sz="1300" dirty="0"/>
              <a:t>hakkında </a:t>
            </a:r>
            <a:r>
              <a:rPr lang="fr-FR" sz="1300" dirty="0" smtClean="0"/>
              <a:t>b</a:t>
            </a:r>
            <a:r>
              <a:rPr lang="tr-TR" sz="1300" dirty="0" smtClean="0"/>
              <a:t>i</a:t>
            </a:r>
            <a:r>
              <a:rPr lang="fr-FR" sz="1300" dirty="0" smtClean="0"/>
              <a:t>r </a:t>
            </a:r>
            <a:r>
              <a:rPr lang="fr-FR" sz="1300" b="1" i="1" dirty="0">
                <a:effectLst>
                  <a:outerShdw blurRad="38100" dist="38100" dir="2700000" algn="tl">
                    <a:srgbClr val="000000">
                      <a:alpha val="43137"/>
                    </a:srgbClr>
                  </a:outerShdw>
                </a:effectLst>
              </a:rPr>
              <a:t>kınama yargısında </a:t>
            </a:r>
            <a:r>
              <a:rPr lang="tr-TR" sz="1300" b="1" i="1" dirty="0" smtClean="0">
                <a:effectLst>
                  <a:outerShdw blurRad="38100" dist="38100" dir="2700000" algn="tl">
                    <a:srgbClr val="000000">
                      <a:alpha val="43137"/>
                    </a:srgbClr>
                  </a:outerShdw>
                </a:effectLst>
              </a:rPr>
              <a:t>bulunulabilmesi </a:t>
            </a:r>
            <a:r>
              <a:rPr lang="fr-FR" sz="1300" dirty="0" smtClean="0"/>
              <a:t>d</a:t>
            </a:r>
            <a:r>
              <a:rPr lang="tr-TR" sz="1300" dirty="0" smtClean="0"/>
              <a:t>e</a:t>
            </a:r>
            <a:r>
              <a:rPr lang="fr-FR" sz="1300" dirty="0" smtClean="0"/>
              <a:t> gerekmekted</a:t>
            </a:r>
            <a:r>
              <a:rPr lang="tr-TR" sz="1300" dirty="0" smtClean="0"/>
              <a:t>i</a:t>
            </a:r>
            <a:r>
              <a:rPr lang="fr-FR" sz="1300" dirty="0" smtClean="0"/>
              <a:t>r.</a:t>
            </a:r>
            <a:endParaRPr lang="tr-TR" sz="1300" dirty="0" smtClean="0"/>
          </a:p>
          <a:p>
            <a:pPr indent="360000" algn="just">
              <a:lnSpc>
                <a:spcPct val="150000"/>
              </a:lnSpc>
            </a:pPr>
            <a:r>
              <a:rPr lang="tr-TR" sz="1300" dirty="0"/>
              <a:t>İşlediği fiil nedeniyle </a:t>
            </a:r>
            <a:r>
              <a:rPr lang="tr-TR" sz="1300" u="sng" dirty="0"/>
              <a:t>kusurlu kabul edilmese de fiil suç vasfını koruyacaktır</a:t>
            </a:r>
            <a:r>
              <a:rPr lang="tr-TR" sz="1300" dirty="0"/>
              <a:t>. Akıl hastası bir </a:t>
            </a:r>
            <a:r>
              <a:rPr lang="tr-TR" sz="1300" dirty="0" smtClean="0"/>
              <a:t>fail, </a:t>
            </a:r>
            <a:r>
              <a:rPr lang="tr-TR" sz="1300" dirty="0"/>
              <a:t>bir kişiyi öldürürse kusur yeteneği bulunmadığından cezalandırılamasa da fiil suç teşkil etmeye devam edecektir.</a:t>
            </a:r>
            <a:endParaRPr lang="tr-TR" sz="1300" dirty="0" smtClean="0"/>
          </a:p>
          <a:p>
            <a:pPr indent="360000" algn="just">
              <a:lnSpc>
                <a:spcPct val="150000"/>
              </a:lnSpc>
            </a:pPr>
            <a:r>
              <a:rPr lang="fr-FR" sz="1300" dirty="0"/>
              <a:t>Suçun </a:t>
            </a:r>
            <a:r>
              <a:rPr lang="tr-TR" sz="1300" dirty="0" smtClean="0"/>
              <a:t>manevi</a:t>
            </a:r>
            <a:r>
              <a:rPr lang="fr-FR" sz="1300" dirty="0" smtClean="0"/>
              <a:t> </a:t>
            </a:r>
            <a:r>
              <a:rPr lang="fr-FR" sz="1300" dirty="0"/>
              <a:t>unsuru, </a:t>
            </a:r>
            <a:r>
              <a:rPr lang="tr-TR" sz="1300" dirty="0" smtClean="0"/>
              <a:t>haksızlığın </a:t>
            </a:r>
            <a:r>
              <a:rPr lang="fr-FR" sz="1300" dirty="0" smtClean="0"/>
              <a:t>İRADİ </a:t>
            </a:r>
            <a:r>
              <a:rPr lang="fr-FR" sz="1300" dirty="0"/>
              <a:t>olarak </a:t>
            </a:r>
            <a:r>
              <a:rPr lang="tr-TR" sz="1300" dirty="0" smtClean="0"/>
              <a:t>gerçekleştirilmesini zorunlu kılar</a:t>
            </a:r>
          </a:p>
          <a:p>
            <a:pPr indent="360000" algn="just">
              <a:lnSpc>
                <a:spcPct val="150000"/>
              </a:lnSpc>
            </a:pPr>
            <a:r>
              <a:rPr lang="tr-TR" sz="1300" dirty="0" smtClean="0"/>
              <a:t>Bir kişinin yaptığı bir fiilden</a:t>
            </a:r>
            <a:r>
              <a:rPr lang="fr-FR" sz="1300" dirty="0" smtClean="0"/>
              <a:t> </a:t>
            </a:r>
            <a:r>
              <a:rPr lang="fr-FR" sz="1300" dirty="0"/>
              <a:t>dolayı </a:t>
            </a:r>
            <a:r>
              <a:rPr lang="tr-TR" sz="1300" dirty="0" smtClean="0"/>
              <a:t>sorumlu tutulabilmesinin temel şartı</a:t>
            </a:r>
            <a:r>
              <a:rPr lang="fr-FR" sz="1300" dirty="0" smtClean="0"/>
              <a:t>, </a:t>
            </a:r>
            <a:r>
              <a:rPr lang="fr-FR" sz="1300" dirty="0"/>
              <a:t>bu </a:t>
            </a:r>
            <a:r>
              <a:rPr lang="tr-TR" sz="1300" dirty="0" smtClean="0"/>
              <a:t>fiili </a:t>
            </a:r>
            <a:r>
              <a:rPr lang="fr-FR" sz="1300" dirty="0" smtClean="0"/>
              <a:t>İRADİ </a:t>
            </a:r>
            <a:r>
              <a:rPr lang="fr-FR" sz="1300" dirty="0"/>
              <a:t>olarak </a:t>
            </a:r>
            <a:r>
              <a:rPr lang="tr-TR" sz="1300" dirty="0" smtClean="0"/>
              <a:t>gerçekleştirmesi </a:t>
            </a:r>
            <a:r>
              <a:rPr lang="fr-FR" sz="1300" dirty="0" smtClean="0"/>
              <a:t>ve </a:t>
            </a:r>
            <a:r>
              <a:rPr lang="tr-TR" sz="1300" dirty="0" smtClean="0"/>
              <a:t>işlediği </a:t>
            </a:r>
            <a:r>
              <a:rPr lang="tr-TR" sz="1300" dirty="0"/>
              <a:t>f</a:t>
            </a:r>
            <a:r>
              <a:rPr lang="fr-FR" sz="1300" dirty="0" smtClean="0"/>
              <a:t>i</a:t>
            </a:r>
            <a:r>
              <a:rPr lang="tr-TR" sz="1300" dirty="0" smtClean="0"/>
              <a:t>i</a:t>
            </a:r>
            <a:r>
              <a:rPr lang="fr-FR" sz="1300" dirty="0" smtClean="0"/>
              <a:t>lin </a:t>
            </a:r>
            <a:r>
              <a:rPr lang="tr-TR" sz="1300" dirty="0" smtClean="0"/>
              <a:t>haksızlık oluşturduğunun bilincinde olmasıdır.</a:t>
            </a:r>
          </a:p>
          <a:p>
            <a:pPr algn="just"/>
            <a:r>
              <a:rPr lang="tr-TR" sz="1300" dirty="0" smtClean="0">
                <a:effectLst>
                  <a:outerShdw blurRad="38100" dist="38100" dir="2700000" algn="tl">
                    <a:srgbClr val="000000">
                      <a:alpha val="43137"/>
                    </a:srgbClr>
                  </a:outerShdw>
                </a:effectLst>
              </a:rPr>
              <a:t>Suç oluşması </a:t>
            </a:r>
            <a:r>
              <a:rPr lang="tr-TR" sz="1300" dirty="0">
                <a:effectLst>
                  <a:outerShdw blurRad="38100" dist="38100" dir="2700000" algn="tl">
                    <a:srgbClr val="000000">
                      <a:alpha val="43137"/>
                    </a:srgbClr>
                  </a:outerShdw>
                </a:effectLst>
              </a:rPr>
              <a:t>için </a:t>
            </a:r>
            <a:r>
              <a:rPr lang="tr-TR" sz="1300" dirty="0" smtClean="0">
                <a:effectLst>
                  <a:outerShdw blurRad="38100" dist="38100" dir="2700000" algn="tl">
                    <a:srgbClr val="000000">
                      <a:alpha val="43137"/>
                    </a:srgbClr>
                  </a:outerShdw>
                </a:effectLst>
              </a:rPr>
              <a:t> 		      = Hukuka </a:t>
            </a:r>
            <a:r>
              <a:rPr lang="tr-TR" sz="1300" dirty="0">
                <a:effectLst>
                  <a:outerShdw blurRad="38100" dist="38100" dir="2700000" algn="tl">
                    <a:srgbClr val="000000">
                      <a:alpha val="43137"/>
                    </a:srgbClr>
                  </a:outerShdw>
                </a:effectLst>
              </a:rPr>
              <a:t>aykırılık </a:t>
            </a:r>
            <a:r>
              <a:rPr lang="tr-TR" sz="1300" b="1" dirty="0">
                <a:effectLst>
                  <a:outerShdw blurRad="38100" dist="38100" dir="2700000" algn="tl">
                    <a:srgbClr val="000000">
                      <a:alpha val="43137"/>
                    </a:srgbClr>
                  </a:outerShdw>
                </a:effectLst>
              </a:rPr>
              <a:t>+</a:t>
            </a:r>
            <a:r>
              <a:rPr lang="tr-TR" sz="1300" dirty="0">
                <a:effectLst>
                  <a:outerShdw blurRad="38100" dist="38100" dir="2700000" algn="tl">
                    <a:srgbClr val="000000">
                      <a:alpha val="43137"/>
                    </a:srgbClr>
                  </a:outerShdw>
                </a:effectLst>
              </a:rPr>
              <a:t> </a:t>
            </a:r>
            <a:r>
              <a:rPr lang="tr-TR" sz="1300" dirty="0" smtClean="0">
                <a:effectLst>
                  <a:outerShdw blurRad="38100" dist="38100" dir="2700000" algn="tl">
                    <a:srgbClr val="000000">
                      <a:alpha val="43137"/>
                    </a:srgbClr>
                  </a:outerShdw>
                </a:effectLst>
              </a:rPr>
              <a:t>Tipiklik (Suçun </a:t>
            </a:r>
            <a:r>
              <a:rPr lang="tr-TR" sz="1300" dirty="0">
                <a:effectLst>
                  <a:outerShdw blurRad="38100" dist="38100" dir="2700000" algn="tl">
                    <a:srgbClr val="000000">
                      <a:alpha val="43137"/>
                    </a:srgbClr>
                  </a:outerShdw>
                </a:effectLst>
              </a:rPr>
              <a:t>maddi ve manevi unsurlarının </a:t>
            </a:r>
            <a:r>
              <a:rPr lang="tr-TR" sz="1300" dirty="0" smtClean="0">
                <a:effectLst>
                  <a:outerShdw blurRad="38100" dist="38100" dir="2700000" algn="tl">
                    <a:srgbClr val="000000">
                      <a:alpha val="43137"/>
                    </a:srgbClr>
                  </a:outerShdw>
                </a:effectLst>
              </a:rPr>
              <a:t>gerçekleşmesi)</a:t>
            </a:r>
            <a:endParaRPr lang="tr-TR" sz="1300" dirty="0">
              <a:effectLst>
                <a:outerShdw blurRad="38100" dist="38100" dir="2700000" algn="tl">
                  <a:srgbClr val="000000">
                    <a:alpha val="43137"/>
                  </a:srgbClr>
                </a:outerShdw>
              </a:effectLst>
            </a:endParaRPr>
          </a:p>
          <a:p>
            <a:pPr algn="just"/>
            <a:r>
              <a:rPr lang="tr-TR" sz="1300" dirty="0" smtClean="0">
                <a:effectLst>
                  <a:outerShdw blurRad="38100" dist="38100" dir="2700000" algn="tl">
                    <a:srgbClr val="000000">
                      <a:alpha val="43137"/>
                    </a:srgbClr>
                  </a:outerShdw>
                </a:effectLst>
              </a:rPr>
              <a:t>Failin </a:t>
            </a:r>
            <a:r>
              <a:rPr lang="tr-TR" sz="1300" dirty="0">
                <a:effectLst>
                  <a:outerShdw blurRad="38100" dist="38100" dir="2700000" algn="tl">
                    <a:srgbClr val="000000">
                      <a:alpha val="43137"/>
                    </a:srgbClr>
                  </a:outerShdw>
                </a:effectLst>
              </a:rPr>
              <a:t>cezai </a:t>
            </a:r>
            <a:r>
              <a:rPr lang="tr-TR" sz="1300" dirty="0" smtClean="0">
                <a:effectLst>
                  <a:outerShdw blurRad="38100" dist="38100" dir="2700000" algn="tl">
                    <a:srgbClr val="000000">
                      <a:alpha val="43137"/>
                    </a:srgbClr>
                  </a:outerShdw>
                </a:effectLst>
              </a:rPr>
              <a:t>sorumluluğunun doğması için      = </a:t>
            </a:r>
            <a:r>
              <a:rPr lang="tr-TR" sz="1300" dirty="0">
                <a:effectLst>
                  <a:outerShdw blurRad="38100" dist="38100" dir="2700000" algn="tl">
                    <a:srgbClr val="000000">
                      <a:alpha val="43137"/>
                    </a:srgbClr>
                  </a:outerShdw>
                </a:effectLst>
              </a:rPr>
              <a:t>Hukuka </a:t>
            </a:r>
            <a:r>
              <a:rPr lang="tr-TR" sz="1300" dirty="0" smtClean="0">
                <a:effectLst>
                  <a:outerShdw blurRad="38100" dist="38100" dir="2700000" algn="tl">
                    <a:srgbClr val="000000">
                      <a:alpha val="43137"/>
                    </a:srgbClr>
                  </a:outerShdw>
                </a:effectLst>
              </a:rPr>
              <a:t>aykırılık</a:t>
            </a:r>
            <a:r>
              <a:rPr lang="tr-TR" sz="1300" b="1" dirty="0">
                <a:solidFill>
                  <a:srgbClr val="FF0000"/>
                </a:solidFill>
                <a:effectLst>
                  <a:outerShdw blurRad="38100" dist="38100" dir="2700000" algn="tl">
                    <a:srgbClr val="000000">
                      <a:alpha val="43137"/>
                    </a:srgbClr>
                  </a:outerShdw>
                </a:effectLst>
              </a:rPr>
              <a:t> </a:t>
            </a:r>
            <a:r>
              <a:rPr lang="tr-TR" sz="1300" b="1" dirty="0">
                <a:effectLst>
                  <a:outerShdw blurRad="38100" dist="38100" dir="2700000" algn="tl">
                    <a:srgbClr val="000000">
                      <a:alpha val="43137"/>
                    </a:srgbClr>
                  </a:outerShdw>
                </a:effectLst>
              </a:rPr>
              <a:t>+</a:t>
            </a:r>
            <a:r>
              <a:rPr lang="tr-TR" sz="1300" dirty="0">
                <a:effectLst>
                  <a:outerShdw blurRad="38100" dist="38100" dir="2700000" algn="tl">
                    <a:srgbClr val="000000">
                      <a:alpha val="43137"/>
                    </a:srgbClr>
                  </a:outerShdw>
                </a:effectLst>
              </a:rPr>
              <a:t> Tipiklik (Suçun maddi ve manevi unsurlarının gerçekleşmesi</a:t>
            </a:r>
            <a:r>
              <a:rPr lang="tr-TR" sz="1300" dirty="0" smtClean="0">
                <a:effectLst>
                  <a:outerShdw blurRad="38100" dist="38100" dir="2700000" algn="tl">
                    <a:srgbClr val="000000">
                      <a:alpha val="43137"/>
                    </a:srgbClr>
                  </a:outerShdw>
                </a:effectLst>
              </a:rPr>
              <a:t>) </a:t>
            </a:r>
            <a:r>
              <a:rPr lang="tr-TR" sz="1300" b="1" dirty="0">
                <a:effectLst>
                  <a:outerShdw blurRad="38100" dist="38100" dir="2700000" algn="tl">
                    <a:srgbClr val="000000">
                      <a:alpha val="43137"/>
                    </a:srgbClr>
                  </a:outerShdw>
                </a:effectLst>
              </a:rPr>
              <a:t>+</a:t>
            </a:r>
            <a:r>
              <a:rPr lang="tr-TR" sz="1300" dirty="0">
                <a:effectLst>
                  <a:outerShdw blurRad="38100" dist="38100" dir="2700000" algn="tl">
                    <a:srgbClr val="000000">
                      <a:alpha val="43137"/>
                    </a:srgbClr>
                  </a:outerShdw>
                </a:effectLst>
              </a:rPr>
              <a:t> failin </a:t>
            </a:r>
            <a:r>
              <a:rPr lang="tr-TR" sz="1300" dirty="0" smtClean="0">
                <a:effectLst>
                  <a:outerShdw blurRad="38100" dist="38100" dir="2700000" algn="tl">
                    <a:srgbClr val="000000">
                      <a:alpha val="43137"/>
                    </a:srgbClr>
                  </a:outerShdw>
                </a:effectLst>
              </a:rPr>
              <a:t>kusurlu olması</a:t>
            </a:r>
            <a:endParaRPr lang="fr-FR" sz="1300" dirty="0"/>
          </a:p>
        </p:txBody>
      </p:sp>
      <p:sp>
        <p:nvSpPr>
          <p:cNvPr id="3" name="Oval 2"/>
          <p:cNvSpPr/>
          <p:nvPr/>
        </p:nvSpPr>
        <p:spPr>
          <a:xfrm>
            <a:off x="9582150" y="5891360"/>
            <a:ext cx="1752600" cy="389603"/>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6" name="Slayt Numarası Yer Tutucusu 5"/>
          <p:cNvSpPr>
            <a:spLocks noGrp="1"/>
          </p:cNvSpPr>
          <p:nvPr>
            <p:ph type="sldNum" sz="quarter" idx="12"/>
          </p:nvPr>
        </p:nvSpPr>
        <p:spPr/>
        <p:txBody>
          <a:bodyPr/>
          <a:lstStyle/>
          <a:p>
            <a:fld id="{39F9BA00-44CD-41D4-A3D8-F864C744DC1F}" type="slidenum">
              <a:rPr lang="tr-TR" smtClean="0"/>
              <a:t>58</a:t>
            </a:fld>
            <a:r>
              <a:rPr lang="tr-TR"/>
              <a:t>/116</a:t>
            </a:r>
          </a:p>
        </p:txBody>
      </p:sp>
    </p:spTree>
    <p:extLst>
      <p:ext uri="{BB962C8B-B14F-4D97-AF65-F5344CB8AC3E}">
        <p14:creationId xmlns:p14="http://schemas.microsoft.com/office/powerpoint/2010/main" val="314490499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Kusurun Unsurları 	</a:t>
            </a:r>
            <a:endParaRPr lang="tr-TR" b="1" dirty="0"/>
          </a:p>
        </p:txBody>
      </p:sp>
      <p:sp>
        <p:nvSpPr>
          <p:cNvPr id="18" name="Dikdörtgen 17"/>
          <p:cNvSpPr/>
          <p:nvPr/>
        </p:nvSpPr>
        <p:spPr>
          <a:xfrm>
            <a:off x="2790826" y="4388138"/>
            <a:ext cx="8661779" cy="307777"/>
          </a:xfrm>
          <a:prstGeom prst="rect">
            <a:avLst/>
          </a:prstGeom>
        </p:spPr>
        <p:txBody>
          <a:bodyPr wrap="square">
            <a:spAutoFit/>
          </a:bodyPr>
          <a:lstStyle/>
          <a:p>
            <a:endParaRPr lang="fr-FR" sz="1400" dirty="0"/>
          </a:p>
        </p:txBody>
      </p:sp>
      <p:sp>
        <p:nvSpPr>
          <p:cNvPr id="6" name="Dikdörtgen 5"/>
          <p:cNvSpPr/>
          <p:nvPr/>
        </p:nvSpPr>
        <p:spPr>
          <a:xfrm>
            <a:off x="1804575" y="2274701"/>
            <a:ext cx="8943975" cy="830997"/>
          </a:xfrm>
          <a:prstGeom prst="rect">
            <a:avLst/>
          </a:prstGeom>
        </p:spPr>
        <p:txBody>
          <a:bodyPr wrap="square">
            <a:spAutoFit/>
          </a:bodyPr>
          <a:lstStyle/>
          <a:p>
            <a:pPr algn="just"/>
            <a:r>
              <a:rPr lang="tr-TR" sz="1600" dirty="0" smtClean="0"/>
              <a:t>Kusurluluk failin kusurlu davranabilme kabiliyetine bağlıdır. Yani bir kişinin kusurlu olduğunu söyleyebilmek için, eylemi işlediği sırada davranış normunun gerektirdiği şekilde karar verebilecek iktidara, yeteneğe sahip olması yani </a:t>
            </a:r>
            <a:r>
              <a:rPr lang="tr-TR" sz="1600" b="1" dirty="0" smtClean="0">
                <a:effectLst>
                  <a:outerShdw blurRad="38100" dist="38100" dir="2700000" algn="tl">
                    <a:srgbClr val="000000">
                      <a:alpha val="43137"/>
                    </a:srgbClr>
                  </a:outerShdw>
                </a:effectLst>
              </a:rPr>
              <a:t>KUSUR </a:t>
            </a:r>
            <a:r>
              <a:rPr lang="tr-TR" sz="1600" b="1" dirty="0" err="1" smtClean="0">
                <a:effectLst>
                  <a:outerShdw blurRad="38100" dist="38100" dir="2700000" algn="tl">
                    <a:srgbClr val="000000">
                      <a:alpha val="43137"/>
                    </a:srgbClr>
                  </a:outerShdw>
                </a:effectLst>
              </a:rPr>
              <a:t>YETENEĞİ</a:t>
            </a:r>
            <a:r>
              <a:rPr lang="tr-TR" sz="1600" dirty="0" err="1" smtClean="0"/>
              <a:t>ne</a:t>
            </a:r>
            <a:r>
              <a:rPr lang="tr-TR" sz="1600" dirty="0" smtClean="0"/>
              <a:t> sahip olması gerekmektedir.</a:t>
            </a:r>
            <a:endParaRPr lang="fr-FR" sz="1600" dirty="0"/>
          </a:p>
        </p:txBody>
      </p:sp>
      <p:sp>
        <p:nvSpPr>
          <p:cNvPr id="10" name="Dikdörtgen 9"/>
          <p:cNvSpPr/>
          <p:nvPr/>
        </p:nvSpPr>
        <p:spPr>
          <a:xfrm>
            <a:off x="2061750" y="3788879"/>
            <a:ext cx="8943975" cy="307777"/>
          </a:xfrm>
          <a:prstGeom prst="rect">
            <a:avLst/>
          </a:prstGeom>
        </p:spPr>
        <p:txBody>
          <a:bodyPr wrap="square">
            <a:spAutoFit/>
          </a:bodyPr>
          <a:lstStyle/>
          <a:p>
            <a:pPr algn="just"/>
            <a:r>
              <a:rPr lang="tr-TR" sz="1400" dirty="0" smtClean="0"/>
              <a:t>Kusur yeteneği = Algılama Yeteneği </a:t>
            </a:r>
            <a:r>
              <a:rPr lang="tr-TR" sz="1400" b="1" dirty="0" smtClean="0">
                <a:effectLst>
                  <a:outerShdw blurRad="38100" dist="38100" dir="2700000" algn="tl">
                    <a:srgbClr val="000000">
                      <a:alpha val="43137"/>
                    </a:srgbClr>
                  </a:outerShdw>
                </a:effectLst>
              </a:rPr>
              <a:t>+</a:t>
            </a:r>
            <a:r>
              <a:rPr lang="tr-TR" sz="1400" dirty="0" smtClean="0"/>
              <a:t> İrade Yeteneği </a:t>
            </a:r>
            <a:endParaRPr lang="fr-FR" sz="1400" dirty="0"/>
          </a:p>
        </p:txBody>
      </p:sp>
      <p:sp>
        <p:nvSpPr>
          <p:cNvPr id="14" name="Dikdörtgen 13"/>
          <p:cNvSpPr/>
          <p:nvPr/>
        </p:nvSpPr>
        <p:spPr>
          <a:xfrm>
            <a:off x="1804575" y="3251049"/>
            <a:ext cx="8943975" cy="584775"/>
          </a:xfrm>
          <a:prstGeom prst="rect">
            <a:avLst/>
          </a:prstGeom>
        </p:spPr>
        <p:txBody>
          <a:bodyPr wrap="square">
            <a:spAutoFit/>
          </a:bodyPr>
          <a:lstStyle/>
          <a:p>
            <a:pPr algn="just"/>
            <a:r>
              <a:rPr lang="tr-TR" sz="1600" dirty="0" smtClean="0"/>
              <a:t>Kusur yeteneği, kişinin işlediği fiilin hukuki anlam ve sonuçlarını algılayabilme ve davranışlarını buna göre yönlendirme yeteneğidir.</a:t>
            </a:r>
            <a:endParaRPr lang="fr-FR" sz="1600" dirty="0"/>
          </a:p>
        </p:txBody>
      </p:sp>
      <p:sp>
        <p:nvSpPr>
          <p:cNvPr id="4" name="Dikdörtgen 3"/>
          <p:cNvSpPr/>
          <p:nvPr/>
        </p:nvSpPr>
        <p:spPr>
          <a:xfrm>
            <a:off x="4083183" y="4145786"/>
            <a:ext cx="2431917" cy="1200329"/>
          </a:xfrm>
          <a:prstGeom prst="rect">
            <a:avLst/>
          </a:prstGeom>
        </p:spPr>
        <p:txBody>
          <a:bodyPr wrap="square">
            <a:spAutoFit/>
          </a:bodyPr>
          <a:lstStyle/>
          <a:p>
            <a:pPr algn="just"/>
            <a:r>
              <a:rPr lang="tr-TR" sz="1200" dirty="0" smtClean="0"/>
              <a:t>İşlediği fiilin içinde yaşamış olduğu toplumda </a:t>
            </a:r>
            <a:r>
              <a:rPr lang="tr-TR" sz="1200" dirty="0"/>
              <a:t>ne anlama </a:t>
            </a:r>
            <a:r>
              <a:rPr lang="tr-TR" sz="1200" dirty="0" smtClean="0"/>
              <a:t>geldiğinin bilincinde olmak.</a:t>
            </a:r>
          </a:p>
          <a:p>
            <a:pPr algn="just"/>
            <a:r>
              <a:rPr lang="tr-TR" sz="1200" dirty="0" smtClean="0"/>
              <a:t>Ruhen sağlıklı ortalama bir kişinin kural olarak algılama yeteneğine sahip olduğu kabul edilir </a:t>
            </a:r>
          </a:p>
        </p:txBody>
      </p:sp>
      <p:sp>
        <p:nvSpPr>
          <p:cNvPr id="7" name="Dikdörtgen 6"/>
          <p:cNvSpPr/>
          <p:nvPr/>
        </p:nvSpPr>
        <p:spPr>
          <a:xfrm>
            <a:off x="5886036" y="5666033"/>
            <a:ext cx="2153063" cy="646331"/>
          </a:xfrm>
          <a:prstGeom prst="rect">
            <a:avLst/>
          </a:prstGeom>
        </p:spPr>
        <p:txBody>
          <a:bodyPr wrap="square">
            <a:spAutoFit/>
          </a:bodyPr>
          <a:lstStyle/>
          <a:p>
            <a:pPr algn="just"/>
            <a:r>
              <a:rPr lang="tr-TR" sz="1200" dirty="0"/>
              <a:t>İrade yeteneği, davranışlarını hukukun gereklerine göre yönlendirebilme yeteneğidir</a:t>
            </a:r>
          </a:p>
        </p:txBody>
      </p:sp>
      <p:sp>
        <p:nvSpPr>
          <p:cNvPr id="11" name="Bükülü Ok 10"/>
          <p:cNvSpPr/>
          <p:nvPr/>
        </p:nvSpPr>
        <p:spPr>
          <a:xfrm rot="5400000">
            <a:off x="5674792" y="4543327"/>
            <a:ext cx="1721602" cy="394165"/>
          </a:xfrm>
          <a:prstGeom prst="ben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5" name="Yukarı Bükülü Ok 14"/>
          <p:cNvSpPr/>
          <p:nvPr/>
        </p:nvSpPr>
        <p:spPr>
          <a:xfrm rot="5400000">
            <a:off x="3457635" y="4258521"/>
            <a:ext cx="788389" cy="464661"/>
          </a:xfrm>
          <a:prstGeom prst="ben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Bükülü Ok 16"/>
          <p:cNvSpPr/>
          <p:nvPr/>
        </p:nvSpPr>
        <p:spPr>
          <a:xfrm rot="5400000">
            <a:off x="5674792" y="4543329"/>
            <a:ext cx="1721602" cy="394165"/>
          </a:xfrm>
          <a:prstGeom prst="ben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9"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59</a:t>
            </a:fld>
            <a:r>
              <a:rPr lang="tr-TR"/>
              <a:t>/116</a:t>
            </a:r>
          </a:p>
        </p:txBody>
      </p:sp>
    </p:spTree>
    <p:extLst>
      <p:ext uri="{BB962C8B-B14F-4D97-AF65-F5344CB8AC3E}">
        <p14:creationId xmlns:p14="http://schemas.microsoft.com/office/powerpoint/2010/main" val="136794074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a:t>Kusurluluğu Kaldıran veya Azaltan Nedenler </a:t>
            </a:r>
            <a:r>
              <a:rPr lang="tr-TR" b="1" dirty="0" smtClean="0"/>
              <a:t>	</a:t>
            </a:r>
            <a:endParaRPr lang="tr-TR" b="1" dirty="0"/>
          </a:p>
        </p:txBody>
      </p:sp>
      <p:sp>
        <p:nvSpPr>
          <p:cNvPr id="18" name="Dikdörtgen 17"/>
          <p:cNvSpPr/>
          <p:nvPr/>
        </p:nvSpPr>
        <p:spPr>
          <a:xfrm>
            <a:off x="2790826" y="4388138"/>
            <a:ext cx="8661779" cy="307777"/>
          </a:xfrm>
          <a:prstGeom prst="rect">
            <a:avLst/>
          </a:prstGeom>
        </p:spPr>
        <p:txBody>
          <a:bodyPr wrap="square">
            <a:spAutoFit/>
          </a:bodyPr>
          <a:lstStyle/>
          <a:p>
            <a:endParaRPr lang="fr-FR" sz="1400" dirty="0"/>
          </a:p>
        </p:txBody>
      </p:sp>
      <p:sp>
        <p:nvSpPr>
          <p:cNvPr id="14" name="Dikdörtgen 13"/>
          <p:cNvSpPr/>
          <p:nvPr/>
        </p:nvSpPr>
        <p:spPr>
          <a:xfrm>
            <a:off x="1317358" y="2123099"/>
            <a:ext cx="10036442" cy="1754326"/>
          </a:xfrm>
          <a:prstGeom prst="rect">
            <a:avLst/>
          </a:prstGeom>
        </p:spPr>
        <p:txBody>
          <a:bodyPr wrap="square">
            <a:spAutoFit/>
          </a:bodyPr>
          <a:lstStyle/>
          <a:p>
            <a:pPr marL="285750" indent="-285750" algn="just">
              <a:buFont typeface="Arial" panose="020B0604020202020204" pitchFamily="34" charset="0"/>
              <a:buChar char="•"/>
            </a:pPr>
            <a:r>
              <a:rPr lang="tr-TR" dirty="0" smtClean="0"/>
              <a:t>Failin kişiliğinden kaynaklanır veya fiilin işlenişi sırasında ortaya çıkar.</a:t>
            </a:r>
          </a:p>
          <a:p>
            <a:pPr marL="285750" indent="-285750" algn="just">
              <a:buFont typeface="Arial" panose="020B0604020202020204" pitchFamily="34" charset="0"/>
              <a:buChar char="•"/>
            </a:pPr>
            <a:r>
              <a:rPr lang="tr-TR" dirty="0"/>
              <a:t>Bu nedenler ya kusuru tamamen kaldırmakta ya da azaltmaktadır. Kusurun tamamen kalktığı durumlarda ceza verilmez, kusurun azaldığı durumlarda ceza da indirilerek verilir.</a:t>
            </a:r>
            <a:endParaRPr lang="fr-FR" dirty="0"/>
          </a:p>
          <a:p>
            <a:pPr marL="285750" indent="-285750" algn="just">
              <a:buFont typeface="Arial" panose="020B0604020202020204" pitchFamily="34" charset="0"/>
              <a:buChar char="•"/>
            </a:pPr>
            <a:r>
              <a:rPr lang="tr-TR" dirty="0" smtClean="0"/>
              <a:t>DİKKAT: Hukuka uygunluk nedenlerinin bulunması durumunda, kişinin fiili hukuka aykırı olmaktan çıkmakta ve SUÇ </a:t>
            </a:r>
            <a:r>
              <a:rPr lang="tr-TR" dirty="0" err="1" smtClean="0"/>
              <a:t>OLUŞMAMAKTAdır</a:t>
            </a:r>
            <a:r>
              <a:rPr lang="tr-TR" dirty="0" smtClean="0"/>
              <a:t>. Kusurluluğu kaldıran veya azaltan nedenlerin varlığı halinde ise SUÇ OLUŞMAKTA ancak ceza verilmemekte veya indirilerek verilmektedir.</a:t>
            </a:r>
            <a:endParaRPr lang="fr-FR" dirty="0"/>
          </a:p>
        </p:txBody>
      </p:sp>
      <p:sp>
        <p:nvSpPr>
          <p:cNvPr id="12" name="Dikdörtgen 11"/>
          <p:cNvSpPr/>
          <p:nvPr/>
        </p:nvSpPr>
        <p:spPr>
          <a:xfrm>
            <a:off x="2176050" y="3859153"/>
            <a:ext cx="8943975" cy="2554545"/>
          </a:xfrm>
          <a:prstGeom prst="rect">
            <a:avLst/>
          </a:prstGeom>
        </p:spPr>
        <p:txBody>
          <a:bodyPr wrap="square">
            <a:spAutoFit/>
          </a:bodyPr>
          <a:lstStyle/>
          <a:p>
            <a:pPr marL="180975" indent="-180975" algn="just">
              <a:buFont typeface="+mj-lt"/>
              <a:buAutoNum type="arabicPeriod"/>
            </a:pPr>
            <a:r>
              <a:rPr lang="tr-TR" sz="1600" dirty="0" smtClean="0"/>
              <a:t>Yaş küçüklüğü </a:t>
            </a:r>
          </a:p>
          <a:p>
            <a:pPr marL="180975" indent="-180975" algn="just">
              <a:buFont typeface="+mj-lt"/>
              <a:buAutoNum type="arabicPeriod"/>
            </a:pPr>
            <a:r>
              <a:rPr lang="tr-TR" sz="1600" dirty="0" smtClean="0"/>
              <a:t>Sağır ve Dilsizlik</a:t>
            </a:r>
          </a:p>
          <a:p>
            <a:pPr marL="180975" indent="-180975" algn="just">
              <a:buFont typeface="+mj-lt"/>
              <a:buAutoNum type="arabicPeriod"/>
            </a:pPr>
            <a:r>
              <a:rPr lang="tr-TR" sz="1600" dirty="0" smtClean="0"/>
              <a:t>Akıl Hastalığı</a:t>
            </a:r>
          </a:p>
          <a:p>
            <a:pPr marL="180975" indent="-180975" algn="just">
              <a:buFont typeface="+mj-lt"/>
              <a:buAutoNum type="arabicPeriod"/>
            </a:pPr>
            <a:r>
              <a:rPr lang="tr-TR" sz="1600" dirty="0" smtClean="0"/>
              <a:t>Geçici Nedenler, Alkol veya Uyuşturucu Madde Etkisinde Olma</a:t>
            </a:r>
          </a:p>
          <a:p>
            <a:pPr marL="180975" indent="-180975" algn="just">
              <a:buFont typeface="+mj-lt"/>
              <a:buAutoNum type="arabicPeriod"/>
            </a:pPr>
            <a:r>
              <a:rPr lang="tr-TR" sz="1600" dirty="0" smtClean="0"/>
              <a:t>Hukuka Aykırı fakat Bağlayıcı bir Emrin Yerine Getirilmesi</a:t>
            </a:r>
          </a:p>
          <a:p>
            <a:pPr marL="180975" indent="-180975" algn="just">
              <a:buFont typeface="+mj-lt"/>
              <a:buAutoNum type="arabicPeriod"/>
            </a:pPr>
            <a:r>
              <a:rPr lang="tr-TR" sz="1600" dirty="0" smtClean="0"/>
              <a:t>Zorunluluk Hali</a:t>
            </a:r>
          </a:p>
          <a:p>
            <a:pPr marL="180975" indent="-180975" algn="just">
              <a:buFont typeface="+mj-lt"/>
              <a:buAutoNum type="arabicPeriod"/>
            </a:pPr>
            <a:r>
              <a:rPr lang="tr-TR" sz="1600" dirty="0" smtClean="0"/>
              <a:t>Cebir ve tehdit Dolayısıyla Kişinin İrade Yetkisinin Etkilenmesi</a:t>
            </a:r>
          </a:p>
          <a:p>
            <a:pPr marL="180975" indent="-180975" algn="just">
              <a:buFont typeface="+mj-lt"/>
              <a:buAutoNum type="arabicPeriod"/>
            </a:pPr>
            <a:r>
              <a:rPr lang="tr-TR" sz="1600" dirty="0" smtClean="0"/>
              <a:t>Haksız Tahrik</a:t>
            </a:r>
          </a:p>
          <a:p>
            <a:pPr marL="180975" indent="-180975" algn="just">
              <a:buFont typeface="+mj-lt"/>
              <a:buAutoNum type="arabicPeriod"/>
            </a:pPr>
            <a:r>
              <a:rPr lang="tr-TR" sz="1600" dirty="0" smtClean="0"/>
              <a:t>Hukuka Uygunluk Nedenlerinde Sınırın Aşılması</a:t>
            </a:r>
          </a:p>
          <a:p>
            <a:pPr marL="180975" indent="-180975" algn="just">
              <a:buFont typeface="+mj-lt"/>
              <a:buAutoNum type="arabicPeriod"/>
            </a:pPr>
            <a:r>
              <a:rPr lang="tr-TR" sz="1600" dirty="0" smtClean="0"/>
              <a:t>Kusurluluğu Etkileyen Hata Halleri</a:t>
            </a:r>
            <a:endParaRPr lang="fr-FR" sz="1600" dirty="0"/>
          </a:p>
        </p:txBody>
      </p:sp>
      <p:sp>
        <p:nvSpPr>
          <p:cNvPr id="13" name="Dikdörtgen 12"/>
          <p:cNvSpPr/>
          <p:nvPr/>
        </p:nvSpPr>
        <p:spPr>
          <a:xfrm>
            <a:off x="2981404" y="6356350"/>
            <a:ext cx="7197779" cy="307777"/>
          </a:xfrm>
          <a:prstGeom prst="rect">
            <a:avLst/>
          </a:prstGeom>
        </p:spPr>
        <p:txBody>
          <a:bodyPr wrap="square">
            <a:spAutoFit/>
          </a:bodyPr>
          <a:lstStyle/>
          <a:p>
            <a:pPr algn="just"/>
            <a:r>
              <a:rPr lang="tr-TR" sz="1400" i="1" dirty="0" smtClean="0">
                <a:effectLst>
                  <a:outerShdw blurRad="38100" dist="38100" dir="2700000" algn="tl">
                    <a:srgbClr val="000000">
                      <a:alpha val="43137"/>
                    </a:srgbClr>
                  </a:outerShdw>
                </a:effectLst>
              </a:rPr>
              <a:t>Bu nedenlere ilişkin değerlendirme </a:t>
            </a:r>
            <a:r>
              <a:rPr lang="tr-TR" sz="1400" i="1" u="sng" dirty="0" smtClean="0">
                <a:effectLst>
                  <a:outerShdw blurRad="38100" dist="38100" dir="2700000" algn="tl">
                    <a:srgbClr val="000000">
                      <a:alpha val="43137"/>
                    </a:srgbClr>
                  </a:outerShdw>
                </a:effectLst>
              </a:rPr>
              <a:t>suçun işlendiği tarih </a:t>
            </a:r>
            <a:r>
              <a:rPr lang="tr-TR" sz="1400" i="1" dirty="0" smtClean="0">
                <a:effectLst>
                  <a:outerShdw blurRad="38100" dist="38100" dir="2700000" algn="tl">
                    <a:srgbClr val="000000">
                      <a:alpha val="43137"/>
                    </a:srgbClr>
                  </a:outerShdw>
                </a:effectLst>
              </a:rPr>
              <a:t>esas alınarak yapılır </a:t>
            </a:r>
            <a:endParaRPr lang="fr-FR" sz="1400" i="1" dirty="0">
              <a:effectLst>
                <a:outerShdw blurRad="38100" dist="38100" dir="2700000" algn="tl">
                  <a:srgbClr val="000000">
                    <a:alpha val="43137"/>
                  </a:srgbClr>
                </a:outerShdw>
              </a:effectLst>
            </a:endParaRPr>
          </a:p>
        </p:txBody>
      </p:sp>
      <p:sp>
        <p:nvSpPr>
          <p:cNvPr id="9"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60</a:t>
            </a:fld>
            <a:r>
              <a:rPr lang="tr-TR"/>
              <a:t>/116</a:t>
            </a:r>
          </a:p>
        </p:txBody>
      </p:sp>
    </p:spTree>
    <p:extLst>
      <p:ext uri="{BB962C8B-B14F-4D97-AF65-F5344CB8AC3E}">
        <p14:creationId xmlns:p14="http://schemas.microsoft.com/office/powerpoint/2010/main" val="287085120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a:t>Kusurluluğu Kaldıran veya Azaltan Nedenler </a:t>
            </a:r>
            <a:r>
              <a:rPr lang="tr-TR" b="1" dirty="0" smtClean="0"/>
              <a:t>	</a:t>
            </a:r>
            <a:endParaRPr lang="tr-TR" b="1" dirty="0"/>
          </a:p>
        </p:txBody>
      </p:sp>
      <p:sp>
        <p:nvSpPr>
          <p:cNvPr id="18" name="Dikdörtgen 17"/>
          <p:cNvSpPr/>
          <p:nvPr/>
        </p:nvSpPr>
        <p:spPr>
          <a:xfrm>
            <a:off x="2790826" y="4388138"/>
            <a:ext cx="8661779" cy="307777"/>
          </a:xfrm>
          <a:prstGeom prst="rect">
            <a:avLst/>
          </a:prstGeom>
        </p:spPr>
        <p:txBody>
          <a:bodyPr wrap="square">
            <a:spAutoFit/>
          </a:bodyPr>
          <a:lstStyle/>
          <a:p>
            <a:endParaRPr lang="fr-FR" sz="1400" dirty="0"/>
          </a:p>
        </p:txBody>
      </p:sp>
      <p:sp>
        <p:nvSpPr>
          <p:cNvPr id="14" name="Dikdörtgen 13"/>
          <p:cNvSpPr/>
          <p:nvPr/>
        </p:nvSpPr>
        <p:spPr>
          <a:xfrm>
            <a:off x="2280825" y="2182153"/>
            <a:ext cx="8943975" cy="338554"/>
          </a:xfrm>
          <a:prstGeom prst="rect">
            <a:avLst/>
          </a:prstGeom>
        </p:spPr>
        <p:txBody>
          <a:bodyPr wrap="square">
            <a:spAutoFit/>
          </a:bodyPr>
          <a:lstStyle/>
          <a:p>
            <a:pPr algn="just"/>
            <a:r>
              <a:rPr lang="tr-TR" sz="1600" b="1" dirty="0" smtClean="0">
                <a:effectLst>
                  <a:outerShdw blurRad="38100" dist="38100" dir="2700000" algn="tl">
                    <a:srgbClr val="000000">
                      <a:alpha val="43137"/>
                    </a:srgbClr>
                  </a:outerShdw>
                </a:effectLst>
              </a:rPr>
              <a:t>Yaş Küçüklüğü</a:t>
            </a:r>
            <a:endParaRPr lang="fr-FR" sz="1600" b="1" dirty="0">
              <a:effectLst>
                <a:outerShdw blurRad="38100" dist="38100" dir="2700000" algn="tl">
                  <a:srgbClr val="000000">
                    <a:alpha val="43137"/>
                  </a:srgbClr>
                </a:outerShdw>
              </a:effectLst>
            </a:endParaRPr>
          </a:p>
        </p:txBody>
      </p:sp>
      <p:sp>
        <p:nvSpPr>
          <p:cNvPr id="12" name="Dikdörtgen 11"/>
          <p:cNvSpPr/>
          <p:nvPr/>
        </p:nvSpPr>
        <p:spPr>
          <a:xfrm>
            <a:off x="0" y="5212345"/>
            <a:ext cx="3808992" cy="1631216"/>
          </a:xfrm>
          <a:prstGeom prst="rect">
            <a:avLst/>
          </a:prstGeom>
        </p:spPr>
        <p:txBody>
          <a:bodyPr wrap="square">
            <a:spAutoFit/>
          </a:bodyPr>
          <a:lstStyle/>
          <a:p>
            <a:pPr marL="180975" indent="-180975" algn="just">
              <a:buFont typeface="+mj-lt"/>
              <a:buAutoNum type="arabicPeriod"/>
            </a:pPr>
            <a:r>
              <a:rPr lang="tr-TR" sz="1000" u="sng" dirty="0" smtClean="0">
                <a:effectLst>
                  <a:outerShdw blurRad="38100" dist="38100" dir="2700000" algn="tl">
                    <a:srgbClr val="000000">
                      <a:alpha val="43137"/>
                    </a:srgbClr>
                  </a:outerShdw>
                </a:effectLst>
              </a:rPr>
              <a:t>Yaş küçüklüğü</a:t>
            </a:r>
          </a:p>
          <a:p>
            <a:pPr marL="180975" indent="-180975" algn="just">
              <a:buFont typeface="+mj-lt"/>
              <a:buAutoNum type="arabicPeriod"/>
            </a:pPr>
            <a:r>
              <a:rPr lang="tr-TR" sz="1000" dirty="0" smtClean="0"/>
              <a:t>Sağır ve Dilsizlik</a:t>
            </a:r>
          </a:p>
          <a:p>
            <a:pPr marL="180975" indent="-180975" algn="just">
              <a:buFont typeface="+mj-lt"/>
              <a:buAutoNum type="arabicPeriod"/>
            </a:pPr>
            <a:r>
              <a:rPr lang="tr-TR" sz="1000" dirty="0" smtClean="0"/>
              <a:t>Akıl Hastalığı</a:t>
            </a:r>
          </a:p>
          <a:p>
            <a:pPr marL="180975" indent="-180975" algn="just">
              <a:buFont typeface="+mj-lt"/>
              <a:buAutoNum type="arabicPeriod"/>
            </a:pPr>
            <a:r>
              <a:rPr lang="tr-TR" sz="1000" dirty="0" smtClean="0"/>
              <a:t>Geçici Nedenler, Alkol veya Uyuşturucu Madde Etkisinde Olma</a:t>
            </a:r>
          </a:p>
          <a:p>
            <a:pPr marL="180975" indent="-180975" algn="just">
              <a:buFont typeface="+mj-lt"/>
              <a:buAutoNum type="arabicPeriod"/>
            </a:pPr>
            <a:r>
              <a:rPr lang="tr-TR" sz="1000" dirty="0" smtClean="0"/>
              <a:t>Hukuka Aykırı fakat Bağlayıcı bir Emrin Yerine Getirilmesi</a:t>
            </a:r>
          </a:p>
          <a:p>
            <a:pPr marL="180975" indent="-180975" algn="just">
              <a:buFont typeface="+mj-lt"/>
              <a:buAutoNum type="arabicPeriod"/>
            </a:pPr>
            <a:r>
              <a:rPr lang="tr-TR" sz="1000" dirty="0" smtClean="0"/>
              <a:t>Zorunluluk Hali</a:t>
            </a:r>
          </a:p>
          <a:p>
            <a:pPr marL="180975" indent="-180975" algn="just">
              <a:buFont typeface="+mj-lt"/>
              <a:buAutoNum type="arabicPeriod"/>
            </a:pPr>
            <a:r>
              <a:rPr lang="tr-TR" sz="1000" dirty="0" smtClean="0"/>
              <a:t>Cebir ve tehdit Dolayısıyla Kişinin İrade Yetkisinin Etkilenmesi</a:t>
            </a:r>
          </a:p>
          <a:p>
            <a:pPr marL="180975" indent="-180975" algn="just">
              <a:buFont typeface="+mj-lt"/>
              <a:buAutoNum type="arabicPeriod"/>
            </a:pPr>
            <a:r>
              <a:rPr lang="tr-TR" sz="1000" dirty="0" smtClean="0"/>
              <a:t>Haksız Tahrik</a:t>
            </a:r>
          </a:p>
          <a:p>
            <a:pPr marL="180975" indent="-180975" algn="just">
              <a:buFont typeface="+mj-lt"/>
              <a:buAutoNum type="arabicPeriod"/>
            </a:pPr>
            <a:r>
              <a:rPr lang="tr-TR" sz="1000" dirty="0" smtClean="0"/>
              <a:t>Hukuka Uygunluk Nedenlerinde Sınırın Aşılması</a:t>
            </a:r>
          </a:p>
          <a:p>
            <a:pPr marL="180975" indent="-180975" algn="just">
              <a:buFont typeface="+mj-lt"/>
              <a:buAutoNum type="arabicPeriod"/>
            </a:pPr>
            <a:r>
              <a:rPr lang="tr-TR" sz="1000" dirty="0" smtClean="0"/>
              <a:t>Kusurluluğu Etkileyen Hata Halleri</a:t>
            </a:r>
            <a:endParaRPr lang="fr-FR" sz="1000" dirty="0"/>
          </a:p>
        </p:txBody>
      </p:sp>
      <p:sp>
        <p:nvSpPr>
          <p:cNvPr id="2" name="Şeritli Sağ Ok 1"/>
          <p:cNvSpPr/>
          <p:nvPr/>
        </p:nvSpPr>
        <p:spPr>
          <a:xfrm>
            <a:off x="3582138" y="3291034"/>
            <a:ext cx="978408" cy="242316"/>
          </a:xfrm>
          <a:prstGeom prst="striped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Dikdörtgen 9"/>
          <p:cNvSpPr/>
          <p:nvPr/>
        </p:nvSpPr>
        <p:spPr>
          <a:xfrm>
            <a:off x="4662900" y="3243552"/>
            <a:ext cx="3190875" cy="338554"/>
          </a:xfrm>
          <a:prstGeom prst="rect">
            <a:avLst/>
          </a:prstGeom>
        </p:spPr>
        <p:txBody>
          <a:bodyPr wrap="square">
            <a:spAutoFit/>
          </a:bodyPr>
          <a:lstStyle/>
          <a:p>
            <a:pPr algn="just"/>
            <a:r>
              <a:rPr lang="tr-TR" sz="1600" b="1" i="1" dirty="0" smtClean="0">
                <a:effectLst>
                  <a:outerShdw blurRad="38100" dist="38100" dir="2700000" algn="tl">
                    <a:srgbClr val="000000">
                      <a:alpha val="43137"/>
                    </a:srgbClr>
                  </a:outerShdw>
                </a:effectLst>
              </a:rPr>
              <a:t>12 yaşını doldurmamış çocuklar</a:t>
            </a:r>
            <a:endParaRPr lang="fr-FR" sz="1600" b="1" i="1" dirty="0">
              <a:effectLst>
                <a:outerShdw blurRad="38100" dist="38100" dir="2700000" algn="tl">
                  <a:srgbClr val="000000">
                    <a:alpha val="43137"/>
                  </a:srgbClr>
                </a:outerShdw>
              </a:effectLst>
            </a:endParaRPr>
          </a:p>
        </p:txBody>
      </p:sp>
      <p:sp>
        <p:nvSpPr>
          <p:cNvPr id="11" name="Dikdörtgen 10"/>
          <p:cNvSpPr/>
          <p:nvPr/>
        </p:nvSpPr>
        <p:spPr>
          <a:xfrm>
            <a:off x="4662321" y="3515101"/>
            <a:ext cx="6691479" cy="3046988"/>
          </a:xfrm>
          <a:prstGeom prst="rect">
            <a:avLst/>
          </a:prstGeom>
        </p:spPr>
        <p:txBody>
          <a:bodyPr wrap="square">
            <a:spAutoFit/>
          </a:bodyPr>
          <a:lstStyle/>
          <a:p>
            <a:pPr marL="180975" indent="-180975" algn="just">
              <a:buFont typeface="Arial" panose="020B0604020202020204" pitchFamily="34" charset="0"/>
              <a:buChar char="•"/>
            </a:pPr>
            <a:r>
              <a:rPr lang="tr-TR" sz="1600" dirty="0" smtClean="0"/>
              <a:t>Kusur yeteneğinin bulunmadığı MUTLAK surette kabul edilmiştir</a:t>
            </a:r>
          </a:p>
          <a:p>
            <a:pPr marL="180975" indent="-180975" algn="just">
              <a:buFont typeface="Arial" panose="020B0604020202020204" pitchFamily="34" charset="0"/>
              <a:buChar char="•"/>
            </a:pPr>
            <a:r>
              <a:rPr lang="tr-TR" sz="1600" dirty="0" smtClean="0"/>
              <a:t>Ceza sorumluluğu yoktur.</a:t>
            </a:r>
          </a:p>
          <a:p>
            <a:pPr marL="628650" indent="-180975" algn="just">
              <a:buFont typeface="Wingdings" panose="05000000000000000000" pitchFamily="2" charset="2"/>
              <a:buChar char="ü"/>
            </a:pPr>
            <a:r>
              <a:rPr lang="tr-TR" sz="1600" dirty="0" smtClean="0"/>
              <a:t>Ceza kovuşturması yapılamaz</a:t>
            </a:r>
          </a:p>
          <a:p>
            <a:pPr marL="628650" indent="-180975" algn="just">
              <a:buFont typeface="Wingdings" panose="05000000000000000000" pitchFamily="2" charset="2"/>
              <a:buChar char="ü"/>
            </a:pPr>
            <a:r>
              <a:rPr lang="tr-TR" sz="1600" dirty="0" smtClean="0"/>
              <a:t>Ceza verilemez</a:t>
            </a:r>
          </a:p>
          <a:p>
            <a:pPr marL="628650" indent="-180975" algn="just">
              <a:buFont typeface="Wingdings" panose="05000000000000000000" pitchFamily="2" charset="2"/>
              <a:buChar char="ü"/>
            </a:pPr>
            <a:r>
              <a:rPr lang="tr-TR" sz="1600" dirty="0" smtClean="0"/>
              <a:t>Çocuklara özgü güvenlik tedbirleri uygulanabilir </a:t>
            </a:r>
          </a:p>
          <a:p>
            <a:pPr marL="180975" indent="-180975" algn="just">
              <a:buFont typeface="Arial" panose="020B0604020202020204" pitchFamily="34" charset="0"/>
              <a:buChar char="•"/>
            </a:pPr>
            <a:r>
              <a:rPr lang="tr-TR" sz="1600" dirty="0" smtClean="0"/>
              <a:t>Kovuşturma yapılamaz ancak soruşturma yapılabilir. (</a:t>
            </a:r>
            <a:r>
              <a:rPr lang="tr-TR" sz="1200" b="1" i="1" dirty="0" smtClean="0">
                <a:effectLst>
                  <a:outerShdw blurRad="38100" dist="38100" dir="2700000" algn="tl">
                    <a:srgbClr val="000000">
                      <a:alpha val="43137"/>
                    </a:srgbClr>
                  </a:outerShdw>
                </a:effectLst>
              </a:rPr>
              <a:t>Kovuşturma/Soruşturma???</a:t>
            </a:r>
            <a:r>
              <a:rPr lang="tr-TR" sz="1600" dirty="0" smtClean="0"/>
              <a:t>)</a:t>
            </a:r>
          </a:p>
          <a:p>
            <a:pPr marL="628650" indent="-180975" algn="just">
              <a:buFont typeface="Wingdings" panose="05000000000000000000" pitchFamily="2" charset="2"/>
              <a:buChar char="ü"/>
            </a:pPr>
            <a:r>
              <a:rPr lang="tr-TR" sz="1600" dirty="0"/>
              <a:t>Soruşturma bizzat çocuk Bürosunda görevli Savcı tarafından </a:t>
            </a:r>
            <a:r>
              <a:rPr lang="tr-TR" sz="1600" dirty="0" smtClean="0"/>
              <a:t>yapılır</a:t>
            </a:r>
          </a:p>
          <a:p>
            <a:pPr marL="628650" indent="-180975" algn="just">
              <a:buFont typeface="Wingdings" panose="05000000000000000000" pitchFamily="2" charset="2"/>
              <a:buChar char="ü"/>
            </a:pPr>
            <a:r>
              <a:rPr lang="tr-TR" sz="1600" dirty="0" smtClean="0"/>
              <a:t>Çocuklar hakkında tedbir kararı verilebilir ancak yakalama, tutuklama gibi tedbirlere başvurulmamalıdır. Yakalama, Gözaltına Alma ve İfade Alma Yönetmeliğine göre bu çocuklar suç nedeniyle yakalanamaz ve suç tespitinde kullanılamaz. Sadece kimlik ve suç tespiti amacıyla yapılabilir. Kimlik tespitinden sonra serbest bırakılacaklar</a:t>
            </a:r>
            <a:endParaRPr lang="fr-FR" sz="1600" dirty="0"/>
          </a:p>
        </p:txBody>
      </p:sp>
      <p:sp>
        <p:nvSpPr>
          <p:cNvPr id="13" name="Dikdörtgen 12"/>
          <p:cNvSpPr/>
          <p:nvPr/>
        </p:nvSpPr>
        <p:spPr>
          <a:xfrm>
            <a:off x="2287442" y="2433074"/>
            <a:ext cx="9553575" cy="338554"/>
          </a:xfrm>
          <a:prstGeom prst="rect">
            <a:avLst/>
          </a:prstGeom>
        </p:spPr>
        <p:txBody>
          <a:bodyPr wrap="square">
            <a:spAutoFit/>
          </a:bodyPr>
          <a:lstStyle/>
          <a:p>
            <a:pPr algn="just"/>
            <a:r>
              <a:rPr lang="tr-TR" sz="1600" dirty="0" smtClean="0"/>
              <a:t>0-18 yaş grubu insanlar ÇOCUK sayılır. Suça Sürüklenen Çocuklar hakkındaki tedbirler </a:t>
            </a:r>
            <a:r>
              <a:rPr lang="tr-TR" sz="1600" i="1" dirty="0" smtClean="0">
                <a:effectLst>
                  <a:outerShdw blurRad="38100" dist="38100" dir="2700000" algn="tl">
                    <a:srgbClr val="000000">
                      <a:alpha val="43137"/>
                    </a:srgbClr>
                  </a:outerShdw>
                </a:effectLst>
              </a:rPr>
              <a:t>ÇOCUK KORUMA KANUNU</a:t>
            </a:r>
            <a:endParaRPr lang="fr-FR" sz="1600" i="1" dirty="0">
              <a:effectLst>
                <a:outerShdw blurRad="38100" dist="38100" dir="2700000" algn="tl">
                  <a:srgbClr val="000000">
                    <a:alpha val="43137"/>
                  </a:srgbClr>
                </a:outerShdw>
              </a:effectLst>
            </a:endParaRPr>
          </a:p>
        </p:txBody>
      </p:sp>
      <p:sp>
        <p:nvSpPr>
          <p:cNvPr id="15" name="Dikdörtgen 14"/>
          <p:cNvSpPr/>
          <p:nvPr/>
        </p:nvSpPr>
        <p:spPr>
          <a:xfrm>
            <a:off x="1630552" y="2793687"/>
            <a:ext cx="1464065" cy="338554"/>
          </a:xfrm>
          <a:prstGeom prst="rect">
            <a:avLst/>
          </a:prstGeom>
        </p:spPr>
        <p:txBody>
          <a:bodyPr wrap="square">
            <a:spAutoFit/>
          </a:bodyPr>
          <a:lstStyle/>
          <a:p>
            <a:pPr algn="just"/>
            <a:r>
              <a:rPr lang="tr-TR" sz="1600" i="1" u="sng" dirty="0" smtClean="0">
                <a:effectLst>
                  <a:outerShdw blurRad="38100" dist="38100" dir="2700000" algn="tl">
                    <a:srgbClr val="000000">
                      <a:alpha val="43137"/>
                    </a:srgbClr>
                  </a:outerShdw>
                </a:effectLst>
              </a:rPr>
              <a:t>0-12 yaş grubu</a:t>
            </a:r>
            <a:endParaRPr lang="fr-FR" sz="1600" i="1" u="sng" dirty="0">
              <a:effectLst>
                <a:outerShdw blurRad="38100" dist="38100" dir="2700000" algn="tl">
                  <a:srgbClr val="000000">
                    <a:alpha val="43137"/>
                  </a:srgbClr>
                </a:outerShdw>
              </a:effectLst>
            </a:endParaRPr>
          </a:p>
        </p:txBody>
      </p:sp>
      <p:sp>
        <p:nvSpPr>
          <p:cNvPr id="17" name="Dikdörtgen 16"/>
          <p:cNvSpPr/>
          <p:nvPr/>
        </p:nvSpPr>
        <p:spPr>
          <a:xfrm>
            <a:off x="3718043" y="2798212"/>
            <a:ext cx="1685005" cy="338554"/>
          </a:xfrm>
          <a:prstGeom prst="rect">
            <a:avLst/>
          </a:prstGeom>
        </p:spPr>
        <p:txBody>
          <a:bodyPr wrap="square">
            <a:spAutoFit/>
          </a:bodyPr>
          <a:lstStyle/>
          <a:p>
            <a:pPr algn="just"/>
            <a:r>
              <a:rPr lang="tr-TR" sz="1600" i="1" u="sng" dirty="0">
                <a:effectLst>
                  <a:outerShdw blurRad="38100" dist="38100" dir="2700000" algn="tl">
                    <a:srgbClr val="000000">
                      <a:alpha val="43137"/>
                    </a:srgbClr>
                  </a:outerShdw>
                </a:effectLst>
              </a:rPr>
              <a:t>12-15 yaş grubu</a:t>
            </a:r>
            <a:endParaRPr lang="fr-FR" sz="1600" i="1" u="sng" dirty="0">
              <a:effectLst>
                <a:outerShdw blurRad="38100" dist="38100" dir="2700000" algn="tl">
                  <a:srgbClr val="000000">
                    <a:alpha val="43137"/>
                  </a:srgbClr>
                </a:outerShdw>
              </a:effectLst>
            </a:endParaRPr>
          </a:p>
        </p:txBody>
      </p:sp>
      <p:sp>
        <p:nvSpPr>
          <p:cNvPr id="19" name="Dikdörtgen 18"/>
          <p:cNvSpPr/>
          <p:nvPr/>
        </p:nvSpPr>
        <p:spPr>
          <a:xfrm>
            <a:off x="6026474" y="2790541"/>
            <a:ext cx="1685005" cy="338554"/>
          </a:xfrm>
          <a:prstGeom prst="rect">
            <a:avLst/>
          </a:prstGeom>
        </p:spPr>
        <p:txBody>
          <a:bodyPr wrap="square">
            <a:spAutoFit/>
          </a:bodyPr>
          <a:lstStyle/>
          <a:p>
            <a:pPr algn="just"/>
            <a:r>
              <a:rPr lang="tr-TR" sz="1600" i="1" u="sng" dirty="0">
                <a:effectLst>
                  <a:outerShdw blurRad="38100" dist="38100" dir="2700000" algn="tl">
                    <a:srgbClr val="000000">
                      <a:alpha val="43137"/>
                    </a:srgbClr>
                  </a:outerShdw>
                </a:effectLst>
              </a:rPr>
              <a:t>15-18 yaş grubu</a:t>
            </a:r>
            <a:endParaRPr lang="fr-FR" sz="1600" i="1" u="sng" dirty="0">
              <a:effectLst>
                <a:outerShdw blurRad="38100" dist="38100" dir="2700000" algn="tl">
                  <a:srgbClr val="000000">
                    <a:alpha val="43137"/>
                  </a:srgbClr>
                </a:outerShdw>
              </a:effectLst>
            </a:endParaRPr>
          </a:p>
        </p:txBody>
      </p:sp>
      <p:sp>
        <p:nvSpPr>
          <p:cNvPr id="21"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61</a:t>
            </a:fld>
            <a:r>
              <a:rPr lang="tr-TR"/>
              <a:t>/116</a:t>
            </a:r>
          </a:p>
        </p:txBody>
      </p:sp>
    </p:spTree>
    <p:extLst>
      <p:ext uri="{BB962C8B-B14F-4D97-AF65-F5344CB8AC3E}">
        <p14:creationId xmlns:p14="http://schemas.microsoft.com/office/powerpoint/2010/main" val="368552078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a:t>Kusurluluğu Kaldıran veya Azaltan Nedenler </a:t>
            </a:r>
            <a:r>
              <a:rPr lang="tr-TR" b="1" dirty="0" smtClean="0"/>
              <a:t>	</a:t>
            </a:r>
            <a:endParaRPr lang="tr-TR" b="1" dirty="0"/>
          </a:p>
        </p:txBody>
      </p:sp>
      <p:sp>
        <p:nvSpPr>
          <p:cNvPr id="18" name="Dikdörtgen 17"/>
          <p:cNvSpPr/>
          <p:nvPr/>
        </p:nvSpPr>
        <p:spPr>
          <a:xfrm>
            <a:off x="2790826" y="4388138"/>
            <a:ext cx="8661779" cy="307777"/>
          </a:xfrm>
          <a:prstGeom prst="rect">
            <a:avLst/>
          </a:prstGeom>
        </p:spPr>
        <p:txBody>
          <a:bodyPr wrap="square">
            <a:spAutoFit/>
          </a:bodyPr>
          <a:lstStyle/>
          <a:p>
            <a:endParaRPr lang="fr-FR" sz="1400" dirty="0"/>
          </a:p>
        </p:txBody>
      </p:sp>
      <p:sp>
        <p:nvSpPr>
          <p:cNvPr id="14" name="Dikdörtgen 13"/>
          <p:cNvSpPr/>
          <p:nvPr/>
        </p:nvSpPr>
        <p:spPr>
          <a:xfrm>
            <a:off x="2280825" y="2182153"/>
            <a:ext cx="8943975" cy="338554"/>
          </a:xfrm>
          <a:prstGeom prst="rect">
            <a:avLst/>
          </a:prstGeom>
        </p:spPr>
        <p:txBody>
          <a:bodyPr wrap="square">
            <a:spAutoFit/>
          </a:bodyPr>
          <a:lstStyle/>
          <a:p>
            <a:pPr algn="just"/>
            <a:r>
              <a:rPr lang="tr-TR" sz="1600" b="1" dirty="0" smtClean="0">
                <a:effectLst>
                  <a:outerShdw blurRad="38100" dist="38100" dir="2700000" algn="tl">
                    <a:srgbClr val="000000">
                      <a:alpha val="43137"/>
                    </a:srgbClr>
                  </a:outerShdw>
                </a:effectLst>
              </a:rPr>
              <a:t>Yaş Küçüklüğü</a:t>
            </a:r>
            <a:endParaRPr lang="fr-FR" sz="1600" b="1" dirty="0">
              <a:effectLst>
                <a:outerShdw blurRad="38100" dist="38100" dir="2700000" algn="tl">
                  <a:srgbClr val="000000">
                    <a:alpha val="43137"/>
                  </a:srgbClr>
                </a:outerShdw>
              </a:effectLst>
            </a:endParaRPr>
          </a:p>
        </p:txBody>
      </p:sp>
      <p:sp>
        <p:nvSpPr>
          <p:cNvPr id="12" name="Dikdörtgen 11"/>
          <p:cNvSpPr/>
          <p:nvPr/>
        </p:nvSpPr>
        <p:spPr>
          <a:xfrm>
            <a:off x="0" y="5212345"/>
            <a:ext cx="3808992" cy="1631216"/>
          </a:xfrm>
          <a:prstGeom prst="rect">
            <a:avLst/>
          </a:prstGeom>
        </p:spPr>
        <p:txBody>
          <a:bodyPr wrap="square">
            <a:spAutoFit/>
          </a:bodyPr>
          <a:lstStyle/>
          <a:p>
            <a:pPr marL="180975" indent="-180975" algn="just">
              <a:buFont typeface="+mj-lt"/>
              <a:buAutoNum type="arabicPeriod"/>
            </a:pPr>
            <a:r>
              <a:rPr lang="tr-TR" sz="1000" u="sng" dirty="0" smtClean="0">
                <a:effectLst>
                  <a:outerShdw blurRad="38100" dist="38100" dir="2700000" algn="tl">
                    <a:srgbClr val="000000">
                      <a:alpha val="43137"/>
                    </a:srgbClr>
                  </a:outerShdw>
                </a:effectLst>
              </a:rPr>
              <a:t>Yaş küçüklüğü</a:t>
            </a:r>
          </a:p>
          <a:p>
            <a:pPr marL="180975" indent="-180975" algn="just">
              <a:buFont typeface="+mj-lt"/>
              <a:buAutoNum type="arabicPeriod"/>
            </a:pPr>
            <a:r>
              <a:rPr lang="tr-TR" sz="1000" dirty="0" smtClean="0"/>
              <a:t>Sağır ve Dilsizlik</a:t>
            </a:r>
          </a:p>
          <a:p>
            <a:pPr marL="180975" indent="-180975" algn="just">
              <a:buFont typeface="+mj-lt"/>
              <a:buAutoNum type="arabicPeriod"/>
            </a:pPr>
            <a:r>
              <a:rPr lang="tr-TR" sz="1000" dirty="0" smtClean="0"/>
              <a:t>Akıl Hastalığı</a:t>
            </a:r>
          </a:p>
          <a:p>
            <a:pPr marL="180975" indent="-180975" algn="just">
              <a:buFont typeface="+mj-lt"/>
              <a:buAutoNum type="arabicPeriod"/>
            </a:pPr>
            <a:r>
              <a:rPr lang="tr-TR" sz="1000" dirty="0" smtClean="0"/>
              <a:t>Geçici Nedenler, Alkol veya Uyuşturucu Madde Etkisinde Olma</a:t>
            </a:r>
          </a:p>
          <a:p>
            <a:pPr marL="180975" indent="-180975" algn="just">
              <a:buFont typeface="+mj-lt"/>
              <a:buAutoNum type="arabicPeriod"/>
            </a:pPr>
            <a:r>
              <a:rPr lang="tr-TR" sz="1000" dirty="0" smtClean="0"/>
              <a:t>Hukuka Aykırı fakat Bağlayıcı bir Emrin Yerine Getirilmesi</a:t>
            </a:r>
          </a:p>
          <a:p>
            <a:pPr marL="180975" indent="-180975" algn="just">
              <a:buFont typeface="+mj-lt"/>
              <a:buAutoNum type="arabicPeriod"/>
            </a:pPr>
            <a:r>
              <a:rPr lang="tr-TR" sz="1000" dirty="0" smtClean="0"/>
              <a:t>Zorunluluk Hali</a:t>
            </a:r>
          </a:p>
          <a:p>
            <a:pPr marL="180975" indent="-180975" algn="just">
              <a:buFont typeface="+mj-lt"/>
              <a:buAutoNum type="arabicPeriod"/>
            </a:pPr>
            <a:r>
              <a:rPr lang="tr-TR" sz="1000" dirty="0" smtClean="0"/>
              <a:t>Cebir ve tehdit Dolayısıyla Kişinin İrade Yetkisinin Etkilenmesi</a:t>
            </a:r>
          </a:p>
          <a:p>
            <a:pPr marL="180975" indent="-180975" algn="just">
              <a:buFont typeface="+mj-lt"/>
              <a:buAutoNum type="arabicPeriod"/>
            </a:pPr>
            <a:r>
              <a:rPr lang="tr-TR" sz="1000" dirty="0" smtClean="0"/>
              <a:t>Haksız Tahrik</a:t>
            </a:r>
          </a:p>
          <a:p>
            <a:pPr marL="180975" indent="-180975" algn="just">
              <a:buFont typeface="+mj-lt"/>
              <a:buAutoNum type="arabicPeriod"/>
            </a:pPr>
            <a:r>
              <a:rPr lang="tr-TR" sz="1000" dirty="0" smtClean="0"/>
              <a:t>Hukuka Uygunluk Nedenlerinde Sınırın Aşılması</a:t>
            </a:r>
          </a:p>
          <a:p>
            <a:pPr marL="180975" indent="-180975" algn="just">
              <a:buFont typeface="+mj-lt"/>
              <a:buAutoNum type="arabicPeriod"/>
            </a:pPr>
            <a:r>
              <a:rPr lang="tr-TR" sz="1000" dirty="0" smtClean="0"/>
              <a:t>Kusurluluğu Etkileyen Hata Halleri</a:t>
            </a:r>
            <a:endParaRPr lang="fr-FR" sz="1000" dirty="0"/>
          </a:p>
        </p:txBody>
      </p:sp>
      <p:sp>
        <p:nvSpPr>
          <p:cNvPr id="2" name="Şeritli Sağ Ok 1"/>
          <p:cNvSpPr/>
          <p:nvPr/>
        </p:nvSpPr>
        <p:spPr>
          <a:xfrm>
            <a:off x="3680943" y="2677079"/>
            <a:ext cx="978408" cy="242316"/>
          </a:xfrm>
          <a:prstGeom prst="stripedRigh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Dikdörtgen 9"/>
          <p:cNvSpPr/>
          <p:nvPr/>
        </p:nvSpPr>
        <p:spPr>
          <a:xfrm>
            <a:off x="4761705" y="2625805"/>
            <a:ext cx="4939343" cy="338554"/>
          </a:xfrm>
          <a:prstGeom prst="rect">
            <a:avLst/>
          </a:prstGeom>
        </p:spPr>
        <p:txBody>
          <a:bodyPr wrap="square">
            <a:spAutoFit/>
          </a:bodyPr>
          <a:lstStyle/>
          <a:p>
            <a:pPr algn="just"/>
            <a:r>
              <a:rPr lang="tr-TR" sz="1600" b="1" i="1" dirty="0" smtClean="0">
                <a:effectLst>
                  <a:outerShdw blurRad="38100" dist="38100" dir="2700000" algn="tl">
                    <a:srgbClr val="000000">
                      <a:alpha val="43137"/>
                    </a:srgbClr>
                  </a:outerShdw>
                </a:effectLst>
              </a:rPr>
              <a:t>12 yaşını doldurmuş 15 yaşını doldurmamış çocuklar</a:t>
            </a:r>
            <a:endParaRPr lang="fr-FR" sz="1600" b="1" i="1" dirty="0">
              <a:effectLst>
                <a:outerShdw blurRad="38100" dist="38100" dir="2700000" algn="tl">
                  <a:srgbClr val="000000">
                    <a:alpha val="43137"/>
                  </a:srgbClr>
                </a:outerShdw>
              </a:effectLst>
            </a:endParaRPr>
          </a:p>
        </p:txBody>
      </p:sp>
      <p:sp>
        <p:nvSpPr>
          <p:cNvPr id="3" name="Metin kutusu 2"/>
          <p:cNvSpPr txBox="1"/>
          <p:nvPr/>
        </p:nvSpPr>
        <p:spPr>
          <a:xfrm>
            <a:off x="5703224" y="3232546"/>
            <a:ext cx="6137793" cy="523220"/>
          </a:xfrm>
          <a:prstGeom prst="rect">
            <a:avLst/>
          </a:prstGeom>
          <a:noFill/>
        </p:spPr>
        <p:txBody>
          <a:bodyPr wrap="square" rtlCol="0">
            <a:spAutoFit/>
          </a:bodyPr>
          <a:lstStyle/>
          <a:p>
            <a:pPr algn="just"/>
            <a:r>
              <a:rPr lang="tr-TR" sz="1400" dirty="0" smtClean="0"/>
              <a:t>Fiilin hukuki anlam ve sonuçlarını algılayamayanlar veya davranışlarını yönlendirme yeteneği yeterince gelişmemiş olanların ceza sorumluluğu yoktur</a:t>
            </a:r>
            <a:endParaRPr lang="fr-FR" sz="1400" dirty="0"/>
          </a:p>
        </p:txBody>
      </p:sp>
      <p:sp>
        <p:nvSpPr>
          <p:cNvPr id="6" name="Yukarı Bükülü Ok 5"/>
          <p:cNvSpPr/>
          <p:nvPr/>
        </p:nvSpPr>
        <p:spPr>
          <a:xfrm rot="5400000">
            <a:off x="4756519" y="3434999"/>
            <a:ext cx="1235058" cy="671219"/>
          </a:xfrm>
          <a:prstGeom prst="bentUpArrow">
            <a:avLst>
              <a:gd name="adj1" fmla="val 17171"/>
              <a:gd name="adj2" fmla="val 25000"/>
              <a:gd name="adj3" fmla="val 2500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Yukarı Bükülü Ok 19"/>
          <p:cNvSpPr/>
          <p:nvPr/>
        </p:nvSpPr>
        <p:spPr>
          <a:xfrm rot="5400000">
            <a:off x="5275282" y="3176003"/>
            <a:ext cx="472072" cy="396680"/>
          </a:xfrm>
          <a:prstGeom prst="bentUp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Metin kutusu 20"/>
          <p:cNvSpPr txBox="1"/>
          <p:nvPr/>
        </p:nvSpPr>
        <p:spPr>
          <a:xfrm>
            <a:off x="5709658" y="3998110"/>
            <a:ext cx="6137793" cy="523220"/>
          </a:xfrm>
          <a:prstGeom prst="rect">
            <a:avLst/>
          </a:prstGeom>
          <a:noFill/>
        </p:spPr>
        <p:txBody>
          <a:bodyPr wrap="square" rtlCol="0">
            <a:spAutoFit/>
          </a:bodyPr>
          <a:lstStyle/>
          <a:p>
            <a:pPr algn="just"/>
            <a:r>
              <a:rPr lang="tr-TR" sz="1400" dirty="0" smtClean="0"/>
              <a:t>Fiilin hukuki anlam ve sonuçlarını algılayanlar veya davranışlarını yönlendirme yeteneği yeterince gelişmiş olanların ceza sorumluluğu vardır, ancak indirimlidir. </a:t>
            </a:r>
            <a:endParaRPr lang="fr-FR" sz="1400" dirty="0"/>
          </a:p>
        </p:txBody>
      </p:sp>
      <p:sp>
        <p:nvSpPr>
          <p:cNvPr id="22" name="Metin kutusu 21"/>
          <p:cNvSpPr txBox="1"/>
          <p:nvPr/>
        </p:nvSpPr>
        <p:spPr>
          <a:xfrm>
            <a:off x="4958168" y="4498565"/>
            <a:ext cx="6882849" cy="2123658"/>
          </a:xfrm>
          <a:prstGeom prst="rect">
            <a:avLst/>
          </a:prstGeom>
          <a:noFill/>
        </p:spPr>
        <p:txBody>
          <a:bodyPr wrap="square" rtlCol="0">
            <a:spAutoFit/>
          </a:bodyPr>
          <a:lstStyle/>
          <a:p>
            <a:pPr marL="285750" indent="-285750" algn="just">
              <a:buFont typeface="Arial" panose="020B0604020202020204" pitchFamily="34" charset="0"/>
              <a:buChar char="•"/>
            </a:pPr>
            <a:r>
              <a:rPr lang="tr-TR" sz="1200" dirty="0" smtClean="0"/>
              <a:t>Bu çocuklar bakımından 0-12 yaş grubundakinden farklı olarak güvenlik tedbirlerini uygulama noktasında hakimin takdir hakkı YOKTUR</a:t>
            </a:r>
          </a:p>
          <a:p>
            <a:pPr marL="285750" indent="-285750" algn="just">
              <a:buFont typeface="Arial" panose="020B0604020202020204" pitchFamily="34" charset="0"/>
              <a:buChar char="•"/>
            </a:pPr>
            <a:r>
              <a:rPr lang="tr-TR" sz="1200" dirty="0" smtClean="0"/>
              <a:t>Suç sebebiyle yakalanabilirler ancak ifadelerini kolluk ALAMAZ, çocuklarla ilgili görevlendirilen SAVCI bizzat alabilir.</a:t>
            </a:r>
          </a:p>
          <a:p>
            <a:pPr marL="285750" indent="-285750" algn="just">
              <a:buFont typeface="Arial" panose="020B0604020202020204" pitchFamily="34" charset="0"/>
              <a:buChar char="•"/>
            </a:pPr>
            <a:r>
              <a:rPr lang="tr-TR" sz="1200" dirty="0" smtClean="0"/>
              <a:t>Gözaltına alındığı ana, baba veya vasisine bildirilmek zorundadır</a:t>
            </a:r>
          </a:p>
          <a:p>
            <a:pPr marL="285750" indent="-285750" algn="just">
              <a:buFont typeface="Arial" panose="020B0604020202020204" pitchFamily="34" charset="0"/>
              <a:buChar char="•"/>
            </a:pPr>
            <a:r>
              <a:rPr lang="tr-TR" sz="1200" dirty="0" smtClean="0"/>
              <a:t>Gözaltına alınan çocuklar kolluğun Çocuk biriminde tutulur, böyle bir birim yoksa gözaltındaki yetişkinlerden ayrı bir yerde tutulur</a:t>
            </a:r>
          </a:p>
          <a:p>
            <a:pPr marL="285750" indent="-285750" algn="just">
              <a:buFont typeface="Arial" panose="020B0604020202020204" pitchFamily="34" charset="0"/>
              <a:buChar char="•"/>
            </a:pPr>
            <a:r>
              <a:rPr lang="tr-TR" sz="1200" dirty="0" smtClean="0"/>
              <a:t>İşlemler mümkün oldukça sivil giyimli personel tarafından yerine getirilir</a:t>
            </a:r>
          </a:p>
          <a:p>
            <a:pPr marL="285750" indent="-285750" algn="just">
              <a:buFont typeface="Arial" panose="020B0604020202020204" pitchFamily="34" charset="0"/>
              <a:buChar char="•"/>
            </a:pPr>
            <a:r>
              <a:rPr lang="tr-TR" sz="1200" dirty="0" smtClean="0"/>
              <a:t>Kelepçe </a:t>
            </a:r>
            <a:r>
              <a:rPr lang="tr-TR" sz="1200" dirty="0" err="1" smtClean="0"/>
              <a:t>vb</a:t>
            </a:r>
            <a:r>
              <a:rPr lang="tr-TR" sz="1200" dirty="0" smtClean="0"/>
              <a:t> aletler takılamaz ancak zorunlu hallerde gerekli önlemler alınabilir</a:t>
            </a:r>
          </a:p>
          <a:p>
            <a:pPr marL="285750" indent="-285750" algn="just">
              <a:buFont typeface="Arial" panose="020B0604020202020204" pitchFamily="34" charset="0"/>
              <a:buChar char="•"/>
            </a:pPr>
            <a:r>
              <a:rPr lang="tr-TR" sz="1200" dirty="0" smtClean="0"/>
              <a:t>Suça sürüklenen çocuklara Müdafi atanması zorunludur</a:t>
            </a:r>
          </a:p>
          <a:p>
            <a:pPr marL="285750" indent="-285750" algn="just">
              <a:buFont typeface="Arial" panose="020B0604020202020204" pitchFamily="34" charset="0"/>
              <a:buChar char="•"/>
            </a:pPr>
            <a:r>
              <a:rPr lang="tr-TR" sz="1200" dirty="0" smtClean="0"/>
              <a:t>İfade alma esnasında yanında Müdafiden başka sosyal çalışma görevlisi de bulundurulabilir </a:t>
            </a:r>
          </a:p>
        </p:txBody>
      </p:sp>
      <p:sp>
        <p:nvSpPr>
          <p:cNvPr id="4" name="Dikdörtgen 3"/>
          <p:cNvSpPr/>
          <p:nvPr/>
        </p:nvSpPr>
        <p:spPr>
          <a:xfrm>
            <a:off x="6063671" y="2881484"/>
            <a:ext cx="4441729" cy="338554"/>
          </a:xfrm>
          <a:prstGeom prst="rect">
            <a:avLst/>
          </a:prstGeom>
        </p:spPr>
        <p:txBody>
          <a:bodyPr wrap="none">
            <a:spAutoFit/>
          </a:bodyPr>
          <a:lstStyle/>
          <a:p>
            <a:r>
              <a:rPr lang="tr-TR" sz="1600" i="1" u="sng" dirty="0" smtClean="0">
                <a:effectLst>
                  <a:outerShdw blurRad="38100" dist="38100" dir="2700000" algn="tl">
                    <a:srgbClr val="000000">
                      <a:alpha val="43137"/>
                    </a:srgbClr>
                  </a:outerShdw>
                </a:effectLst>
              </a:rPr>
              <a:t>Öncelikle</a:t>
            </a:r>
            <a:r>
              <a:rPr lang="tr-TR" sz="1600" i="1" dirty="0" smtClean="0">
                <a:effectLst>
                  <a:outerShdw blurRad="38100" dist="38100" dir="2700000" algn="tl">
                    <a:srgbClr val="000000">
                      <a:alpha val="43137"/>
                    </a:srgbClr>
                  </a:outerShdw>
                </a:effectLst>
              </a:rPr>
              <a:t> kusur yeteneğinin olup olmadığı araştırılır</a:t>
            </a:r>
            <a:endParaRPr lang="fr-FR" sz="1600" i="1" dirty="0">
              <a:effectLst>
                <a:outerShdw blurRad="38100" dist="38100" dir="2700000" algn="tl">
                  <a:srgbClr val="000000">
                    <a:alpha val="43137"/>
                  </a:srgbClr>
                </a:outerShdw>
              </a:effectLst>
            </a:endParaRPr>
          </a:p>
        </p:txBody>
      </p:sp>
      <p:sp>
        <p:nvSpPr>
          <p:cNvPr id="17" name="Yukarı Bükülü Ok 16"/>
          <p:cNvSpPr/>
          <p:nvPr/>
        </p:nvSpPr>
        <p:spPr>
          <a:xfrm rot="5400000">
            <a:off x="4756519" y="3435001"/>
            <a:ext cx="1235058" cy="671219"/>
          </a:xfrm>
          <a:prstGeom prst="bentUpArrow">
            <a:avLst>
              <a:gd name="adj1" fmla="val 17171"/>
              <a:gd name="adj2" fmla="val 25000"/>
              <a:gd name="adj3" fmla="val 25000"/>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8" name="Slayt Numarası Yer Tutucusu 7"/>
          <p:cNvSpPr>
            <a:spLocks noGrp="1"/>
          </p:cNvSpPr>
          <p:nvPr>
            <p:ph type="sldNum" sz="quarter" idx="12"/>
          </p:nvPr>
        </p:nvSpPr>
        <p:spPr/>
        <p:txBody>
          <a:bodyPr/>
          <a:lstStyle/>
          <a:p>
            <a:fld id="{39F9BA00-44CD-41D4-A3D8-F864C744DC1F}" type="slidenum">
              <a:rPr lang="tr-TR" smtClean="0"/>
              <a:t>62</a:t>
            </a:fld>
            <a:r>
              <a:rPr lang="tr-TR"/>
              <a:t>/116</a:t>
            </a:r>
          </a:p>
        </p:txBody>
      </p:sp>
    </p:spTree>
    <p:extLst>
      <p:ext uri="{BB962C8B-B14F-4D97-AF65-F5344CB8AC3E}">
        <p14:creationId xmlns:p14="http://schemas.microsoft.com/office/powerpoint/2010/main" val="306831402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a:t>Kusurluluğu Kaldıran veya Azaltan Nedenler </a:t>
            </a:r>
            <a:r>
              <a:rPr lang="tr-TR" b="1" dirty="0" smtClean="0"/>
              <a:t>	</a:t>
            </a:r>
            <a:endParaRPr lang="tr-TR" b="1" dirty="0"/>
          </a:p>
        </p:txBody>
      </p:sp>
      <p:sp>
        <p:nvSpPr>
          <p:cNvPr id="14" name="Dikdörtgen 13"/>
          <p:cNvSpPr/>
          <p:nvPr/>
        </p:nvSpPr>
        <p:spPr>
          <a:xfrm>
            <a:off x="2280825" y="2182153"/>
            <a:ext cx="8943975" cy="338554"/>
          </a:xfrm>
          <a:prstGeom prst="rect">
            <a:avLst/>
          </a:prstGeom>
        </p:spPr>
        <p:txBody>
          <a:bodyPr wrap="square">
            <a:spAutoFit/>
          </a:bodyPr>
          <a:lstStyle/>
          <a:p>
            <a:pPr algn="just"/>
            <a:r>
              <a:rPr lang="tr-TR" sz="1600" b="1" dirty="0" smtClean="0">
                <a:effectLst>
                  <a:outerShdw blurRad="38100" dist="38100" dir="2700000" algn="tl">
                    <a:srgbClr val="000000">
                      <a:alpha val="43137"/>
                    </a:srgbClr>
                  </a:outerShdw>
                </a:effectLst>
              </a:rPr>
              <a:t>Yaş Küçüklüğü</a:t>
            </a:r>
            <a:endParaRPr lang="fr-FR" sz="1600" b="1" dirty="0">
              <a:effectLst>
                <a:outerShdw blurRad="38100" dist="38100" dir="2700000" algn="tl">
                  <a:srgbClr val="000000">
                    <a:alpha val="43137"/>
                  </a:srgbClr>
                </a:outerShdw>
              </a:effectLst>
            </a:endParaRPr>
          </a:p>
        </p:txBody>
      </p:sp>
      <p:sp>
        <p:nvSpPr>
          <p:cNvPr id="2" name="Şeritli Sağ Ok 1"/>
          <p:cNvSpPr/>
          <p:nvPr/>
        </p:nvSpPr>
        <p:spPr>
          <a:xfrm>
            <a:off x="3680943" y="2677716"/>
            <a:ext cx="978408" cy="242316"/>
          </a:xfrm>
          <a:prstGeom prst="stripedRigh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Dikdörtgen 9"/>
          <p:cNvSpPr/>
          <p:nvPr/>
        </p:nvSpPr>
        <p:spPr>
          <a:xfrm>
            <a:off x="4761705" y="2629597"/>
            <a:ext cx="4939343" cy="338554"/>
          </a:xfrm>
          <a:prstGeom prst="rect">
            <a:avLst/>
          </a:prstGeom>
        </p:spPr>
        <p:txBody>
          <a:bodyPr wrap="square">
            <a:spAutoFit/>
          </a:bodyPr>
          <a:lstStyle/>
          <a:p>
            <a:pPr algn="just"/>
            <a:r>
              <a:rPr lang="tr-TR" sz="1600" b="1" i="1" dirty="0" smtClean="0">
                <a:effectLst>
                  <a:outerShdw blurRad="38100" dist="38100" dir="2700000" algn="tl">
                    <a:srgbClr val="000000">
                      <a:alpha val="43137"/>
                    </a:srgbClr>
                  </a:outerShdw>
                </a:effectLst>
              </a:rPr>
              <a:t>15 yaşını doldurmuş 18 yaşını doldurmamış çocuklar</a:t>
            </a:r>
            <a:endParaRPr lang="fr-FR" sz="1600" b="1" i="1" dirty="0">
              <a:effectLst>
                <a:outerShdw blurRad="38100" dist="38100" dir="2700000" algn="tl">
                  <a:srgbClr val="000000">
                    <a:alpha val="43137"/>
                  </a:srgbClr>
                </a:outerShdw>
              </a:effectLst>
            </a:endParaRPr>
          </a:p>
        </p:txBody>
      </p:sp>
      <p:sp>
        <p:nvSpPr>
          <p:cNvPr id="3" name="Metin kutusu 2"/>
          <p:cNvSpPr txBox="1"/>
          <p:nvPr/>
        </p:nvSpPr>
        <p:spPr>
          <a:xfrm>
            <a:off x="4958168" y="3027446"/>
            <a:ext cx="6137793" cy="738664"/>
          </a:xfrm>
          <a:prstGeom prst="rect">
            <a:avLst/>
          </a:prstGeom>
          <a:noFill/>
        </p:spPr>
        <p:txBody>
          <a:bodyPr wrap="square" rtlCol="0">
            <a:spAutoFit/>
          </a:bodyPr>
          <a:lstStyle/>
          <a:p>
            <a:pPr algn="just"/>
            <a:r>
              <a:rPr lang="tr-TR" sz="1400" dirty="0" smtClean="0"/>
              <a:t>Fiillerinin hukuki anlam ve sonuçlarını </a:t>
            </a:r>
            <a:r>
              <a:rPr lang="tr-TR" sz="1400" u="sng" dirty="0" smtClean="0"/>
              <a:t>algılama ve davranışlarını yönlendirme yeteneğine sahip oldukları kabul edilmektedir</a:t>
            </a:r>
            <a:r>
              <a:rPr lang="tr-TR" sz="1400" dirty="0" smtClean="0"/>
              <a:t>. Bu nedenle kusur yeteneğine sahip olup olmadıkları yönünde ayrıca gerekmedikçe bir araştırma yapılmayacaktır.</a:t>
            </a:r>
            <a:endParaRPr lang="fr-FR" sz="1400" dirty="0">
              <a:solidFill>
                <a:srgbClr val="FF0000"/>
              </a:solidFill>
            </a:endParaRPr>
          </a:p>
        </p:txBody>
      </p:sp>
      <p:sp>
        <p:nvSpPr>
          <p:cNvPr id="21" name="Metin kutusu 20"/>
          <p:cNvSpPr txBox="1"/>
          <p:nvPr/>
        </p:nvSpPr>
        <p:spPr>
          <a:xfrm>
            <a:off x="4999411" y="3820924"/>
            <a:ext cx="6137793" cy="307777"/>
          </a:xfrm>
          <a:prstGeom prst="rect">
            <a:avLst/>
          </a:prstGeom>
          <a:noFill/>
        </p:spPr>
        <p:txBody>
          <a:bodyPr wrap="square" rtlCol="0">
            <a:spAutoFit/>
          </a:bodyPr>
          <a:lstStyle/>
          <a:p>
            <a:pPr algn="just"/>
            <a:r>
              <a:rPr lang="tr-TR" sz="1400" dirty="0" smtClean="0"/>
              <a:t>Ceza sorumluluğu vardır, ancak indirimlidir. </a:t>
            </a:r>
            <a:endParaRPr lang="fr-FR" sz="1400" dirty="0"/>
          </a:p>
        </p:txBody>
      </p:sp>
      <p:sp>
        <p:nvSpPr>
          <p:cNvPr id="11" name="Dikdörtgen 10"/>
          <p:cNvSpPr/>
          <p:nvPr/>
        </p:nvSpPr>
        <p:spPr>
          <a:xfrm>
            <a:off x="0" y="5212345"/>
            <a:ext cx="3808992" cy="1631216"/>
          </a:xfrm>
          <a:prstGeom prst="rect">
            <a:avLst/>
          </a:prstGeom>
        </p:spPr>
        <p:txBody>
          <a:bodyPr wrap="square">
            <a:spAutoFit/>
          </a:bodyPr>
          <a:lstStyle/>
          <a:p>
            <a:pPr marL="180975" indent="-180975" algn="just">
              <a:buFont typeface="+mj-lt"/>
              <a:buAutoNum type="arabicPeriod"/>
            </a:pPr>
            <a:r>
              <a:rPr lang="tr-TR" sz="1000" u="sng" dirty="0" smtClean="0">
                <a:effectLst>
                  <a:outerShdw blurRad="38100" dist="38100" dir="2700000" algn="tl">
                    <a:srgbClr val="000000">
                      <a:alpha val="43137"/>
                    </a:srgbClr>
                  </a:outerShdw>
                </a:effectLst>
              </a:rPr>
              <a:t>Yaş küçüklüğü</a:t>
            </a:r>
          </a:p>
          <a:p>
            <a:pPr marL="180975" indent="-180975" algn="just">
              <a:buFont typeface="+mj-lt"/>
              <a:buAutoNum type="arabicPeriod"/>
            </a:pPr>
            <a:r>
              <a:rPr lang="tr-TR" sz="1000" dirty="0" smtClean="0"/>
              <a:t>Sağır ve Dilsizlik</a:t>
            </a:r>
          </a:p>
          <a:p>
            <a:pPr marL="180975" indent="-180975" algn="just">
              <a:buFont typeface="+mj-lt"/>
              <a:buAutoNum type="arabicPeriod"/>
            </a:pPr>
            <a:r>
              <a:rPr lang="tr-TR" sz="1000" dirty="0" smtClean="0"/>
              <a:t>Akıl Hastalığı</a:t>
            </a:r>
          </a:p>
          <a:p>
            <a:pPr marL="180975" indent="-180975" algn="just">
              <a:buFont typeface="+mj-lt"/>
              <a:buAutoNum type="arabicPeriod"/>
            </a:pPr>
            <a:r>
              <a:rPr lang="tr-TR" sz="1000" dirty="0" smtClean="0"/>
              <a:t>Geçici Nedenler, Alkol veya Uyuşturucu Madde Etkisinde Olma</a:t>
            </a:r>
          </a:p>
          <a:p>
            <a:pPr marL="180975" indent="-180975" algn="just">
              <a:buFont typeface="+mj-lt"/>
              <a:buAutoNum type="arabicPeriod"/>
            </a:pPr>
            <a:r>
              <a:rPr lang="tr-TR" sz="1000" dirty="0" smtClean="0"/>
              <a:t>Hukuka Aykırı fakat Bağlayıcı bir Emrin Yerine Getirilmesi</a:t>
            </a:r>
          </a:p>
          <a:p>
            <a:pPr marL="180975" indent="-180975" algn="just">
              <a:buFont typeface="+mj-lt"/>
              <a:buAutoNum type="arabicPeriod"/>
            </a:pPr>
            <a:r>
              <a:rPr lang="tr-TR" sz="1000" dirty="0" smtClean="0"/>
              <a:t>Zorunluluk Hali</a:t>
            </a:r>
          </a:p>
          <a:p>
            <a:pPr marL="180975" indent="-180975" algn="just">
              <a:buFont typeface="+mj-lt"/>
              <a:buAutoNum type="arabicPeriod"/>
            </a:pPr>
            <a:r>
              <a:rPr lang="tr-TR" sz="1000" dirty="0" smtClean="0"/>
              <a:t>Cebir ve tehdit Dolayısıyla Kişinin İrade Yetkisinin Etkilenmesi</a:t>
            </a:r>
          </a:p>
          <a:p>
            <a:pPr marL="180975" indent="-180975" algn="just">
              <a:buFont typeface="+mj-lt"/>
              <a:buAutoNum type="arabicPeriod"/>
            </a:pPr>
            <a:r>
              <a:rPr lang="tr-TR" sz="1000" dirty="0" smtClean="0"/>
              <a:t>Haksız Tahrik</a:t>
            </a:r>
          </a:p>
          <a:p>
            <a:pPr marL="180975" indent="-180975" algn="just">
              <a:buFont typeface="+mj-lt"/>
              <a:buAutoNum type="arabicPeriod"/>
            </a:pPr>
            <a:r>
              <a:rPr lang="tr-TR" sz="1000" dirty="0" smtClean="0"/>
              <a:t>Hukuka Uygunluk Nedenlerinde Sınırın Aşılması</a:t>
            </a:r>
          </a:p>
          <a:p>
            <a:pPr marL="180975" indent="-180975" algn="just">
              <a:buFont typeface="+mj-lt"/>
              <a:buAutoNum type="arabicPeriod"/>
            </a:pPr>
            <a:r>
              <a:rPr lang="tr-TR" sz="1000" dirty="0" smtClean="0"/>
              <a:t>Kusurluluğu Etkileyen Hata Halleri</a:t>
            </a:r>
            <a:endParaRPr lang="fr-FR" sz="1000" dirty="0"/>
          </a:p>
        </p:txBody>
      </p:sp>
      <p:sp>
        <p:nvSpPr>
          <p:cNvPr id="13"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6" name="Slayt Numarası Yer Tutucusu 5"/>
          <p:cNvSpPr>
            <a:spLocks noGrp="1"/>
          </p:cNvSpPr>
          <p:nvPr>
            <p:ph type="sldNum" sz="quarter" idx="12"/>
          </p:nvPr>
        </p:nvSpPr>
        <p:spPr/>
        <p:txBody>
          <a:bodyPr/>
          <a:lstStyle/>
          <a:p>
            <a:fld id="{39F9BA00-44CD-41D4-A3D8-F864C744DC1F}" type="slidenum">
              <a:rPr lang="tr-TR" smtClean="0"/>
              <a:t>63</a:t>
            </a:fld>
            <a:r>
              <a:rPr lang="tr-TR"/>
              <a:t>/116</a:t>
            </a:r>
          </a:p>
        </p:txBody>
      </p:sp>
    </p:spTree>
    <p:extLst>
      <p:ext uri="{BB962C8B-B14F-4D97-AF65-F5344CB8AC3E}">
        <p14:creationId xmlns:p14="http://schemas.microsoft.com/office/powerpoint/2010/main" val="67078209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a:t>Kusurluluğu Kaldıran veya Azaltan Nedenler </a:t>
            </a:r>
            <a:r>
              <a:rPr lang="tr-TR" b="1" dirty="0" smtClean="0"/>
              <a:t>	</a:t>
            </a:r>
            <a:endParaRPr lang="tr-TR" b="1" dirty="0"/>
          </a:p>
        </p:txBody>
      </p:sp>
      <p:sp>
        <p:nvSpPr>
          <p:cNvPr id="18" name="Dikdörtgen 17"/>
          <p:cNvSpPr/>
          <p:nvPr/>
        </p:nvSpPr>
        <p:spPr>
          <a:xfrm>
            <a:off x="3179238" y="4029582"/>
            <a:ext cx="8661779" cy="523220"/>
          </a:xfrm>
          <a:prstGeom prst="rect">
            <a:avLst/>
          </a:prstGeom>
        </p:spPr>
        <p:txBody>
          <a:bodyPr wrap="square">
            <a:spAutoFit/>
          </a:bodyPr>
          <a:lstStyle/>
          <a:p>
            <a:pPr algn="just"/>
            <a:r>
              <a:rPr lang="tr-TR" sz="1400" dirty="0" smtClean="0"/>
              <a:t>Sağır ve dilsizliğin kusur yeteneğini etkilemesi, doğuştan gelmesi veya küçük yaşta meydana gelmesine ve kalıcı olmasına bağlıdır.</a:t>
            </a:r>
            <a:endParaRPr lang="fr-FR" sz="1400" dirty="0"/>
          </a:p>
        </p:txBody>
      </p:sp>
      <p:sp>
        <p:nvSpPr>
          <p:cNvPr id="14" name="Dikdörtgen 13"/>
          <p:cNvSpPr/>
          <p:nvPr/>
        </p:nvSpPr>
        <p:spPr>
          <a:xfrm>
            <a:off x="2280825" y="2182153"/>
            <a:ext cx="8943975" cy="338554"/>
          </a:xfrm>
          <a:prstGeom prst="rect">
            <a:avLst/>
          </a:prstGeom>
        </p:spPr>
        <p:txBody>
          <a:bodyPr wrap="square">
            <a:spAutoFit/>
          </a:bodyPr>
          <a:lstStyle/>
          <a:p>
            <a:pPr algn="just"/>
            <a:r>
              <a:rPr lang="tr-TR" sz="1600" b="1" dirty="0" smtClean="0">
                <a:effectLst>
                  <a:outerShdw blurRad="38100" dist="38100" dir="2700000" algn="tl">
                    <a:srgbClr val="000000">
                      <a:alpha val="43137"/>
                    </a:srgbClr>
                  </a:outerShdw>
                </a:effectLst>
              </a:rPr>
              <a:t>Sağır ve Dilsizlik</a:t>
            </a:r>
            <a:endParaRPr lang="fr-FR" sz="1600" b="1" dirty="0">
              <a:effectLst>
                <a:outerShdw blurRad="38100" dist="38100" dir="2700000" algn="tl">
                  <a:srgbClr val="000000">
                    <a:alpha val="43137"/>
                  </a:srgbClr>
                </a:outerShdw>
              </a:effectLst>
            </a:endParaRPr>
          </a:p>
        </p:txBody>
      </p:sp>
      <p:sp>
        <p:nvSpPr>
          <p:cNvPr id="12" name="Dikdörtgen 11"/>
          <p:cNvSpPr/>
          <p:nvPr/>
        </p:nvSpPr>
        <p:spPr>
          <a:xfrm>
            <a:off x="0" y="5212345"/>
            <a:ext cx="3808992" cy="1631216"/>
          </a:xfrm>
          <a:prstGeom prst="rect">
            <a:avLst/>
          </a:prstGeom>
        </p:spPr>
        <p:txBody>
          <a:bodyPr wrap="square">
            <a:spAutoFit/>
          </a:bodyPr>
          <a:lstStyle/>
          <a:p>
            <a:pPr marL="180975" indent="-180975" algn="just">
              <a:buFont typeface="+mj-lt"/>
              <a:buAutoNum type="arabicPeriod"/>
            </a:pPr>
            <a:r>
              <a:rPr lang="tr-TR" sz="1000" dirty="0" smtClean="0"/>
              <a:t>Yaş küçüklüğü</a:t>
            </a:r>
          </a:p>
          <a:p>
            <a:pPr marL="180975" indent="-180975" algn="just">
              <a:buFont typeface="+mj-lt"/>
              <a:buAutoNum type="arabicPeriod"/>
            </a:pPr>
            <a:r>
              <a:rPr lang="tr-TR" sz="1000" u="sng" dirty="0" smtClean="0">
                <a:effectLst>
                  <a:outerShdw blurRad="38100" dist="38100" dir="2700000" algn="tl">
                    <a:srgbClr val="000000">
                      <a:alpha val="43137"/>
                    </a:srgbClr>
                  </a:outerShdw>
                </a:effectLst>
              </a:rPr>
              <a:t>Sağır ve Dilsizlik</a:t>
            </a:r>
          </a:p>
          <a:p>
            <a:pPr marL="180975" indent="-180975" algn="just">
              <a:buFont typeface="+mj-lt"/>
              <a:buAutoNum type="arabicPeriod"/>
            </a:pPr>
            <a:r>
              <a:rPr lang="tr-TR" sz="1000" dirty="0" smtClean="0"/>
              <a:t>Akıl Hastalığı</a:t>
            </a:r>
          </a:p>
          <a:p>
            <a:pPr marL="180975" indent="-180975" algn="just">
              <a:buFont typeface="+mj-lt"/>
              <a:buAutoNum type="arabicPeriod"/>
            </a:pPr>
            <a:r>
              <a:rPr lang="tr-TR" sz="1000" dirty="0" smtClean="0"/>
              <a:t>Geçici Nedenler, Alkol veya Uyuşturucu Madde Etkisinde Olma</a:t>
            </a:r>
          </a:p>
          <a:p>
            <a:pPr marL="180975" indent="-180975" algn="just">
              <a:buFont typeface="+mj-lt"/>
              <a:buAutoNum type="arabicPeriod"/>
            </a:pPr>
            <a:r>
              <a:rPr lang="tr-TR" sz="1000" dirty="0" smtClean="0"/>
              <a:t>Hukuka Aykırı fakat Bağlayıcı bir Emrin Yerine Getirilmesi</a:t>
            </a:r>
          </a:p>
          <a:p>
            <a:pPr marL="180975" indent="-180975" algn="just">
              <a:buFont typeface="+mj-lt"/>
              <a:buAutoNum type="arabicPeriod"/>
            </a:pPr>
            <a:r>
              <a:rPr lang="tr-TR" sz="1000" dirty="0" smtClean="0"/>
              <a:t>Zorunluluk Hali</a:t>
            </a:r>
          </a:p>
          <a:p>
            <a:pPr marL="180975" indent="-180975" algn="just">
              <a:buFont typeface="+mj-lt"/>
              <a:buAutoNum type="arabicPeriod"/>
            </a:pPr>
            <a:r>
              <a:rPr lang="tr-TR" sz="1000" dirty="0" smtClean="0"/>
              <a:t>Cebir ve tehdit Dolayısıyla Kişinin İrade Yetkisinin Etkilenmesi</a:t>
            </a:r>
          </a:p>
          <a:p>
            <a:pPr marL="180975" indent="-180975" algn="just">
              <a:buFont typeface="+mj-lt"/>
              <a:buAutoNum type="arabicPeriod"/>
            </a:pPr>
            <a:r>
              <a:rPr lang="tr-TR" sz="1000" dirty="0" smtClean="0"/>
              <a:t>Haksız Tahrik</a:t>
            </a:r>
          </a:p>
          <a:p>
            <a:pPr marL="180975" indent="-180975" algn="just">
              <a:buFont typeface="+mj-lt"/>
              <a:buAutoNum type="arabicPeriod"/>
            </a:pPr>
            <a:r>
              <a:rPr lang="tr-TR" sz="1000" dirty="0" smtClean="0"/>
              <a:t>Hukuka Uygunluk Nedenlerinde Sınırın Aşılması</a:t>
            </a:r>
          </a:p>
          <a:p>
            <a:pPr marL="180975" indent="-180975" algn="just">
              <a:buFont typeface="+mj-lt"/>
              <a:buAutoNum type="arabicPeriod"/>
            </a:pPr>
            <a:r>
              <a:rPr lang="tr-TR" sz="1000" dirty="0"/>
              <a:t>Kusurluluğu Etkileyen Hata </a:t>
            </a:r>
            <a:r>
              <a:rPr lang="tr-TR" sz="1000" dirty="0" smtClean="0"/>
              <a:t>Halleri</a:t>
            </a:r>
            <a:endParaRPr lang="fr-FR" sz="1000" dirty="0"/>
          </a:p>
        </p:txBody>
      </p:sp>
      <p:sp>
        <p:nvSpPr>
          <p:cNvPr id="3" name="Metin kutusu 2"/>
          <p:cNvSpPr txBox="1"/>
          <p:nvPr/>
        </p:nvSpPr>
        <p:spPr>
          <a:xfrm>
            <a:off x="4474693" y="2520707"/>
            <a:ext cx="1736922" cy="338554"/>
          </a:xfrm>
          <a:prstGeom prst="rect">
            <a:avLst/>
          </a:prstGeom>
          <a:noFill/>
        </p:spPr>
        <p:txBody>
          <a:bodyPr wrap="square" rtlCol="0">
            <a:spAutoFit/>
          </a:bodyPr>
          <a:lstStyle/>
          <a:p>
            <a:pPr algn="just"/>
            <a:r>
              <a:rPr lang="tr-TR" sz="1600" dirty="0" smtClean="0"/>
              <a:t>Sağlıklı çocuklar</a:t>
            </a:r>
            <a:endParaRPr lang="fr-FR" sz="1600" dirty="0">
              <a:solidFill>
                <a:srgbClr val="FF0000"/>
              </a:solidFill>
            </a:endParaRPr>
          </a:p>
        </p:txBody>
      </p:sp>
      <p:sp>
        <p:nvSpPr>
          <p:cNvPr id="11" name="Metin kutusu 10"/>
          <p:cNvSpPr txBox="1"/>
          <p:nvPr/>
        </p:nvSpPr>
        <p:spPr>
          <a:xfrm>
            <a:off x="7849746" y="2520706"/>
            <a:ext cx="1736922" cy="338554"/>
          </a:xfrm>
          <a:prstGeom prst="rect">
            <a:avLst/>
          </a:prstGeom>
          <a:noFill/>
        </p:spPr>
        <p:txBody>
          <a:bodyPr wrap="square" rtlCol="0">
            <a:spAutoFit/>
          </a:bodyPr>
          <a:lstStyle/>
          <a:p>
            <a:pPr algn="just"/>
            <a:r>
              <a:rPr lang="tr-TR" sz="1600" dirty="0" smtClean="0"/>
              <a:t>Sağır ve Dilsizler</a:t>
            </a:r>
            <a:endParaRPr lang="fr-FR" sz="1600" dirty="0">
              <a:solidFill>
                <a:srgbClr val="FF0000"/>
              </a:solidFill>
            </a:endParaRPr>
          </a:p>
        </p:txBody>
      </p:sp>
      <p:sp>
        <p:nvSpPr>
          <p:cNvPr id="13" name="Dikdörtgen 12"/>
          <p:cNvSpPr/>
          <p:nvPr/>
        </p:nvSpPr>
        <p:spPr>
          <a:xfrm>
            <a:off x="4527245" y="2818799"/>
            <a:ext cx="1464065" cy="338554"/>
          </a:xfrm>
          <a:prstGeom prst="rect">
            <a:avLst/>
          </a:prstGeom>
        </p:spPr>
        <p:txBody>
          <a:bodyPr wrap="square">
            <a:spAutoFit/>
          </a:bodyPr>
          <a:lstStyle/>
          <a:p>
            <a:pPr algn="just"/>
            <a:r>
              <a:rPr lang="tr-TR" sz="1600" i="1" u="sng" dirty="0" smtClean="0">
                <a:effectLst>
                  <a:outerShdw blurRad="38100" dist="38100" dir="2700000" algn="tl">
                    <a:srgbClr val="000000">
                      <a:alpha val="43137"/>
                    </a:srgbClr>
                  </a:outerShdw>
                </a:effectLst>
              </a:rPr>
              <a:t>0-12 yaş grubu</a:t>
            </a:r>
            <a:endParaRPr lang="fr-FR" sz="1600" i="1" u="sng" dirty="0">
              <a:effectLst>
                <a:outerShdw blurRad="38100" dist="38100" dir="2700000" algn="tl">
                  <a:srgbClr val="000000">
                    <a:alpha val="43137"/>
                  </a:srgbClr>
                </a:outerShdw>
              </a:effectLst>
            </a:endParaRPr>
          </a:p>
        </p:txBody>
      </p:sp>
      <p:sp>
        <p:nvSpPr>
          <p:cNvPr id="4" name="Metin kutusu 3"/>
          <p:cNvSpPr txBox="1"/>
          <p:nvPr/>
        </p:nvSpPr>
        <p:spPr>
          <a:xfrm>
            <a:off x="6972420" y="2794710"/>
            <a:ext cx="298589" cy="369332"/>
          </a:xfrm>
          <a:prstGeom prst="rect">
            <a:avLst/>
          </a:prstGeom>
          <a:noFill/>
        </p:spPr>
        <p:txBody>
          <a:bodyPr wrap="square" rtlCol="0">
            <a:spAutoFit/>
          </a:bodyPr>
          <a:lstStyle/>
          <a:p>
            <a:r>
              <a:rPr lang="tr-TR" dirty="0" smtClean="0"/>
              <a:t>=</a:t>
            </a:r>
            <a:endParaRPr lang="fr-FR" dirty="0"/>
          </a:p>
        </p:txBody>
      </p:sp>
      <p:sp>
        <p:nvSpPr>
          <p:cNvPr id="15" name="Dikdörtgen 14"/>
          <p:cNvSpPr/>
          <p:nvPr/>
        </p:nvSpPr>
        <p:spPr>
          <a:xfrm>
            <a:off x="7865426" y="2826527"/>
            <a:ext cx="1464065" cy="338554"/>
          </a:xfrm>
          <a:prstGeom prst="rect">
            <a:avLst/>
          </a:prstGeom>
        </p:spPr>
        <p:txBody>
          <a:bodyPr wrap="square">
            <a:spAutoFit/>
          </a:bodyPr>
          <a:lstStyle/>
          <a:p>
            <a:pPr algn="just"/>
            <a:r>
              <a:rPr lang="tr-TR" sz="1600" i="1" u="sng" dirty="0" smtClean="0">
                <a:effectLst>
                  <a:outerShdw blurRad="38100" dist="38100" dir="2700000" algn="tl">
                    <a:srgbClr val="000000">
                      <a:alpha val="43137"/>
                    </a:srgbClr>
                  </a:outerShdw>
                </a:effectLst>
              </a:rPr>
              <a:t>0-15 yaş grubu</a:t>
            </a:r>
            <a:endParaRPr lang="fr-FR" sz="1600" i="1" u="sng" dirty="0">
              <a:effectLst>
                <a:outerShdw blurRad="38100" dist="38100" dir="2700000" algn="tl">
                  <a:srgbClr val="000000">
                    <a:alpha val="43137"/>
                  </a:srgbClr>
                </a:outerShdw>
              </a:effectLst>
            </a:endParaRPr>
          </a:p>
        </p:txBody>
      </p:sp>
      <p:sp>
        <p:nvSpPr>
          <p:cNvPr id="17" name="Dikdörtgen 16"/>
          <p:cNvSpPr/>
          <p:nvPr/>
        </p:nvSpPr>
        <p:spPr>
          <a:xfrm>
            <a:off x="4527245" y="3203233"/>
            <a:ext cx="1631818" cy="338554"/>
          </a:xfrm>
          <a:prstGeom prst="rect">
            <a:avLst/>
          </a:prstGeom>
        </p:spPr>
        <p:txBody>
          <a:bodyPr wrap="square">
            <a:spAutoFit/>
          </a:bodyPr>
          <a:lstStyle/>
          <a:p>
            <a:pPr algn="just"/>
            <a:r>
              <a:rPr lang="tr-TR" sz="1600" i="1" u="sng" dirty="0" smtClean="0">
                <a:effectLst>
                  <a:outerShdw blurRad="38100" dist="38100" dir="2700000" algn="tl">
                    <a:srgbClr val="000000">
                      <a:alpha val="43137"/>
                    </a:srgbClr>
                  </a:outerShdw>
                </a:effectLst>
              </a:rPr>
              <a:t>12-15 yaş grubu</a:t>
            </a:r>
            <a:endParaRPr lang="fr-FR" sz="1600" i="1" u="sng" dirty="0">
              <a:effectLst>
                <a:outerShdw blurRad="38100" dist="38100" dir="2700000" algn="tl">
                  <a:srgbClr val="000000">
                    <a:alpha val="43137"/>
                  </a:srgbClr>
                </a:outerShdw>
              </a:effectLst>
            </a:endParaRPr>
          </a:p>
        </p:txBody>
      </p:sp>
      <p:sp>
        <p:nvSpPr>
          <p:cNvPr id="20" name="Metin kutusu 19"/>
          <p:cNvSpPr txBox="1"/>
          <p:nvPr/>
        </p:nvSpPr>
        <p:spPr>
          <a:xfrm>
            <a:off x="6972420" y="3248634"/>
            <a:ext cx="298589" cy="369332"/>
          </a:xfrm>
          <a:prstGeom prst="rect">
            <a:avLst/>
          </a:prstGeom>
          <a:noFill/>
        </p:spPr>
        <p:txBody>
          <a:bodyPr wrap="square" rtlCol="0">
            <a:spAutoFit/>
          </a:bodyPr>
          <a:lstStyle/>
          <a:p>
            <a:r>
              <a:rPr lang="tr-TR" dirty="0" smtClean="0"/>
              <a:t>=</a:t>
            </a:r>
            <a:endParaRPr lang="fr-FR" dirty="0"/>
          </a:p>
        </p:txBody>
      </p:sp>
      <p:sp>
        <p:nvSpPr>
          <p:cNvPr id="22" name="Dikdörtgen 21"/>
          <p:cNvSpPr/>
          <p:nvPr/>
        </p:nvSpPr>
        <p:spPr>
          <a:xfrm>
            <a:off x="7865427" y="3168175"/>
            <a:ext cx="1721242" cy="338554"/>
          </a:xfrm>
          <a:prstGeom prst="rect">
            <a:avLst/>
          </a:prstGeom>
        </p:spPr>
        <p:txBody>
          <a:bodyPr wrap="square">
            <a:spAutoFit/>
          </a:bodyPr>
          <a:lstStyle/>
          <a:p>
            <a:pPr algn="just"/>
            <a:r>
              <a:rPr lang="tr-TR" sz="1600" i="1" u="sng" dirty="0" smtClean="0">
                <a:effectLst>
                  <a:outerShdw blurRad="38100" dist="38100" dir="2700000" algn="tl">
                    <a:srgbClr val="000000">
                      <a:alpha val="43137"/>
                    </a:srgbClr>
                  </a:outerShdw>
                </a:effectLst>
              </a:rPr>
              <a:t>15-18 yaş grubu</a:t>
            </a:r>
            <a:endParaRPr lang="fr-FR" sz="1600" i="1" u="sng" dirty="0">
              <a:effectLst>
                <a:outerShdw blurRad="38100" dist="38100" dir="2700000" algn="tl">
                  <a:srgbClr val="000000">
                    <a:alpha val="43137"/>
                  </a:srgbClr>
                </a:outerShdw>
              </a:effectLst>
            </a:endParaRPr>
          </a:p>
        </p:txBody>
      </p:sp>
      <p:sp>
        <p:nvSpPr>
          <p:cNvPr id="23" name="Dikdörtgen 22"/>
          <p:cNvSpPr/>
          <p:nvPr/>
        </p:nvSpPr>
        <p:spPr>
          <a:xfrm>
            <a:off x="4527245" y="3627366"/>
            <a:ext cx="1631818" cy="338554"/>
          </a:xfrm>
          <a:prstGeom prst="rect">
            <a:avLst/>
          </a:prstGeom>
        </p:spPr>
        <p:txBody>
          <a:bodyPr wrap="square">
            <a:spAutoFit/>
          </a:bodyPr>
          <a:lstStyle/>
          <a:p>
            <a:pPr algn="just"/>
            <a:r>
              <a:rPr lang="tr-TR" sz="1600" i="1" u="sng" dirty="0" smtClean="0">
                <a:effectLst>
                  <a:outerShdw blurRad="38100" dist="38100" dir="2700000" algn="tl">
                    <a:srgbClr val="000000">
                      <a:alpha val="43137"/>
                    </a:srgbClr>
                  </a:outerShdw>
                </a:effectLst>
              </a:rPr>
              <a:t>15-18 yaş grubu</a:t>
            </a:r>
            <a:endParaRPr lang="fr-FR" sz="1600" i="1" u="sng" dirty="0">
              <a:effectLst>
                <a:outerShdw blurRad="38100" dist="38100" dir="2700000" algn="tl">
                  <a:srgbClr val="000000">
                    <a:alpha val="43137"/>
                  </a:srgbClr>
                </a:outerShdw>
              </a:effectLst>
            </a:endParaRPr>
          </a:p>
        </p:txBody>
      </p:sp>
      <p:sp>
        <p:nvSpPr>
          <p:cNvPr id="24" name="Metin kutusu 23"/>
          <p:cNvSpPr txBox="1"/>
          <p:nvPr/>
        </p:nvSpPr>
        <p:spPr>
          <a:xfrm>
            <a:off x="6972420" y="3688094"/>
            <a:ext cx="298589" cy="369332"/>
          </a:xfrm>
          <a:prstGeom prst="rect">
            <a:avLst/>
          </a:prstGeom>
          <a:noFill/>
        </p:spPr>
        <p:txBody>
          <a:bodyPr wrap="square" rtlCol="0">
            <a:spAutoFit/>
          </a:bodyPr>
          <a:lstStyle/>
          <a:p>
            <a:r>
              <a:rPr lang="tr-TR" dirty="0" smtClean="0"/>
              <a:t>=</a:t>
            </a:r>
            <a:endParaRPr lang="fr-FR" dirty="0"/>
          </a:p>
        </p:txBody>
      </p:sp>
      <p:sp>
        <p:nvSpPr>
          <p:cNvPr id="25" name="Dikdörtgen 24"/>
          <p:cNvSpPr/>
          <p:nvPr/>
        </p:nvSpPr>
        <p:spPr>
          <a:xfrm>
            <a:off x="7865427" y="3563968"/>
            <a:ext cx="1721242" cy="338554"/>
          </a:xfrm>
          <a:prstGeom prst="rect">
            <a:avLst/>
          </a:prstGeom>
        </p:spPr>
        <p:txBody>
          <a:bodyPr wrap="square">
            <a:spAutoFit/>
          </a:bodyPr>
          <a:lstStyle/>
          <a:p>
            <a:pPr algn="just"/>
            <a:r>
              <a:rPr lang="tr-TR" sz="1600" i="1" u="sng" dirty="0" smtClean="0">
                <a:effectLst>
                  <a:outerShdw blurRad="38100" dist="38100" dir="2700000" algn="tl">
                    <a:srgbClr val="000000">
                      <a:alpha val="43137"/>
                    </a:srgbClr>
                  </a:outerShdw>
                </a:effectLst>
              </a:rPr>
              <a:t>18-21 yaş grubu</a:t>
            </a:r>
            <a:endParaRPr lang="fr-FR" sz="1600" i="1" u="sng" dirty="0">
              <a:effectLst>
                <a:outerShdw blurRad="38100" dist="38100" dir="2700000" algn="tl">
                  <a:srgbClr val="000000">
                    <a:alpha val="43137"/>
                  </a:srgbClr>
                </a:outerShdw>
              </a:effectLst>
            </a:endParaRPr>
          </a:p>
        </p:txBody>
      </p:sp>
      <p:sp>
        <p:nvSpPr>
          <p:cNvPr id="26" name="Dikdörtgen 25"/>
          <p:cNvSpPr/>
          <p:nvPr/>
        </p:nvSpPr>
        <p:spPr>
          <a:xfrm>
            <a:off x="3179238" y="4519028"/>
            <a:ext cx="8661779" cy="307777"/>
          </a:xfrm>
          <a:prstGeom prst="rect">
            <a:avLst/>
          </a:prstGeom>
        </p:spPr>
        <p:txBody>
          <a:bodyPr wrap="square">
            <a:spAutoFit/>
          </a:bodyPr>
          <a:lstStyle/>
          <a:p>
            <a:pPr algn="just"/>
            <a:r>
              <a:rPr lang="tr-TR" sz="1400" dirty="0" smtClean="0"/>
              <a:t>Geçici veya ileriki yaşlarda meydana gelen sağır/dilsizliğin ceza sorumluluğuna etkisi olmayacaktır.</a:t>
            </a:r>
            <a:endParaRPr lang="fr-FR" sz="1400" dirty="0"/>
          </a:p>
        </p:txBody>
      </p:sp>
      <p:sp>
        <p:nvSpPr>
          <p:cNvPr id="21"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6" name="Slayt Numarası Yer Tutucusu 5"/>
          <p:cNvSpPr>
            <a:spLocks noGrp="1"/>
          </p:cNvSpPr>
          <p:nvPr>
            <p:ph type="sldNum" sz="quarter" idx="12"/>
          </p:nvPr>
        </p:nvSpPr>
        <p:spPr/>
        <p:txBody>
          <a:bodyPr/>
          <a:lstStyle/>
          <a:p>
            <a:fld id="{39F9BA00-44CD-41D4-A3D8-F864C744DC1F}" type="slidenum">
              <a:rPr lang="tr-TR" smtClean="0"/>
              <a:t>64</a:t>
            </a:fld>
            <a:r>
              <a:rPr lang="tr-TR"/>
              <a:t>/116</a:t>
            </a:r>
          </a:p>
        </p:txBody>
      </p:sp>
    </p:spTree>
    <p:extLst>
      <p:ext uri="{BB962C8B-B14F-4D97-AF65-F5344CB8AC3E}">
        <p14:creationId xmlns:p14="http://schemas.microsoft.com/office/powerpoint/2010/main" val="377654024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a:t>Kusurluluğu Kaldıran veya Azaltan Nedenler </a:t>
            </a:r>
            <a:r>
              <a:rPr lang="tr-TR" b="1" dirty="0" smtClean="0"/>
              <a:t>	</a:t>
            </a:r>
            <a:endParaRPr lang="tr-TR" b="1" dirty="0"/>
          </a:p>
        </p:txBody>
      </p:sp>
      <p:sp>
        <p:nvSpPr>
          <p:cNvPr id="18" name="Dikdörtgen 17"/>
          <p:cNvSpPr/>
          <p:nvPr/>
        </p:nvSpPr>
        <p:spPr>
          <a:xfrm>
            <a:off x="3127059" y="2868487"/>
            <a:ext cx="8661779" cy="1384995"/>
          </a:xfrm>
          <a:prstGeom prst="rect">
            <a:avLst/>
          </a:prstGeom>
        </p:spPr>
        <p:txBody>
          <a:bodyPr wrap="square">
            <a:spAutoFit/>
          </a:bodyPr>
          <a:lstStyle/>
          <a:p>
            <a:pPr marL="285750" indent="-285750" algn="just">
              <a:buFont typeface="Arial" panose="020B0604020202020204" pitchFamily="34" charset="0"/>
              <a:buChar char="•"/>
            </a:pPr>
            <a:r>
              <a:rPr lang="tr-TR" sz="1400" dirty="0" smtClean="0"/>
              <a:t>Akıl hastalığından şüphe edilmesi halinde, kişinin akıl hastası olup olmadığı; akıl hastası ise somut olayda algılama ve irade yeteneğine etkisi araştırılmalıdır. </a:t>
            </a:r>
          </a:p>
          <a:p>
            <a:pPr marL="285750" indent="-285750" algn="just">
              <a:buFont typeface="Arial" panose="020B0604020202020204" pitchFamily="34" charset="0"/>
              <a:buChar char="•"/>
            </a:pPr>
            <a:r>
              <a:rPr lang="tr-TR" sz="1400" dirty="0" smtClean="0"/>
              <a:t>Akıl </a:t>
            </a:r>
            <a:r>
              <a:rPr lang="tr-TR" sz="1400" dirty="0"/>
              <a:t>hastalığı kişinin işlediği her fiil açısından algılama veya irade yeteneği üzerinde etkili olmayabilir. Maruz kalınan akıl hastalığının kişinin işlemiş olduğu somut fiil açısından algılama ve irade yeteneğini etkilemiş olması </a:t>
            </a:r>
            <a:r>
              <a:rPr lang="tr-TR" sz="1400" dirty="0" smtClean="0"/>
              <a:t>gerekir.</a:t>
            </a:r>
          </a:p>
          <a:p>
            <a:pPr marL="285750" indent="-285750" algn="just">
              <a:buFont typeface="Arial" panose="020B0604020202020204" pitchFamily="34" charset="0"/>
              <a:buChar char="•"/>
            </a:pPr>
            <a:r>
              <a:rPr lang="tr-TR" sz="1400" dirty="0" smtClean="0"/>
              <a:t>Önemli </a:t>
            </a:r>
            <a:r>
              <a:rPr lang="tr-TR" sz="1400" dirty="0"/>
              <a:t>derecede etkiliyorsa ceza verilmez, kısmi derecede etkiliyorsa indirilebilecektir</a:t>
            </a:r>
            <a:r>
              <a:rPr lang="tr-TR" sz="1400" dirty="0" smtClean="0"/>
              <a:t>.</a:t>
            </a:r>
          </a:p>
        </p:txBody>
      </p:sp>
      <p:sp>
        <p:nvSpPr>
          <p:cNvPr id="14" name="Dikdörtgen 13"/>
          <p:cNvSpPr/>
          <p:nvPr/>
        </p:nvSpPr>
        <p:spPr>
          <a:xfrm>
            <a:off x="2280825" y="2192664"/>
            <a:ext cx="8943975" cy="338554"/>
          </a:xfrm>
          <a:prstGeom prst="rect">
            <a:avLst/>
          </a:prstGeom>
        </p:spPr>
        <p:txBody>
          <a:bodyPr wrap="square">
            <a:spAutoFit/>
          </a:bodyPr>
          <a:lstStyle/>
          <a:p>
            <a:pPr algn="just"/>
            <a:r>
              <a:rPr lang="tr-TR" sz="1600" dirty="0" smtClean="0">
                <a:effectLst>
                  <a:outerShdw blurRad="38100" dist="38100" dir="2700000" algn="tl">
                    <a:srgbClr val="000000">
                      <a:alpha val="43137"/>
                    </a:srgbClr>
                  </a:outerShdw>
                </a:effectLst>
              </a:rPr>
              <a:t>Akıl Hastalığı</a:t>
            </a:r>
            <a:endParaRPr lang="fr-FR" sz="1600" dirty="0">
              <a:effectLst>
                <a:outerShdw blurRad="38100" dist="38100" dir="2700000" algn="tl">
                  <a:srgbClr val="000000">
                    <a:alpha val="43137"/>
                  </a:srgbClr>
                </a:outerShdw>
              </a:effectLst>
            </a:endParaRPr>
          </a:p>
        </p:txBody>
      </p:sp>
      <p:sp>
        <p:nvSpPr>
          <p:cNvPr id="12" name="Dikdörtgen 11"/>
          <p:cNvSpPr/>
          <p:nvPr/>
        </p:nvSpPr>
        <p:spPr>
          <a:xfrm>
            <a:off x="0" y="5212345"/>
            <a:ext cx="3808992" cy="1631216"/>
          </a:xfrm>
          <a:prstGeom prst="rect">
            <a:avLst/>
          </a:prstGeom>
        </p:spPr>
        <p:txBody>
          <a:bodyPr wrap="square">
            <a:spAutoFit/>
          </a:bodyPr>
          <a:lstStyle/>
          <a:p>
            <a:pPr marL="180975" indent="-180975" algn="just">
              <a:buFont typeface="+mj-lt"/>
              <a:buAutoNum type="arabicPeriod"/>
            </a:pPr>
            <a:r>
              <a:rPr lang="tr-TR" sz="1000" dirty="0" smtClean="0"/>
              <a:t>Yaş küçüklüğü</a:t>
            </a:r>
          </a:p>
          <a:p>
            <a:pPr marL="180975" indent="-180975" algn="just">
              <a:buFont typeface="+mj-lt"/>
              <a:buAutoNum type="arabicPeriod"/>
            </a:pPr>
            <a:r>
              <a:rPr lang="tr-TR" sz="1000" dirty="0"/>
              <a:t>Sağır ve Dilsizlik</a:t>
            </a:r>
          </a:p>
          <a:p>
            <a:pPr marL="180975" indent="-180975" algn="just">
              <a:buFont typeface="+mj-lt"/>
              <a:buAutoNum type="arabicPeriod"/>
            </a:pPr>
            <a:r>
              <a:rPr lang="tr-TR" sz="1000" u="sng" dirty="0">
                <a:effectLst>
                  <a:outerShdw blurRad="38100" dist="38100" dir="2700000" algn="tl">
                    <a:srgbClr val="000000">
                      <a:alpha val="43137"/>
                    </a:srgbClr>
                  </a:outerShdw>
                </a:effectLst>
              </a:rPr>
              <a:t>Akıl Hastalığı</a:t>
            </a:r>
          </a:p>
          <a:p>
            <a:pPr marL="180975" indent="-180975" algn="just">
              <a:buFont typeface="+mj-lt"/>
              <a:buAutoNum type="arabicPeriod"/>
            </a:pPr>
            <a:r>
              <a:rPr lang="tr-TR" sz="1000" dirty="0" smtClean="0"/>
              <a:t>Geçici Nedenler, Alkol veya Uyuşturucu Madde Etkisinde Olma</a:t>
            </a:r>
          </a:p>
          <a:p>
            <a:pPr marL="180975" indent="-180975" algn="just">
              <a:buFont typeface="+mj-lt"/>
              <a:buAutoNum type="arabicPeriod"/>
            </a:pPr>
            <a:r>
              <a:rPr lang="tr-TR" sz="1000" dirty="0" smtClean="0"/>
              <a:t>Hukuka Aykırı fakat Bağlayıcı bir Emrin Yerine Getirilmesi</a:t>
            </a:r>
          </a:p>
          <a:p>
            <a:pPr marL="180975" indent="-180975" algn="just">
              <a:buFont typeface="+mj-lt"/>
              <a:buAutoNum type="arabicPeriod"/>
            </a:pPr>
            <a:r>
              <a:rPr lang="tr-TR" sz="1000" dirty="0" smtClean="0"/>
              <a:t>Zorunluluk Hali</a:t>
            </a:r>
          </a:p>
          <a:p>
            <a:pPr marL="180975" indent="-180975" algn="just">
              <a:buFont typeface="+mj-lt"/>
              <a:buAutoNum type="arabicPeriod"/>
            </a:pPr>
            <a:r>
              <a:rPr lang="tr-TR" sz="1000" dirty="0" smtClean="0"/>
              <a:t>Cebir ve tehdit Dolayısıyla Kişinin İrade Yetkisinin Etkilenmesi</a:t>
            </a:r>
          </a:p>
          <a:p>
            <a:pPr marL="180975" indent="-180975" algn="just">
              <a:buFont typeface="+mj-lt"/>
              <a:buAutoNum type="arabicPeriod"/>
            </a:pPr>
            <a:r>
              <a:rPr lang="tr-TR" sz="1000" dirty="0" smtClean="0"/>
              <a:t>Haksız Tahrik</a:t>
            </a:r>
          </a:p>
          <a:p>
            <a:pPr marL="180975" indent="-180975" algn="just">
              <a:buFont typeface="+mj-lt"/>
              <a:buAutoNum type="arabicPeriod"/>
            </a:pPr>
            <a:r>
              <a:rPr lang="tr-TR" sz="1000" dirty="0" smtClean="0"/>
              <a:t>Hukuka Uygunluk Nedenlerinde Sınırın Aşılması</a:t>
            </a:r>
          </a:p>
          <a:p>
            <a:pPr marL="180975" indent="-180975" algn="just">
              <a:buFont typeface="+mj-lt"/>
              <a:buAutoNum type="arabicPeriod"/>
            </a:pPr>
            <a:r>
              <a:rPr lang="tr-TR" sz="1000" dirty="0"/>
              <a:t>Kusurluluğu Etkileyen Hata </a:t>
            </a:r>
            <a:r>
              <a:rPr lang="tr-TR" sz="1000" dirty="0" smtClean="0"/>
              <a:t>Halleri</a:t>
            </a:r>
            <a:endParaRPr lang="fr-FR" sz="1000" dirty="0"/>
          </a:p>
        </p:txBody>
      </p:sp>
      <p:sp>
        <p:nvSpPr>
          <p:cNvPr id="3" name="Dikdörtgen 2"/>
          <p:cNvSpPr/>
          <p:nvPr/>
        </p:nvSpPr>
        <p:spPr>
          <a:xfrm>
            <a:off x="3625299" y="2188834"/>
            <a:ext cx="8215718" cy="523220"/>
          </a:xfrm>
          <a:prstGeom prst="rect">
            <a:avLst/>
          </a:prstGeom>
        </p:spPr>
        <p:txBody>
          <a:bodyPr wrap="square">
            <a:spAutoFit/>
          </a:bodyPr>
          <a:lstStyle/>
          <a:p>
            <a:pPr algn="just"/>
            <a:r>
              <a:rPr lang="tr-TR" sz="1400" dirty="0"/>
              <a:t>Şizofreni, mani, melankoli, paranoya, sara (epilepsi)</a:t>
            </a:r>
            <a:r>
              <a:rPr lang="fr-FR" sz="1400" dirty="0"/>
              <a:t>, </a:t>
            </a:r>
            <a:r>
              <a:rPr lang="tr-TR" sz="1400" dirty="0"/>
              <a:t>histeri, zeka geriliği, yaşlılık bunaklığı, kleptomani (hırsızlık hastalığı) vb. </a:t>
            </a:r>
          </a:p>
        </p:txBody>
      </p:sp>
      <p:sp>
        <p:nvSpPr>
          <p:cNvPr id="2" name="Dikdörtgen 1"/>
          <p:cNvSpPr/>
          <p:nvPr/>
        </p:nvSpPr>
        <p:spPr>
          <a:xfrm>
            <a:off x="5419725" y="4409915"/>
            <a:ext cx="6096000" cy="1446550"/>
          </a:xfrm>
          <a:prstGeom prst="rect">
            <a:avLst/>
          </a:prstGeom>
        </p:spPr>
        <p:txBody>
          <a:bodyPr>
            <a:spAutoFit/>
          </a:bodyPr>
          <a:lstStyle/>
          <a:p>
            <a:pPr algn="just"/>
            <a:r>
              <a:rPr lang="fr-FR" sz="1100" b="1" i="1" dirty="0" err="1">
                <a:effectLst>
                  <a:outerShdw blurRad="38100" dist="38100" dir="2700000" algn="tl">
                    <a:srgbClr val="000000">
                      <a:alpha val="43137"/>
                    </a:srgbClr>
                  </a:outerShdw>
                </a:effectLst>
                <a:latin typeface="MinionPro-It"/>
              </a:rPr>
              <a:t>Küvette</a:t>
            </a:r>
            <a:r>
              <a:rPr lang="fr-FR" sz="1100" b="1" i="1" dirty="0">
                <a:effectLst>
                  <a:outerShdw blurRad="38100" dist="38100" dir="2700000" algn="tl">
                    <a:srgbClr val="000000">
                      <a:alpha val="43137"/>
                    </a:srgbClr>
                  </a:outerShdw>
                </a:effectLst>
                <a:latin typeface="MinionPro-It"/>
              </a:rPr>
              <a:t> </a:t>
            </a:r>
            <a:r>
              <a:rPr lang="fr-FR" sz="1100" b="1" i="1" dirty="0" smtClean="0">
                <a:effectLst>
                  <a:outerShdw blurRad="38100" dist="38100" dir="2700000" algn="tl">
                    <a:srgbClr val="000000">
                      <a:alpha val="43137"/>
                    </a:srgbClr>
                  </a:outerShdw>
                </a:effectLst>
                <a:latin typeface="MinionPro-It"/>
              </a:rPr>
              <a:t>o</a:t>
            </a:r>
            <a:r>
              <a:rPr lang="tr-TR" sz="1100" b="1" i="1" dirty="0" smtClean="0">
                <a:effectLst>
                  <a:outerShdw blurRad="38100" dist="38100" dir="2700000" algn="tl">
                    <a:srgbClr val="000000">
                      <a:alpha val="43137"/>
                    </a:srgbClr>
                  </a:outerShdw>
                </a:effectLst>
                <a:latin typeface="MinionPro-It"/>
              </a:rPr>
              <a:t>ğ</a:t>
            </a:r>
            <a:r>
              <a:rPr lang="fr-FR" sz="1100" b="1" i="1" dirty="0" err="1" smtClean="0">
                <a:effectLst>
                  <a:outerShdw blurRad="38100" dist="38100" dir="2700000" algn="tl">
                    <a:srgbClr val="000000">
                      <a:alpha val="43137"/>
                    </a:srgbClr>
                  </a:outerShdw>
                </a:effectLst>
                <a:latin typeface="MinionPro-It"/>
              </a:rPr>
              <a:t>lunu</a:t>
            </a:r>
            <a:r>
              <a:rPr lang="fr-FR" sz="1100" b="1" i="1" dirty="0" smtClean="0">
                <a:effectLst>
                  <a:outerShdw blurRad="38100" dist="38100" dir="2700000" algn="tl">
                    <a:srgbClr val="000000">
                      <a:alpha val="43137"/>
                    </a:srgbClr>
                  </a:outerShdw>
                </a:effectLst>
                <a:latin typeface="MinionPro-It"/>
              </a:rPr>
              <a:t> </a:t>
            </a:r>
            <a:r>
              <a:rPr lang="fr-FR" sz="1100" b="1" i="1" dirty="0" err="1">
                <a:effectLst>
                  <a:outerShdw blurRad="38100" dist="38100" dir="2700000" algn="tl">
                    <a:srgbClr val="000000">
                      <a:alpha val="43137"/>
                    </a:srgbClr>
                  </a:outerShdw>
                </a:effectLst>
                <a:latin typeface="MinionPro-It"/>
              </a:rPr>
              <a:t>bogan</a:t>
            </a:r>
            <a:r>
              <a:rPr lang="fr-FR" sz="1100" b="1" i="1" dirty="0">
                <a:effectLst>
                  <a:outerShdw blurRad="38100" dist="38100" dir="2700000" algn="tl">
                    <a:srgbClr val="000000">
                      <a:alpha val="43137"/>
                    </a:srgbClr>
                  </a:outerShdw>
                </a:effectLst>
                <a:latin typeface="MinionPro-It"/>
              </a:rPr>
              <a:t> </a:t>
            </a:r>
            <a:r>
              <a:rPr lang="fr-FR" sz="1100" b="1" i="1" dirty="0" err="1">
                <a:effectLst>
                  <a:outerShdw blurRad="38100" dist="38100" dir="2700000" algn="tl">
                    <a:srgbClr val="000000">
                      <a:alpha val="43137"/>
                    </a:srgbClr>
                  </a:outerShdw>
                </a:effectLst>
                <a:latin typeface="MinionPro-It"/>
              </a:rPr>
              <a:t>anne</a:t>
            </a:r>
            <a:r>
              <a:rPr lang="fr-FR" sz="1100" b="1" i="1" dirty="0">
                <a:effectLst>
                  <a:outerShdw blurRad="38100" dist="38100" dir="2700000" algn="tl">
                    <a:srgbClr val="000000">
                      <a:alpha val="43137"/>
                    </a:srgbClr>
                  </a:outerShdw>
                </a:effectLst>
                <a:latin typeface="MinionPro-It"/>
              </a:rPr>
              <a:t> </a:t>
            </a:r>
            <a:r>
              <a:rPr lang="fr-FR" sz="1100" b="1" i="1" dirty="0" err="1">
                <a:effectLst>
                  <a:outerShdw blurRad="38100" dist="38100" dir="2700000" algn="tl">
                    <a:srgbClr val="000000">
                      <a:alpha val="43137"/>
                    </a:srgbClr>
                  </a:outerShdw>
                </a:effectLst>
                <a:latin typeface="MinionPro-It"/>
              </a:rPr>
              <a:t>akıl</a:t>
            </a:r>
            <a:r>
              <a:rPr lang="fr-FR" sz="1100" b="1" i="1" dirty="0">
                <a:effectLst>
                  <a:outerShdw blurRad="38100" dist="38100" dir="2700000" algn="tl">
                    <a:srgbClr val="000000">
                      <a:alpha val="43137"/>
                    </a:srgbClr>
                  </a:outerShdw>
                </a:effectLst>
                <a:latin typeface="MinionPro-It"/>
              </a:rPr>
              <a:t> </a:t>
            </a:r>
            <a:r>
              <a:rPr lang="fr-FR" sz="1100" b="1" i="1" dirty="0" err="1">
                <a:effectLst>
                  <a:outerShdw blurRad="38100" dist="38100" dir="2700000" algn="tl">
                    <a:srgbClr val="000000">
                      <a:alpha val="43137"/>
                    </a:srgbClr>
                  </a:outerShdw>
                </a:effectLst>
                <a:latin typeface="MinionPro-It"/>
              </a:rPr>
              <a:t>hastası</a:t>
            </a:r>
            <a:r>
              <a:rPr lang="fr-FR" sz="1100" b="1" i="1" dirty="0">
                <a:effectLst>
                  <a:outerShdw blurRad="38100" dist="38100" dir="2700000" algn="tl">
                    <a:srgbClr val="000000">
                      <a:alpha val="43137"/>
                    </a:srgbClr>
                  </a:outerShdw>
                </a:effectLst>
                <a:latin typeface="MinionPro-It"/>
              </a:rPr>
              <a:t> </a:t>
            </a:r>
            <a:r>
              <a:rPr lang="fr-FR" sz="1100" b="1" i="1" dirty="0" err="1">
                <a:effectLst>
                  <a:outerShdw blurRad="38100" dist="38100" dir="2700000" algn="tl">
                    <a:srgbClr val="000000">
                      <a:alpha val="43137"/>
                    </a:srgbClr>
                  </a:outerShdw>
                </a:effectLst>
                <a:latin typeface="MinionPro-It"/>
              </a:rPr>
              <a:t>oldugu</a:t>
            </a:r>
            <a:r>
              <a:rPr lang="fr-FR" sz="1100" b="1" i="1" dirty="0">
                <a:effectLst>
                  <a:outerShdw blurRad="38100" dist="38100" dir="2700000" algn="tl">
                    <a:srgbClr val="000000">
                      <a:alpha val="43137"/>
                    </a:srgbClr>
                  </a:outerShdw>
                </a:effectLst>
                <a:latin typeface="MinionPro-It"/>
              </a:rPr>
              <a:t> </a:t>
            </a:r>
            <a:r>
              <a:rPr lang="tr-TR" sz="1100" b="1" i="1" dirty="0" smtClean="0">
                <a:effectLst>
                  <a:outerShdw blurRad="38100" dist="38100" dir="2700000" algn="tl">
                    <a:srgbClr val="000000">
                      <a:alpha val="43137"/>
                    </a:srgbClr>
                  </a:outerShdw>
                </a:effectLst>
                <a:latin typeface="MinionPro-It"/>
              </a:rPr>
              <a:t>içi</a:t>
            </a:r>
            <a:r>
              <a:rPr lang="fr-FR" sz="1100" b="1" i="1" dirty="0" smtClean="0">
                <a:effectLst>
                  <a:outerShdw blurRad="38100" dist="38100" dir="2700000" algn="tl">
                    <a:srgbClr val="000000">
                      <a:alpha val="43137"/>
                    </a:srgbClr>
                  </a:outerShdw>
                </a:effectLst>
                <a:latin typeface="MinionPro-It"/>
              </a:rPr>
              <a:t>n </a:t>
            </a:r>
            <a:r>
              <a:rPr lang="fr-FR" sz="1100" b="1" i="1" dirty="0" err="1">
                <a:effectLst>
                  <a:outerShdw blurRad="38100" dist="38100" dir="2700000" algn="tl">
                    <a:srgbClr val="000000">
                      <a:alpha val="43137"/>
                    </a:srgbClr>
                  </a:outerShdw>
                </a:effectLst>
                <a:latin typeface="MinionPro-It"/>
              </a:rPr>
              <a:t>ceza</a:t>
            </a:r>
            <a:r>
              <a:rPr lang="fr-FR" sz="1100" b="1" i="1" dirty="0">
                <a:effectLst>
                  <a:outerShdw blurRad="38100" dist="38100" dir="2700000" algn="tl">
                    <a:srgbClr val="000000">
                      <a:alpha val="43137"/>
                    </a:srgbClr>
                  </a:outerShdw>
                </a:effectLst>
                <a:latin typeface="MinionPro-It"/>
              </a:rPr>
              <a:t> </a:t>
            </a:r>
            <a:r>
              <a:rPr lang="fr-FR" sz="1100" b="1" i="1" dirty="0" err="1">
                <a:effectLst>
                  <a:outerShdw blurRad="38100" dist="38100" dir="2700000" algn="tl">
                    <a:srgbClr val="000000">
                      <a:alpha val="43137"/>
                    </a:srgbClr>
                  </a:outerShdw>
                </a:effectLst>
                <a:latin typeface="MinionPro-It"/>
              </a:rPr>
              <a:t>almadı</a:t>
            </a:r>
            <a:endParaRPr lang="fr-FR" sz="1100" b="1" i="1" dirty="0">
              <a:effectLst>
                <a:outerShdw blurRad="38100" dist="38100" dir="2700000" algn="tl">
                  <a:srgbClr val="000000">
                    <a:alpha val="43137"/>
                  </a:srgbClr>
                </a:outerShdw>
              </a:effectLst>
              <a:latin typeface="MinionPro-It"/>
            </a:endParaRPr>
          </a:p>
          <a:p>
            <a:pPr algn="just"/>
            <a:r>
              <a:rPr lang="fr-FR" sz="1100" i="1" dirty="0">
                <a:latin typeface="MinionPro-It"/>
              </a:rPr>
              <a:t>Istanbul </a:t>
            </a:r>
            <a:r>
              <a:rPr lang="fr-FR" sz="1100" i="1" dirty="0" err="1">
                <a:latin typeface="MinionPro-It"/>
              </a:rPr>
              <a:t>Büyükçekmece’de</a:t>
            </a:r>
            <a:r>
              <a:rPr lang="fr-FR" sz="1100" i="1" dirty="0">
                <a:latin typeface="MinionPro-It"/>
              </a:rPr>
              <a:t> 7 </a:t>
            </a:r>
            <a:r>
              <a:rPr lang="fr-FR" sz="1100" i="1" dirty="0" err="1">
                <a:latin typeface="MinionPro-It"/>
              </a:rPr>
              <a:t>aylık</a:t>
            </a:r>
            <a:r>
              <a:rPr lang="fr-FR" sz="1100" i="1" dirty="0">
                <a:latin typeface="MinionPro-It"/>
              </a:rPr>
              <a:t> </a:t>
            </a:r>
            <a:r>
              <a:rPr lang="fr-FR" sz="1100" i="1" dirty="0" err="1" smtClean="0">
                <a:latin typeface="MinionPro-It"/>
              </a:rPr>
              <a:t>bebeg</a:t>
            </a:r>
            <a:r>
              <a:rPr lang="tr-TR" sz="1100" i="1" dirty="0" smtClean="0">
                <a:latin typeface="MinionPro-It"/>
              </a:rPr>
              <a:t>ini</a:t>
            </a:r>
            <a:r>
              <a:rPr lang="fr-FR" sz="1100" i="1" dirty="0" smtClean="0">
                <a:latin typeface="MinionPro-It"/>
              </a:rPr>
              <a:t> </a:t>
            </a:r>
            <a:r>
              <a:rPr lang="fr-FR" sz="1100" i="1" dirty="0" err="1">
                <a:latin typeface="MinionPro-It"/>
              </a:rPr>
              <a:t>küvete</a:t>
            </a:r>
            <a:r>
              <a:rPr lang="fr-FR" sz="1100" i="1" dirty="0">
                <a:latin typeface="MinionPro-It"/>
              </a:rPr>
              <a:t> </a:t>
            </a:r>
            <a:r>
              <a:rPr lang="fr-FR" sz="1100" i="1" dirty="0" err="1" smtClean="0">
                <a:latin typeface="MinionPro-It"/>
              </a:rPr>
              <a:t>doldurduğu</a:t>
            </a:r>
            <a:r>
              <a:rPr lang="tr-TR" sz="1100" i="1" dirty="0" smtClean="0">
                <a:latin typeface="MinionPro-It"/>
              </a:rPr>
              <a:t> </a:t>
            </a:r>
            <a:r>
              <a:rPr lang="fr-FR" sz="1100" i="1" dirty="0" err="1" smtClean="0">
                <a:latin typeface="MinionPro-It"/>
              </a:rPr>
              <a:t>suda</a:t>
            </a:r>
            <a:r>
              <a:rPr lang="fr-FR" sz="1100" i="1" dirty="0" smtClean="0">
                <a:latin typeface="MinionPro-It"/>
              </a:rPr>
              <a:t> </a:t>
            </a:r>
            <a:r>
              <a:rPr lang="fr-FR" sz="1100" i="1" dirty="0" err="1">
                <a:latin typeface="MinionPro-It"/>
              </a:rPr>
              <a:t>bogarak</a:t>
            </a:r>
            <a:r>
              <a:rPr lang="fr-FR" sz="1100" i="1" dirty="0">
                <a:latin typeface="MinionPro-It"/>
              </a:rPr>
              <a:t> </a:t>
            </a:r>
            <a:r>
              <a:rPr lang="fr-FR" sz="1100" i="1" dirty="0" err="1">
                <a:latin typeface="MinionPro-It"/>
              </a:rPr>
              <a:t>öldürdügü</a:t>
            </a:r>
            <a:r>
              <a:rPr lang="fr-FR" sz="1100" i="1" dirty="0">
                <a:latin typeface="MinionPro-It"/>
              </a:rPr>
              <a:t> </a:t>
            </a:r>
            <a:r>
              <a:rPr lang="tr-TR" sz="1100" i="1" dirty="0" smtClean="0">
                <a:latin typeface="MinionPro-It"/>
              </a:rPr>
              <a:t>i</a:t>
            </a:r>
            <a:r>
              <a:rPr lang="fr-FR" sz="1100" i="1" dirty="0" smtClean="0">
                <a:latin typeface="MinionPro-It"/>
              </a:rPr>
              <a:t>dd</a:t>
            </a:r>
            <a:r>
              <a:rPr lang="tr-TR" sz="1100" i="1" dirty="0" smtClean="0">
                <a:latin typeface="MinionPro-It"/>
              </a:rPr>
              <a:t>i</a:t>
            </a:r>
            <a:r>
              <a:rPr lang="fr-FR" sz="1100" i="1" dirty="0" err="1" smtClean="0">
                <a:latin typeface="MinionPro-It"/>
              </a:rPr>
              <a:t>asıyla</a:t>
            </a:r>
            <a:r>
              <a:rPr lang="fr-FR" sz="1100" i="1" dirty="0" smtClean="0">
                <a:latin typeface="MinionPro-It"/>
              </a:rPr>
              <a:t> </a:t>
            </a:r>
            <a:r>
              <a:rPr lang="fr-FR" sz="1100" i="1" dirty="0" err="1">
                <a:latin typeface="MinionPro-It"/>
              </a:rPr>
              <a:t>müebbet</a:t>
            </a:r>
            <a:r>
              <a:rPr lang="fr-FR" sz="1100" i="1" dirty="0">
                <a:latin typeface="MinionPro-It"/>
              </a:rPr>
              <a:t> </a:t>
            </a:r>
            <a:r>
              <a:rPr lang="fr-FR" sz="1100" i="1" dirty="0" err="1" smtClean="0">
                <a:latin typeface="MinionPro-It"/>
              </a:rPr>
              <a:t>hap</a:t>
            </a:r>
            <a:r>
              <a:rPr lang="tr-TR" sz="1100" i="1" dirty="0" smtClean="0">
                <a:latin typeface="MinionPro-It"/>
              </a:rPr>
              <a:t>i</a:t>
            </a:r>
            <a:r>
              <a:rPr lang="fr-FR" sz="1100" i="1" dirty="0" smtClean="0">
                <a:latin typeface="MinionPro-It"/>
              </a:rPr>
              <a:t>s </a:t>
            </a:r>
            <a:r>
              <a:rPr lang="fr-FR" sz="1100" i="1" dirty="0" err="1">
                <a:latin typeface="MinionPro-It"/>
              </a:rPr>
              <a:t>cezası</a:t>
            </a:r>
            <a:r>
              <a:rPr lang="fr-FR" sz="1100" i="1" dirty="0">
                <a:latin typeface="MinionPro-It"/>
              </a:rPr>
              <a:t> </a:t>
            </a:r>
            <a:r>
              <a:rPr lang="tr-TR" sz="1100" i="1" dirty="0" smtClean="0">
                <a:latin typeface="MinionPro-It"/>
              </a:rPr>
              <a:t>i</a:t>
            </a:r>
            <a:r>
              <a:rPr lang="fr-FR" sz="1100" i="1" dirty="0" smtClean="0">
                <a:latin typeface="MinionPro-It"/>
              </a:rPr>
              <a:t>stem</a:t>
            </a:r>
            <a:r>
              <a:rPr lang="tr-TR" sz="1100" i="1" dirty="0" smtClean="0">
                <a:latin typeface="MinionPro-It"/>
              </a:rPr>
              <a:t>i</a:t>
            </a:r>
            <a:r>
              <a:rPr lang="fr-FR" sz="1100" i="1" dirty="0" err="1" smtClean="0">
                <a:latin typeface="MinionPro-It"/>
              </a:rPr>
              <a:t>yle</a:t>
            </a:r>
            <a:r>
              <a:rPr lang="fr-FR" sz="1100" i="1" dirty="0" smtClean="0">
                <a:latin typeface="MinionPro-It"/>
              </a:rPr>
              <a:t> </a:t>
            </a:r>
            <a:r>
              <a:rPr lang="fr-FR" sz="1100" i="1" dirty="0" err="1">
                <a:latin typeface="MinionPro-It"/>
              </a:rPr>
              <a:t>tutuklu</a:t>
            </a:r>
            <a:r>
              <a:rPr lang="fr-FR" sz="1100" i="1" dirty="0">
                <a:latin typeface="MinionPro-It"/>
              </a:rPr>
              <a:t> </a:t>
            </a:r>
            <a:r>
              <a:rPr lang="fr-FR" sz="1100" i="1" dirty="0" err="1">
                <a:latin typeface="MinionPro-It"/>
              </a:rPr>
              <a:t>yargılanan</a:t>
            </a:r>
            <a:r>
              <a:rPr lang="fr-FR" sz="1100" i="1" dirty="0">
                <a:latin typeface="MinionPro-It"/>
              </a:rPr>
              <a:t> D. K.’</a:t>
            </a:r>
            <a:r>
              <a:rPr lang="fr-FR" sz="1100" i="1" dirty="0" err="1">
                <a:latin typeface="MinionPro-It"/>
              </a:rPr>
              <a:t>nun</a:t>
            </a:r>
            <a:r>
              <a:rPr lang="fr-FR" sz="1100" i="1" dirty="0">
                <a:latin typeface="MinionPro-It"/>
              </a:rPr>
              <a:t> “</a:t>
            </a:r>
            <a:r>
              <a:rPr lang="fr-FR" sz="1100" i="1" dirty="0" err="1">
                <a:latin typeface="MinionPro-It"/>
              </a:rPr>
              <a:t>cezalandırılmasına</a:t>
            </a:r>
            <a:r>
              <a:rPr lang="fr-FR" sz="1100" i="1" dirty="0">
                <a:latin typeface="MinionPro-It"/>
              </a:rPr>
              <a:t> </a:t>
            </a:r>
            <a:r>
              <a:rPr lang="fr-FR" sz="1100" i="1" dirty="0" err="1">
                <a:latin typeface="MinionPro-It"/>
              </a:rPr>
              <a:t>yer</a:t>
            </a:r>
            <a:endParaRPr lang="fr-FR" sz="1100" i="1" dirty="0">
              <a:latin typeface="MinionPro-It"/>
            </a:endParaRPr>
          </a:p>
          <a:p>
            <a:pPr algn="just"/>
            <a:r>
              <a:rPr lang="fr-FR" sz="1100" i="1" dirty="0" err="1">
                <a:latin typeface="MinionPro-It"/>
              </a:rPr>
              <a:t>olmadıgına</a:t>
            </a:r>
            <a:r>
              <a:rPr lang="fr-FR" sz="1100" i="1" dirty="0">
                <a:latin typeface="MinionPro-It"/>
              </a:rPr>
              <a:t>” </a:t>
            </a:r>
            <a:r>
              <a:rPr lang="fr-FR" sz="1100" i="1" dirty="0" err="1">
                <a:latin typeface="MinionPro-It"/>
              </a:rPr>
              <a:t>karar</a:t>
            </a:r>
            <a:r>
              <a:rPr lang="fr-FR" sz="1100" i="1" dirty="0">
                <a:latin typeface="MinionPro-It"/>
              </a:rPr>
              <a:t> </a:t>
            </a:r>
            <a:r>
              <a:rPr lang="fr-FR" sz="1100" i="1" dirty="0" err="1" smtClean="0">
                <a:latin typeface="MinionPro-It"/>
              </a:rPr>
              <a:t>verld</a:t>
            </a:r>
            <a:r>
              <a:rPr lang="tr-TR" sz="1100" i="1" dirty="0" smtClean="0">
                <a:latin typeface="MinionPro-It"/>
              </a:rPr>
              <a:t>i. </a:t>
            </a:r>
          </a:p>
          <a:p>
            <a:pPr algn="just"/>
            <a:r>
              <a:rPr lang="fr-FR" sz="1100" dirty="0" err="1" smtClean="0">
                <a:latin typeface="MinionPro-Regular"/>
              </a:rPr>
              <a:t>Adl</a:t>
            </a:r>
            <a:r>
              <a:rPr lang="fr-FR" sz="1100" dirty="0" smtClean="0">
                <a:latin typeface="MinionPro-Regular"/>
              </a:rPr>
              <a:t> </a:t>
            </a:r>
            <a:r>
              <a:rPr lang="fr-FR" sz="1100" dirty="0">
                <a:latin typeface="MinionPro-Regular"/>
              </a:rPr>
              <a:t>Tıp </a:t>
            </a:r>
            <a:r>
              <a:rPr lang="fr-FR" sz="1100" dirty="0" err="1">
                <a:latin typeface="MinionPro-Regular"/>
              </a:rPr>
              <a:t>Kurumu’nun</a:t>
            </a:r>
            <a:r>
              <a:rPr lang="fr-FR" sz="1100" dirty="0">
                <a:latin typeface="MinionPro-Regular"/>
              </a:rPr>
              <a:t> </a:t>
            </a:r>
            <a:r>
              <a:rPr lang="fr-FR" sz="1100" dirty="0" err="1" smtClean="0">
                <a:latin typeface="MinionPro-Regular"/>
              </a:rPr>
              <a:t>raporunda</a:t>
            </a:r>
            <a:r>
              <a:rPr lang="fr-FR" sz="1100" dirty="0" smtClean="0">
                <a:latin typeface="MinionPro-Regular"/>
              </a:rPr>
              <a:t> </a:t>
            </a:r>
            <a:r>
              <a:rPr lang="fr-FR" sz="1100" dirty="0" err="1">
                <a:latin typeface="MinionPro-Regular"/>
              </a:rPr>
              <a:t>sanık</a:t>
            </a:r>
            <a:r>
              <a:rPr lang="fr-FR" sz="1100" dirty="0">
                <a:latin typeface="MinionPro-Regular"/>
              </a:rPr>
              <a:t> K.’</a:t>
            </a:r>
            <a:r>
              <a:rPr lang="fr-FR" sz="1100" dirty="0" err="1">
                <a:latin typeface="MinionPro-Regular"/>
              </a:rPr>
              <a:t>nun</a:t>
            </a:r>
            <a:r>
              <a:rPr lang="fr-FR" sz="1100" dirty="0">
                <a:latin typeface="MinionPro-Regular"/>
              </a:rPr>
              <a:t> </a:t>
            </a:r>
            <a:r>
              <a:rPr lang="fr-FR" sz="1100" dirty="0" smtClean="0">
                <a:latin typeface="MinionPro-Regular"/>
              </a:rPr>
              <a:t>suça</a:t>
            </a:r>
            <a:r>
              <a:rPr lang="tr-TR" sz="1100" dirty="0" smtClean="0">
                <a:latin typeface="MinionPro-Regular"/>
              </a:rPr>
              <a:t> </a:t>
            </a:r>
            <a:r>
              <a:rPr lang="fr-FR" sz="1100" dirty="0" err="1" smtClean="0">
                <a:latin typeface="MinionPro-Regular"/>
              </a:rPr>
              <a:t>kar</a:t>
            </a:r>
            <a:r>
              <a:rPr lang="tr-TR" sz="1100" dirty="0" smtClean="0">
                <a:latin typeface="MinionPro-Regular"/>
              </a:rPr>
              <a:t>ş</a:t>
            </a:r>
            <a:r>
              <a:rPr lang="fr-FR" sz="1100" dirty="0" smtClean="0">
                <a:latin typeface="MinionPro-Regular"/>
              </a:rPr>
              <a:t>ı </a:t>
            </a:r>
            <a:r>
              <a:rPr lang="fr-FR" sz="1100" dirty="0" err="1">
                <a:latin typeface="MinionPro-Regular"/>
              </a:rPr>
              <a:t>ceza</a:t>
            </a:r>
            <a:r>
              <a:rPr lang="fr-FR" sz="1100" dirty="0">
                <a:latin typeface="MinionPro-Regular"/>
              </a:rPr>
              <a:t> </a:t>
            </a:r>
            <a:r>
              <a:rPr lang="fr-FR" sz="1100" dirty="0" err="1" smtClean="0">
                <a:latin typeface="MinionPro-Regular"/>
              </a:rPr>
              <a:t>sorumlulu</a:t>
            </a:r>
            <a:r>
              <a:rPr lang="tr-TR" sz="1100" dirty="0" smtClean="0">
                <a:latin typeface="MinionPro-Regular"/>
              </a:rPr>
              <a:t>ğ</a:t>
            </a:r>
            <a:r>
              <a:rPr lang="fr-FR" sz="1100" dirty="0" smtClean="0">
                <a:latin typeface="MinionPro-Regular"/>
              </a:rPr>
              <a:t>u </a:t>
            </a:r>
            <a:r>
              <a:rPr lang="fr-FR" sz="1100" dirty="0" err="1" smtClean="0">
                <a:latin typeface="MinionPro-Regular"/>
              </a:rPr>
              <a:t>bulunmadı</a:t>
            </a:r>
            <a:r>
              <a:rPr lang="tr-TR" sz="1100" dirty="0" smtClean="0">
                <a:latin typeface="MinionPro-Regular"/>
              </a:rPr>
              <a:t>ğ</a:t>
            </a:r>
            <a:r>
              <a:rPr lang="fr-FR" sz="1100" dirty="0" smtClean="0">
                <a:latin typeface="MinionPro-Regular"/>
              </a:rPr>
              <a:t>ı </a:t>
            </a:r>
            <a:r>
              <a:rPr lang="fr-FR" sz="1100" dirty="0" err="1" smtClean="0">
                <a:latin typeface="MinionPro-Regular"/>
              </a:rPr>
              <a:t>yönündek</a:t>
            </a:r>
            <a:r>
              <a:rPr lang="tr-TR" sz="1100" dirty="0" smtClean="0">
                <a:latin typeface="MinionPro-Regular"/>
              </a:rPr>
              <a:t>i</a:t>
            </a:r>
            <a:r>
              <a:rPr lang="fr-FR" sz="1100" dirty="0" smtClean="0">
                <a:latin typeface="MinionPro-Regular"/>
              </a:rPr>
              <a:t> </a:t>
            </a:r>
            <a:r>
              <a:rPr lang="fr-FR" sz="1100" dirty="0" err="1" smtClean="0">
                <a:latin typeface="MinionPro-Regular"/>
              </a:rPr>
              <a:t>kararını</a:t>
            </a:r>
            <a:r>
              <a:rPr lang="tr-TR" sz="1100" dirty="0" smtClean="0">
                <a:latin typeface="MinionPro-Regular"/>
              </a:rPr>
              <a:t> </a:t>
            </a:r>
            <a:r>
              <a:rPr lang="fr-FR" sz="1100" dirty="0" smtClean="0">
                <a:latin typeface="MinionPro-Regular"/>
              </a:rPr>
              <a:t>d</a:t>
            </a:r>
            <a:r>
              <a:rPr lang="tr-TR" sz="1100" dirty="0" smtClean="0">
                <a:latin typeface="MinionPro-Regular"/>
              </a:rPr>
              <a:t>i</a:t>
            </a:r>
            <a:r>
              <a:rPr lang="fr-FR" sz="1100" dirty="0" err="1" smtClean="0">
                <a:latin typeface="MinionPro-Regular"/>
              </a:rPr>
              <a:t>kkate</a:t>
            </a:r>
            <a:r>
              <a:rPr lang="fr-FR" sz="1100" dirty="0" smtClean="0">
                <a:latin typeface="MinionPro-Regular"/>
              </a:rPr>
              <a:t> </a:t>
            </a:r>
            <a:r>
              <a:rPr lang="fr-FR" sz="1100" dirty="0" err="1">
                <a:latin typeface="MinionPro-Regular"/>
              </a:rPr>
              <a:t>alan</a:t>
            </a:r>
            <a:r>
              <a:rPr lang="fr-FR" sz="1100" dirty="0">
                <a:latin typeface="MinionPro-Regular"/>
              </a:rPr>
              <a:t> </a:t>
            </a:r>
            <a:r>
              <a:rPr lang="fr-FR" sz="1100" dirty="0" err="1">
                <a:latin typeface="MinionPro-Regular"/>
              </a:rPr>
              <a:t>mahkeme</a:t>
            </a:r>
            <a:r>
              <a:rPr lang="fr-FR" sz="1100" dirty="0">
                <a:latin typeface="MinionPro-Regular"/>
              </a:rPr>
              <a:t>, </a:t>
            </a:r>
            <a:r>
              <a:rPr lang="fr-FR" sz="1100" dirty="0" err="1">
                <a:latin typeface="MinionPro-Regular"/>
              </a:rPr>
              <a:t>sanıgın</a:t>
            </a:r>
            <a:r>
              <a:rPr lang="fr-FR" sz="1100" dirty="0">
                <a:latin typeface="MinionPro-Regular"/>
              </a:rPr>
              <a:t> </a:t>
            </a:r>
            <a:r>
              <a:rPr lang="fr-FR" sz="1100" dirty="0" err="1" smtClean="0">
                <a:latin typeface="MinionPro-Regular"/>
              </a:rPr>
              <a:t>tahl</a:t>
            </a:r>
            <a:r>
              <a:rPr lang="tr-TR" sz="1100" dirty="0" smtClean="0">
                <a:latin typeface="MinionPro-Regular"/>
              </a:rPr>
              <a:t>i</a:t>
            </a:r>
            <a:r>
              <a:rPr lang="fr-FR" sz="1100" dirty="0" err="1" smtClean="0">
                <a:latin typeface="MinionPro-Regular"/>
              </a:rPr>
              <a:t>yesne</a:t>
            </a:r>
            <a:r>
              <a:rPr lang="fr-FR" sz="1100" dirty="0" smtClean="0">
                <a:latin typeface="MinionPro-Regular"/>
              </a:rPr>
              <a:t> </a:t>
            </a:r>
            <a:r>
              <a:rPr lang="fr-FR" sz="1100" dirty="0" err="1">
                <a:latin typeface="MinionPro-Regular"/>
              </a:rPr>
              <a:t>karar</a:t>
            </a:r>
            <a:r>
              <a:rPr lang="fr-FR" sz="1100" dirty="0">
                <a:latin typeface="MinionPro-Regular"/>
              </a:rPr>
              <a:t> </a:t>
            </a:r>
            <a:r>
              <a:rPr lang="fr-FR" sz="1100" dirty="0" err="1" smtClean="0">
                <a:latin typeface="MinionPro-Regular"/>
              </a:rPr>
              <a:t>verd</a:t>
            </a:r>
            <a:r>
              <a:rPr lang="tr-TR" sz="1100" dirty="0" smtClean="0">
                <a:latin typeface="MinionPro-Regular"/>
              </a:rPr>
              <a:t>i</a:t>
            </a:r>
            <a:r>
              <a:rPr lang="fr-FR" sz="1100" dirty="0" smtClean="0">
                <a:latin typeface="MinionPro-Regular"/>
              </a:rPr>
              <a:t>, </a:t>
            </a:r>
            <a:r>
              <a:rPr lang="fr-FR" sz="1100" dirty="0" err="1" smtClean="0">
                <a:latin typeface="MinionPro-Regular"/>
              </a:rPr>
              <a:t>ancak</a:t>
            </a:r>
            <a:r>
              <a:rPr lang="tr-TR" sz="1100" dirty="0" smtClean="0">
                <a:latin typeface="MinionPro-Regular"/>
              </a:rPr>
              <a:t> </a:t>
            </a:r>
            <a:r>
              <a:rPr lang="fr-FR" sz="1100" dirty="0" err="1" smtClean="0">
                <a:latin typeface="MinionPro-Regular"/>
              </a:rPr>
              <a:t>serbest</a:t>
            </a:r>
            <a:r>
              <a:rPr lang="fr-FR" sz="1100" dirty="0" smtClean="0">
                <a:latin typeface="MinionPro-Regular"/>
              </a:rPr>
              <a:t> </a:t>
            </a:r>
            <a:r>
              <a:rPr lang="fr-FR" sz="1100" dirty="0" err="1">
                <a:latin typeface="MinionPro-Regular"/>
              </a:rPr>
              <a:t>bırakılması</a:t>
            </a:r>
            <a:r>
              <a:rPr lang="fr-FR" sz="1100" dirty="0">
                <a:latin typeface="MinionPro-Regular"/>
              </a:rPr>
              <a:t> </a:t>
            </a:r>
            <a:r>
              <a:rPr lang="fr-FR" sz="1100" dirty="0" err="1" smtClean="0">
                <a:latin typeface="MinionPro-Regular"/>
              </a:rPr>
              <a:t>yer</a:t>
            </a:r>
            <a:r>
              <a:rPr lang="tr-TR" sz="1100" dirty="0" smtClean="0">
                <a:latin typeface="MinionPro-Regular"/>
              </a:rPr>
              <a:t>i</a:t>
            </a:r>
            <a:r>
              <a:rPr lang="fr-FR" sz="1100" dirty="0" smtClean="0">
                <a:latin typeface="MinionPro-Regular"/>
              </a:rPr>
              <a:t>ne </a:t>
            </a:r>
            <a:r>
              <a:rPr lang="fr-FR" sz="1100" dirty="0" err="1">
                <a:latin typeface="MinionPro-Regular"/>
              </a:rPr>
              <a:t>akıl</a:t>
            </a:r>
            <a:r>
              <a:rPr lang="fr-FR" sz="1100" dirty="0">
                <a:latin typeface="MinionPro-Regular"/>
              </a:rPr>
              <a:t> </a:t>
            </a:r>
            <a:r>
              <a:rPr lang="fr-FR" sz="1100" dirty="0" err="1">
                <a:latin typeface="MinionPro-Regular"/>
              </a:rPr>
              <a:t>hastalarına</a:t>
            </a:r>
            <a:r>
              <a:rPr lang="fr-FR" sz="1100" dirty="0">
                <a:latin typeface="MinionPro-Regular"/>
              </a:rPr>
              <a:t> </a:t>
            </a:r>
            <a:r>
              <a:rPr lang="fr-FR" sz="1100" dirty="0" err="1">
                <a:latin typeface="MinionPro-Regular"/>
              </a:rPr>
              <a:t>özgü</a:t>
            </a:r>
            <a:r>
              <a:rPr lang="fr-FR" sz="1100" dirty="0">
                <a:latin typeface="MinionPro-Regular"/>
              </a:rPr>
              <a:t> </a:t>
            </a:r>
            <a:r>
              <a:rPr lang="fr-FR" sz="1100" dirty="0" err="1" smtClean="0">
                <a:latin typeface="MinionPro-Regular"/>
              </a:rPr>
              <a:t>güvenl</a:t>
            </a:r>
            <a:r>
              <a:rPr lang="tr-TR" sz="1100" dirty="0" smtClean="0">
                <a:latin typeface="MinionPro-Regular"/>
              </a:rPr>
              <a:t>i</a:t>
            </a:r>
            <a:r>
              <a:rPr lang="fr-FR" sz="1100" dirty="0" smtClean="0">
                <a:latin typeface="MinionPro-Regular"/>
              </a:rPr>
              <a:t>k </a:t>
            </a:r>
            <a:r>
              <a:rPr lang="fr-FR" sz="1100" dirty="0" err="1" smtClean="0">
                <a:latin typeface="MinionPro-Regular"/>
              </a:rPr>
              <a:t>önlemler</a:t>
            </a:r>
            <a:r>
              <a:rPr lang="tr-TR" sz="1100" dirty="0" smtClean="0">
                <a:latin typeface="MinionPro-Regular"/>
              </a:rPr>
              <a:t>i </a:t>
            </a:r>
            <a:r>
              <a:rPr lang="fr-FR" sz="1100" dirty="0" err="1" smtClean="0">
                <a:latin typeface="MinionPro-Regular"/>
              </a:rPr>
              <a:t>çerçeves</a:t>
            </a:r>
            <a:r>
              <a:rPr lang="tr-TR" sz="1100" dirty="0" smtClean="0">
                <a:latin typeface="MinionPro-Regular"/>
              </a:rPr>
              <a:t>i</a:t>
            </a:r>
            <a:r>
              <a:rPr lang="fr-FR" sz="1100" dirty="0" err="1" smtClean="0">
                <a:latin typeface="MinionPro-Regular"/>
              </a:rPr>
              <a:t>nde</a:t>
            </a:r>
            <a:r>
              <a:rPr lang="fr-FR" sz="1100" dirty="0" smtClean="0">
                <a:latin typeface="MinionPro-Regular"/>
              </a:rPr>
              <a:t> </a:t>
            </a:r>
            <a:r>
              <a:rPr lang="fr-FR" sz="1100" dirty="0" err="1">
                <a:latin typeface="MinionPro-Regular"/>
              </a:rPr>
              <a:t>hastaneye</a:t>
            </a:r>
            <a:r>
              <a:rPr lang="fr-FR" sz="1100" dirty="0">
                <a:latin typeface="MinionPro-Regular"/>
              </a:rPr>
              <a:t> </a:t>
            </a:r>
            <a:r>
              <a:rPr lang="fr-FR" sz="1100" dirty="0" err="1" smtClean="0">
                <a:latin typeface="MinionPro-Regular"/>
              </a:rPr>
              <a:t>sevk</a:t>
            </a:r>
            <a:r>
              <a:rPr lang="tr-TR" sz="1100" dirty="0" smtClean="0">
                <a:latin typeface="MinionPro-Regular"/>
              </a:rPr>
              <a:t>i</a:t>
            </a:r>
            <a:r>
              <a:rPr lang="fr-FR" sz="1100" dirty="0" smtClean="0">
                <a:latin typeface="MinionPro-Regular"/>
              </a:rPr>
              <a:t>n</a:t>
            </a:r>
            <a:r>
              <a:rPr lang="tr-TR" sz="1100" dirty="0" smtClean="0">
                <a:latin typeface="MinionPro-Regular"/>
              </a:rPr>
              <a:t>i</a:t>
            </a:r>
            <a:r>
              <a:rPr lang="fr-FR" sz="1100" dirty="0" smtClean="0">
                <a:latin typeface="MinionPro-Regular"/>
              </a:rPr>
              <a:t> </a:t>
            </a:r>
            <a:r>
              <a:rPr lang="fr-FR" sz="1100" dirty="0" err="1" smtClean="0">
                <a:latin typeface="MinionPro-Regular"/>
              </a:rPr>
              <a:t>kararla</a:t>
            </a:r>
            <a:r>
              <a:rPr lang="tr-TR" sz="1100" dirty="0" smtClean="0">
                <a:latin typeface="MinionPro-Regular"/>
              </a:rPr>
              <a:t>ş</a:t>
            </a:r>
            <a:r>
              <a:rPr lang="fr-FR" sz="1100" dirty="0" err="1" smtClean="0">
                <a:latin typeface="MinionPro-Regular"/>
              </a:rPr>
              <a:t>tırdı</a:t>
            </a:r>
            <a:r>
              <a:rPr lang="fr-FR" sz="1100" dirty="0">
                <a:latin typeface="MinionPro-Regular"/>
              </a:rPr>
              <a:t>.</a:t>
            </a:r>
            <a:endParaRPr lang="fr-FR" sz="1100" dirty="0"/>
          </a:p>
        </p:txBody>
      </p:sp>
      <p:sp>
        <p:nvSpPr>
          <p:cNvPr id="10"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6" name="Slayt Numarası Yer Tutucusu 5"/>
          <p:cNvSpPr>
            <a:spLocks noGrp="1"/>
          </p:cNvSpPr>
          <p:nvPr>
            <p:ph type="sldNum" sz="quarter" idx="12"/>
          </p:nvPr>
        </p:nvSpPr>
        <p:spPr/>
        <p:txBody>
          <a:bodyPr/>
          <a:lstStyle/>
          <a:p>
            <a:fld id="{39F9BA00-44CD-41D4-A3D8-F864C744DC1F}" type="slidenum">
              <a:rPr lang="tr-TR" smtClean="0"/>
              <a:t>65</a:t>
            </a:fld>
            <a:r>
              <a:rPr lang="tr-TR"/>
              <a:t>/116</a:t>
            </a:r>
          </a:p>
        </p:txBody>
      </p:sp>
    </p:spTree>
    <p:extLst>
      <p:ext uri="{BB962C8B-B14F-4D97-AF65-F5344CB8AC3E}">
        <p14:creationId xmlns:p14="http://schemas.microsoft.com/office/powerpoint/2010/main" val="358767499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a:t>Kusurluluğu Kaldıran veya Azaltan Nedenler </a:t>
            </a:r>
            <a:r>
              <a:rPr lang="tr-TR" b="1" dirty="0" smtClean="0"/>
              <a:t>	</a:t>
            </a:r>
            <a:endParaRPr lang="tr-TR" b="1" dirty="0"/>
          </a:p>
        </p:txBody>
      </p:sp>
      <p:sp>
        <p:nvSpPr>
          <p:cNvPr id="18" name="Dikdörtgen 17"/>
          <p:cNvSpPr/>
          <p:nvPr/>
        </p:nvSpPr>
        <p:spPr>
          <a:xfrm>
            <a:off x="3063624" y="2606497"/>
            <a:ext cx="8661779" cy="307777"/>
          </a:xfrm>
          <a:prstGeom prst="rect">
            <a:avLst/>
          </a:prstGeom>
        </p:spPr>
        <p:txBody>
          <a:bodyPr wrap="square">
            <a:spAutoFit/>
          </a:bodyPr>
          <a:lstStyle/>
          <a:p>
            <a:pPr algn="just"/>
            <a:r>
              <a:rPr lang="tr-TR" sz="1400" dirty="0" smtClean="0"/>
              <a:t>Geçici bir nedenle veya irade DIŞI alınan madde etkisi altında suç işlenmesi  </a:t>
            </a:r>
          </a:p>
        </p:txBody>
      </p:sp>
      <p:sp>
        <p:nvSpPr>
          <p:cNvPr id="14" name="Dikdörtgen 13"/>
          <p:cNvSpPr/>
          <p:nvPr/>
        </p:nvSpPr>
        <p:spPr>
          <a:xfrm>
            <a:off x="2280825" y="2182153"/>
            <a:ext cx="8943975" cy="338554"/>
          </a:xfrm>
          <a:prstGeom prst="rect">
            <a:avLst/>
          </a:prstGeom>
        </p:spPr>
        <p:txBody>
          <a:bodyPr wrap="square">
            <a:spAutoFit/>
          </a:bodyPr>
          <a:lstStyle/>
          <a:p>
            <a:pPr algn="just"/>
            <a:r>
              <a:rPr lang="tr-TR" sz="1600" dirty="0">
                <a:effectLst>
                  <a:outerShdw blurRad="38100" dist="38100" dir="2700000" algn="tl">
                    <a:srgbClr val="000000">
                      <a:alpha val="43137"/>
                    </a:srgbClr>
                  </a:outerShdw>
                </a:effectLst>
              </a:rPr>
              <a:t>Geçici Nedenler, Alkol veya Uyuşturucu Madde Etkisinde Olma</a:t>
            </a:r>
          </a:p>
        </p:txBody>
      </p:sp>
      <p:sp>
        <p:nvSpPr>
          <p:cNvPr id="12" name="Dikdörtgen 11"/>
          <p:cNvSpPr/>
          <p:nvPr/>
        </p:nvSpPr>
        <p:spPr>
          <a:xfrm>
            <a:off x="0" y="5212345"/>
            <a:ext cx="3808992" cy="1631216"/>
          </a:xfrm>
          <a:prstGeom prst="rect">
            <a:avLst/>
          </a:prstGeom>
        </p:spPr>
        <p:txBody>
          <a:bodyPr wrap="square">
            <a:spAutoFit/>
          </a:bodyPr>
          <a:lstStyle/>
          <a:p>
            <a:pPr marL="180975" indent="-180975" algn="just">
              <a:buFont typeface="+mj-lt"/>
              <a:buAutoNum type="arabicPeriod"/>
            </a:pPr>
            <a:r>
              <a:rPr lang="tr-TR" sz="1000" dirty="0" smtClean="0"/>
              <a:t>Yaş küçüklüğü</a:t>
            </a:r>
          </a:p>
          <a:p>
            <a:pPr marL="180975" indent="-180975" algn="just">
              <a:buFont typeface="+mj-lt"/>
              <a:buAutoNum type="arabicPeriod"/>
            </a:pPr>
            <a:r>
              <a:rPr lang="tr-TR" sz="1000" dirty="0"/>
              <a:t>Sağır ve Dilsizlik</a:t>
            </a:r>
          </a:p>
          <a:p>
            <a:pPr marL="180975" indent="-180975" algn="just">
              <a:buFont typeface="+mj-lt"/>
              <a:buAutoNum type="arabicPeriod"/>
            </a:pPr>
            <a:r>
              <a:rPr lang="tr-TR" sz="1000" dirty="0"/>
              <a:t>Akıl Hastalığı</a:t>
            </a:r>
          </a:p>
          <a:p>
            <a:pPr marL="180975" indent="-180975" algn="just">
              <a:buFont typeface="+mj-lt"/>
              <a:buAutoNum type="arabicPeriod"/>
            </a:pPr>
            <a:r>
              <a:rPr lang="tr-TR" sz="1000" u="sng" dirty="0">
                <a:effectLst>
                  <a:outerShdw blurRad="38100" dist="38100" dir="2700000" algn="tl">
                    <a:srgbClr val="000000">
                      <a:alpha val="43137"/>
                    </a:srgbClr>
                  </a:outerShdw>
                </a:effectLst>
              </a:rPr>
              <a:t>Geçici Nedenler, Alkol veya Uyuşturucu Madde Etkisinde Olma</a:t>
            </a:r>
          </a:p>
          <a:p>
            <a:pPr marL="180975" indent="-180975" algn="just">
              <a:buFont typeface="+mj-lt"/>
              <a:buAutoNum type="arabicPeriod"/>
            </a:pPr>
            <a:r>
              <a:rPr lang="tr-TR" sz="1000" dirty="0" smtClean="0"/>
              <a:t>Hukuka Aykırı fakat Bağlayıcı bir Emrin Yerine Getirilmesi</a:t>
            </a:r>
          </a:p>
          <a:p>
            <a:pPr marL="180975" indent="-180975" algn="just">
              <a:buFont typeface="+mj-lt"/>
              <a:buAutoNum type="arabicPeriod"/>
            </a:pPr>
            <a:r>
              <a:rPr lang="tr-TR" sz="1000" dirty="0" smtClean="0"/>
              <a:t>Zorunluluk Hali</a:t>
            </a:r>
          </a:p>
          <a:p>
            <a:pPr marL="180975" indent="-180975" algn="just">
              <a:buFont typeface="+mj-lt"/>
              <a:buAutoNum type="arabicPeriod"/>
            </a:pPr>
            <a:r>
              <a:rPr lang="tr-TR" sz="1000" dirty="0" smtClean="0"/>
              <a:t>Cebir ve tehdit Dolayısıyla Kişinin İrade Yetkisinin Etkilenmesi</a:t>
            </a:r>
          </a:p>
          <a:p>
            <a:pPr marL="180975" indent="-180975" algn="just">
              <a:buFont typeface="+mj-lt"/>
              <a:buAutoNum type="arabicPeriod"/>
            </a:pPr>
            <a:r>
              <a:rPr lang="tr-TR" sz="1000" dirty="0" smtClean="0"/>
              <a:t>Haksız Tahrik</a:t>
            </a:r>
          </a:p>
          <a:p>
            <a:pPr marL="180975" indent="-180975" algn="just">
              <a:buFont typeface="+mj-lt"/>
              <a:buAutoNum type="arabicPeriod"/>
            </a:pPr>
            <a:r>
              <a:rPr lang="tr-TR" sz="1000" dirty="0" smtClean="0"/>
              <a:t>Hukuka Uygunluk Nedenlerinde Sınırın Aşılması</a:t>
            </a:r>
          </a:p>
          <a:p>
            <a:pPr marL="180975" indent="-180975" algn="just">
              <a:buFont typeface="+mj-lt"/>
              <a:buAutoNum type="arabicPeriod"/>
            </a:pPr>
            <a:r>
              <a:rPr lang="tr-TR" sz="1000" dirty="0"/>
              <a:t>Kusurluluğu Etkileyen Hata </a:t>
            </a:r>
            <a:r>
              <a:rPr lang="tr-TR" sz="1000" dirty="0" smtClean="0"/>
              <a:t>Halleri</a:t>
            </a:r>
            <a:endParaRPr lang="fr-FR" sz="1000" dirty="0"/>
          </a:p>
        </p:txBody>
      </p:sp>
      <p:sp>
        <p:nvSpPr>
          <p:cNvPr id="26" name="Dikdörtgen 25"/>
          <p:cNvSpPr/>
          <p:nvPr/>
        </p:nvSpPr>
        <p:spPr>
          <a:xfrm>
            <a:off x="3063622" y="3240166"/>
            <a:ext cx="8661779" cy="307777"/>
          </a:xfrm>
          <a:prstGeom prst="rect">
            <a:avLst/>
          </a:prstGeom>
        </p:spPr>
        <p:txBody>
          <a:bodyPr wrap="square">
            <a:spAutoFit/>
          </a:bodyPr>
          <a:lstStyle/>
          <a:p>
            <a:pPr algn="just"/>
            <a:r>
              <a:rPr lang="tr-TR" sz="1400" dirty="0" smtClean="0"/>
              <a:t>Bu söylenenler, iradi olarak alınan madde etkisinde işlenen suçlar için </a:t>
            </a:r>
            <a:r>
              <a:rPr lang="tr-TR" sz="1400" b="1" dirty="0" smtClean="0"/>
              <a:t>GEÇERLİ DEĞİLDİR</a:t>
            </a:r>
            <a:r>
              <a:rPr lang="tr-TR" sz="1400" dirty="0" smtClean="0"/>
              <a:t>.</a:t>
            </a:r>
          </a:p>
        </p:txBody>
      </p:sp>
      <p:sp>
        <p:nvSpPr>
          <p:cNvPr id="8" name="Dikdörtgen 7"/>
          <p:cNvSpPr/>
          <p:nvPr/>
        </p:nvSpPr>
        <p:spPr>
          <a:xfrm>
            <a:off x="3063623" y="2910429"/>
            <a:ext cx="8661779" cy="307777"/>
          </a:xfrm>
          <a:prstGeom prst="rect">
            <a:avLst/>
          </a:prstGeom>
        </p:spPr>
        <p:txBody>
          <a:bodyPr wrap="square">
            <a:spAutoFit/>
          </a:bodyPr>
          <a:lstStyle/>
          <a:p>
            <a:pPr algn="just"/>
            <a:r>
              <a:rPr lang="tr-TR" sz="1400" dirty="0" smtClean="0"/>
              <a:t>İradenin tamamen kalkması veya önemli ölçüde etkilenmesi halinde ceza verilmez.</a:t>
            </a:r>
          </a:p>
        </p:txBody>
      </p:sp>
      <p:sp>
        <p:nvSpPr>
          <p:cNvPr id="10"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66</a:t>
            </a:fld>
            <a:r>
              <a:rPr lang="tr-TR"/>
              <a:t>/116</a:t>
            </a:r>
          </a:p>
        </p:txBody>
      </p:sp>
    </p:spTree>
    <p:extLst>
      <p:ext uri="{BB962C8B-B14F-4D97-AF65-F5344CB8AC3E}">
        <p14:creationId xmlns:p14="http://schemas.microsoft.com/office/powerpoint/2010/main" val="52179470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a:t>Kusurluluğu Kaldıran veya Azaltan Nedenler </a:t>
            </a:r>
            <a:r>
              <a:rPr lang="tr-TR" b="1" dirty="0" smtClean="0"/>
              <a:t>	</a:t>
            </a:r>
            <a:endParaRPr lang="tr-TR" b="1" dirty="0"/>
          </a:p>
        </p:txBody>
      </p:sp>
      <p:sp>
        <p:nvSpPr>
          <p:cNvPr id="14" name="Dikdörtgen 13"/>
          <p:cNvSpPr/>
          <p:nvPr/>
        </p:nvSpPr>
        <p:spPr>
          <a:xfrm>
            <a:off x="2280825" y="2182153"/>
            <a:ext cx="8943975" cy="338554"/>
          </a:xfrm>
          <a:prstGeom prst="rect">
            <a:avLst/>
          </a:prstGeom>
        </p:spPr>
        <p:txBody>
          <a:bodyPr wrap="square">
            <a:spAutoFit/>
          </a:bodyPr>
          <a:lstStyle/>
          <a:p>
            <a:pPr algn="just"/>
            <a:r>
              <a:rPr lang="tr-TR" sz="1600" dirty="0">
                <a:effectLst>
                  <a:outerShdw blurRad="38100" dist="38100" dir="2700000" algn="tl">
                    <a:srgbClr val="000000">
                      <a:alpha val="43137"/>
                    </a:srgbClr>
                  </a:outerShdw>
                </a:effectLst>
              </a:rPr>
              <a:t>Hukuka Aykırı fakat Bağlayıcı bir Emrin Yerine Getirilmesi</a:t>
            </a:r>
          </a:p>
        </p:txBody>
      </p:sp>
      <p:sp>
        <p:nvSpPr>
          <p:cNvPr id="12" name="Dikdörtgen 11"/>
          <p:cNvSpPr/>
          <p:nvPr/>
        </p:nvSpPr>
        <p:spPr>
          <a:xfrm>
            <a:off x="0" y="5212345"/>
            <a:ext cx="3808992" cy="1631216"/>
          </a:xfrm>
          <a:prstGeom prst="rect">
            <a:avLst/>
          </a:prstGeom>
        </p:spPr>
        <p:txBody>
          <a:bodyPr wrap="square">
            <a:spAutoFit/>
          </a:bodyPr>
          <a:lstStyle/>
          <a:p>
            <a:pPr marL="180975" indent="-180975" algn="just">
              <a:buFont typeface="+mj-lt"/>
              <a:buAutoNum type="arabicPeriod"/>
            </a:pPr>
            <a:r>
              <a:rPr lang="tr-TR" sz="1000" dirty="0" smtClean="0"/>
              <a:t>Yaş küçüklüğü</a:t>
            </a:r>
          </a:p>
          <a:p>
            <a:pPr marL="180975" indent="-180975" algn="just">
              <a:buFont typeface="+mj-lt"/>
              <a:buAutoNum type="arabicPeriod"/>
            </a:pPr>
            <a:r>
              <a:rPr lang="tr-TR" sz="1000" dirty="0"/>
              <a:t>Sağır ve Dilsizlik</a:t>
            </a:r>
          </a:p>
          <a:p>
            <a:pPr marL="180975" indent="-180975" algn="just">
              <a:buFont typeface="+mj-lt"/>
              <a:buAutoNum type="arabicPeriod"/>
            </a:pPr>
            <a:r>
              <a:rPr lang="tr-TR" sz="1000" dirty="0"/>
              <a:t>Akıl Hastalığı</a:t>
            </a:r>
          </a:p>
          <a:p>
            <a:pPr marL="180975" indent="-180975" algn="just">
              <a:buFont typeface="+mj-lt"/>
              <a:buAutoNum type="arabicPeriod"/>
            </a:pPr>
            <a:r>
              <a:rPr lang="tr-TR" sz="1000" dirty="0"/>
              <a:t>Geçici Nedenler, Alkol veya Uyuşturucu Madde Etkisinde Olma</a:t>
            </a:r>
          </a:p>
          <a:p>
            <a:pPr marL="180975" indent="-180975" algn="just">
              <a:buFont typeface="+mj-lt"/>
              <a:buAutoNum type="arabicPeriod"/>
            </a:pPr>
            <a:r>
              <a:rPr lang="tr-TR" sz="1000" u="sng" dirty="0">
                <a:effectLst>
                  <a:outerShdw blurRad="38100" dist="38100" dir="2700000" algn="tl">
                    <a:srgbClr val="000000">
                      <a:alpha val="43137"/>
                    </a:srgbClr>
                  </a:outerShdw>
                </a:effectLst>
              </a:rPr>
              <a:t>Hukuka Aykırı fakat Bağlayıcı bir Emrin Yerine Getirilmesi</a:t>
            </a:r>
          </a:p>
          <a:p>
            <a:pPr marL="180975" indent="-180975" algn="just">
              <a:buFont typeface="+mj-lt"/>
              <a:buAutoNum type="arabicPeriod"/>
            </a:pPr>
            <a:r>
              <a:rPr lang="tr-TR" sz="1000" dirty="0" smtClean="0"/>
              <a:t>Zorunluluk Hali</a:t>
            </a:r>
          </a:p>
          <a:p>
            <a:pPr marL="180975" indent="-180975" algn="just">
              <a:buFont typeface="+mj-lt"/>
              <a:buAutoNum type="arabicPeriod"/>
            </a:pPr>
            <a:r>
              <a:rPr lang="tr-TR" sz="1000" dirty="0" smtClean="0"/>
              <a:t>Cebir ve tehdit Dolayısıyla Kişinin İrade Yetkisinin Etkilenmesi</a:t>
            </a:r>
          </a:p>
          <a:p>
            <a:pPr marL="180975" indent="-180975" algn="just">
              <a:buFont typeface="+mj-lt"/>
              <a:buAutoNum type="arabicPeriod"/>
            </a:pPr>
            <a:r>
              <a:rPr lang="tr-TR" sz="1000" dirty="0" smtClean="0"/>
              <a:t>Haksız Tahrik</a:t>
            </a:r>
          </a:p>
          <a:p>
            <a:pPr marL="180975" indent="-180975" algn="just">
              <a:buFont typeface="+mj-lt"/>
              <a:buAutoNum type="arabicPeriod"/>
            </a:pPr>
            <a:r>
              <a:rPr lang="tr-TR" sz="1000" dirty="0" smtClean="0"/>
              <a:t>Hukuka Uygunluk Nedenlerinde Sınırın Aşılması</a:t>
            </a:r>
          </a:p>
          <a:p>
            <a:pPr marL="180975" indent="-180975" algn="just">
              <a:buFont typeface="+mj-lt"/>
              <a:buAutoNum type="arabicPeriod"/>
            </a:pPr>
            <a:r>
              <a:rPr lang="tr-TR" sz="1000" dirty="0"/>
              <a:t>Kusurluluğu Etkileyen Hata </a:t>
            </a:r>
            <a:r>
              <a:rPr lang="tr-TR" sz="1000" dirty="0" smtClean="0"/>
              <a:t>Halleri</a:t>
            </a:r>
            <a:endParaRPr lang="fr-FR" sz="1000" dirty="0"/>
          </a:p>
        </p:txBody>
      </p:sp>
      <p:sp>
        <p:nvSpPr>
          <p:cNvPr id="26" name="Dikdörtgen 25"/>
          <p:cNvSpPr/>
          <p:nvPr/>
        </p:nvSpPr>
        <p:spPr>
          <a:xfrm>
            <a:off x="3390900" y="3071845"/>
            <a:ext cx="8661779" cy="2677656"/>
          </a:xfrm>
          <a:prstGeom prst="rect">
            <a:avLst/>
          </a:prstGeom>
        </p:spPr>
        <p:txBody>
          <a:bodyPr wrap="square">
            <a:spAutoFit/>
          </a:bodyPr>
          <a:lstStyle/>
          <a:p>
            <a:pPr marL="342900" indent="-342900" algn="just">
              <a:buFont typeface="+mj-lt"/>
              <a:buAutoNum type="arabicPeriod"/>
            </a:pPr>
            <a:r>
              <a:rPr lang="tr-TR" sz="1400" dirty="0" smtClean="0"/>
              <a:t>Bir emrin varlığı</a:t>
            </a:r>
          </a:p>
          <a:p>
            <a:pPr marL="630238" indent="-177800" algn="just">
              <a:buFont typeface="Wingdings" panose="05000000000000000000" pitchFamily="2" charset="2"/>
              <a:buChar char="ü"/>
            </a:pPr>
            <a:r>
              <a:rPr lang="tr-TR" sz="1400" dirty="0" smtClean="0"/>
              <a:t>Kamu hukukundan kaynaklanmalı</a:t>
            </a:r>
          </a:p>
          <a:p>
            <a:pPr marL="630238" indent="-177800" algn="just">
              <a:buFont typeface="Wingdings" panose="05000000000000000000" pitchFamily="2" charset="2"/>
              <a:buChar char="ü"/>
            </a:pPr>
            <a:r>
              <a:rPr lang="tr-TR" sz="1400" dirty="0" smtClean="0"/>
              <a:t>Amir-Memur ilişkisi mevcut olmalı</a:t>
            </a:r>
          </a:p>
          <a:p>
            <a:pPr marL="357188" indent="-357188" algn="just">
              <a:buFont typeface="+mj-lt"/>
              <a:buAutoNum type="arabicPeriod" startAt="2"/>
            </a:pPr>
            <a:r>
              <a:rPr lang="tr-TR" sz="1400" dirty="0" smtClean="0"/>
              <a:t>Emir meşru ve bağlayıcı olmalıdır</a:t>
            </a:r>
          </a:p>
          <a:p>
            <a:pPr marL="630238" indent="-177800" algn="just">
              <a:buFont typeface="Wingdings" panose="05000000000000000000" pitchFamily="2" charset="2"/>
              <a:buChar char="ü"/>
            </a:pPr>
            <a:r>
              <a:rPr lang="tr-TR" sz="1400" dirty="0"/>
              <a:t>Emir şeklen hukuka uygun olmalıdır. Yani emri veren yetkili </a:t>
            </a:r>
            <a:r>
              <a:rPr lang="tr-TR" sz="1400" dirty="0" smtClean="0"/>
              <a:t>olmalıdır</a:t>
            </a:r>
            <a:endParaRPr lang="tr-TR" sz="1400" dirty="0"/>
          </a:p>
          <a:p>
            <a:pPr marL="357188" indent="-357188" algn="just">
              <a:buFont typeface="+mj-lt"/>
              <a:buAutoNum type="arabicPeriod" startAt="3"/>
            </a:pPr>
            <a:r>
              <a:rPr lang="tr-TR" sz="1400" dirty="0"/>
              <a:t>Emrin içeriği hukuka aykırı olmalıdır</a:t>
            </a:r>
          </a:p>
          <a:p>
            <a:pPr marL="630238" indent="-177800" algn="just">
              <a:buFont typeface="Wingdings" panose="05000000000000000000" pitchFamily="2" charset="2"/>
              <a:buChar char="ü"/>
            </a:pPr>
            <a:r>
              <a:rPr lang="tr-TR" sz="1400" dirty="0"/>
              <a:t>Anayasa m. 137: Üstün verdiği emir yönetmelik, Cumhurbaşkanlığı kararnamesi, kanun veya Anayasa hükümlerine aykırı görülürse emri veren bilgilendirilecek, ancak emirde ısrar edilir ve yazı ile yenilirse yerine getirilecektir. Ancak verilen emrin hukuka uygunluğunun denetlenemediği durumlarda (örneğin PVSK m.2 3.fıkra) emir yazılı olarak istenmeyecek olup bu durumda sorumluluk emri verene ait olacaktır</a:t>
            </a:r>
            <a:r>
              <a:rPr lang="tr-TR" sz="1400" dirty="0" smtClean="0"/>
              <a:t>.</a:t>
            </a:r>
          </a:p>
          <a:p>
            <a:pPr marL="357188" indent="-357188" algn="just">
              <a:buFont typeface="+mj-lt"/>
              <a:buAutoNum type="arabicPeriod" startAt="4"/>
            </a:pPr>
            <a:r>
              <a:rPr lang="tr-TR" sz="1400" dirty="0"/>
              <a:t>Emrin içeriği suç teşkil etmemelidir</a:t>
            </a:r>
          </a:p>
          <a:p>
            <a:pPr marL="630238" indent="-177800" algn="just">
              <a:buFont typeface="Wingdings" panose="05000000000000000000" pitchFamily="2" charset="2"/>
              <a:buChar char="ü"/>
            </a:pPr>
            <a:r>
              <a:rPr lang="tr-TR" sz="1400" dirty="0" smtClean="0"/>
              <a:t>Konusu suç teşkil eden emir hiçbir surette yerine GETİRİLMEYECEKTİR                                                                                                                                                                                                                                                                                                                                                                                                                                                                                                                                                                                                                                                                                                                                                                        </a:t>
            </a:r>
          </a:p>
        </p:txBody>
      </p:sp>
      <p:sp>
        <p:nvSpPr>
          <p:cNvPr id="2" name="Dikdörtgen 1"/>
          <p:cNvSpPr/>
          <p:nvPr/>
        </p:nvSpPr>
        <p:spPr>
          <a:xfrm>
            <a:off x="2638425" y="2548625"/>
            <a:ext cx="9202592" cy="523220"/>
          </a:xfrm>
          <a:prstGeom prst="rect">
            <a:avLst/>
          </a:prstGeom>
        </p:spPr>
        <p:txBody>
          <a:bodyPr wrap="square">
            <a:spAutoFit/>
          </a:bodyPr>
          <a:lstStyle/>
          <a:p>
            <a:pPr algn="just"/>
            <a:r>
              <a:rPr lang="tr-TR" sz="1400" dirty="0" smtClean="0"/>
              <a:t>Ast kendisine verilen emrin hukuka uygun olup olmadığını kontrol etmek zorundadır. Şayet ast hukuka uygunluğunu denetlemeksizin üstün hukuka aykırı olan emrini yerine getirirse sorumlu olacaktır</a:t>
            </a:r>
          </a:p>
        </p:txBody>
      </p:sp>
      <p:sp>
        <p:nvSpPr>
          <p:cNvPr id="9"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67</a:t>
            </a:fld>
            <a:r>
              <a:rPr lang="tr-TR"/>
              <a:t>/116</a:t>
            </a:r>
          </a:p>
        </p:txBody>
      </p:sp>
    </p:spTree>
    <p:extLst>
      <p:ext uri="{BB962C8B-B14F-4D97-AF65-F5344CB8AC3E}">
        <p14:creationId xmlns:p14="http://schemas.microsoft.com/office/powerpoint/2010/main" val="203630217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a:t>Kusurluluğu Kaldıran veya Azaltan Nedenler </a:t>
            </a:r>
            <a:r>
              <a:rPr lang="tr-TR" b="1" dirty="0" smtClean="0"/>
              <a:t>	</a:t>
            </a:r>
            <a:endParaRPr lang="tr-TR" b="1" dirty="0"/>
          </a:p>
        </p:txBody>
      </p:sp>
      <p:sp>
        <p:nvSpPr>
          <p:cNvPr id="14" name="Dikdörtgen 13"/>
          <p:cNvSpPr/>
          <p:nvPr/>
        </p:nvSpPr>
        <p:spPr>
          <a:xfrm>
            <a:off x="2280825" y="2213684"/>
            <a:ext cx="8943975" cy="338554"/>
          </a:xfrm>
          <a:prstGeom prst="rect">
            <a:avLst/>
          </a:prstGeom>
        </p:spPr>
        <p:txBody>
          <a:bodyPr wrap="square">
            <a:spAutoFit/>
          </a:bodyPr>
          <a:lstStyle/>
          <a:p>
            <a:pPr algn="just"/>
            <a:r>
              <a:rPr lang="tr-TR" sz="1600" dirty="0" smtClean="0">
                <a:effectLst>
                  <a:outerShdw blurRad="38100" dist="38100" dir="2700000" algn="tl">
                    <a:srgbClr val="000000">
                      <a:alpha val="43137"/>
                    </a:srgbClr>
                  </a:outerShdw>
                </a:effectLst>
              </a:rPr>
              <a:t>Zorunluluk Hali</a:t>
            </a:r>
            <a:endParaRPr lang="tr-TR" sz="1600" dirty="0">
              <a:effectLst>
                <a:outerShdw blurRad="38100" dist="38100" dir="2700000" algn="tl">
                  <a:srgbClr val="000000">
                    <a:alpha val="43137"/>
                  </a:srgbClr>
                </a:outerShdw>
              </a:effectLst>
            </a:endParaRPr>
          </a:p>
        </p:txBody>
      </p:sp>
      <p:sp>
        <p:nvSpPr>
          <p:cNvPr id="12" name="Dikdörtgen 11"/>
          <p:cNvSpPr/>
          <p:nvPr/>
        </p:nvSpPr>
        <p:spPr>
          <a:xfrm>
            <a:off x="0" y="5212345"/>
            <a:ext cx="3808992" cy="1631216"/>
          </a:xfrm>
          <a:prstGeom prst="rect">
            <a:avLst/>
          </a:prstGeom>
        </p:spPr>
        <p:txBody>
          <a:bodyPr wrap="square">
            <a:spAutoFit/>
          </a:bodyPr>
          <a:lstStyle/>
          <a:p>
            <a:pPr marL="180975" indent="-180975" algn="just">
              <a:buFont typeface="+mj-lt"/>
              <a:buAutoNum type="arabicPeriod"/>
            </a:pPr>
            <a:r>
              <a:rPr lang="tr-TR" sz="1000" dirty="0" smtClean="0"/>
              <a:t>Yaş küçüklüğü</a:t>
            </a:r>
          </a:p>
          <a:p>
            <a:pPr marL="180975" indent="-180975" algn="just">
              <a:buFont typeface="+mj-lt"/>
              <a:buAutoNum type="arabicPeriod"/>
            </a:pPr>
            <a:r>
              <a:rPr lang="tr-TR" sz="1000" dirty="0"/>
              <a:t>Sağır ve Dilsizlik</a:t>
            </a:r>
          </a:p>
          <a:p>
            <a:pPr marL="180975" indent="-180975" algn="just">
              <a:buFont typeface="+mj-lt"/>
              <a:buAutoNum type="arabicPeriod"/>
            </a:pPr>
            <a:r>
              <a:rPr lang="tr-TR" sz="1000" dirty="0"/>
              <a:t>Akıl Hastalığı</a:t>
            </a:r>
          </a:p>
          <a:p>
            <a:pPr marL="180975" indent="-180975" algn="just">
              <a:buFont typeface="+mj-lt"/>
              <a:buAutoNum type="arabicPeriod"/>
            </a:pPr>
            <a:r>
              <a:rPr lang="tr-TR" sz="1000" dirty="0"/>
              <a:t>Geçici Nedenler, Alkol veya Uyuşturucu Madde Etkisinde Olma</a:t>
            </a:r>
          </a:p>
          <a:p>
            <a:pPr marL="180975" indent="-180975" algn="just">
              <a:buFont typeface="+mj-lt"/>
              <a:buAutoNum type="arabicPeriod"/>
            </a:pPr>
            <a:r>
              <a:rPr lang="tr-TR" sz="1000" dirty="0"/>
              <a:t>Hukuka Aykırı fakat Bağlayıcı bir Emrin Yerine Getirilmesi</a:t>
            </a:r>
          </a:p>
          <a:p>
            <a:pPr marL="180975" indent="-180975" algn="just">
              <a:buFont typeface="+mj-lt"/>
              <a:buAutoNum type="arabicPeriod"/>
            </a:pPr>
            <a:r>
              <a:rPr lang="tr-TR" sz="1000" u="sng" dirty="0">
                <a:effectLst>
                  <a:outerShdw blurRad="38100" dist="38100" dir="2700000" algn="tl">
                    <a:srgbClr val="000000">
                      <a:alpha val="43137"/>
                    </a:srgbClr>
                  </a:outerShdw>
                </a:effectLst>
              </a:rPr>
              <a:t>Zorunluluk Hali</a:t>
            </a:r>
          </a:p>
          <a:p>
            <a:pPr marL="180975" indent="-180975" algn="just">
              <a:buFont typeface="+mj-lt"/>
              <a:buAutoNum type="arabicPeriod"/>
            </a:pPr>
            <a:r>
              <a:rPr lang="tr-TR" sz="1000" dirty="0" smtClean="0"/>
              <a:t>Cebir ve tehdit Dolayısıyla Kişinin İrade Yetkisinin Etkilenmesi</a:t>
            </a:r>
          </a:p>
          <a:p>
            <a:pPr marL="180975" indent="-180975" algn="just">
              <a:buFont typeface="+mj-lt"/>
              <a:buAutoNum type="arabicPeriod"/>
            </a:pPr>
            <a:r>
              <a:rPr lang="tr-TR" sz="1000" dirty="0" smtClean="0"/>
              <a:t>Haksız Tahrik</a:t>
            </a:r>
          </a:p>
          <a:p>
            <a:pPr marL="180975" indent="-180975" algn="just">
              <a:buFont typeface="+mj-lt"/>
              <a:buAutoNum type="arabicPeriod"/>
            </a:pPr>
            <a:r>
              <a:rPr lang="tr-TR" sz="1000" dirty="0" smtClean="0"/>
              <a:t>Hukuka Uygunluk Nedenlerinde Sınırın Aşılması</a:t>
            </a:r>
          </a:p>
          <a:p>
            <a:pPr marL="180975" indent="-180975" algn="just">
              <a:buFont typeface="+mj-lt"/>
              <a:buAutoNum type="arabicPeriod"/>
            </a:pPr>
            <a:r>
              <a:rPr lang="tr-TR" sz="1000" dirty="0"/>
              <a:t>Kusurluluğu Etkileyen Hata </a:t>
            </a:r>
            <a:r>
              <a:rPr lang="tr-TR" sz="1000" dirty="0" smtClean="0"/>
              <a:t>Halleri</a:t>
            </a:r>
            <a:endParaRPr lang="fr-FR" sz="1000" dirty="0"/>
          </a:p>
        </p:txBody>
      </p:sp>
      <p:sp>
        <p:nvSpPr>
          <p:cNvPr id="2" name="Metin kutusu 1"/>
          <p:cNvSpPr txBox="1"/>
          <p:nvPr/>
        </p:nvSpPr>
        <p:spPr>
          <a:xfrm>
            <a:off x="3479952" y="2463187"/>
            <a:ext cx="8313682" cy="307777"/>
          </a:xfrm>
          <a:prstGeom prst="rect">
            <a:avLst/>
          </a:prstGeom>
          <a:noFill/>
        </p:spPr>
        <p:txBody>
          <a:bodyPr wrap="square" rtlCol="0">
            <a:spAutoFit/>
          </a:bodyPr>
          <a:lstStyle/>
          <a:p>
            <a:r>
              <a:rPr lang="tr-TR" sz="1400" dirty="0" smtClean="0"/>
              <a:t>Bir kişinin </a:t>
            </a:r>
            <a:r>
              <a:rPr lang="tr-TR" sz="1400" u="sng" dirty="0" smtClean="0"/>
              <a:t>kendisine/başkasına yönelik</a:t>
            </a:r>
            <a:r>
              <a:rPr lang="tr-TR" sz="1400" dirty="0" smtClean="0"/>
              <a:t> bir tehlikeden kurtulmak amacıyla suç işlemesi</a:t>
            </a:r>
            <a:endParaRPr lang="fr-FR" sz="1400" dirty="0"/>
          </a:p>
        </p:txBody>
      </p:sp>
      <p:sp>
        <p:nvSpPr>
          <p:cNvPr id="8" name="Metin kutusu 7"/>
          <p:cNvSpPr txBox="1"/>
          <p:nvPr/>
        </p:nvSpPr>
        <p:spPr>
          <a:xfrm>
            <a:off x="3479952" y="2780091"/>
            <a:ext cx="8313682" cy="307777"/>
          </a:xfrm>
          <a:prstGeom prst="rect">
            <a:avLst/>
          </a:prstGeom>
          <a:noFill/>
        </p:spPr>
        <p:txBody>
          <a:bodyPr wrap="square" rtlCol="0">
            <a:spAutoFit/>
          </a:bodyPr>
          <a:lstStyle/>
          <a:p>
            <a:r>
              <a:rPr lang="tr-TR" sz="1400" dirty="0" smtClean="0"/>
              <a:t>Kurtulmak istenen tehlikenin ağırlığı ile kullanılan araç/işlenen fiil arasında ORANTILILIK mevcut olmalıdır </a:t>
            </a:r>
            <a:endParaRPr lang="fr-FR" sz="1400" dirty="0"/>
          </a:p>
        </p:txBody>
      </p:sp>
      <p:sp>
        <p:nvSpPr>
          <p:cNvPr id="9" name="Metin kutusu 8"/>
          <p:cNvSpPr txBox="1"/>
          <p:nvPr/>
        </p:nvSpPr>
        <p:spPr>
          <a:xfrm>
            <a:off x="3808992" y="3087868"/>
            <a:ext cx="8172801" cy="2246769"/>
          </a:xfrm>
          <a:prstGeom prst="rect">
            <a:avLst/>
          </a:prstGeom>
          <a:noFill/>
        </p:spPr>
        <p:txBody>
          <a:bodyPr wrap="square" rtlCol="0">
            <a:spAutoFit/>
          </a:bodyPr>
          <a:lstStyle/>
          <a:p>
            <a:pPr marL="179388" indent="-179388" algn="just">
              <a:buFont typeface="Arial" panose="020B0604020202020204" pitchFamily="34" charset="0"/>
              <a:buChar char="•"/>
            </a:pPr>
            <a:r>
              <a:rPr lang="tr-TR" sz="1400" b="1" dirty="0" smtClean="0">
                <a:effectLst>
                  <a:outerShdw blurRad="38100" dist="38100" dir="2700000" algn="tl">
                    <a:srgbClr val="000000">
                      <a:alpha val="43137"/>
                    </a:srgbClr>
                  </a:outerShdw>
                </a:effectLst>
              </a:rPr>
              <a:t>Tehlikeye İlişkin Şartlar</a:t>
            </a:r>
          </a:p>
          <a:p>
            <a:pPr marL="536575" indent="-179388" algn="just">
              <a:buFont typeface="Wingdings" panose="05000000000000000000" pitchFamily="2" charset="2"/>
              <a:buChar char="ü"/>
            </a:pPr>
            <a:r>
              <a:rPr lang="tr-TR" sz="1400" dirty="0" smtClean="0"/>
              <a:t>Mevcut veya Muhakkak bir tehlikenin varlığı (Doğal olaylar, insan veya hayvan hareketleri) </a:t>
            </a:r>
          </a:p>
          <a:p>
            <a:pPr marL="536575" indent="-179388" algn="just">
              <a:buFont typeface="Wingdings" panose="05000000000000000000" pitchFamily="2" charset="2"/>
              <a:buChar char="ü"/>
            </a:pPr>
            <a:r>
              <a:rPr lang="tr-TR" sz="1400" dirty="0" smtClean="0"/>
              <a:t>Tehlikenin ağır </a:t>
            </a:r>
            <a:r>
              <a:rPr lang="tr-TR" sz="1400" dirty="0"/>
              <a:t>ve muhakkak </a:t>
            </a:r>
            <a:r>
              <a:rPr lang="tr-TR" sz="1400" dirty="0" smtClean="0"/>
              <a:t>olması (</a:t>
            </a:r>
            <a:r>
              <a:rPr lang="tr-TR" sz="1400" i="1" dirty="0" smtClean="0"/>
              <a:t>Açlıktan ölmemek için ekmek çalmak veya soğuktan donmamak için başkasının konutuna girmek zorunluluk haline girebilir ancak keyif verici bir madde çalmak zorunluluk haline girmez</a:t>
            </a:r>
            <a:r>
              <a:rPr lang="tr-TR" sz="1400" dirty="0" smtClean="0"/>
              <a:t>)</a:t>
            </a:r>
          </a:p>
          <a:p>
            <a:pPr marL="536575" indent="-179388" algn="just">
              <a:buFont typeface="Wingdings" panose="05000000000000000000" pitchFamily="2" charset="2"/>
              <a:buChar char="ü"/>
            </a:pPr>
            <a:r>
              <a:rPr lang="tr-TR" sz="1400" dirty="0" smtClean="0"/>
              <a:t>Tehlikenin kişinin kendisine veya başkasına ait bir hakka yönelik olması (</a:t>
            </a:r>
            <a:r>
              <a:rPr lang="tr-TR" sz="1400" i="1" dirty="0" smtClean="0"/>
              <a:t>3.kişi lehine zorunluluk hali-Hamileliği tehlikeli bir durum aldığında anne bebeğini doğurmak istese dahi doktor çocuğu düşürmek durumunda kalırsa 3.kişi lehine zorunluluk halinden yararlanır)</a:t>
            </a:r>
          </a:p>
          <a:p>
            <a:pPr marL="536575" indent="-179388" algn="just">
              <a:buFont typeface="Wingdings" panose="05000000000000000000" pitchFamily="2" charset="2"/>
              <a:buChar char="ü"/>
            </a:pPr>
            <a:r>
              <a:rPr lang="tr-TR" sz="1400" dirty="0" smtClean="0"/>
              <a:t>Kişinin tehlikeye bilerek sebebiyet vermemiş olması (</a:t>
            </a:r>
            <a:r>
              <a:rPr lang="tr-TR" sz="1400" i="1" dirty="0" smtClean="0"/>
              <a:t>Bir kimsenin evini ateşe veren kimsenin, ateşten kurtulmak için bir başkasını ezmesi</a:t>
            </a:r>
            <a:r>
              <a:rPr lang="tr-TR" sz="1400" dirty="0" smtClean="0"/>
              <a:t>)</a:t>
            </a:r>
            <a:endParaRPr lang="fr-FR" sz="1400" dirty="0"/>
          </a:p>
        </p:txBody>
      </p:sp>
      <p:sp>
        <p:nvSpPr>
          <p:cNvPr id="10" name="Metin kutusu 9"/>
          <p:cNvSpPr txBox="1"/>
          <p:nvPr/>
        </p:nvSpPr>
        <p:spPr>
          <a:xfrm>
            <a:off x="3808992" y="5359128"/>
            <a:ext cx="8172801" cy="954107"/>
          </a:xfrm>
          <a:prstGeom prst="rect">
            <a:avLst/>
          </a:prstGeom>
          <a:noFill/>
        </p:spPr>
        <p:txBody>
          <a:bodyPr wrap="square" rtlCol="0">
            <a:spAutoFit/>
          </a:bodyPr>
          <a:lstStyle/>
          <a:p>
            <a:pPr marL="179388" indent="-179388">
              <a:buFont typeface="Arial" panose="020B0604020202020204" pitchFamily="34" charset="0"/>
              <a:buChar char="•"/>
            </a:pPr>
            <a:r>
              <a:rPr lang="tr-TR" sz="1400" b="1" dirty="0" smtClean="0">
                <a:effectLst>
                  <a:outerShdw blurRad="38100" dist="38100" dir="2700000" algn="tl">
                    <a:srgbClr val="000000">
                      <a:alpha val="43137"/>
                    </a:srgbClr>
                  </a:outerShdw>
                </a:effectLst>
              </a:rPr>
              <a:t>Korunmaya İlişkin Şartlar</a:t>
            </a:r>
          </a:p>
          <a:p>
            <a:pPr marL="536575" indent="-179388">
              <a:buFont typeface="Wingdings" panose="05000000000000000000" pitchFamily="2" charset="2"/>
              <a:buChar char="ü"/>
            </a:pPr>
            <a:r>
              <a:rPr lang="tr-TR" sz="1400" dirty="0" smtClean="0"/>
              <a:t>Başka türlü korunma imkanı bulunmamalı, korunmaya ilişkin fiil SON ÇARE olmalı </a:t>
            </a:r>
          </a:p>
          <a:p>
            <a:pPr marL="536575" indent="-179388">
              <a:buFont typeface="Wingdings" panose="05000000000000000000" pitchFamily="2" charset="2"/>
              <a:buChar char="ü"/>
            </a:pPr>
            <a:r>
              <a:rPr lang="tr-TR" sz="1400" dirty="0" smtClean="0"/>
              <a:t>Tehlike ile korunmanın ORANTILI olması</a:t>
            </a:r>
          </a:p>
          <a:p>
            <a:pPr marL="536575" indent="-179388">
              <a:buFont typeface="Wingdings" panose="05000000000000000000" pitchFamily="2" charset="2"/>
              <a:buChar char="ü"/>
            </a:pPr>
            <a:r>
              <a:rPr lang="tr-TR" sz="1400" dirty="0" smtClean="0"/>
              <a:t>Tehlikeye göğüs germe yükümlülüğü BULUNMAMALI</a:t>
            </a:r>
          </a:p>
        </p:txBody>
      </p:sp>
      <p:sp>
        <p:nvSpPr>
          <p:cNvPr id="3" name="Yukarı Bükülü Ok 2"/>
          <p:cNvSpPr/>
          <p:nvPr/>
        </p:nvSpPr>
        <p:spPr>
          <a:xfrm rot="5400000">
            <a:off x="3063340" y="2764889"/>
            <a:ext cx="735724" cy="379261"/>
          </a:xfrm>
          <a:prstGeom prst="bentUp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Yukarı Bükülü Ok 12"/>
          <p:cNvSpPr/>
          <p:nvPr/>
        </p:nvSpPr>
        <p:spPr>
          <a:xfrm rot="5400000">
            <a:off x="1762775" y="3878372"/>
            <a:ext cx="3061669" cy="478240"/>
          </a:xfrm>
          <a:prstGeom prst="bentUp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6" name="Slayt Numarası Yer Tutucusu 5"/>
          <p:cNvSpPr>
            <a:spLocks noGrp="1"/>
          </p:cNvSpPr>
          <p:nvPr>
            <p:ph type="sldNum" sz="quarter" idx="12"/>
          </p:nvPr>
        </p:nvSpPr>
        <p:spPr/>
        <p:txBody>
          <a:bodyPr/>
          <a:lstStyle/>
          <a:p>
            <a:fld id="{39F9BA00-44CD-41D4-A3D8-F864C744DC1F}" type="slidenum">
              <a:rPr lang="tr-TR" smtClean="0"/>
              <a:t>68</a:t>
            </a:fld>
            <a:r>
              <a:rPr lang="tr-TR"/>
              <a:t>/116</a:t>
            </a:r>
          </a:p>
        </p:txBody>
      </p:sp>
    </p:spTree>
    <p:extLst>
      <p:ext uri="{BB962C8B-B14F-4D97-AF65-F5344CB8AC3E}">
        <p14:creationId xmlns:p14="http://schemas.microsoft.com/office/powerpoint/2010/main" val="16902173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a:t>Kusurluluğu Kaldıran veya Azaltan Nedenler </a:t>
            </a:r>
            <a:r>
              <a:rPr lang="tr-TR" b="1" dirty="0" smtClean="0"/>
              <a:t>	</a:t>
            </a:r>
            <a:endParaRPr lang="tr-TR" b="1" dirty="0"/>
          </a:p>
        </p:txBody>
      </p:sp>
      <p:sp>
        <p:nvSpPr>
          <p:cNvPr id="12" name="Dikdörtgen 11"/>
          <p:cNvSpPr/>
          <p:nvPr/>
        </p:nvSpPr>
        <p:spPr>
          <a:xfrm>
            <a:off x="0" y="5212345"/>
            <a:ext cx="3808992" cy="1631216"/>
          </a:xfrm>
          <a:prstGeom prst="rect">
            <a:avLst/>
          </a:prstGeom>
        </p:spPr>
        <p:txBody>
          <a:bodyPr wrap="square">
            <a:spAutoFit/>
          </a:bodyPr>
          <a:lstStyle/>
          <a:p>
            <a:pPr marL="180975" indent="-180975" algn="just">
              <a:buFont typeface="+mj-lt"/>
              <a:buAutoNum type="arabicPeriod"/>
            </a:pPr>
            <a:r>
              <a:rPr lang="tr-TR" sz="1000" dirty="0" smtClean="0"/>
              <a:t>Yaş küçüklüğü</a:t>
            </a:r>
          </a:p>
          <a:p>
            <a:pPr marL="180975" indent="-180975" algn="just">
              <a:buFont typeface="+mj-lt"/>
              <a:buAutoNum type="arabicPeriod"/>
            </a:pPr>
            <a:r>
              <a:rPr lang="tr-TR" sz="1000" dirty="0"/>
              <a:t>Sağır ve Dilsizlik</a:t>
            </a:r>
          </a:p>
          <a:p>
            <a:pPr marL="180975" indent="-180975" algn="just">
              <a:buFont typeface="+mj-lt"/>
              <a:buAutoNum type="arabicPeriod"/>
            </a:pPr>
            <a:r>
              <a:rPr lang="tr-TR" sz="1000" dirty="0"/>
              <a:t>Akıl Hastalığı</a:t>
            </a:r>
          </a:p>
          <a:p>
            <a:pPr marL="180975" indent="-180975" algn="just">
              <a:buFont typeface="+mj-lt"/>
              <a:buAutoNum type="arabicPeriod"/>
            </a:pPr>
            <a:r>
              <a:rPr lang="tr-TR" sz="1000" dirty="0"/>
              <a:t>Geçici Nedenler, Alkol veya Uyuşturucu Madde Etkisinde Olma</a:t>
            </a:r>
          </a:p>
          <a:p>
            <a:pPr marL="180975" indent="-180975" algn="just">
              <a:buFont typeface="+mj-lt"/>
              <a:buAutoNum type="arabicPeriod"/>
            </a:pPr>
            <a:r>
              <a:rPr lang="tr-TR" sz="1000" dirty="0"/>
              <a:t>Hukuka Aykırı fakat Bağlayıcı bir Emrin Yerine Getirilmesi</a:t>
            </a:r>
          </a:p>
          <a:p>
            <a:pPr marL="180975" indent="-180975" algn="just">
              <a:buFont typeface="+mj-lt"/>
              <a:buAutoNum type="arabicPeriod"/>
            </a:pPr>
            <a:r>
              <a:rPr lang="tr-TR" sz="1000" dirty="0"/>
              <a:t>Zorunluluk Hali</a:t>
            </a:r>
          </a:p>
          <a:p>
            <a:pPr marL="180975" indent="-180975" algn="just">
              <a:buFont typeface="+mj-lt"/>
              <a:buAutoNum type="arabicPeriod"/>
            </a:pPr>
            <a:r>
              <a:rPr lang="tr-TR" sz="1000" u="sng" dirty="0">
                <a:effectLst>
                  <a:outerShdw blurRad="38100" dist="38100" dir="2700000" algn="tl">
                    <a:srgbClr val="000000">
                      <a:alpha val="43137"/>
                    </a:srgbClr>
                  </a:outerShdw>
                </a:effectLst>
              </a:rPr>
              <a:t>Cebir ve tehdit Dolayısıyla Kişinin İrade Yetkisinin Etkilenmesi</a:t>
            </a:r>
          </a:p>
          <a:p>
            <a:pPr marL="180975" indent="-180975" algn="just">
              <a:buFont typeface="+mj-lt"/>
              <a:buAutoNum type="arabicPeriod"/>
            </a:pPr>
            <a:r>
              <a:rPr lang="tr-TR" sz="1000" u="sng" dirty="0">
                <a:effectLst>
                  <a:outerShdw blurRad="38100" dist="38100" dir="2700000" algn="tl">
                    <a:srgbClr val="000000">
                      <a:alpha val="43137"/>
                    </a:srgbClr>
                  </a:outerShdw>
                </a:effectLst>
              </a:rPr>
              <a:t>Haksız Tahrik</a:t>
            </a:r>
          </a:p>
          <a:p>
            <a:pPr marL="180975" indent="-180975" algn="just">
              <a:buFont typeface="+mj-lt"/>
              <a:buAutoNum type="arabicPeriod"/>
            </a:pPr>
            <a:r>
              <a:rPr lang="tr-TR" sz="1000" dirty="0" smtClean="0"/>
              <a:t>Hukuka Uygunluk Nedenlerinde Sınırın Aşılması</a:t>
            </a:r>
          </a:p>
          <a:p>
            <a:pPr marL="180975" indent="-180975" algn="just">
              <a:buFont typeface="+mj-lt"/>
              <a:buAutoNum type="arabicPeriod"/>
            </a:pPr>
            <a:r>
              <a:rPr lang="tr-TR" sz="1000" dirty="0"/>
              <a:t>Kusurluluğu Etkileyen Hata </a:t>
            </a:r>
            <a:r>
              <a:rPr lang="tr-TR" sz="1000" dirty="0" smtClean="0"/>
              <a:t>Halleri</a:t>
            </a:r>
            <a:endParaRPr lang="fr-FR" sz="1000" dirty="0"/>
          </a:p>
        </p:txBody>
      </p:sp>
      <p:sp>
        <p:nvSpPr>
          <p:cNvPr id="2" name="Metin kutusu 1"/>
          <p:cNvSpPr txBox="1"/>
          <p:nvPr/>
        </p:nvSpPr>
        <p:spPr>
          <a:xfrm>
            <a:off x="3479952" y="2463187"/>
            <a:ext cx="8313682" cy="738664"/>
          </a:xfrm>
          <a:prstGeom prst="rect">
            <a:avLst/>
          </a:prstGeom>
          <a:noFill/>
        </p:spPr>
        <p:txBody>
          <a:bodyPr wrap="square" rtlCol="0">
            <a:spAutoFit/>
          </a:bodyPr>
          <a:lstStyle/>
          <a:p>
            <a:pPr marL="361950" indent="-180975" algn="just">
              <a:buFont typeface="Wingdings" panose="05000000000000000000" pitchFamily="2" charset="2"/>
              <a:buChar char="ü"/>
            </a:pPr>
            <a:r>
              <a:rPr lang="tr-TR" sz="1400" dirty="0" smtClean="0"/>
              <a:t>Karşı konulamayacak veya kurtulamayacak bir cebir/şiddet veya muhakkak ve ağır bir korkutma veya tehdit sonucu suç işlenmesi halinde ceza verilmeyecektir. </a:t>
            </a:r>
          </a:p>
          <a:p>
            <a:pPr marL="361950" indent="-180975" algn="just">
              <a:buFont typeface="Wingdings" panose="05000000000000000000" pitchFamily="2" charset="2"/>
              <a:buChar char="ü"/>
            </a:pPr>
            <a:r>
              <a:rPr lang="tr-TR" sz="1400" dirty="0" smtClean="0"/>
              <a:t>Bu durumda suçun faili, cebir/tehdit/korkutma eylemini yapan kişidir. </a:t>
            </a:r>
          </a:p>
        </p:txBody>
      </p:sp>
      <p:sp>
        <p:nvSpPr>
          <p:cNvPr id="8" name="Dikdörtgen 7"/>
          <p:cNvSpPr/>
          <p:nvPr/>
        </p:nvSpPr>
        <p:spPr>
          <a:xfrm>
            <a:off x="2280825" y="3373290"/>
            <a:ext cx="8943975" cy="338554"/>
          </a:xfrm>
          <a:prstGeom prst="rect">
            <a:avLst/>
          </a:prstGeom>
        </p:spPr>
        <p:txBody>
          <a:bodyPr wrap="square">
            <a:spAutoFit/>
          </a:bodyPr>
          <a:lstStyle/>
          <a:p>
            <a:pPr algn="just"/>
            <a:r>
              <a:rPr lang="tr-TR" sz="1600" dirty="0" smtClean="0">
                <a:effectLst>
                  <a:outerShdw blurRad="38100" dist="38100" dir="2700000" algn="tl">
                    <a:srgbClr val="000000">
                      <a:alpha val="43137"/>
                    </a:srgbClr>
                  </a:outerShdw>
                </a:effectLst>
              </a:rPr>
              <a:t>Haksız Tahrik                                                                                                                                                                                                                                                                                                                                                                                                                                                                                                                                                                                                                                                                                                                                                                                                                                                                                                                                                                                                                                                                                                                                                                                                                                                                                                                                                                                                                                                                                                                                                                                                                                                                                                                                                                                 </a:t>
            </a:r>
            <a:r>
              <a:rPr lang="tr-TR" sz="1600" dirty="0" smtClean="0"/>
              <a:t>                                                                                                                                                                                                                                                                                                 </a:t>
            </a:r>
            <a:endParaRPr lang="tr-TR" sz="1600" dirty="0">
              <a:effectLst>
                <a:outerShdw blurRad="38100" dist="38100" dir="2700000" algn="tl">
                  <a:srgbClr val="000000">
                    <a:alpha val="43137"/>
                  </a:srgbClr>
                </a:outerShdw>
              </a:effectLst>
            </a:endParaRPr>
          </a:p>
        </p:txBody>
      </p:sp>
      <p:sp>
        <p:nvSpPr>
          <p:cNvPr id="9" name="Dikdörtgen 8"/>
          <p:cNvSpPr/>
          <p:nvPr/>
        </p:nvSpPr>
        <p:spPr>
          <a:xfrm>
            <a:off x="2280825" y="2159502"/>
            <a:ext cx="7520400" cy="338554"/>
          </a:xfrm>
          <a:prstGeom prst="rect">
            <a:avLst/>
          </a:prstGeom>
        </p:spPr>
        <p:txBody>
          <a:bodyPr wrap="square">
            <a:spAutoFit/>
          </a:bodyPr>
          <a:lstStyle/>
          <a:p>
            <a:pPr algn="just"/>
            <a:r>
              <a:rPr lang="tr-TR" sz="1600" dirty="0" smtClean="0">
                <a:effectLst>
                  <a:outerShdw blurRad="38100" dist="38100" dir="2700000" algn="tl">
                    <a:srgbClr val="000000">
                      <a:alpha val="43137"/>
                    </a:srgbClr>
                  </a:outerShdw>
                </a:effectLst>
              </a:rPr>
              <a:t>Cebir ve Tehdit dolayısıyla kişinin İrade yeteneğinin etkilenmesi                                                                                                                                                                                                                                                                                                                                                                                                                                                                                                                                                                                                                                                                                                                                                                                                                                                                                                                                                                                                                                                                                                                                                                                                                                                                                                                                                                                                                                                                                                                                                                                                                                                                                                                                                                                                                                                                                                                                                  </a:t>
            </a:r>
            <a:r>
              <a:rPr lang="tr-TR" sz="1600" dirty="0" smtClean="0"/>
              <a:t>                                                                                                                                                                            </a:t>
            </a:r>
            <a:endParaRPr lang="tr-TR" sz="1600" dirty="0">
              <a:effectLst>
                <a:outerShdw blurRad="38100" dist="38100" dir="2700000" algn="tl">
                  <a:srgbClr val="000000">
                    <a:alpha val="43137"/>
                  </a:srgbClr>
                </a:outerShdw>
              </a:effectLst>
            </a:endParaRPr>
          </a:p>
        </p:txBody>
      </p:sp>
      <p:sp>
        <p:nvSpPr>
          <p:cNvPr id="4" name="Metin kutusu 3"/>
          <p:cNvSpPr txBox="1"/>
          <p:nvPr/>
        </p:nvSpPr>
        <p:spPr>
          <a:xfrm>
            <a:off x="4093409" y="4151045"/>
            <a:ext cx="7415808" cy="1384995"/>
          </a:xfrm>
          <a:prstGeom prst="rect">
            <a:avLst/>
          </a:prstGeom>
          <a:noFill/>
        </p:spPr>
        <p:txBody>
          <a:bodyPr wrap="square" rtlCol="0">
            <a:spAutoFit/>
          </a:bodyPr>
          <a:lstStyle>
            <a:defPPr>
              <a:defRPr lang="tr-TR"/>
            </a:defPPr>
            <a:lvl1pPr algn="just">
              <a:defRPr sz="1400"/>
            </a:lvl1pPr>
          </a:lstStyle>
          <a:p>
            <a:r>
              <a:rPr lang="tr-TR" dirty="0" smtClean="0"/>
              <a:t>Şartları</a:t>
            </a:r>
          </a:p>
          <a:p>
            <a:pPr marL="180975" indent="-180975">
              <a:buFont typeface="Wingdings" panose="05000000000000000000" pitchFamily="2" charset="2"/>
              <a:buChar char="ü"/>
            </a:pPr>
            <a:r>
              <a:rPr lang="tr-TR" dirty="0" smtClean="0"/>
              <a:t>Objektif olarak tahrik edici sayılan bir fiil olmalı</a:t>
            </a:r>
          </a:p>
          <a:p>
            <a:pPr marL="180975" indent="-180975">
              <a:buFont typeface="Wingdings" panose="05000000000000000000" pitchFamily="2" charset="2"/>
              <a:buChar char="ü"/>
            </a:pPr>
            <a:r>
              <a:rPr lang="tr-TR" dirty="0" smtClean="0"/>
              <a:t>Haksız tahrike neden olan fiil haksız olmalı</a:t>
            </a:r>
          </a:p>
          <a:p>
            <a:pPr marL="180975" indent="-180975">
              <a:buFont typeface="Wingdings" panose="05000000000000000000" pitchFamily="2" charset="2"/>
              <a:buChar char="ü"/>
            </a:pPr>
            <a:r>
              <a:rPr lang="tr-TR" dirty="0"/>
              <a:t>Haksız tahrike neden olan fiil </a:t>
            </a:r>
            <a:r>
              <a:rPr lang="tr-TR" dirty="0" smtClean="0"/>
              <a:t>kişide hiddet veya şiddetli eleme neden olmalı</a:t>
            </a:r>
          </a:p>
          <a:p>
            <a:pPr marL="180975" indent="-180975">
              <a:buFont typeface="Wingdings" panose="05000000000000000000" pitchFamily="2" charset="2"/>
              <a:buChar char="ü"/>
            </a:pPr>
            <a:r>
              <a:rPr lang="tr-TR" dirty="0" smtClean="0"/>
              <a:t>Suç hiddet/şiddetli elem etkisi altında işlenmiş olmalı, yani suç haksız fiile tepki olarak işlenmeli</a:t>
            </a:r>
          </a:p>
          <a:p>
            <a:pPr marL="180975" indent="-180975">
              <a:buFont typeface="Wingdings" panose="05000000000000000000" pitchFamily="2" charset="2"/>
              <a:buChar char="ü"/>
            </a:pPr>
            <a:r>
              <a:rPr lang="tr-TR" dirty="0" smtClean="0"/>
              <a:t>Suç haksız fiili yapan kişiye karşı işlenmiş olmalı</a:t>
            </a:r>
          </a:p>
        </p:txBody>
      </p:sp>
      <p:sp>
        <p:nvSpPr>
          <p:cNvPr id="10" name="Dikdörtgen 9"/>
          <p:cNvSpPr/>
          <p:nvPr/>
        </p:nvSpPr>
        <p:spPr>
          <a:xfrm>
            <a:off x="3816176" y="3430754"/>
            <a:ext cx="7977458" cy="738664"/>
          </a:xfrm>
          <a:prstGeom prst="rect">
            <a:avLst/>
          </a:prstGeom>
          <a:noFill/>
        </p:spPr>
        <p:txBody>
          <a:bodyPr wrap="square" rtlCol="0">
            <a:spAutoFit/>
          </a:bodyPr>
          <a:lstStyle/>
          <a:p>
            <a:pPr marL="285750" indent="-285750" algn="just">
              <a:buFont typeface="Arial" panose="020B0604020202020204" pitchFamily="34" charset="0"/>
              <a:buChar char="•"/>
            </a:pPr>
            <a:r>
              <a:rPr lang="tr-TR" sz="1400" dirty="0"/>
              <a:t>Fiilin haksız fiil olup olmadığı değerlendirilirken bütün hukuk düzeni göz önünde bulundurulmalıdır</a:t>
            </a:r>
            <a:r>
              <a:rPr lang="fr-FR" sz="1400" dirty="0" smtClean="0"/>
              <a:t>.</a:t>
            </a:r>
            <a:endParaRPr lang="tr-TR" sz="1400" dirty="0" smtClean="0"/>
          </a:p>
          <a:p>
            <a:pPr marL="285750" indent="-285750" algn="just">
              <a:buFont typeface="Arial" panose="020B0604020202020204" pitchFamily="34" charset="0"/>
              <a:buChar char="•"/>
            </a:pPr>
            <a:r>
              <a:rPr lang="tr-TR" sz="1400" dirty="0" smtClean="0"/>
              <a:t>Kişinin </a:t>
            </a:r>
            <a:r>
              <a:rPr lang="tr-TR" sz="1400" dirty="0"/>
              <a:t>kendisine karşı işlenen bir haksız fiilin etkisi altında suç işlemesi halinde ceza İNDİRİMİ yapılır. Yani Sadece cezada indirim öngörülmüş olup </a:t>
            </a:r>
            <a:r>
              <a:rPr lang="tr-TR" sz="1400" u="sng" dirty="0"/>
              <a:t>tamamen cezasızlık </a:t>
            </a:r>
            <a:r>
              <a:rPr lang="tr-TR" sz="1400" b="1" u="sng" dirty="0"/>
              <a:t>KABUL EDİLMEMİŞTİR</a:t>
            </a:r>
            <a:r>
              <a:rPr lang="tr-TR" sz="1400" b="1" dirty="0"/>
              <a:t>.</a:t>
            </a:r>
            <a:endParaRPr lang="fr-FR" sz="1400" dirty="0"/>
          </a:p>
        </p:txBody>
      </p:sp>
      <p:sp>
        <p:nvSpPr>
          <p:cNvPr id="11" name="Dikdörtgen 10"/>
          <p:cNvSpPr/>
          <p:nvPr/>
        </p:nvSpPr>
        <p:spPr>
          <a:xfrm>
            <a:off x="4733925" y="5592449"/>
            <a:ext cx="6972300" cy="307777"/>
          </a:xfrm>
          <a:prstGeom prst="rect">
            <a:avLst/>
          </a:prstGeom>
        </p:spPr>
        <p:txBody>
          <a:bodyPr wrap="square">
            <a:spAutoFit/>
          </a:bodyPr>
          <a:lstStyle/>
          <a:p>
            <a:pPr algn="just"/>
            <a:r>
              <a:rPr lang="tr-TR" sz="1400" i="1" dirty="0"/>
              <a:t>Haksız tahrike neden olan haksız fiilin sadece eylemi yapan kişiye yönelik olması gerekmez</a:t>
            </a:r>
            <a:endParaRPr lang="fr-FR" sz="1400" i="1" dirty="0"/>
          </a:p>
        </p:txBody>
      </p:sp>
      <p:sp>
        <p:nvSpPr>
          <p:cNvPr id="14"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6" name="Slayt Numarası Yer Tutucusu 5"/>
          <p:cNvSpPr>
            <a:spLocks noGrp="1"/>
          </p:cNvSpPr>
          <p:nvPr>
            <p:ph type="sldNum" sz="quarter" idx="12"/>
          </p:nvPr>
        </p:nvSpPr>
        <p:spPr/>
        <p:txBody>
          <a:bodyPr/>
          <a:lstStyle/>
          <a:p>
            <a:fld id="{39F9BA00-44CD-41D4-A3D8-F864C744DC1F}" type="slidenum">
              <a:rPr lang="tr-TR" smtClean="0"/>
              <a:t>69</a:t>
            </a:fld>
            <a:r>
              <a:rPr lang="tr-TR"/>
              <a:t>/116</a:t>
            </a:r>
          </a:p>
        </p:txBody>
      </p:sp>
    </p:spTree>
    <p:extLst>
      <p:ext uri="{BB962C8B-B14F-4D97-AF65-F5344CB8AC3E}">
        <p14:creationId xmlns:p14="http://schemas.microsoft.com/office/powerpoint/2010/main" val="84653382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tr-TR" sz="2400" b="1" i="0" u="none" strike="noStrike" kern="1200" cap="none" spc="0" normalizeH="0" baseline="0" noProof="0" dirty="0">
                <a:ln>
                  <a:noFill/>
                </a:ln>
                <a:solidFill>
                  <a:prstClr val="black"/>
                </a:solidFill>
                <a:uLnTx/>
                <a:uFillTx/>
                <a:latin typeface="Calibri" panose="020F0502020204030204"/>
                <a:ea typeface="+mn-ea"/>
                <a:cs typeface="+mn-cs"/>
              </a:rPr>
              <a:t>Kusurluluğu Kaldıran veya Azaltan Nedenler </a:t>
            </a:r>
            <a:r>
              <a:rPr kumimoji="0" lang="tr-TR" sz="2400" b="1" i="0" u="none" strike="noStrike" kern="1200" cap="none" spc="0" normalizeH="0" baseline="0" noProof="0" dirty="0" smtClean="0">
                <a:ln>
                  <a:noFill/>
                </a:ln>
                <a:solidFill>
                  <a:prstClr val="black"/>
                </a:solidFill>
                <a:uLnTx/>
                <a:uFillTx/>
                <a:latin typeface="Calibri" panose="020F0502020204030204"/>
                <a:ea typeface="+mn-ea"/>
                <a:cs typeface="+mn-cs"/>
              </a:rPr>
              <a:t>	</a:t>
            </a:r>
            <a:endParaRPr kumimoji="0" lang="tr-TR" sz="2400" b="1" i="0" u="none" strike="noStrike" kern="1200" cap="none" spc="0" normalizeH="0" baseline="0" noProof="0" dirty="0">
              <a:ln>
                <a:noFill/>
              </a:ln>
              <a:solidFill>
                <a:prstClr val="black"/>
              </a:solidFill>
              <a:uLnTx/>
              <a:uFillTx/>
              <a:latin typeface="Calibri" panose="020F0502020204030204"/>
              <a:ea typeface="+mn-ea"/>
              <a:cs typeface="+mn-cs"/>
            </a:endParaRPr>
          </a:p>
        </p:txBody>
      </p:sp>
      <p:sp>
        <p:nvSpPr>
          <p:cNvPr id="12" name="Dikdörtgen 11"/>
          <p:cNvSpPr/>
          <p:nvPr/>
        </p:nvSpPr>
        <p:spPr>
          <a:xfrm>
            <a:off x="0" y="5212345"/>
            <a:ext cx="3808992" cy="1631216"/>
          </a:xfrm>
          <a:prstGeom prst="rect">
            <a:avLst/>
          </a:prstGeom>
        </p:spPr>
        <p:txBody>
          <a:bodyPr wrap="square">
            <a:spAutoFit/>
          </a:bodyPr>
          <a:lstStyle/>
          <a:p>
            <a:pPr marL="180975" marR="0" lvl="0" indent="-180975" algn="just" defTabSz="914400" rtl="0" eaLnBrk="1" fontAlgn="auto" latinLnBrk="0" hangingPunct="1">
              <a:lnSpc>
                <a:spcPct val="100000"/>
              </a:lnSpc>
              <a:spcBef>
                <a:spcPts val="0"/>
              </a:spcBef>
              <a:spcAft>
                <a:spcPts val="0"/>
              </a:spcAft>
              <a:buClrTx/>
              <a:buSzTx/>
              <a:buFont typeface="+mj-lt"/>
              <a:buAutoNum type="arabicPeriod"/>
              <a:tabLst/>
              <a:defRPr/>
            </a:pPr>
            <a:r>
              <a:rPr kumimoji="0" lang="tr-TR" sz="1000" b="0" i="0" u="none" strike="noStrike" kern="1200" cap="none" spc="0" normalizeH="0" baseline="0" noProof="0" dirty="0" smtClean="0">
                <a:ln>
                  <a:noFill/>
                </a:ln>
                <a:solidFill>
                  <a:prstClr val="black"/>
                </a:solidFill>
                <a:effectLst/>
                <a:uLnTx/>
                <a:uFillTx/>
                <a:latin typeface="Calibri" panose="020F0502020204030204"/>
                <a:ea typeface="+mn-ea"/>
                <a:cs typeface="+mn-cs"/>
              </a:rPr>
              <a:t>Yaş küçüklüğü</a:t>
            </a:r>
          </a:p>
          <a:p>
            <a:pPr marL="180975" marR="0" lvl="0" indent="-180975" algn="just" defTabSz="914400" rtl="0" eaLnBrk="1" fontAlgn="auto" latinLnBrk="0" hangingPunct="1">
              <a:lnSpc>
                <a:spcPct val="100000"/>
              </a:lnSpc>
              <a:spcBef>
                <a:spcPts val="0"/>
              </a:spcBef>
              <a:spcAft>
                <a:spcPts val="0"/>
              </a:spcAft>
              <a:buClrTx/>
              <a:buSzTx/>
              <a:buFont typeface="+mj-lt"/>
              <a:buAutoNum type="arabicPeriod"/>
              <a:tabLst/>
              <a:defRPr/>
            </a:pPr>
            <a:r>
              <a:rPr kumimoji="0" lang="tr-TR" sz="1000" b="0" i="0" u="none" strike="noStrike" kern="1200" cap="none" spc="0" normalizeH="0" baseline="0" noProof="0" dirty="0">
                <a:ln>
                  <a:noFill/>
                </a:ln>
                <a:solidFill>
                  <a:prstClr val="black"/>
                </a:solidFill>
                <a:effectLst/>
                <a:uLnTx/>
                <a:uFillTx/>
                <a:latin typeface="Calibri" panose="020F0502020204030204"/>
                <a:ea typeface="+mn-ea"/>
                <a:cs typeface="+mn-cs"/>
              </a:rPr>
              <a:t>Sağır ve Dilsizlik</a:t>
            </a:r>
          </a:p>
          <a:p>
            <a:pPr marL="180975" marR="0" lvl="0" indent="-180975" algn="just" defTabSz="914400" rtl="0" eaLnBrk="1" fontAlgn="auto" latinLnBrk="0" hangingPunct="1">
              <a:lnSpc>
                <a:spcPct val="100000"/>
              </a:lnSpc>
              <a:spcBef>
                <a:spcPts val="0"/>
              </a:spcBef>
              <a:spcAft>
                <a:spcPts val="0"/>
              </a:spcAft>
              <a:buClrTx/>
              <a:buSzTx/>
              <a:buFont typeface="+mj-lt"/>
              <a:buAutoNum type="arabicPeriod"/>
              <a:tabLst/>
              <a:defRPr/>
            </a:pPr>
            <a:r>
              <a:rPr kumimoji="0" lang="tr-TR" sz="1000" b="0" i="0" u="none" strike="noStrike" kern="1200" cap="none" spc="0" normalizeH="0" baseline="0" noProof="0" dirty="0">
                <a:ln>
                  <a:noFill/>
                </a:ln>
                <a:solidFill>
                  <a:prstClr val="black"/>
                </a:solidFill>
                <a:effectLst/>
                <a:uLnTx/>
                <a:uFillTx/>
                <a:latin typeface="Calibri" panose="020F0502020204030204"/>
                <a:ea typeface="+mn-ea"/>
                <a:cs typeface="+mn-cs"/>
              </a:rPr>
              <a:t>Akıl Hastalığı</a:t>
            </a:r>
          </a:p>
          <a:p>
            <a:pPr marL="180975" marR="0" lvl="0" indent="-180975" algn="just" defTabSz="914400" rtl="0" eaLnBrk="1" fontAlgn="auto" latinLnBrk="0" hangingPunct="1">
              <a:lnSpc>
                <a:spcPct val="100000"/>
              </a:lnSpc>
              <a:spcBef>
                <a:spcPts val="0"/>
              </a:spcBef>
              <a:spcAft>
                <a:spcPts val="0"/>
              </a:spcAft>
              <a:buClrTx/>
              <a:buSzTx/>
              <a:buFont typeface="+mj-lt"/>
              <a:buAutoNum type="arabicPeriod"/>
              <a:tabLst/>
              <a:defRPr/>
            </a:pPr>
            <a:r>
              <a:rPr kumimoji="0" lang="tr-TR" sz="1000" b="0" i="0" u="none" strike="noStrike" kern="1200" cap="none" spc="0" normalizeH="0" baseline="0" noProof="0" dirty="0">
                <a:ln>
                  <a:noFill/>
                </a:ln>
                <a:solidFill>
                  <a:prstClr val="black"/>
                </a:solidFill>
                <a:effectLst/>
                <a:uLnTx/>
                <a:uFillTx/>
                <a:latin typeface="Calibri" panose="020F0502020204030204"/>
                <a:ea typeface="+mn-ea"/>
                <a:cs typeface="+mn-cs"/>
              </a:rPr>
              <a:t>Geçici Nedenler, Alkol veya Uyuşturucu Madde Etkisinde Olma</a:t>
            </a:r>
          </a:p>
          <a:p>
            <a:pPr marL="180975" marR="0" lvl="0" indent="-180975" algn="just" defTabSz="914400" rtl="0" eaLnBrk="1" fontAlgn="auto" latinLnBrk="0" hangingPunct="1">
              <a:lnSpc>
                <a:spcPct val="100000"/>
              </a:lnSpc>
              <a:spcBef>
                <a:spcPts val="0"/>
              </a:spcBef>
              <a:spcAft>
                <a:spcPts val="0"/>
              </a:spcAft>
              <a:buClrTx/>
              <a:buSzTx/>
              <a:buFont typeface="+mj-lt"/>
              <a:buAutoNum type="arabicPeriod"/>
              <a:tabLst/>
              <a:defRPr/>
            </a:pPr>
            <a:r>
              <a:rPr kumimoji="0" lang="tr-TR" sz="1000" b="0" i="0" u="none" strike="noStrike" kern="1200" cap="none" spc="0" normalizeH="0" baseline="0" noProof="0" dirty="0">
                <a:ln>
                  <a:noFill/>
                </a:ln>
                <a:solidFill>
                  <a:prstClr val="black"/>
                </a:solidFill>
                <a:effectLst/>
                <a:uLnTx/>
                <a:uFillTx/>
                <a:latin typeface="Calibri" panose="020F0502020204030204"/>
                <a:ea typeface="+mn-ea"/>
                <a:cs typeface="+mn-cs"/>
              </a:rPr>
              <a:t>Hukuka Aykırı fakat Bağlayıcı bir Emrin Yerine Getirilmesi</a:t>
            </a:r>
          </a:p>
          <a:p>
            <a:pPr marL="180975" marR="0" lvl="0" indent="-180975" algn="just" defTabSz="914400" rtl="0" eaLnBrk="1" fontAlgn="auto" latinLnBrk="0" hangingPunct="1">
              <a:lnSpc>
                <a:spcPct val="100000"/>
              </a:lnSpc>
              <a:spcBef>
                <a:spcPts val="0"/>
              </a:spcBef>
              <a:spcAft>
                <a:spcPts val="0"/>
              </a:spcAft>
              <a:buClrTx/>
              <a:buSzTx/>
              <a:buFont typeface="+mj-lt"/>
              <a:buAutoNum type="arabicPeriod"/>
              <a:tabLst/>
              <a:defRPr/>
            </a:pPr>
            <a:r>
              <a:rPr kumimoji="0" lang="tr-TR" sz="1000" b="0" i="0" u="none" strike="noStrike" kern="1200" cap="none" spc="0" normalizeH="0" baseline="0" noProof="0" dirty="0">
                <a:ln>
                  <a:noFill/>
                </a:ln>
                <a:solidFill>
                  <a:prstClr val="black"/>
                </a:solidFill>
                <a:effectLst/>
                <a:uLnTx/>
                <a:uFillTx/>
                <a:latin typeface="Calibri" panose="020F0502020204030204"/>
                <a:ea typeface="+mn-ea"/>
                <a:cs typeface="+mn-cs"/>
              </a:rPr>
              <a:t>Zorunluluk Hali</a:t>
            </a:r>
          </a:p>
          <a:p>
            <a:pPr marL="180975" marR="0" lvl="0" indent="-180975" algn="just" defTabSz="914400" rtl="0" eaLnBrk="1" fontAlgn="auto" latinLnBrk="0" hangingPunct="1">
              <a:lnSpc>
                <a:spcPct val="100000"/>
              </a:lnSpc>
              <a:spcBef>
                <a:spcPts val="0"/>
              </a:spcBef>
              <a:spcAft>
                <a:spcPts val="0"/>
              </a:spcAft>
              <a:buClrTx/>
              <a:buSzTx/>
              <a:buFont typeface="+mj-lt"/>
              <a:buAutoNum type="arabicPeriod"/>
              <a:tabLst/>
              <a:defRPr/>
            </a:pPr>
            <a:r>
              <a:rPr kumimoji="0" lang="tr-TR" sz="1000" b="0" i="0" u="none" strike="noStrike" kern="1200" cap="none" spc="0" normalizeH="0" baseline="0" noProof="0" dirty="0">
                <a:ln>
                  <a:noFill/>
                </a:ln>
                <a:solidFill>
                  <a:prstClr val="black"/>
                </a:solidFill>
                <a:effectLst/>
                <a:uLnTx/>
                <a:uFillTx/>
                <a:latin typeface="Calibri" panose="020F0502020204030204"/>
                <a:ea typeface="+mn-ea"/>
                <a:cs typeface="+mn-cs"/>
              </a:rPr>
              <a:t>Cebir ve tehdit Dolayısıyla Kişinin İrade Yetkisinin Etkilenmesi</a:t>
            </a:r>
          </a:p>
          <a:p>
            <a:pPr marL="180975" marR="0" lvl="0" indent="-180975" algn="just" defTabSz="914400" rtl="0" eaLnBrk="1" fontAlgn="auto" latinLnBrk="0" hangingPunct="1">
              <a:lnSpc>
                <a:spcPct val="100000"/>
              </a:lnSpc>
              <a:spcBef>
                <a:spcPts val="0"/>
              </a:spcBef>
              <a:spcAft>
                <a:spcPts val="0"/>
              </a:spcAft>
              <a:buClrTx/>
              <a:buSzTx/>
              <a:buFont typeface="+mj-lt"/>
              <a:buAutoNum type="arabicPeriod"/>
              <a:tabLst/>
              <a:defRPr/>
            </a:pPr>
            <a:r>
              <a:rPr kumimoji="0" lang="tr-TR" sz="1000" b="0" i="0" u="none" strike="noStrike" kern="1200" cap="none" spc="0" normalizeH="0" baseline="0" noProof="0" dirty="0">
                <a:ln>
                  <a:noFill/>
                </a:ln>
                <a:solidFill>
                  <a:prstClr val="black"/>
                </a:solidFill>
                <a:effectLst/>
                <a:uLnTx/>
                <a:uFillTx/>
                <a:latin typeface="Calibri" panose="020F0502020204030204"/>
                <a:ea typeface="+mn-ea"/>
                <a:cs typeface="+mn-cs"/>
              </a:rPr>
              <a:t>Haksız Tahrik</a:t>
            </a:r>
          </a:p>
          <a:p>
            <a:pPr marL="180975" marR="0" lvl="0" indent="-180975" algn="just" defTabSz="914400" rtl="0" eaLnBrk="1" fontAlgn="auto" latinLnBrk="0" hangingPunct="1">
              <a:lnSpc>
                <a:spcPct val="100000"/>
              </a:lnSpc>
              <a:spcBef>
                <a:spcPts val="0"/>
              </a:spcBef>
              <a:spcAft>
                <a:spcPts val="0"/>
              </a:spcAft>
              <a:buClrTx/>
              <a:buSzTx/>
              <a:buFont typeface="+mj-lt"/>
              <a:buAutoNum type="arabicPeriod"/>
              <a:tabLst/>
              <a:defRPr/>
            </a:pPr>
            <a:r>
              <a:rPr kumimoji="0" lang="tr-TR" sz="1000" b="0" i="0" u="sng" strike="noStrike" kern="1200" cap="none" spc="0" normalizeH="0" baseline="0" noProof="0" dirty="0">
                <a:ln>
                  <a:noFill/>
                </a:ln>
                <a:effectLst>
                  <a:outerShdw blurRad="38100" dist="38100" dir="2700000" algn="tl">
                    <a:srgbClr val="000000">
                      <a:alpha val="43137"/>
                    </a:srgbClr>
                  </a:outerShdw>
                </a:effectLst>
                <a:uLnTx/>
                <a:uFillTx/>
                <a:latin typeface="Calibri" panose="020F0502020204030204"/>
                <a:ea typeface="+mn-ea"/>
                <a:cs typeface="+mn-cs"/>
              </a:rPr>
              <a:t>Hukuka Uygunluk Nedenlerinde Sınırın Aşılması</a:t>
            </a:r>
          </a:p>
          <a:p>
            <a:pPr marL="180975" marR="0" lvl="0" indent="-180975" algn="just" defTabSz="914400" rtl="0" eaLnBrk="1" fontAlgn="auto" latinLnBrk="0" hangingPunct="1">
              <a:lnSpc>
                <a:spcPct val="100000"/>
              </a:lnSpc>
              <a:spcBef>
                <a:spcPts val="0"/>
              </a:spcBef>
              <a:spcAft>
                <a:spcPts val="0"/>
              </a:spcAft>
              <a:buClrTx/>
              <a:buSzTx/>
              <a:buFont typeface="+mj-lt"/>
              <a:buAutoNum type="arabicPeriod"/>
              <a:tabLst/>
              <a:defRPr/>
            </a:pPr>
            <a:r>
              <a:rPr kumimoji="0" lang="tr-TR" sz="1000" b="0" i="0" u="none" strike="noStrike" kern="1200" cap="none" spc="0" normalizeH="0" baseline="0" noProof="0" dirty="0" smtClean="0">
                <a:ln>
                  <a:noFill/>
                </a:ln>
                <a:solidFill>
                  <a:prstClr val="black"/>
                </a:solidFill>
                <a:effectLst/>
                <a:uLnTx/>
                <a:uFillTx/>
                <a:latin typeface="Calibri" panose="020F0502020204030204"/>
                <a:ea typeface="+mn-ea"/>
                <a:cs typeface="+mn-cs"/>
              </a:rPr>
              <a:t>Kusurluluğu Etkileyen Hata Halleri</a:t>
            </a:r>
            <a:endPar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Metin kutusu 1"/>
          <p:cNvSpPr txBox="1"/>
          <p:nvPr/>
        </p:nvSpPr>
        <p:spPr>
          <a:xfrm>
            <a:off x="3479952" y="2498056"/>
            <a:ext cx="8313682" cy="307777"/>
          </a:xfrm>
          <a:prstGeom prst="rect">
            <a:avLst/>
          </a:prstGeom>
          <a:noFill/>
        </p:spPr>
        <p:txBody>
          <a:bodyPr wrap="square" rtlCol="0">
            <a:spAutoFit/>
          </a:bodyPr>
          <a:lstStyle/>
          <a:p>
            <a:pPr marL="180975" marR="0" lvl="0" indent="0" algn="just" defTabSz="914400" rtl="0" eaLnBrk="1" fontAlgn="auto" latinLnBrk="0" hangingPunct="1">
              <a:lnSpc>
                <a:spcPct val="100000"/>
              </a:lnSpc>
              <a:spcBef>
                <a:spcPts val="0"/>
              </a:spcBef>
              <a:spcAft>
                <a:spcPts val="0"/>
              </a:spcAft>
              <a:buClrTx/>
              <a:buSzTx/>
              <a:buFontTx/>
              <a:buNone/>
              <a:tabLst/>
              <a:defRPr/>
            </a:pPr>
            <a:r>
              <a:rPr kumimoji="0" lang="tr-TR" sz="1400" b="0" i="0" u="none" strike="noStrike" kern="1200" cap="none" spc="0" normalizeH="0" baseline="0" noProof="0" dirty="0" smtClean="0">
                <a:ln>
                  <a:noFill/>
                </a:ln>
                <a:solidFill>
                  <a:prstClr val="black"/>
                </a:solidFill>
                <a:effectLst/>
                <a:uLnTx/>
                <a:uFillTx/>
                <a:latin typeface="Calibri" panose="020F0502020204030204"/>
                <a:ea typeface="+mn-ea"/>
                <a:cs typeface="+mn-cs"/>
              </a:rPr>
              <a:t>Sınır </a:t>
            </a:r>
            <a:r>
              <a:rPr kumimoji="0" lang="tr-TR" sz="1400" b="0" i="0" u="sng" strike="noStrike" kern="1200" cap="none" spc="0" normalizeH="0" baseline="0" noProof="0" dirty="0" smtClean="0">
                <a:ln>
                  <a:noFill/>
                </a:ln>
                <a:solidFill>
                  <a:prstClr val="black"/>
                </a:solidFill>
                <a:effectLst/>
                <a:uLnTx/>
                <a:uFillTx/>
                <a:latin typeface="Calibri" panose="020F0502020204030204"/>
                <a:ea typeface="+mn-ea"/>
                <a:cs typeface="+mn-cs"/>
              </a:rPr>
              <a:t>kasıtlı olarak </a:t>
            </a:r>
            <a:r>
              <a:rPr kumimoji="0" lang="tr-TR" sz="1400" b="0" i="0" u="none" strike="noStrike" kern="1200" cap="none" spc="0" normalizeH="0" baseline="0" noProof="0" dirty="0" smtClean="0">
                <a:ln>
                  <a:noFill/>
                </a:ln>
                <a:solidFill>
                  <a:prstClr val="black"/>
                </a:solidFill>
                <a:effectLst/>
                <a:uLnTx/>
                <a:uFillTx/>
                <a:latin typeface="Calibri" panose="020F0502020204030204"/>
                <a:ea typeface="+mn-ea"/>
                <a:cs typeface="+mn-cs"/>
              </a:rPr>
              <a:t>aşılırsa fail işlediği haksızlıktan sorumlu olacaktır.</a:t>
            </a:r>
          </a:p>
        </p:txBody>
      </p:sp>
      <p:sp>
        <p:nvSpPr>
          <p:cNvPr id="9" name="Dikdörtgen 8"/>
          <p:cNvSpPr/>
          <p:nvPr/>
        </p:nvSpPr>
        <p:spPr>
          <a:xfrm>
            <a:off x="2280825" y="2159502"/>
            <a:ext cx="7520400" cy="338554"/>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tr-TR" sz="1600" b="0" i="0" u="none" strike="noStrike" kern="1200" cap="none" spc="0" normalizeH="0" baseline="0" noProof="0" dirty="0" smtClean="0">
                <a:ln>
                  <a:noFill/>
                </a:ln>
                <a:effectLst>
                  <a:outerShdw blurRad="38100" dist="38100" dir="2700000" algn="tl">
                    <a:srgbClr val="000000">
                      <a:alpha val="43137"/>
                    </a:srgbClr>
                  </a:outerShdw>
                </a:effectLst>
                <a:uLnTx/>
                <a:uFillTx/>
                <a:latin typeface="Calibri" panose="020F0502020204030204"/>
                <a:ea typeface="+mn-ea"/>
                <a:cs typeface="+mn-cs"/>
              </a:rPr>
              <a:t>Hukuka Uygunluk Nedenlerinde Sınırın Aşılması</a:t>
            </a:r>
            <a:endParaRPr kumimoji="0" lang="tr-TR" sz="1600" b="0" i="0" u="none" strike="noStrike" kern="1200" cap="none" spc="0" normalizeH="0" baseline="0" noProof="0" dirty="0">
              <a:ln>
                <a:noFill/>
              </a:ln>
              <a:effectLst>
                <a:outerShdw blurRad="38100" dist="38100" dir="2700000" algn="tl">
                  <a:srgbClr val="000000">
                    <a:alpha val="43137"/>
                  </a:srgbClr>
                </a:outerShdw>
              </a:effectLst>
              <a:uLnTx/>
              <a:uFillTx/>
              <a:latin typeface="Calibri" panose="020F0502020204030204"/>
              <a:ea typeface="+mn-ea"/>
              <a:cs typeface="+mn-cs"/>
            </a:endParaRPr>
          </a:p>
        </p:txBody>
      </p:sp>
      <p:sp>
        <p:nvSpPr>
          <p:cNvPr id="10" name="Metin kutusu 9"/>
          <p:cNvSpPr txBox="1"/>
          <p:nvPr/>
        </p:nvSpPr>
        <p:spPr>
          <a:xfrm>
            <a:off x="3479952" y="2810589"/>
            <a:ext cx="8313682" cy="954107"/>
          </a:xfrm>
          <a:prstGeom prst="rect">
            <a:avLst/>
          </a:prstGeom>
          <a:noFill/>
        </p:spPr>
        <p:txBody>
          <a:bodyPr wrap="square" rtlCol="0">
            <a:spAutoFit/>
          </a:bodyPr>
          <a:lstStyle/>
          <a:p>
            <a:pPr marL="180975" marR="0" lvl="0" indent="0" algn="just" defTabSz="914400" rtl="0" eaLnBrk="1" fontAlgn="auto" latinLnBrk="0" hangingPunct="1">
              <a:lnSpc>
                <a:spcPct val="100000"/>
              </a:lnSpc>
              <a:spcBef>
                <a:spcPts val="0"/>
              </a:spcBef>
              <a:spcAft>
                <a:spcPts val="0"/>
              </a:spcAft>
              <a:buClrTx/>
              <a:buSzTx/>
              <a:buFontTx/>
              <a:buNone/>
              <a:tabLst/>
              <a:defRPr/>
            </a:pPr>
            <a:r>
              <a:rPr kumimoji="0" lang="tr-TR" sz="1400" b="0" i="0" u="none" strike="noStrike" kern="1200" cap="none" spc="0" normalizeH="0" baseline="0" noProof="0" dirty="0" smtClean="0">
                <a:ln>
                  <a:noFill/>
                </a:ln>
                <a:solidFill>
                  <a:prstClr val="black"/>
                </a:solidFill>
                <a:effectLst/>
                <a:uLnTx/>
                <a:uFillTx/>
                <a:latin typeface="Calibri" panose="020F0502020204030204"/>
                <a:ea typeface="+mn-ea"/>
                <a:cs typeface="+mn-cs"/>
              </a:rPr>
              <a:t>Sınır </a:t>
            </a:r>
            <a:r>
              <a:rPr kumimoji="0" lang="tr-TR" sz="1400" b="0" i="0" u="sng" strike="noStrike" kern="1200" cap="none" spc="0" normalizeH="0" baseline="0" noProof="0" dirty="0" smtClean="0">
                <a:ln>
                  <a:noFill/>
                </a:ln>
                <a:solidFill>
                  <a:prstClr val="black"/>
                </a:solidFill>
                <a:effectLst/>
                <a:uLnTx/>
                <a:uFillTx/>
                <a:latin typeface="Calibri" panose="020F0502020204030204"/>
                <a:ea typeface="+mn-ea"/>
                <a:cs typeface="+mn-cs"/>
              </a:rPr>
              <a:t>taksirle</a:t>
            </a:r>
            <a:r>
              <a:rPr kumimoji="0" lang="tr-TR" sz="1400" b="0" i="0" u="none" strike="noStrike" kern="1200" cap="none" spc="0" normalizeH="0" baseline="0" noProof="0" dirty="0" smtClean="0">
                <a:ln>
                  <a:noFill/>
                </a:ln>
                <a:solidFill>
                  <a:prstClr val="black"/>
                </a:solidFill>
                <a:effectLst/>
                <a:uLnTx/>
                <a:uFillTx/>
                <a:latin typeface="Calibri" panose="020F0502020204030204"/>
                <a:ea typeface="+mn-ea"/>
                <a:cs typeface="+mn-cs"/>
              </a:rPr>
              <a:t> aşılırsa fail, işlenen fiil taksirle işlendiğinde de cezalandırılıyorsa İNDİRİMLİ şekilde cezalandırılır. </a:t>
            </a:r>
          </a:p>
          <a:p>
            <a:pPr marL="180975" marR="0" lvl="0" indent="0" algn="just" defTabSz="914400" rtl="0" eaLnBrk="1" fontAlgn="auto" latinLnBrk="0" hangingPunct="1">
              <a:lnSpc>
                <a:spcPct val="100000"/>
              </a:lnSpc>
              <a:spcBef>
                <a:spcPts val="0"/>
              </a:spcBef>
              <a:spcAft>
                <a:spcPts val="0"/>
              </a:spcAft>
              <a:buClrTx/>
              <a:buSzTx/>
              <a:buFontTx/>
              <a:buNone/>
              <a:tabLst/>
              <a:defRPr/>
            </a:pPr>
            <a:r>
              <a:rPr kumimoji="0" lang="tr-TR" sz="1400" b="0" i="0" u="none" strike="noStrike" kern="1200" cap="none" spc="0" normalizeH="0" baseline="0" noProof="0" dirty="0" smtClean="0">
                <a:ln>
                  <a:noFill/>
                </a:ln>
                <a:solidFill>
                  <a:prstClr val="black"/>
                </a:solidFill>
                <a:effectLst/>
                <a:uLnTx/>
                <a:uFillTx/>
                <a:latin typeface="Calibri" panose="020F0502020204030204"/>
                <a:ea typeface="+mn-ea"/>
                <a:cs typeface="+mn-cs"/>
              </a:rPr>
              <a:t>Bu durumda fiil bütünüyle değil sınırı aştığı ölçüde hukuka aykırı sayılmaktadır. </a:t>
            </a:r>
          </a:p>
          <a:p>
            <a:pPr marL="180975" marR="0" lvl="0" indent="0" algn="just" defTabSz="914400" rtl="0" eaLnBrk="1" fontAlgn="auto" latinLnBrk="0" hangingPunct="1">
              <a:lnSpc>
                <a:spcPct val="100000"/>
              </a:lnSpc>
              <a:spcBef>
                <a:spcPts val="0"/>
              </a:spcBef>
              <a:spcAft>
                <a:spcPts val="0"/>
              </a:spcAft>
              <a:buClrTx/>
              <a:buSzTx/>
              <a:buFontTx/>
              <a:buNone/>
              <a:tabLst/>
              <a:defRPr/>
            </a:pPr>
            <a:r>
              <a:rPr kumimoji="0" lang="tr-TR" sz="1400" b="0" i="0" u="none" strike="noStrike" kern="1200" cap="none" spc="0" normalizeH="0" baseline="0" noProof="0" dirty="0" smtClean="0">
                <a:ln>
                  <a:noFill/>
                </a:ln>
                <a:solidFill>
                  <a:prstClr val="black"/>
                </a:solidFill>
                <a:effectLst/>
                <a:uLnTx/>
                <a:uFillTx/>
                <a:latin typeface="Calibri" panose="020F0502020204030204"/>
                <a:ea typeface="+mn-ea"/>
                <a:cs typeface="+mn-cs"/>
              </a:rPr>
              <a:t>Hukuka uygunluk nedenlerinde sınırın aşılmasından söz edilebilmesi için öncelikle hukuka uygunluk nedenlerinin bütün şartlarının gerçekleşmesi gerekir.</a:t>
            </a:r>
          </a:p>
        </p:txBody>
      </p:sp>
      <p:sp>
        <p:nvSpPr>
          <p:cNvPr id="11" name="Metin kutusu 10"/>
          <p:cNvSpPr txBox="1"/>
          <p:nvPr/>
        </p:nvSpPr>
        <p:spPr>
          <a:xfrm>
            <a:off x="3597352" y="4019784"/>
            <a:ext cx="8313682" cy="1384995"/>
          </a:xfrm>
          <a:prstGeom prst="rect">
            <a:avLst/>
          </a:prstGeom>
          <a:noFill/>
        </p:spPr>
        <p:txBody>
          <a:bodyPr wrap="square" rtlCol="0">
            <a:spAutoFit/>
          </a:bodyPr>
          <a:lstStyle/>
          <a:p>
            <a:pPr marL="180975" marR="0" lvl="0" indent="0" algn="just" defTabSz="914400" rtl="0" eaLnBrk="1" fontAlgn="auto" latinLnBrk="0" hangingPunct="1">
              <a:lnSpc>
                <a:spcPct val="100000"/>
              </a:lnSpc>
              <a:spcBef>
                <a:spcPts val="0"/>
              </a:spcBef>
              <a:spcAft>
                <a:spcPts val="0"/>
              </a:spcAft>
              <a:buClrTx/>
              <a:buSzTx/>
              <a:buFontTx/>
              <a:buNone/>
              <a:tabLst/>
              <a:defRPr/>
            </a:pPr>
            <a:r>
              <a:rPr kumimoji="0" lang="tr-TR" sz="1400" b="0" i="0" u="none" strike="noStrike" kern="1200" cap="none" spc="0" normalizeH="0" baseline="0" noProof="0" dirty="0" smtClean="0">
                <a:ln>
                  <a:noFill/>
                </a:ln>
                <a:solidFill>
                  <a:prstClr val="black"/>
                </a:solidFill>
                <a:effectLst/>
                <a:uLnTx/>
                <a:uFillTx/>
                <a:latin typeface="Calibri" panose="020F0502020204030204"/>
                <a:ea typeface="+mn-ea"/>
                <a:cs typeface="+mn-cs"/>
              </a:rPr>
              <a:t>Meşru savunmada sınırın aşılması</a:t>
            </a:r>
          </a:p>
          <a:p>
            <a:pPr marL="628650" marR="0" lvl="0" indent="-26670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tr-TR" sz="1400" b="0" i="0" u="none" strike="noStrike" kern="1200" cap="none" spc="0" normalizeH="0" baseline="0" noProof="0" dirty="0" smtClean="0">
                <a:ln>
                  <a:noFill/>
                </a:ln>
                <a:solidFill>
                  <a:prstClr val="black"/>
                </a:solidFill>
                <a:effectLst/>
                <a:uLnTx/>
                <a:uFillTx/>
                <a:latin typeface="Calibri" panose="020F0502020204030204"/>
                <a:ea typeface="+mn-ea"/>
                <a:cs typeface="+mn-cs"/>
              </a:rPr>
              <a:t>Meşru savunmanın saldırı ve savunmaya ilişkin şartlarının gerçekleşmesi gerekir.</a:t>
            </a:r>
          </a:p>
          <a:p>
            <a:pPr marL="628650" marR="0" lvl="0" indent="-26670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tr-TR" sz="1400" b="0" i="0" u="none" strike="noStrike" kern="1200" cap="none" spc="0" normalizeH="0" baseline="0" noProof="0" dirty="0" smtClean="0">
                <a:ln>
                  <a:noFill/>
                </a:ln>
                <a:solidFill>
                  <a:prstClr val="black"/>
                </a:solidFill>
                <a:effectLst/>
                <a:uLnTx/>
                <a:uFillTx/>
                <a:latin typeface="Calibri" panose="020F0502020204030204"/>
                <a:ea typeface="+mn-ea"/>
                <a:cs typeface="+mn-cs"/>
              </a:rPr>
              <a:t>Sınırın aşılması heyecan, korku veya telaştan kaynaklanmalıdır.</a:t>
            </a:r>
          </a:p>
          <a:p>
            <a:pPr marL="628650" marR="0" lvl="0" indent="-26670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tr-TR" sz="1400" b="0" i="0" u="none" strike="noStrike" kern="1200" cap="none" spc="0" normalizeH="0" baseline="0" noProof="0" dirty="0" smtClean="0">
                <a:ln>
                  <a:noFill/>
                </a:ln>
                <a:solidFill>
                  <a:prstClr val="black"/>
                </a:solidFill>
                <a:effectLst/>
                <a:uLnTx/>
                <a:uFillTx/>
                <a:latin typeface="Calibri" panose="020F0502020204030204"/>
                <a:ea typeface="+mn-ea"/>
                <a:cs typeface="+mn-cs"/>
              </a:rPr>
              <a:t>Yukarıdaki şartlar gerçekleşirse faile ceza verilmez.</a:t>
            </a:r>
          </a:p>
          <a:p>
            <a:pPr marL="1257300" marR="0" lvl="0" indent="0" algn="just" defTabSz="914400" rtl="0" eaLnBrk="1" fontAlgn="auto" latinLnBrk="0" hangingPunct="1">
              <a:lnSpc>
                <a:spcPct val="100000"/>
              </a:lnSpc>
              <a:spcBef>
                <a:spcPts val="0"/>
              </a:spcBef>
              <a:spcAft>
                <a:spcPts val="0"/>
              </a:spcAft>
              <a:buClrTx/>
              <a:buSzTx/>
              <a:buFontTx/>
              <a:buNone/>
              <a:tabLst/>
              <a:defRPr/>
            </a:pPr>
            <a:r>
              <a:rPr kumimoji="0" lang="tr-TR" sz="1400" b="0" i="0" u="none" strike="noStrike" kern="1200" cap="none" spc="0" normalizeH="0" baseline="0" noProof="0" dirty="0" smtClean="0">
                <a:ln>
                  <a:noFill/>
                </a:ln>
                <a:solidFill>
                  <a:prstClr val="black"/>
                </a:solidFill>
                <a:effectLst/>
                <a:uLnTx/>
                <a:uFillTx/>
                <a:latin typeface="Calibri" panose="020F0502020204030204"/>
                <a:ea typeface="+mn-ea"/>
                <a:cs typeface="+mn-cs"/>
              </a:rPr>
              <a:t>Ayrıca, meşru savunmada sınırın aşılmasının mazur görülebilmesi için saldırının yaşam hakkı, beden bütünlüğü, cinsel dokunulmazlık gibi önemli bir hakka yönelik olması gerekmektedir.</a:t>
            </a:r>
          </a:p>
        </p:txBody>
      </p:sp>
      <p:cxnSp>
        <p:nvCxnSpPr>
          <p:cNvPr id="4" name="Eğri Bağlayıcı 3"/>
          <p:cNvCxnSpPr/>
          <p:nvPr/>
        </p:nvCxnSpPr>
        <p:spPr>
          <a:xfrm>
            <a:off x="2819400" y="2498056"/>
            <a:ext cx="809625" cy="119019"/>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ğri Bağlayıcı 6"/>
          <p:cNvCxnSpPr/>
          <p:nvPr/>
        </p:nvCxnSpPr>
        <p:spPr>
          <a:xfrm>
            <a:off x="2686050" y="2527308"/>
            <a:ext cx="942975" cy="445169"/>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ğri Bağlayıcı 19"/>
          <p:cNvCxnSpPr/>
          <p:nvPr/>
        </p:nvCxnSpPr>
        <p:spPr>
          <a:xfrm rot="16200000" flipH="1">
            <a:off x="2408720" y="2758695"/>
            <a:ext cx="1507162" cy="1104899"/>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Metin kutusu 12"/>
          <p:cNvSpPr txBox="1"/>
          <p:nvPr/>
        </p:nvSpPr>
        <p:spPr>
          <a:xfrm>
            <a:off x="4627939" y="5705598"/>
            <a:ext cx="6464148" cy="307777"/>
          </a:xfrm>
          <a:prstGeom prst="rect">
            <a:avLst/>
          </a:prstGeom>
          <a:noFill/>
        </p:spPr>
        <p:txBody>
          <a:bodyPr wrap="square" rtlCol="0">
            <a:spAutoFit/>
          </a:bodyPr>
          <a:lstStyle/>
          <a:p>
            <a:pPr marL="180975" marR="0" lvl="0" indent="0" algn="just" defTabSz="914400" rtl="0" eaLnBrk="1" fontAlgn="auto" latinLnBrk="0" hangingPunct="1">
              <a:lnSpc>
                <a:spcPct val="100000"/>
              </a:lnSpc>
              <a:spcBef>
                <a:spcPts val="0"/>
              </a:spcBef>
              <a:spcAft>
                <a:spcPts val="0"/>
              </a:spcAft>
              <a:buClrTx/>
              <a:buSzTx/>
              <a:buFontTx/>
              <a:buNone/>
              <a:tabLst/>
              <a:defRPr/>
            </a:pPr>
            <a:r>
              <a:rPr kumimoji="0" lang="tr-TR" sz="1400" b="0" i="1" u="none" strike="noStrike" kern="1200" cap="none" spc="0" normalizeH="0" baseline="0" noProof="0" dirty="0" smtClean="0">
                <a:ln>
                  <a:noFill/>
                </a:ln>
                <a:effectLst>
                  <a:outerShdw blurRad="38100" dist="38100" dir="2700000" algn="tl">
                    <a:srgbClr val="000000">
                      <a:alpha val="43137"/>
                    </a:srgbClr>
                  </a:outerShdw>
                </a:effectLst>
                <a:uLnTx/>
                <a:uFillTx/>
                <a:latin typeface="Calibri" panose="020F0502020204030204"/>
                <a:ea typeface="+mn-ea"/>
                <a:cs typeface="+mn-cs"/>
              </a:rPr>
              <a:t>Sınırı</a:t>
            </a:r>
            <a:r>
              <a:rPr kumimoji="0" lang="tr-TR" sz="1400" b="0" i="1" u="none" strike="noStrike" kern="1200" cap="none" spc="0" normalizeH="0" noProof="0" dirty="0" smtClean="0">
                <a:ln>
                  <a:noFill/>
                </a:ln>
                <a:effectLst>
                  <a:outerShdw blurRad="38100" dist="38100" dir="2700000" algn="tl">
                    <a:srgbClr val="000000">
                      <a:alpha val="43137"/>
                    </a:srgbClr>
                  </a:outerShdw>
                </a:effectLst>
                <a:uLnTx/>
                <a:uFillTx/>
                <a:latin typeface="Calibri" panose="020F0502020204030204"/>
                <a:ea typeface="+mn-ea"/>
                <a:cs typeface="+mn-cs"/>
              </a:rPr>
              <a:t> aşan fiil, bütünüyle değil; </a:t>
            </a:r>
            <a:r>
              <a:rPr kumimoji="0" lang="tr-TR" sz="1400" b="0" i="1" u="sng" strike="noStrike" kern="1200" cap="none" spc="0" normalizeH="0" noProof="0" dirty="0" smtClean="0">
                <a:ln>
                  <a:noFill/>
                </a:ln>
                <a:effectLst>
                  <a:outerShdw blurRad="38100" dist="38100" dir="2700000" algn="tl">
                    <a:srgbClr val="000000">
                      <a:alpha val="43137"/>
                    </a:srgbClr>
                  </a:outerShdw>
                </a:effectLst>
                <a:uLnTx/>
                <a:uFillTx/>
                <a:latin typeface="Calibri" panose="020F0502020204030204"/>
                <a:ea typeface="+mn-ea"/>
                <a:cs typeface="+mn-cs"/>
              </a:rPr>
              <a:t>sınırı aştığı ölçüde</a:t>
            </a:r>
            <a:r>
              <a:rPr kumimoji="0" lang="tr-TR" sz="1400" b="0" i="1" u="none" strike="noStrike" kern="1200" cap="none" spc="0" normalizeH="0" noProof="0" dirty="0" smtClean="0">
                <a:ln>
                  <a:noFill/>
                </a:ln>
                <a:effectLst>
                  <a:outerShdw blurRad="38100" dist="38100" dir="2700000" algn="tl">
                    <a:srgbClr val="000000">
                      <a:alpha val="43137"/>
                    </a:srgbClr>
                  </a:outerShdw>
                </a:effectLst>
                <a:uLnTx/>
                <a:uFillTx/>
                <a:latin typeface="Calibri" panose="020F0502020204030204"/>
                <a:ea typeface="+mn-ea"/>
                <a:cs typeface="+mn-cs"/>
              </a:rPr>
              <a:t> hukuka aykırı sayılmaktadır.</a:t>
            </a:r>
            <a:endParaRPr kumimoji="0" lang="tr-TR" sz="1400" b="0" i="1" u="none" strike="noStrike" kern="1200" cap="none" spc="0" normalizeH="0" baseline="0" noProof="0" dirty="0" smtClean="0">
              <a:ln>
                <a:noFill/>
              </a:ln>
              <a:effectLst>
                <a:outerShdw blurRad="38100" dist="38100" dir="2700000" algn="tl">
                  <a:srgbClr val="000000">
                    <a:alpha val="43137"/>
                  </a:srgbClr>
                </a:outerShdw>
              </a:effectLst>
              <a:uLnTx/>
              <a:uFillTx/>
              <a:latin typeface="Calibri" panose="020F0502020204030204"/>
              <a:ea typeface="+mn-ea"/>
              <a:cs typeface="+mn-cs"/>
            </a:endParaRPr>
          </a:p>
        </p:txBody>
      </p:sp>
      <p:sp>
        <p:nvSpPr>
          <p:cNvPr id="15" name="Metin kutusu 14"/>
          <p:cNvSpPr txBox="1"/>
          <p:nvPr/>
        </p:nvSpPr>
        <p:spPr>
          <a:xfrm>
            <a:off x="3714751" y="3677912"/>
            <a:ext cx="8313682" cy="261610"/>
          </a:xfrm>
          <a:prstGeom prst="rect">
            <a:avLst/>
          </a:prstGeom>
          <a:noFill/>
        </p:spPr>
        <p:txBody>
          <a:bodyPr wrap="square" rtlCol="0">
            <a:spAutoFit/>
          </a:bodyPr>
          <a:lstStyle/>
          <a:p>
            <a:pPr marL="180975" marR="0" lvl="0" indent="0" algn="just" defTabSz="914400" rtl="0" eaLnBrk="1" fontAlgn="auto" latinLnBrk="0" hangingPunct="1">
              <a:lnSpc>
                <a:spcPct val="100000"/>
              </a:lnSpc>
              <a:spcBef>
                <a:spcPts val="0"/>
              </a:spcBef>
              <a:spcAft>
                <a:spcPts val="0"/>
              </a:spcAft>
              <a:buClrTx/>
              <a:buSzTx/>
              <a:buFontTx/>
              <a:buNone/>
              <a:tabLst/>
              <a:defRPr/>
            </a:pPr>
            <a:r>
              <a:rPr kumimoji="0" lang="tr-TR" sz="1100" b="0" i="0" u="none" strike="noStrike" kern="1200" cap="none" spc="0" normalizeH="0" baseline="0" noProof="0" dirty="0" smtClean="0">
                <a:ln>
                  <a:noFill/>
                </a:ln>
                <a:solidFill>
                  <a:prstClr val="black"/>
                </a:solidFill>
                <a:effectLst/>
                <a:uLnTx/>
                <a:uFillTx/>
                <a:latin typeface="Calibri" panose="020F0502020204030204"/>
                <a:ea typeface="+mn-ea"/>
                <a:cs typeface="+mn-cs"/>
              </a:rPr>
              <a:t>Örnek: Ev arama emrine</a:t>
            </a:r>
            <a:r>
              <a:rPr kumimoji="0" lang="tr-TR" sz="1100" b="0" i="0" u="none" strike="noStrike" kern="1200" cap="none" spc="0" normalizeH="0" noProof="0" dirty="0" smtClean="0">
                <a:ln>
                  <a:noFill/>
                </a:ln>
                <a:solidFill>
                  <a:prstClr val="black"/>
                </a:solidFill>
                <a:effectLst/>
                <a:uLnTx/>
                <a:uFillTx/>
                <a:latin typeface="Calibri" panose="020F0502020204030204"/>
                <a:ea typeface="+mn-ea"/>
                <a:cs typeface="+mn-cs"/>
              </a:rPr>
              <a:t> istinaden evde arama yaptıktan sonra evin altındaki işyerini de evin devamı sayıp orada da arama yapmak</a:t>
            </a:r>
            <a:endParaRPr kumimoji="0" lang="tr-TR" sz="11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p:txBody>
      </p:sp>
      <p:sp>
        <p:nvSpPr>
          <p:cNvPr id="17"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6" name="Slayt Numarası Yer Tutucusu 5"/>
          <p:cNvSpPr>
            <a:spLocks noGrp="1"/>
          </p:cNvSpPr>
          <p:nvPr>
            <p:ph type="sldNum" sz="quarter" idx="12"/>
          </p:nvPr>
        </p:nvSpPr>
        <p:spPr/>
        <p:txBody>
          <a:bodyPr/>
          <a:lstStyle/>
          <a:p>
            <a:fld id="{39F9BA00-44CD-41D4-A3D8-F864C744DC1F}" type="slidenum">
              <a:rPr lang="tr-TR" smtClean="0"/>
              <a:t>70</a:t>
            </a:fld>
            <a:r>
              <a:rPr lang="tr-TR"/>
              <a:t>/116</a:t>
            </a:r>
          </a:p>
        </p:txBody>
      </p:sp>
    </p:spTree>
    <p:extLst>
      <p:ext uri="{BB962C8B-B14F-4D97-AF65-F5344CB8AC3E}">
        <p14:creationId xmlns:p14="http://schemas.microsoft.com/office/powerpoint/2010/main" val="344005124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Çeşitli Hata halleri 	</a:t>
            </a:r>
            <a:endParaRPr lang="tr-TR" b="1" dirty="0"/>
          </a:p>
        </p:txBody>
      </p:sp>
      <p:sp>
        <p:nvSpPr>
          <p:cNvPr id="12" name="Dikdörtgen 11"/>
          <p:cNvSpPr/>
          <p:nvPr/>
        </p:nvSpPr>
        <p:spPr>
          <a:xfrm>
            <a:off x="0" y="5212345"/>
            <a:ext cx="3808992" cy="1631216"/>
          </a:xfrm>
          <a:prstGeom prst="rect">
            <a:avLst/>
          </a:prstGeom>
        </p:spPr>
        <p:txBody>
          <a:bodyPr wrap="square">
            <a:spAutoFit/>
          </a:bodyPr>
          <a:lstStyle/>
          <a:p>
            <a:pPr marL="180975" indent="-180975" algn="just">
              <a:buFont typeface="+mj-lt"/>
              <a:buAutoNum type="arabicPeriod"/>
            </a:pPr>
            <a:r>
              <a:rPr lang="tr-TR" sz="1000" dirty="0" smtClean="0"/>
              <a:t>Yaş küçüklüğü</a:t>
            </a:r>
          </a:p>
          <a:p>
            <a:pPr marL="180975" indent="-180975" algn="just">
              <a:buFont typeface="+mj-lt"/>
              <a:buAutoNum type="arabicPeriod"/>
            </a:pPr>
            <a:r>
              <a:rPr lang="tr-TR" sz="1000" dirty="0"/>
              <a:t>Sağır ve Dilsizlik</a:t>
            </a:r>
          </a:p>
          <a:p>
            <a:pPr marL="180975" indent="-180975" algn="just">
              <a:buFont typeface="+mj-lt"/>
              <a:buAutoNum type="arabicPeriod"/>
            </a:pPr>
            <a:r>
              <a:rPr lang="tr-TR" sz="1000" dirty="0"/>
              <a:t>Akıl Hastalığı</a:t>
            </a:r>
          </a:p>
          <a:p>
            <a:pPr marL="180975" indent="-180975" algn="just">
              <a:buFont typeface="+mj-lt"/>
              <a:buAutoNum type="arabicPeriod"/>
            </a:pPr>
            <a:r>
              <a:rPr lang="tr-TR" sz="1000" dirty="0"/>
              <a:t>Geçici Nedenler, Alkol veya Uyuşturucu Madde Etkisinde Olma</a:t>
            </a:r>
          </a:p>
          <a:p>
            <a:pPr marL="180975" indent="-180975" algn="just">
              <a:buFont typeface="+mj-lt"/>
              <a:buAutoNum type="arabicPeriod"/>
            </a:pPr>
            <a:r>
              <a:rPr lang="tr-TR" sz="1000" dirty="0"/>
              <a:t>Hukuka Aykırı fakat Bağlayıcı bir Emrin Yerine Getirilmesi</a:t>
            </a:r>
          </a:p>
          <a:p>
            <a:pPr marL="180975" indent="-180975" algn="just">
              <a:buFont typeface="+mj-lt"/>
              <a:buAutoNum type="arabicPeriod"/>
            </a:pPr>
            <a:r>
              <a:rPr lang="tr-TR" sz="1000" dirty="0"/>
              <a:t>Zorunluluk Hali</a:t>
            </a:r>
          </a:p>
          <a:p>
            <a:pPr marL="180975" indent="-180975" algn="just">
              <a:buFont typeface="+mj-lt"/>
              <a:buAutoNum type="arabicPeriod"/>
            </a:pPr>
            <a:r>
              <a:rPr lang="tr-TR" sz="1000" dirty="0"/>
              <a:t>Cebir ve tehdit Dolayısıyla Kişinin İrade Yetkisinin Etkilenmesi</a:t>
            </a:r>
          </a:p>
          <a:p>
            <a:pPr marL="180975" indent="-180975" algn="just">
              <a:buFont typeface="+mj-lt"/>
              <a:buAutoNum type="arabicPeriod"/>
            </a:pPr>
            <a:r>
              <a:rPr lang="tr-TR" sz="1000" dirty="0"/>
              <a:t>Haksız Tahrik</a:t>
            </a:r>
          </a:p>
          <a:p>
            <a:pPr marL="180975" indent="-180975" algn="just">
              <a:buFont typeface="+mj-lt"/>
              <a:buAutoNum type="arabicPeriod"/>
            </a:pPr>
            <a:r>
              <a:rPr lang="tr-TR" sz="1000" dirty="0"/>
              <a:t>Hukuka Uygunluk Nedenlerinde Sınırın Aşılması</a:t>
            </a:r>
          </a:p>
          <a:p>
            <a:pPr marL="180975" indent="-180975" algn="just">
              <a:buFont typeface="+mj-lt"/>
              <a:buAutoNum type="arabicPeriod"/>
            </a:pPr>
            <a:r>
              <a:rPr lang="tr-TR" sz="1000" u="sng" dirty="0">
                <a:effectLst>
                  <a:outerShdw blurRad="38100" dist="38100" dir="2700000" algn="tl">
                    <a:srgbClr val="000000">
                      <a:alpha val="43137"/>
                    </a:srgbClr>
                  </a:outerShdw>
                </a:effectLst>
              </a:rPr>
              <a:t>Kusurluluğu Etkileyen Hata Halleri</a:t>
            </a:r>
            <a:endParaRPr lang="fr-FR" sz="1000" u="sng" dirty="0">
              <a:effectLst>
                <a:outerShdw blurRad="38100" dist="38100" dir="2700000" algn="tl">
                  <a:srgbClr val="000000">
                    <a:alpha val="43137"/>
                  </a:srgbClr>
                </a:outerShdw>
              </a:effectLst>
            </a:endParaRPr>
          </a:p>
        </p:txBody>
      </p:sp>
      <p:sp>
        <p:nvSpPr>
          <p:cNvPr id="9" name="Dikdörtgen 8"/>
          <p:cNvSpPr/>
          <p:nvPr/>
        </p:nvSpPr>
        <p:spPr>
          <a:xfrm>
            <a:off x="2280825" y="2426202"/>
            <a:ext cx="7520400" cy="584775"/>
          </a:xfrm>
          <a:prstGeom prst="rect">
            <a:avLst/>
          </a:prstGeom>
        </p:spPr>
        <p:txBody>
          <a:bodyPr wrap="square">
            <a:spAutoFit/>
          </a:bodyPr>
          <a:lstStyle/>
          <a:p>
            <a:pPr algn="just"/>
            <a:r>
              <a:rPr lang="tr-TR" sz="1600" b="1" dirty="0" smtClean="0">
                <a:effectLst>
                  <a:outerShdw blurRad="38100" dist="38100" dir="2700000" algn="tl">
                    <a:srgbClr val="000000">
                      <a:alpha val="43137"/>
                    </a:srgbClr>
                  </a:outerShdw>
                </a:effectLst>
              </a:rPr>
              <a:t>Hata</a:t>
            </a:r>
            <a:r>
              <a:rPr lang="tr-TR" sz="1600" dirty="0" smtClean="0"/>
              <a:t>	: Gerçek ile failin zihninin geçirdikleri arasındaki fark,</a:t>
            </a:r>
          </a:p>
          <a:p>
            <a:pPr algn="just"/>
            <a:r>
              <a:rPr lang="tr-TR" sz="1600" dirty="0" smtClean="0"/>
              <a:t>     	 Gerçek bilinmemekte, yanlış veya eksik bilinmektedir</a:t>
            </a:r>
            <a:endParaRPr lang="tr-TR" sz="1600" dirty="0"/>
          </a:p>
        </p:txBody>
      </p:sp>
      <p:sp>
        <p:nvSpPr>
          <p:cNvPr id="7" name="Dikdörtgen 6"/>
          <p:cNvSpPr/>
          <p:nvPr/>
        </p:nvSpPr>
        <p:spPr>
          <a:xfrm>
            <a:off x="2280825" y="3741109"/>
            <a:ext cx="976725" cy="584775"/>
          </a:xfrm>
          <a:prstGeom prst="rect">
            <a:avLst/>
          </a:prstGeom>
        </p:spPr>
        <p:txBody>
          <a:bodyPr wrap="square">
            <a:spAutoFit/>
          </a:bodyPr>
          <a:lstStyle/>
          <a:p>
            <a:pPr algn="just"/>
            <a:r>
              <a:rPr lang="tr-TR" sz="1600" b="1" dirty="0" smtClean="0">
                <a:effectLst>
                  <a:outerShdw blurRad="38100" dist="38100" dir="2700000" algn="tl">
                    <a:srgbClr val="000000">
                      <a:alpha val="43137"/>
                    </a:srgbClr>
                  </a:outerShdw>
                </a:effectLst>
              </a:rPr>
              <a:t>Hata	</a:t>
            </a:r>
            <a:endParaRPr lang="tr-TR" sz="1600" b="1" dirty="0">
              <a:effectLst>
                <a:outerShdw blurRad="38100" dist="38100" dir="2700000" algn="tl">
                  <a:srgbClr val="000000">
                    <a:alpha val="43137"/>
                  </a:srgbClr>
                </a:outerShdw>
              </a:effectLst>
            </a:endParaRPr>
          </a:p>
        </p:txBody>
      </p:sp>
      <p:sp>
        <p:nvSpPr>
          <p:cNvPr id="8" name="Dikdörtgen 7"/>
          <p:cNvSpPr/>
          <p:nvPr/>
        </p:nvSpPr>
        <p:spPr>
          <a:xfrm>
            <a:off x="3480975" y="3402555"/>
            <a:ext cx="4834350" cy="338554"/>
          </a:xfrm>
          <a:prstGeom prst="rect">
            <a:avLst/>
          </a:prstGeom>
        </p:spPr>
        <p:txBody>
          <a:bodyPr wrap="square">
            <a:spAutoFit/>
          </a:bodyPr>
          <a:lstStyle/>
          <a:p>
            <a:pPr algn="just"/>
            <a:r>
              <a:rPr lang="tr-TR" sz="1600" dirty="0" smtClean="0"/>
              <a:t>Suçun tipikliğine ait unsurlardan</a:t>
            </a:r>
            <a:endParaRPr lang="tr-TR" sz="1600" dirty="0"/>
          </a:p>
        </p:txBody>
      </p:sp>
      <p:sp>
        <p:nvSpPr>
          <p:cNvPr id="10" name="Dikdörtgen 9"/>
          <p:cNvSpPr/>
          <p:nvPr/>
        </p:nvSpPr>
        <p:spPr>
          <a:xfrm>
            <a:off x="3480974" y="3694942"/>
            <a:ext cx="5482051" cy="338554"/>
          </a:xfrm>
          <a:prstGeom prst="rect">
            <a:avLst/>
          </a:prstGeom>
        </p:spPr>
        <p:txBody>
          <a:bodyPr wrap="square">
            <a:spAutoFit/>
          </a:bodyPr>
          <a:lstStyle/>
          <a:p>
            <a:pPr algn="just"/>
            <a:r>
              <a:rPr lang="tr-TR" sz="1600" dirty="0" smtClean="0"/>
              <a:t>Hukuka uygunluk nedenlerine ilişkin gerçekleşme koşullarından</a:t>
            </a:r>
            <a:endParaRPr lang="tr-TR" sz="1600" dirty="0"/>
          </a:p>
        </p:txBody>
      </p:sp>
      <p:sp>
        <p:nvSpPr>
          <p:cNvPr id="13" name="Dikdörtgen 12"/>
          <p:cNvSpPr/>
          <p:nvPr/>
        </p:nvSpPr>
        <p:spPr>
          <a:xfrm>
            <a:off x="3480974" y="3987330"/>
            <a:ext cx="6215475" cy="338554"/>
          </a:xfrm>
          <a:prstGeom prst="rect">
            <a:avLst/>
          </a:prstGeom>
        </p:spPr>
        <p:txBody>
          <a:bodyPr wrap="square">
            <a:spAutoFit/>
          </a:bodyPr>
          <a:lstStyle/>
          <a:p>
            <a:pPr algn="just"/>
            <a:r>
              <a:rPr lang="tr-TR" sz="1600" dirty="0" smtClean="0"/>
              <a:t>Suçun nitelikli unsurlarından</a:t>
            </a:r>
            <a:endParaRPr lang="tr-TR" sz="1600" dirty="0"/>
          </a:p>
        </p:txBody>
      </p:sp>
      <p:sp>
        <p:nvSpPr>
          <p:cNvPr id="14" name="Dikdörtgen 13"/>
          <p:cNvSpPr/>
          <p:nvPr/>
        </p:nvSpPr>
        <p:spPr>
          <a:xfrm>
            <a:off x="3480974" y="4279718"/>
            <a:ext cx="6215475" cy="338554"/>
          </a:xfrm>
          <a:prstGeom prst="rect">
            <a:avLst/>
          </a:prstGeom>
        </p:spPr>
        <p:txBody>
          <a:bodyPr wrap="square">
            <a:spAutoFit/>
          </a:bodyPr>
          <a:lstStyle/>
          <a:p>
            <a:pPr algn="just"/>
            <a:r>
              <a:rPr lang="tr-TR" sz="1600" dirty="0" smtClean="0"/>
              <a:t>Failin iç dünyasından </a:t>
            </a:r>
            <a:endParaRPr lang="tr-TR" sz="1600" dirty="0"/>
          </a:p>
        </p:txBody>
      </p:sp>
      <p:sp>
        <p:nvSpPr>
          <p:cNvPr id="15" name="Dikdörtgen 14"/>
          <p:cNvSpPr/>
          <p:nvPr/>
        </p:nvSpPr>
        <p:spPr>
          <a:xfrm>
            <a:off x="9696449" y="3671859"/>
            <a:ext cx="1840913" cy="338554"/>
          </a:xfrm>
          <a:prstGeom prst="rect">
            <a:avLst/>
          </a:prstGeom>
        </p:spPr>
        <p:txBody>
          <a:bodyPr wrap="square">
            <a:spAutoFit/>
          </a:bodyPr>
          <a:lstStyle/>
          <a:p>
            <a:pPr algn="just"/>
            <a:r>
              <a:rPr lang="tr-TR" sz="1600" dirty="0" smtClean="0">
                <a:effectLst>
                  <a:outerShdw blurRad="38100" dist="38100" dir="2700000" algn="tl">
                    <a:srgbClr val="000000">
                      <a:alpha val="43137"/>
                    </a:srgbClr>
                  </a:outerShdw>
                </a:effectLst>
              </a:rPr>
              <a:t>Kaynaklanabilir</a:t>
            </a:r>
            <a:endParaRPr lang="tr-TR" sz="1600" dirty="0">
              <a:effectLst>
                <a:outerShdw blurRad="38100" dist="38100" dir="2700000" algn="tl">
                  <a:srgbClr val="000000">
                    <a:alpha val="43137"/>
                  </a:srgbClr>
                </a:outerShdw>
              </a:effectLst>
            </a:endParaRPr>
          </a:p>
        </p:txBody>
      </p:sp>
      <p:sp>
        <p:nvSpPr>
          <p:cNvPr id="2" name="Şeritli Sağ Ok 1"/>
          <p:cNvSpPr/>
          <p:nvPr/>
        </p:nvSpPr>
        <p:spPr>
          <a:xfrm rot="19766729">
            <a:off x="2943020" y="3708876"/>
            <a:ext cx="558623" cy="71268"/>
          </a:xfrm>
          <a:prstGeom prst="stripedRigh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Şeritli Sağ Ok 16"/>
          <p:cNvSpPr/>
          <p:nvPr/>
        </p:nvSpPr>
        <p:spPr>
          <a:xfrm rot="524816">
            <a:off x="2978238" y="4082357"/>
            <a:ext cx="558623" cy="71268"/>
          </a:xfrm>
          <a:prstGeom prst="stripedRigh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Şeritli Sağ Ok 17"/>
          <p:cNvSpPr/>
          <p:nvPr/>
        </p:nvSpPr>
        <p:spPr>
          <a:xfrm rot="1844680">
            <a:off x="2959377" y="4281949"/>
            <a:ext cx="558623" cy="71268"/>
          </a:xfrm>
          <a:prstGeom prst="stripedRigh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Şeritli Sağ Ok 18"/>
          <p:cNvSpPr/>
          <p:nvPr/>
        </p:nvSpPr>
        <p:spPr>
          <a:xfrm rot="21367144">
            <a:off x="2978237" y="3930967"/>
            <a:ext cx="558623" cy="71268"/>
          </a:xfrm>
          <a:prstGeom prst="striped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Sağ Ayraç 3"/>
          <p:cNvSpPr/>
          <p:nvPr/>
        </p:nvSpPr>
        <p:spPr>
          <a:xfrm>
            <a:off x="9048749" y="3243874"/>
            <a:ext cx="238125" cy="1374398"/>
          </a:xfrm>
          <a:prstGeom prst="rightBrace">
            <a:avLst/>
          </a:prstGeom>
          <a:ln w="38100">
            <a:solidFill>
              <a:schemeClr val="tx1">
                <a:alpha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0"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6" name="Slayt Numarası Yer Tutucusu 5"/>
          <p:cNvSpPr>
            <a:spLocks noGrp="1"/>
          </p:cNvSpPr>
          <p:nvPr>
            <p:ph type="sldNum" sz="quarter" idx="12"/>
          </p:nvPr>
        </p:nvSpPr>
        <p:spPr/>
        <p:txBody>
          <a:bodyPr/>
          <a:lstStyle/>
          <a:p>
            <a:fld id="{39F9BA00-44CD-41D4-A3D8-F864C744DC1F}" type="slidenum">
              <a:rPr lang="tr-TR" smtClean="0"/>
              <a:t>71</a:t>
            </a:fld>
            <a:r>
              <a:rPr lang="tr-TR"/>
              <a:t>/116</a:t>
            </a:r>
          </a:p>
        </p:txBody>
      </p:sp>
    </p:spTree>
    <p:extLst>
      <p:ext uri="{BB962C8B-B14F-4D97-AF65-F5344CB8AC3E}">
        <p14:creationId xmlns:p14="http://schemas.microsoft.com/office/powerpoint/2010/main" val="31533823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Çeşitli Hata halleri 	</a:t>
            </a:r>
            <a:endParaRPr lang="tr-TR" b="1" dirty="0"/>
          </a:p>
        </p:txBody>
      </p:sp>
      <p:sp>
        <p:nvSpPr>
          <p:cNvPr id="12" name="Dikdörtgen 11"/>
          <p:cNvSpPr/>
          <p:nvPr/>
        </p:nvSpPr>
        <p:spPr>
          <a:xfrm>
            <a:off x="0" y="5212345"/>
            <a:ext cx="3808992" cy="1631216"/>
          </a:xfrm>
          <a:prstGeom prst="rect">
            <a:avLst/>
          </a:prstGeom>
        </p:spPr>
        <p:txBody>
          <a:bodyPr wrap="square">
            <a:spAutoFit/>
          </a:bodyPr>
          <a:lstStyle/>
          <a:p>
            <a:pPr marL="180975" indent="-180975" algn="just">
              <a:buFont typeface="+mj-lt"/>
              <a:buAutoNum type="arabicPeriod"/>
            </a:pPr>
            <a:r>
              <a:rPr lang="tr-TR" sz="1000" dirty="0" smtClean="0"/>
              <a:t>Yaş küçüklüğü</a:t>
            </a:r>
          </a:p>
          <a:p>
            <a:pPr marL="180975" indent="-180975" algn="just">
              <a:buFont typeface="+mj-lt"/>
              <a:buAutoNum type="arabicPeriod"/>
            </a:pPr>
            <a:r>
              <a:rPr lang="tr-TR" sz="1000" dirty="0"/>
              <a:t>Sağır ve Dilsizlik</a:t>
            </a:r>
          </a:p>
          <a:p>
            <a:pPr marL="180975" indent="-180975" algn="just">
              <a:buFont typeface="+mj-lt"/>
              <a:buAutoNum type="arabicPeriod"/>
            </a:pPr>
            <a:r>
              <a:rPr lang="tr-TR" sz="1000" dirty="0"/>
              <a:t>Akıl Hastalığı</a:t>
            </a:r>
          </a:p>
          <a:p>
            <a:pPr marL="180975" indent="-180975" algn="just">
              <a:buFont typeface="+mj-lt"/>
              <a:buAutoNum type="arabicPeriod"/>
            </a:pPr>
            <a:r>
              <a:rPr lang="tr-TR" sz="1000" dirty="0"/>
              <a:t>Geçici Nedenler, Alkol veya Uyuşturucu Madde Etkisinde Olma</a:t>
            </a:r>
          </a:p>
          <a:p>
            <a:pPr marL="180975" indent="-180975" algn="just">
              <a:buFont typeface="+mj-lt"/>
              <a:buAutoNum type="arabicPeriod"/>
            </a:pPr>
            <a:r>
              <a:rPr lang="tr-TR" sz="1000" dirty="0"/>
              <a:t>Hukuka Aykırı fakat Bağlayıcı bir Emrin Yerine Getirilmesi</a:t>
            </a:r>
          </a:p>
          <a:p>
            <a:pPr marL="180975" indent="-180975" algn="just">
              <a:buFont typeface="+mj-lt"/>
              <a:buAutoNum type="arabicPeriod"/>
            </a:pPr>
            <a:r>
              <a:rPr lang="tr-TR" sz="1000" dirty="0"/>
              <a:t>Zorunluluk Hali</a:t>
            </a:r>
          </a:p>
          <a:p>
            <a:pPr marL="180975" indent="-180975" algn="just">
              <a:buFont typeface="+mj-lt"/>
              <a:buAutoNum type="arabicPeriod"/>
            </a:pPr>
            <a:r>
              <a:rPr lang="tr-TR" sz="1000" dirty="0"/>
              <a:t>Cebir ve tehdit Dolayısıyla Kişinin İrade Yetkisinin Etkilenmesi</a:t>
            </a:r>
          </a:p>
          <a:p>
            <a:pPr marL="180975" indent="-180975" algn="just">
              <a:buFont typeface="+mj-lt"/>
              <a:buAutoNum type="arabicPeriod"/>
            </a:pPr>
            <a:r>
              <a:rPr lang="tr-TR" sz="1000" dirty="0"/>
              <a:t>Haksız Tahrik</a:t>
            </a:r>
          </a:p>
          <a:p>
            <a:pPr marL="180975" indent="-180975" algn="just">
              <a:buFont typeface="+mj-lt"/>
              <a:buAutoNum type="arabicPeriod"/>
            </a:pPr>
            <a:r>
              <a:rPr lang="tr-TR" sz="1000" dirty="0"/>
              <a:t>Hukuka Uygunluk Nedenlerinde Sınırın Aşılması</a:t>
            </a:r>
          </a:p>
          <a:p>
            <a:pPr marL="180975" indent="-180975" algn="just">
              <a:buFont typeface="+mj-lt"/>
              <a:buAutoNum type="arabicPeriod"/>
            </a:pPr>
            <a:r>
              <a:rPr lang="tr-TR" sz="1000" u="sng" dirty="0">
                <a:effectLst>
                  <a:outerShdw blurRad="38100" dist="38100" dir="2700000" algn="tl">
                    <a:srgbClr val="000000">
                      <a:alpha val="43137"/>
                    </a:srgbClr>
                  </a:outerShdw>
                </a:effectLst>
              </a:rPr>
              <a:t>Kusurluluğu Etkileyen Hata Halleri</a:t>
            </a:r>
            <a:endParaRPr lang="fr-FR" sz="1000" u="sng" dirty="0">
              <a:effectLst>
                <a:outerShdw blurRad="38100" dist="38100" dir="2700000" algn="tl">
                  <a:srgbClr val="000000">
                    <a:alpha val="43137"/>
                  </a:srgbClr>
                </a:outerShdw>
              </a:effectLst>
            </a:endParaRPr>
          </a:p>
        </p:txBody>
      </p:sp>
      <p:sp>
        <p:nvSpPr>
          <p:cNvPr id="2" name="Dikdörtgen 1"/>
          <p:cNvSpPr/>
          <p:nvPr/>
        </p:nvSpPr>
        <p:spPr>
          <a:xfrm>
            <a:off x="2438400" y="2136186"/>
            <a:ext cx="8896350" cy="1569660"/>
          </a:xfrm>
          <a:prstGeom prst="rect">
            <a:avLst/>
          </a:prstGeom>
        </p:spPr>
        <p:txBody>
          <a:bodyPr wrap="square">
            <a:spAutoFit/>
          </a:bodyPr>
          <a:lstStyle/>
          <a:p>
            <a:pPr algn="just"/>
            <a:r>
              <a:rPr lang="tr-TR" sz="1200" b="1" dirty="0" smtClean="0">
                <a:effectLst>
                  <a:outerShdw blurRad="38100" dist="38100" dir="2700000" algn="tl">
                    <a:srgbClr val="000000">
                      <a:alpha val="43137"/>
                    </a:srgbClr>
                  </a:outerShdw>
                </a:effectLst>
              </a:rPr>
              <a:t>5237 s. TCK</a:t>
            </a:r>
          </a:p>
          <a:p>
            <a:pPr algn="just"/>
            <a:r>
              <a:rPr lang="fr-FR" sz="1200" b="1" dirty="0" smtClean="0">
                <a:effectLst>
                  <a:outerShdw blurRad="38100" dist="38100" dir="2700000" algn="tl">
                    <a:srgbClr val="000000">
                      <a:alpha val="43137"/>
                    </a:srgbClr>
                  </a:outerShdw>
                </a:effectLst>
              </a:rPr>
              <a:t>H</a:t>
            </a:r>
            <a:r>
              <a:rPr lang="tr-TR" sz="1200" b="1" dirty="0" smtClean="0">
                <a:effectLst>
                  <a:outerShdw blurRad="38100" dist="38100" dir="2700000" algn="tl">
                    <a:srgbClr val="000000">
                      <a:alpha val="43137"/>
                    </a:srgbClr>
                  </a:outerShdw>
                </a:effectLst>
              </a:rPr>
              <a:t>a</a:t>
            </a:r>
            <a:r>
              <a:rPr lang="fr-FR" sz="1200" b="1" dirty="0" smtClean="0">
                <a:effectLst>
                  <a:outerShdw blurRad="38100" dist="38100" dir="2700000" algn="tl">
                    <a:srgbClr val="000000">
                      <a:alpha val="43137"/>
                    </a:srgbClr>
                  </a:outerShdw>
                </a:effectLst>
              </a:rPr>
              <a:t>ta</a:t>
            </a:r>
            <a:endParaRPr lang="fr-FR" sz="1200" b="1" dirty="0">
              <a:effectLst>
                <a:outerShdw blurRad="38100" dist="38100" dir="2700000" algn="tl">
                  <a:srgbClr val="000000">
                    <a:alpha val="43137"/>
                  </a:srgbClr>
                </a:outerShdw>
              </a:effectLst>
            </a:endParaRPr>
          </a:p>
          <a:p>
            <a:pPr algn="just"/>
            <a:r>
              <a:rPr lang="fr-FR" sz="1200" b="1" dirty="0" smtClean="0">
                <a:effectLst>
                  <a:outerShdw blurRad="38100" dist="38100" dir="2700000" algn="tl">
                    <a:srgbClr val="000000">
                      <a:alpha val="43137"/>
                    </a:srgbClr>
                  </a:outerShdw>
                </a:effectLst>
              </a:rPr>
              <a:t>Made </a:t>
            </a:r>
            <a:r>
              <a:rPr lang="fr-FR" sz="1200" b="1" dirty="0">
                <a:effectLst>
                  <a:outerShdw blurRad="38100" dist="38100" dir="2700000" algn="tl">
                    <a:srgbClr val="000000">
                      <a:alpha val="43137"/>
                    </a:srgbClr>
                  </a:outerShdw>
                </a:effectLst>
              </a:rPr>
              <a:t>30-</a:t>
            </a:r>
            <a:r>
              <a:rPr lang="fr-FR" sz="1200" dirty="0"/>
              <a:t> (1) </a:t>
            </a:r>
            <a:r>
              <a:rPr lang="fr-FR" sz="1200" dirty="0" smtClean="0"/>
              <a:t>Filin icrası </a:t>
            </a:r>
            <a:r>
              <a:rPr lang="fr-FR" sz="1200" dirty="0"/>
              <a:t>sırasında suçun kanuni tanımındaki maddi unsurları bilmeyen bir kimse, kasten hareket etmiş olmaz. Bu hata dolayısıyla taksirli sorumluluk hali saklıdır.</a:t>
            </a:r>
          </a:p>
          <a:p>
            <a:pPr algn="just"/>
            <a:r>
              <a:rPr lang="fr-FR" sz="1200" dirty="0"/>
              <a:t>(2) Bir suçun daha ağır veya daha az cezayı gerektiren nitelikli hallerinin gerçekleştiği hususunda hataya düşen kişi, bu hatasından yararlanır.</a:t>
            </a:r>
          </a:p>
          <a:p>
            <a:pPr algn="just"/>
            <a:r>
              <a:rPr lang="fr-FR" sz="1200" dirty="0"/>
              <a:t>(3) Ceza sorumluluğunu kaldıran veya azaltan nedenlere ait koşulların gerçekleştiği hususunda kaçınılmaz bir hataya düşen kişi, bu hatasından yararlanır.</a:t>
            </a:r>
          </a:p>
          <a:p>
            <a:pPr algn="just"/>
            <a:r>
              <a:rPr lang="fr-FR" sz="1200" dirty="0"/>
              <a:t>(4) </a:t>
            </a:r>
            <a:r>
              <a:rPr lang="fr-FR" sz="1200" dirty="0" smtClean="0"/>
              <a:t>İşlediği </a:t>
            </a:r>
            <a:r>
              <a:rPr lang="fr-FR" sz="1200" dirty="0"/>
              <a:t>fiilin haksızlık oluşturduğu hususunda kaçınılmaz bir hataya düşen kişi, cezalandırılmaz.</a:t>
            </a:r>
          </a:p>
        </p:txBody>
      </p:sp>
      <p:sp>
        <p:nvSpPr>
          <p:cNvPr id="17" name="Alt Başlık 2"/>
          <p:cNvSpPr txBox="1">
            <a:spLocks/>
          </p:cNvSpPr>
          <p:nvPr/>
        </p:nvSpPr>
        <p:spPr>
          <a:xfrm>
            <a:off x="5011106" y="4591887"/>
            <a:ext cx="3377520" cy="143606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tr-TR" sz="1600" b="1" dirty="0" smtClean="0">
                <a:effectLst>
                  <a:outerShdw blurRad="38100" dist="38100" dir="2700000" algn="tl">
                    <a:srgbClr val="000000">
                      <a:alpha val="43137"/>
                    </a:srgbClr>
                  </a:outerShdw>
                </a:effectLst>
              </a:rPr>
              <a:t>Kastı Kaldıran Hata</a:t>
            </a:r>
          </a:p>
          <a:p>
            <a:pPr algn="l"/>
            <a:r>
              <a:rPr lang="tr-TR" sz="1200" b="1" dirty="0" smtClean="0"/>
              <a:t>1.</a:t>
            </a:r>
            <a:r>
              <a:rPr lang="tr-TR" sz="1200" dirty="0" smtClean="0"/>
              <a:t>Suçun Maddi Unsurlarında Hata</a:t>
            </a:r>
          </a:p>
          <a:p>
            <a:pPr algn="l"/>
            <a:r>
              <a:rPr lang="tr-TR" sz="1200" b="1" dirty="0" smtClean="0"/>
              <a:t>2.</a:t>
            </a:r>
            <a:r>
              <a:rPr lang="tr-TR" sz="1200" dirty="0" smtClean="0"/>
              <a:t>Suçun Nitelikli Unsurlarında Hata</a:t>
            </a:r>
          </a:p>
          <a:p>
            <a:pPr algn="l"/>
            <a:r>
              <a:rPr lang="tr-TR" sz="1200" b="1" dirty="0" smtClean="0"/>
              <a:t>3.</a:t>
            </a:r>
            <a:r>
              <a:rPr lang="tr-TR" sz="1200" dirty="0" smtClean="0"/>
              <a:t>Hukuka Uygunluk Nedenlerinin Maddi </a:t>
            </a:r>
            <a:r>
              <a:rPr lang="tr-TR" sz="1200" dirty="0"/>
              <a:t>Şartlarında </a:t>
            </a:r>
            <a:r>
              <a:rPr lang="tr-TR" sz="1200" dirty="0" smtClean="0"/>
              <a:t>Hata </a:t>
            </a:r>
            <a:r>
              <a:rPr lang="tr-TR" sz="1200" i="1" dirty="0" smtClean="0"/>
              <a:t>(</a:t>
            </a:r>
            <a:r>
              <a:rPr lang="tr-TR" sz="1200" i="1" dirty="0"/>
              <a:t>Kaçınılmaz hata olmalı</a:t>
            </a:r>
            <a:r>
              <a:rPr lang="tr-TR" sz="1200" dirty="0"/>
              <a:t>)</a:t>
            </a:r>
            <a:endParaRPr lang="tr-TR" sz="1200" dirty="0" smtClean="0"/>
          </a:p>
          <a:p>
            <a:endParaRPr lang="tr-TR" sz="1600" b="1" dirty="0">
              <a:effectLst>
                <a:outerShdw blurRad="38100" dist="38100" dir="2700000" algn="tl">
                  <a:srgbClr val="000000">
                    <a:alpha val="43137"/>
                  </a:srgbClr>
                </a:outerShdw>
              </a:effectLst>
            </a:endParaRPr>
          </a:p>
        </p:txBody>
      </p:sp>
      <p:sp>
        <p:nvSpPr>
          <p:cNvPr id="18" name="Alt Başlık 2"/>
          <p:cNvSpPr txBox="1">
            <a:spLocks/>
          </p:cNvSpPr>
          <p:nvPr/>
        </p:nvSpPr>
        <p:spPr>
          <a:xfrm>
            <a:off x="7400710" y="4074851"/>
            <a:ext cx="1146042"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tr-TR" sz="1800" b="1" dirty="0" smtClean="0">
                <a:effectLst>
                  <a:outerShdw blurRad="38100" dist="38100" dir="2700000" algn="tl">
                    <a:srgbClr val="000000">
                      <a:alpha val="43137"/>
                    </a:srgbClr>
                  </a:outerShdw>
                </a:effectLst>
              </a:rPr>
              <a:t>Hata</a:t>
            </a:r>
            <a:endParaRPr lang="tr-TR" sz="1800" b="1" dirty="0">
              <a:effectLst>
                <a:outerShdw blurRad="38100" dist="38100" dir="2700000" algn="tl">
                  <a:srgbClr val="000000">
                    <a:alpha val="43137"/>
                  </a:srgbClr>
                </a:outerShdw>
              </a:effectLst>
            </a:endParaRPr>
          </a:p>
        </p:txBody>
      </p:sp>
      <p:sp>
        <p:nvSpPr>
          <p:cNvPr id="19" name="Alt Başlık 2"/>
          <p:cNvSpPr txBox="1">
            <a:spLocks/>
          </p:cNvSpPr>
          <p:nvPr/>
        </p:nvSpPr>
        <p:spPr>
          <a:xfrm>
            <a:off x="9048195" y="4581228"/>
            <a:ext cx="2593842" cy="144672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tr-TR" sz="1600" b="1" dirty="0" smtClean="0">
                <a:effectLst>
                  <a:outerShdw blurRad="38100" dist="38100" dir="2700000" algn="tl">
                    <a:srgbClr val="000000">
                      <a:alpha val="43137"/>
                    </a:srgbClr>
                  </a:outerShdw>
                </a:effectLst>
              </a:rPr>
              <a:t>Kusurluluğu Etkileyen Hata</a:t>
            </a:r>
          </a:p>
          <a:p>
            <a:pPr>
              <a:lnSpc>
                <a:spcPct val="100000"/>
              </a:lnSpc>
              <a:spcBef>
                <a:spcPts val="0"/>
              </a:spcBef>
            </a:pPr>
            <a:r>
              <a:rPr lang="tr-TR" sz="1600" dirty="0"/>
              <a:t>(</a:t>
            </a:r>
            <a:r>
              <a:rPr lang="tr-TR" sz="1600" i="1" dirty="0"/>
              <a:t>Kaçınılmaz hata olmalı</a:t>
            </a:r>
            <a:r>
              <a:rPr lang="tr-TR" sz="1600" dirty="0"/>
              <a:t>)</a:t>
            </a:r>
            <a:endParaRPr lang="tr-TR" sz="1600" b="1" dirty="0">
              <a:effectLst>
                <a:outerShdw blurRad="38100" dist="38100" dir="2700000" algn="tl">
                  <a:srgbClr val="000000">
                    <a:alpha val="43137"/>
                  </a:srgbClr>
                </a:outerShdw>
              </a:effectLst>
            </a:endParaRPr>
          </a:p>
          <a:p>
            <a:pPr algn="l"/>
            <a:r>
              <a:rPr lang="tr-TR" sz="1200" b="1" dirty="0" smtClean="0"/>
              <a:t>1.</a:t>
            </a:r>
            <a:r>
              <a:rPr lang="tr-TR" sz="1200" dirty="0" smtClean="0"/>
              <a:t>Kusurluluğu kaldıran/azaltan bir nedenin maddi şartlarında hata</a:t>
            </a:r>
          </a:p>
          <a:p>
            <a:pPr algn="l"/>
            <a:r>
              <a:rPr lang="tr-TR" sz="1200" b="1" dirty="0" smtClean="0"/>
              <a:t>2.</a:t>
            </a:r>
            <a:r>
              <a:rPr lang="tr-TR" sz="1200" dirty="0" smtClean="0"/>
              <a:t>İşlenen fiilin haksızlık oluşturduğu hususunda hata (Haksızlık Hatası)</a:t>
            </a:r>
          </a:p>
        </p:txBody>
      </p:sp>
      <p:sp>
        <p:nvSpPr>
          <p:cNvPr id="3" name="Yukarı Bükülü Ok 2"/>
          <p:cNvSpPr/>
          <p:nvPr/>
        </p:nvSpPr>
        <p:spPr>
          <a:xfrm rot="10800000">
            <a:off x="5661113" y="4361684"/>
            <a:ext cx="1977892" cy="433632"/>
          </a:xfrm>
          <a:prstGeom prst="bentUp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Bükülü Ok 3"/>
          <p:cNvSpPr/>
          <p:nvPr/>
        </p:nvSpPr>
        <p:spPr>
          <a:xfrm rot="5400000">
            <a:off x="8563151" y="4145090"/>
            <a:ext cx="433633" cy="866821"/>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7" name="Slayt Numarası Yer Tutucusu 6"/>
          <p:cNvSpPr>
            <a:spLocks noGrp="1"/>
          </p:cNvSpPr>
          <p:nvPr>
            <p:ph type="sldNum" sz="quarter" idx="12"/>
          </p:nvPr>
        </p:nvSpPr>
        <p:spPr/>
        <p:txBody>
          <a:bodyPr/>
          <a:lstStyle/>
          <a:p>
            <a:fld id="{39F9BA00-44CD-41D4-A3D8-F864C744DC1F}" type="slidenum">
              <a:rPr lang="tr-TR" smtClean="0"/>
              <a:t>72</a:t>
            </a:fld>
            <a:r>
              <a:rPr lang="tr-TR"/>
              <a:t>/116</a:t>
            </a:r>
          </a:p>
        </p:txBody>
      </p:sp>
    </p:spTree>
    <p:extLst>
      <p:ext uri="{BB962C8B-B14F-4D97-AF65-F5344CB8AC3E}">
        <p14:creationId xmlns:p14="http://schemas.microsoft.com/office/powerpoint/2010/main" val="1477399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Çeşitli Hata halleri 	</a:t>
            </a:r>
            <a:endParaRPr lang="tr-TR" b="1" dirty="0"/>
          </a:p>
        </p:txBody>
      </p:sp>
      <p:sp>
        <p:nvSpPr>
          <p:cNvPr id="17" name="Alt Başlık 2"/>
          <p:cNvSpPr txBox="1">
            <a:spLocks/>
          </p:cNvSpPr>
          <p:nvPr/>
        </p:nvSpPr>
        <p:spPr>
          <a:xfrm>
            <a:off x="1816827" y="2151258"/>
            <a:ext cx="4484581" cy="24704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Kastı Kaldıran Hata</a:t>
            </a:r>
          </a:p>
          <a:p>
            <a:pPr algn="l"/>
            <a:r>
              <a:rPr lang="tr-TR" sz="1800" b="1" dirty="0" smtClean="0"/>
              <a:t>1.</a:t>
            </a:r>
            <a:r>
              <a:rPr lang="tr-TR" sz="1800" dirty="0" smtClean="0"/>
              <a:t>Suçun Maddi Unsurlarında Hata</a:t>
            </a:r>
          </a:p>
          <a:p>
            <a:pPr algn="l"/>
            <a:r>
              <a:rPr lang="tr-TR" sz="1800" b="1" dirty="0" smtClean="0"/>
              <a:t>2.</a:t>
            </a:r>
            <a:r>
              <a:rPr lang="tr-TR" sz="1800" dirty="0" smtClean="0"/>
              <a:t>Suçun Nitelikli Unsurlarında Hata</a:t>
            </a:r>
          </a:p>
          <a:p>
            <a:pPr algn="l"/>
            <a:r>
              <a:rPr lang="tr-TR" sz="1800" b="1" dirty="0" smtClean="0"/>
              <a:t>3.</a:t>
            </a:r>
            <a:r>
              <a:rPr lang="tr-TR" sz="1800" dirty="0" smtClean="0"/>
              <a:t>Hukuka Uygunluk Nedenlerinin Maddi Şartlarında Hata (</a:t>
            </a:r>
            <a:r>
              <a:rPr lang="tr-TR" sz="1800" i="1" dirty="0" smtClean="0">
                <a:effectLst>
                  <a:outerShdw blurRad="38100" dist="38100" dir="2700000" algn="tl">
                    <a:srgbClr val="000000">
                      <a:alpha val="43137"/>
                    </a:srgbClr>
                  </a:outerShdw>
                </a:effectLst>
              </a:rPr>
              <a:t>Kaçınılmaz hata olmalı</a:t>
            </a:r>
            <a:r>
              <a:rPr lang="tr-TR" sz="1800" dirty="0" smtClean="0"/>
              <a:t>)</a:t>
            </a:r>
          </a:p>
          <a:p>
            <a:endParaRPr lang="tr-TR" b="1" dirty="0">
              <a:effectLst>
                <a:outerShdw blurRad="38100" dist="38100" dir="2700000" algn="tl">
                  <a:srgbClr val="000000">
                    <a:alpha val="43137"/>
                  </a:srgbClr>
                </a:outerShdw>
              </a:effectLst>
            </a:endParaRPr>
          </a:p>
        </p:txBody>
      </p:sp>
      <p:sp>
        <p:nvSpPr>
          <p:cNvPr id="4" name="Metin kutusu 3"/>
          <p:cNvSpPr txBox="1"/>
          <p:nvPr/>
        </p:nvSpPr>
        <p:spPr>
          <a:xfrm>
            <a:off x="1077050" y="5941166"/>
            <a:ext cx="4647476" cy="276999"/>
          </a:xfrm>
          <a:prstGeom prst="rect">
            <a:avLst/>
          </a:prstGeom>
          <a:noFill/>
          <a:ln w="15875">
            <a:solidFill>
              <a:schemeClr val="tx1"/>
            </a:solidFill>
          </a:ln>
        </p:spPr>
        <p:txBody>
          <a:bodyPr wrap="square" rtlCol="0">
            <a:spAutoFit/>
          </a:bodyPr>
          <a:lstStyle/>
          <a:p>
            <a:pPr algn="ctr"/>
            <a:r>
              <a:rPr lang="tr-TR" sz="1200" dirty="0" smtClean="0"/>
              <a:t>Gerçekte haksız bir saldırı olmadığı halde yapılan meşru savunma</a:t>
            </a:r>
          </a:p>
        </p:txBody>
      </p:sp>
      <p:sp>
        <p:nvSpPr>
          <p:cNvPr id="13" name="Metin kutusu 12"/>
          <p:cNvSpPr txBox="1"/>
          <p:nvPr/>
        </p:nvSpPr>
        <p:spPr>
          <a:xfrm>
            <a:off x="6380918" y="3180629"/>
            <a:ext cx="5575853" cy="2354491"/>
          </a:xfrm>
          <a:prstGeom prst="rect">
            <a:avLst/>
          </a:prstGeom>
          <a:noFill/>
          <a:ln w="15875">
            <a:solidFill>
              <a:schemeClr val="tx1"/>
            </a:solidFill>
          </a:ln>
        </p:spPr>
        <p:txBody>
          <a:bodyPr wrap="square" rtlCol="0">
            <a:spAutoFit/>
          </a:bodyPr>
          <a:lstStyle/>
          <a:p>
            <a:pPr marL="171450" indent="-171450" algn="just">
              <a:buFont typeface="Arial" panose="020B0604020202020204" pitchFamily="34" charset="0"/>
              <a:buChar char="•"/>
            </a:pPr>
            <a:r>
              <a:rPr lang="tr-TR" sz="1050" b="1" dirty="0"/>
              <a:t>Mala zarar </a:t>
            </a:r>
            <a:r>
              <a:rPr lang="tr-TR" sz="1050" b="1" dirty="0" smtClean="0"/>
              <a:t>verme Madde </a:t>
            </a:r>
            <a:r>
              <a:rPr lang="tr-TR" sz="1050" b="1" dirty="0"/>
              <a:t>151-</a:t>
            </a:r>
            <a:r>
              <a:rPr lang="tr-TR" sz="1050" dirty="0"/>
              <a:t> (1) Başkasının taşınır veya taşınmaz malını kısmen veya tamamen yıkan, tahrip eden, yok eden, bozan, kullanılamaz hale getiren veya kirleten kişi, mağdurun şikayeti üzerine, dört aydan üç yıla kadar hapis veya adlî para cezası ile cezalandırılır.</a:t>
            </a:r>
          </a:p>
          <a:p>
            <a:pPr algn="just"/>
            <a:r>
              <a:rPr lang="tr-TR" sz="1050" dirty="0" smtClean="0"/>
              <a:t>      Mala </a:t>
            </a:r>
            <a:r>
              <a:rPr lang="tr-TR" sz="1050" dirty="0"/>
              <a:t>zarar vermenin nitelikli </a:t>
            </a:r>
            <a:r>
              <a:rPr lang="tr-TR" sz="1050" dirty="0" smtClean="0"/>
              <a:t>halleri</a:t>
            </a:r>
          </a:p>
          <a:p>
            <a:pPr algn="just"/>
            <a:r>
              <a:rPr lang="tr-TR" sz="1050" dirty="0"/>
              <a:t> </a:t>
            </a:r>
            <a:r>
              <a:rPr lang="tr-TR" sz="1050" dirty="0" smtClean="0"/>
              <a:t>     Madde </a:t>
            </a:r>
            <a:r>
              <a:rPr lang="tr-TR" sz="1050" dirty="0"/>
              <a:t>152- (1) Mala zarar verme suçunun;</a:t>
            </a:r>
          </a:p>
          <a:p>
            <a:pPr algn="just"/>
            <a:r>
              <a:rPr lang="tr-TR" sz="1050" dirty="0" smtClean="0"/>
              <a:t>      a</a:t>
            </a:r>
            <a:r>
              <a:rPr lang="tr-TR" sz="1050" dirty="0"/>
              <a:t>) Kamu kurum ve kuruluşlarına ait, kamu hizmetine tahsis edilmiş veya kamunun yararlanmasına ayrılmış yer, bina, tesis veya diğer eşya hakkında</a:t>
            </a:r>
            <a:r>
              <a:rPr lang="tr-TR" sz="1050" dirty="0" smtClean="0"/>
              <a:t>,</a:t>
            </a:r>
          </a:p>
          <a:p>
            <a:pPr algn="just"/>
            <a:r>
              <a:rPr lang="tr-TR" sz="1050" dirty="0" smtClean="0"/>
              <a:t>       ….</a:t>
            </a:r>
          </a:p>
          <a:p>
            <a:pPr marL="171450" indent="-171450" algn="just">
              <a:buFont typeface="Arial" panose="020B0604020202020204" pitchFamily="34" charset="0"/>
              <a:buChar char="•"/>
            </a:pPr>
            <a:r>
              <a:rPr lang="fr-FR" sz="1050" b="1" dirty="0" err="1"/>
              <a:t>Kasten</a:t>
            </a:r>
            <a:r>
              <a:rPr lang="fr-FR" sz="1050" b="1" dirty="0"/>
              <a:t> </a:t>
            </a:r>
            <a:r>
              <a:rPr lang="fr-FR" sz="1050" b="1" dirty="0" err="1" smtClean="0"/>
              <a:t>öldürme</a:t>
            </a:r>
            <a:r>
              <a:rPr lang="tr-TR" sz="1050" b="1" dirty="0" smtClean="0"/>
              <a:t> </a:t>
            </a:r>
            <a:r>
              <a:rPr lang="fr-FR" sz="1050" b="1" dirty="0" err="1" smtClean="0"/>
              <a:t>Madde</a:t>
            </a:r>
            <a:r>
              <a:rPr lang="fr-FR" sz="1050" b="1" dirty="0" smtClean="0"/>
              <a:t> </a:t>
            </a:r>
            <a:r>
              <a:rPr lang="fr-FR" sz="1050" b="1" dirty="0"/>
              <a:t>81-</a:t>
            </a:r>
            <a:r>
              <a:rPr lang="fr-FR" sz="1050" dirty="0"/>
              <a:t> (1) </a:t>
            </a:r>
            <a:r>
              <a:rPr lang="fr-FR" sz="1050" dirty="0" err="1"/>
              <a:t>Bir</a:t>
            </a:r>
            <a:r>
              <a:rPr lang="fr-FR" sz="1050" dirty="0"/>
              <a:t> </a:t>
            </a:r>
            <a:r>
              <a:rPr lang="fr-FR" sz="1050" dirty="0" err="1"/>
              <a:t>insanı</a:t>
            </a:r>
            <a:r>
              <a:rPr lang="fr-FR" sz="1050" dirty="0"/>
              <a:t> </a:t>
            </a:r>
            <a:r>
              <a:rPr lang="fr-FR" sz="1050" dirty="0" err="1"/>
              <a:t>kasten</a:t>
            </a:r>
            <a:r>
              <a:rPr lang="fr-FR" sz="1050" dirty="0"/>
              <a:t> </a:t>
            </a:r>
            <a:r>
              <a:rPr lang="fr-FR" sz="1050" dirty="0" err="1"/>
              <a:t>öldüren</a:t>
            </a:r>
            <a:r>
              <a:rPr lang="fr-FR" sz="1050" dirty="0"/>
              <a:t> </a:t>
            </a:r>
            <a:r>
              <a:rPr lang="fr-FR" sz="1050" dirty="0" err="1"/>
              <a:t>kişi</a:t>
            </a:r>
            <a:r>
              <a:rPr lang="fr-FR" sz="1050" dirty="0"/>
              <a:t>, </a:t>
            </a:r>
            <a:r>
              <a:rPr lang="fr-FR" sz="1050" dirty="0" err="1"/>
              <a:t>müebbet</a:t>
            </a:r>
            <a:r>
              <a:rPr lang="fr-FR" sz="1050" dirty="0"/>
              <a:t> </a:t>
            </a:r>
            <a:r>
              <a:rPr lang="fr-FR" sz="1050" dirty="0" err="1"/>
              <a:t>hapis</a:t>
            </a:r>
            <a:r>
              <a:rPr lang="fr-FR" sz="1050" dirty="0"/>
              <a:t> </a:t>
            </a:r>
            <a:r>
              <a:rPr lang="fr-FR" sz="1050" dirty="0" err="1"/>
              <a:t>cezası</a:t>
            </a:r>
            <a:r>
              <a:rPr lang="fr-FR" sz="1050" dirty="0"/>
              <a:t> ile </a:t>
            </a:r>
            <a:r>
              <a:rPr lang="fr-FR" sz="1050" dirty="0" err="1"/>
              <a:t>cezalandırılır</a:t>
            </a:r>
            <a:r>
              <a:rPr lang="fr-FR" sz="1050" dirty="0"/>
              <a:t>.</a:t>
            </a:r>
          </a:p>
          <a:p>
            <a:pPr indent="179388" algn="just"/>
            <a:r>
              <a:rPr lang="fr-FR" sz="1050" dirty="0" err="1"/>
              <a:t>Nitelikli</a:t>
            </a:r>
            <a:r>
              <a:rPr lang="fr-FR" sz="1050" dirty="0"/>
              <a:t> </a:t>
            </a:r>
            <a:r>
              <a:rPr lang="fr-FR" sz="1050" dirty="0" err="1"/>
              <a:t>haller</a:t>
            </a:r>
            <a:endParaRPr lang="fr-FR" sz="1050" dirty="0"/>
          </a:p>
          <a:p>
            <a:pPr indent="179388" algn="just"/>
            <a:r>
              <a:rPr lang="fr-FR" sz="1050" dirty="0" err="1"/>
              <a:t>Madde</a:t>
            </a:r>
            <a:r>
              <a:rPr lang="fr-FR" sz="1050" dirty="0"/>
              <a:t> 82- (1) </a:t>
            </a:r>
            <a:r>
              <a:rPr lang="fr-FR" sz="1050" dirty="0" err="1"/>
              <a:t>Kasten</a:t>
            </a:r>
            <a:r>
              <a:rPr lang="fr-FR" sz="1050" dirty="0"/>
              <a:t> </a:t>
            </a:r>
            <a:r>
              <a:rPr lang="fr-FR" sz="1050" dirty="0" err="1"/>
              <a:t>öldürme</a:t>
            </a:r>
            <a:r>
              <a:rPr lang="fr-FR" sz="1050" dirty="0"/>
              <a:t> </a:t>
            </a:r>
            <a:r>
              <a:rPr lang="fr-FR" sz="1050" dirty="0" err="1"/>
              <a:t>suçunun</a:t>
            </a:r>
            <a:r>
              <a:rPr lang="fr-FR" sz="1050" dirty="0"/>
              <a:t>;</a:t>
            </a:r>
          </a:p>
          <a:p>
            <a:pPr indent="179388" algn="just"/>
            <a:r>
              <a:rPr lang="tr-TR" sz="1050" dirty="0" smtClean="0"/>
              <a:t>….</a:t>
            </a:r>
            <a:endParaRPr lang="fr-FR" sz="1050" dirty="0"/>
          </a:p>
          <a:p>
            <a:pPr indent="179388" algn="just"/>
            <a:r>
              <a:rPr lang="fr-FR" sz="1050" dirty="0"/>
              <a:t>d) </a:t>
            </a:r>
            <a:r>
              <a:rPr lang="fr-FR" sz="1050" dirty="0" err="1"/>
              <a:t>Üstsoy</a:t>
            </a:r>
            <a:r>
              <a:rPr lang="fr-FR" sz="1050" dirty="0"/>
              <a:t> </a:t>
            </a:r>
            <a:r>
              <a:rPr lang="fr-FR" sz="1050" dirty="0" err="1"/>
              <a:t>veya</a:t>
            </a:r>
            <a:r>
              <a:rPr lang="fr-FR" sz="1050" dirty="0"/>
              <a:t> </a:t>
            </a:r>
            <a:r>
              <a:rPr lang="fr-FR" sz="1050" dirty="0" err="1"/>
              <a:t>altsoydan</a:t>
            </a:r>
            <a:r>
              <a:rPr lang="fr-FR" sz="1050" dirty="0"/>
              <a:t> </a:t>
            </a:r>
            <a:r>
              <a:rPr lang="fr-FR" sz="1050" dirty="0" err="1"/>
              <a:t>birine</a:t>
            </a:r>
            <a:r>
              <a:rPr lang="fr-FR" sz="1050" dirty="0"/>
              <a:t> </a:t>
            </a:r>
            <a:r>
              <a:rPr lang="fr-FR" sz="1050" dirty="0" err="1"/>
              <a:t>ya</a:t>
            </a:r>
            <a:r>
              <a:rPr lang="fr-FR" sz="1050" dirty="0"/>
              <a:t> da </a:t>
            </a:r>
            <a:r>
              <a:rPr lang="fr-FR" sz="1050" dirty="0" err="1"/>
              <a:t>eş</a:t>
            </a:r>
            <a:r>
              <a:rPr lang="fr-FR" sz="1050" dirty="0"/>
              <a:t>, </a:t>
            </a:r>
            <a:r>
              <a:rPr lang="fr-FR" sz="1050" dirty="0" err="1"/>
              <a:t>boşandığı</a:t>
            </a:r>
            <a:r>
              <a:rPr lang="fr-FR" sz="1050" dirty="0"/>
              <a:t> </a:t>
            </a:r>
            <a:r>
              <a:rPr lang="fr-FR" sz="1050" dirty="0" err="1"/>
              <a:t>eş</a:t>
            </a:r>
            <a:r>
              <a:rPr lang="fr-FR" sz="1050" dirty="0"/>
              <a:t> </a:t>
            </a:r>
            <a:r>
              <a:rPr lang="fr-FR" sz="1050" dirty="0" err="1"/>
              <a:t>veya</a:t>
            </a:r>
            <a:r>
              <a:rPr lang="fr-FR" sz="1050" dirty="0"/>
              <a:t> </a:t>
            </a:r>
            <a:r>
              <a:rPr lang="fr-FR" sz="1050" dirty="0" err="1"/>
              <a:t>kardeşe</a:t>
            </a:r>
            <a:r>
              <a:rPr lang="fr-FR" sz="1050" dirty="0"/>
              <a:t> </a:t>
            </a:r>
            <a:r>
              <a:rPr lang="fr-FR" sz="1050" dirty="0" err="1" smtClean="0"/>
              <a:t>karşı</a:t>
            </a:r>
            <a:r>
              <a:rPr lang="tr-TR" sz="1050" dirty="0" smtClean="0"/>
              <a:t>…</a:t>
            </a:r>
          </a:p>
        </p:txBody>
      </p:sp>
      <p:sp>
        <p:nvSpPr>
          <p:cNvPr id="14" name="Metin kutusu 13"/>
          <p:cNvSpPr txBox="1"/>
          <p:nvPr/>
        </p:nvSpPr>
        <p:spPr>
          <a:xfrm>
            <a:off x="6380919" y="1457971"/>
            <a:ext cx="5575853" cy="900246"/>
          </a:xfrm>
          <a:prstGeom prst="rect">
            <a:avLst/>
          </a:prstGeom>
          <a:noFill/>
          <a:ln w="15875">
            <a:solidFill>
              <a:schemeClr val="tx1"/>
            </a:solidFill>
          </a:ln>
        </p:spPr>
        <p:txBody>
          <a:bodyPr wrap="square" rtlCol="0">
            <a:spAutoFit/>
          </a:bodyPr>
          <a:lstStyle/>
          <a:p>
            <a:pPr marL="171450" indent="-171450" algn="just">
              <a:buFont typeface="Arial" panose="020B0604020202020204" pitchFamily="34" charset="0"/>
              <a:buChar char="•"/>
            </a:pPr>
            <a:r>
              <a:rPr lang="tr-TR" sz="1050" dirty="0" smtClean="0"/>
              <a:t>Kendisinin sanarak başkasının taşınabilir malını almak</a:t>
            </a:r>
          </a:p>
          <a:p>
            <a:pPr marL="171450" indent="-171450" algn="just">
              <a:buFont typeface="Arial" panose="020B0604020202020204" pitchFamily="34" charset="0"/>
              <a:buChar char="•"/>
            </a:pPr>
            <a:r>
              <a:rPr lang="fr-FR" sz="1050" b="1" dirty="0" err="1" smtClean="0"/>
              <a:t>Reşit</a:t>
            </a:r>
            <a:r>
              <a:rPr lang="fr-FR" sz="1050" b="1" dirty="0" smtClean="0"/>
              <a:t> </a:t>
            </a:r>
            <a:r>
              <a:rPr lang="fr-FR" sz="1050" b="1" dirty="0" err="1"/>
              <a:t>olmayanla</a:t>
            </a:r>
            <a:r>
              <a:rPr lang="fr-FR" sz="1050" b="1" dirty="0"/>
              <a:t> </a:t>
            </a:r>
            <a:r>
              <a:rPr lang="fr-FR" sz="1050" b="1" dirty="0" err="1"/>
              <a:t>cinsel</a:t>
            </a:r>
            <a:r>
              <a:rPr lang="fr-FR" sz="1050" b="1" dirty="0"/>
              <a:t> </a:t>
            </a:r>
            <a:r>
              <a:rPr lang="fr-FR" sz="1050" b="1" dirty="0" err="1" smtClean="0"/>
              <a:t>ilişki</a:t>
            </a:r>
            <a:r>
              <a:rPr lang="tr-TR" sz="1050" b="1" dirty="0" smtClean="0"/>
              <a:t>: </a:t>
            </a:r>
            <a:r>
              <a:rPr lang="fr-FR" sz="1050" b="1" dirty="0" err="1" smtClean="0"/>
              <a:t>Madde</a:t>
            </a:r>
            <a:r>
              <a:rPr lang="fr-FR" sz="1050" b="1" dirty="0" smtClean="0"/>
              <a:t> </a:t>
            </a:r>
            <a:r>
              <a:rPr lang="fr-FR" sz="1050" b="1" dirty="0"/>
              <a:t>104- </a:t>
            </a:r>
            <a:r>
              <a:rPr lang="fr-FR" sz="1050" dirty="0"/>
              <a:t>(1) </a:t>
            </a:r>
            <a:r>
              <a:rPr lang="fr-FR" sz="1050" dirty="0" err="1"/>
              <a:t>Cebir</a:t>
            </a:r>
            <a:r>
              <a:rPr lang="fr-FR" sz="1050" dirty="0"/>
              <a:t>, </a:t>
            </a:r>
            <a:r>
              <a:rPr lang="fr-FR" sz="1050" dirty="0" err="1"/>
              <a:t>tehdit</a:t>
            </a:r>
            <a:r>
              <a:rPr lang="fr-FR" sz="1050" dirty="0"/>
              <a:t> </a:t>
            </a:r>
            <a:r>
              <a:rPr lang="fr-FR" sz="1050" dirty="0" err="1"/>
              <a:t>ve</a:t>
            </a:r>
            <a:r>
              <a:rPr lang="fr-FR" sz="1050" dirty="0"/>
              <a:t> hile </a:t>
            </a:r>
            <a:r>
              <a:rPr lang="fr-FR" sz="1050" dirty="0" err="1"/>
              <a:t>olmaksızın</a:t>
            </a:r>
            <a:r>
              <a:rPr lang="fr-FR" sz="1050" dirty="0"/>
              <a:t>, </a:t>
            </a:r>
            <a:r>
              <a:rPr lang="fr-FR" sz="1050" dirty="0" err="1"/>
              <a:t>onbeş</a:t>
            </a:r>
            <a:r>
              <a:rPr lang="fr-FR" sz="1050" dirty="0"/>
              <a:t> </a:t>
            </a:r>
            <a:r>
              <a:rPr lang="fr-FR" sz="1050" dirty="0" err="1"/>
              <a:t>yaşını</a:t>
            </a:r>
            <a:r>
              <a:rPr lang="fr-FR" sz="1050" dirty="0"/>
              <a:t> </a:t>
            </a:r>
            <a:r>
              <a:rPr lang="fr-FR" sz="1050" dirty="0" err="1"/>
              <a:t>bitirmiş</a:t>
            </a:r>
            <a:r>
              <a:rPr lang="fr-FR" sz="1050" dirty="0"/>
              <a:t> </a:t>
            </a:r>
            <a:r>
              <a:rPr lang="fr-FR" sz="1050" dirty="0" err="1"/>
              <a:t>olan</a:t>
            </a:r>
            <a:r>
              <a:rPr lang="fr-FR" sz="1050" dirty="0"/>
              <a:t> </a:t>
            </a:r>
            <a:r>
              <a:rPr lang="fr-FR" sz="1050" dirty="0" err="1"/>
              <a:t>çocukla</a:t>
            </a:r>
            <a:r>
              <a:rPr lang="fr-FR" sz="1050" dirty="0"/>
              <a:t> </a:t>
            </a:r>
            <a:r>
              <a:rPr lang="fr-FR" sz="1050" dirty="0" err="1"/>
              <a:t>cinsel</a:t>
            </a:r>
            <a:r>
              <a:rPr lang="fr-FR" sz="1050" dirty="0"/>
              <a:t> </a:t>
            </a:r>
            <a:r>
              <a:rPr lang="fr-FR" sz="1050" dirty="0" err="1"/>
              <a:t>ilişkide</a:t>
            </a:r>
            <a:r>
              <a:rPr lang="fr-FR" sz="1050" dirty="0"/>
              <a:t> </a:t>
            </a:r>
            <a:r>
              <a:rPr lang="fr-FR" sz="1050" dirty="0" err="1"/>
              <a:t>bulunan</a:t>
            </a:r>
            <a:r>
              <a:rPr lang="fr-FR" sz="1050" dirty="0"/>
              <a:t> </a:t>
            </a:r>
            <a:r>
              <a:rPr lang="fr-FR" sz="1050" dirty="0" err="1"/>
              <a:t>kişi</a:t>
            </a:r>
            <a:r>
              <a:rPr lang="fr-FR" sz="1050" dirty="0"/>
              <a:t>, </a:t>
            </a:r>
            <a:r>
              <a:rPr lang="fr-FR" sz="1050" dirty="0" err="1"/>
              <a:t>şikayet</a:t>
            </a:r>
            <a:r>
              <a:rPr lang="fr-FR" sz="1050" dirty="0"/>
              <a:t> </a:t>
            </a:r>
            <a:r>
              <a:rPr lang="fr-FR" sz="1050" dirty="0" err="1"/>
              <a:t>üzerine</a:t>
            </a:r>
            <a:r>
              <a:rPr lang="fr-FR" sz="1050" dirty="0"/>
              <a:t>, </a:t>
            </a:r>
            <a:r>
              <a:rPr lang="fr-FR" sz="1050" dirty="0" err="1"/>
              <a:t>iki</a:t>
            </a:r>
            <a:r>
              <a:rPr lang="fr-FR" sz="1050" dirty="0"/>
              <a:t> </a:t>
            </a:r>
            <a:r>
              <a:rPr lang="fr-FR" sz="1050" dirty="0" err="1"/>
              <a:t>yıldan</a:t>
            </a:r>
            <a:r>
              <a:rPr lang="fr-FR" sz="1050" dirty="0"/>
              <a:t> </a:t>
            </a:r>
            <a:r>
              <a:rPr lang="fr-FR" sz="1050" dirty="0" err="1"/>
              <a:t>beş</a:t>
            </a:r>
            <a:r>
              <a:rPr lang="fr-FR" sz="1050" dirty="0"/>
              <a:t> </a:t>
            </a:r>
            <a:r>
              <a:rPr lang="fr-FR" sz="1050" dirty="0" err="1"/>
              <a:t>yıla</a:t>
            </a:r>
            <a:r>
              <a:rPr lang="fr-FR" sz="1050" dirty="0"/>
              <a:t> </a:t>
            </a:r>
            <a:r>
              <a:rPr lang="fr-FR" sz="1050" dirty="0" err="1"/>
              <a:t>kadar</a:t>
            </a:r>
            <a:r>
              <a:rPr lang="fr-FR" sz="1050" dirty="0"/>
              <a:t> </a:t>
            </a:r>
            <a:r>
              <a:rPr lang="fr-FR" sz="1050" dirty="0" err="1"/>
              <a:t>hapis</a:t>
            </a:r>
            <a:r>
              <a:rPr lang="fr-FR" sz="1050" dirty="0"/>
              <a:t> </a:t>
            </a:r>
            <a:r>
              <a:rPr lang="fr-FR" sz="1050" dirty="0" err="1"/>
              <a:t>cezası</a:t>
            </a:r>
            <a:r>
              <a:rPr lang="fr-FR" sz="1050" dirty="0"/>
              <a:t> ile </a:t>
            </a:r>
            <a:r>
              <a:rPr lang="fr-FR" sz="1050" dirty="0" err="1" smtClean="0"/>
              <a:t>cezalandırılır</a:t>
            </a:r>
            <a:endParaRPr lang="tr-TR" sz="1050" dirty="0" smtClean="0"/>
          </a:p>
          <a:p>
            <a:pPr marL="171450" indent="-171450" algn="just">
              <a:buFont typeface="Arial" panose="020B0604020202020204" pitchFamily="34" charset="0"/>
              <a:buChar char="•"/>
            </a:pPr>
            <a:r>
              <a:rPr lang="tr-TR" sz="1050" dirty="0" smtClean="0"/>
              <a:t>Çalılıkların arkasında hareket eden arkadaşını av hayvanı zannederek öldürmek </a:t>
            </a:r>
            <a:endParaRPr lang="fr-FR" sz="1050" dirty="0"/>
          </a:p>
        </p:txBody>
      </p:sp>
      <p:sp>
        <p:nvSpPr>
          <p:cNvPr id="3" name="Şeritli Sağ Ok 2"/>
          <p:cNvSpPr/>
          <p:nvPr/>
        </p:nvSpPr>
        <p:spPr>
          <a:xfrm rot="9374166" flipH="1">
            <a:off x="5272153" y="2357913"/>
            <a:ext cx="1071005" cy="215445"/>
          </a:xfrm>
          <a:prstGeom prst="stripedRightArrow">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Şeritli Sağ Ok 9"/>
          <p:cNvSpPr/>
          <p:nvPr/>
        </p:nvSpPr>
        <p:spPr>
          <a:xfrm rot="11574425" flipH="1">
            <a:off x="5366888" y="3165672"/>
            <a:ext cx="941132" cy="225234"/>
          </a:xfrm>
          <a:prstGeom prst="stripedRightArrow">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Şeritli Sağ Ok 10"/>
          <p:cNvSpPr/>
          <p:nvPr/>
        </p:nvSpPr>
        <p:spPr>
          <a:xfrm rot="16200000" flipH="1" flipV="1">
            <a:off x="2019747" y="4738915"/>
            <a:ext cx="1925991" cy="252346"/>
          </a:xfrm>
          <a:prstGeom prst="stripedRightArrow">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Dikdörtgen 1"/>
          <p:cNvSpPr/>
          <p:nvPr/>
        </p:nvSpPr>
        <p:spPr>
          <a:xfrm>
            <a:off x="6380918" y="2426073"/>
            <a:ext cx="5575853" cy="707886"/>
          </a:xfrm>
          <a:prstGeom prst="rect">
            <a:avLst/>
          </a:prstGeom>
        </p:spPr>
        <p:txBody>
          <a:bodyPr wrap="square">
            <a:spAutoFit/>
          </a:bodyPr>
          <a:lstStyle/>
          <a:p>
            <a:pPr algn="just"/>
            <a:r>
              <a:rPr lang="fr-FR" sz="800" dirty="0" err="1" smtClean="0"/>
              <a:t>Madd</a:t>
            </a:r>
            <a:r>
              <a:rPr lang="tr-TR" sz="800" dirty="0" smtClean="0"/>
              <a:t>i</a:t>
            </a:r>
            <a:r>
              <a:rPr lang="fr-FR" sz="800" dirty="0" smtClean="0"/>
              <a:t> </a:t>
            </a:r>
            <a:r>
              <a:rPr lang="fr-FR" sz="800" dirty="0" err="1" smtClean="0"/>
              <a:t>unsurlardak</a:t>
            </a:r>
            <a:r>
              <a:rPr lang="tr-TR" sz="800" dirty="0"/>
              <a:t>i</a:t>
            </a:r>
            <a:r>
              <a:rPr lang="fr-FR" sz="800" dirty="0" smtClean="0"/>
              <a:t> </a:t>
            </a:r>
            <a:r>
              <a:rPr lang="fr-FR" sz="800" dirty="0" err="1"/>
              <a:t>hata</a:t>
            </a:r>
            <a:r>
              <a:rPr lang="fr-FR" sz="800" dirty="0"/>
              <a:t>, </a:t>
            </a:r>
            <a:r>
              <a:rPr lang="fr-FR" sz="800" dirty="0" smtClean="0"/>
              <a:t>fa</a:t>
            </a:r>
            <a:r>
              <a:rPr lang="tr-TR" sz="800" dirty="0"/>
              <a:t>i</a:t>
            </a:r>
            <a:r>
              <a:rPr lang="fr-FR" sz="800" dirty="0" smtClean="0"/>
              <a:t>l </a:t>
            </a:r>
            <a:r>
              <a:rPr lang="fr-FR" sz="800" dirty="0" err="1"/>
              <a:t>yanılmasaydı</a:t>
            </a:r>
            <a:r>
              <a:rPr lang="fr-FR" sz="800" dirty="0"/>
              <a:t>, </a:t>
            </a:r>
            <a:r>
              <a:rPr lang="fr-FR" sz="800" dirty="0" err="1" smtClean="0"/>
              <a:t>düsündü</a:t>
            </a:r>
            <a:r>
              <a:rPr lang="tr-TR" sz="800" dirty="0"/>
              <a:t>ğ</a:t>
            </a:r>
            <a:r>
              <a:rPr lang="fr-FR" sz="800" dirty="0" err="1" smtClean="0"/>
              <a:t>ünü</a:t>
            </a:r>
            <a:r>
              <a:rPr lang="fr-FR" sz="800" dirty="0" smtClean="0"/>
              <a:t> </a:t>
            </a:r>
            <a:r>
              <a:rPr lang="fr-FR" sz="800" dirty="0" err="1" smtClean="0"/>
              <a:t>gerçekleşt</a:t>
            </a:r>
            <a:r>
              <a:rPr lang="tr-TR" sz="800" dirty="0" smtClean="0"/>
              <a:t>irmiş </a:t>
            </a:r>
            <a:r>
              <a:rPr lang="fr-FR" sz="800" dirty="0" err="1" smtClean="0"/>
              <a:t>olsaydı</a:t>
            </a:r>
            <a:r>
              <a:rPr lang="fr-FR" sz="800" dirty="0" smtClean="0"/>
              <a:t> </a:t>
            </a:r>
            <a:r>
              <a:rPr lang="tr-TR" sz="800" dirty="0" smtClean="0"/>
              <a:t>i</a:t>
            </a:r>
            <a:r>
              <a:rPr lang="tr-TR" sz="800" dirty="0"/>
              <a:t>ş</a:t>
            </a:r>
            <a:r>
              <a:rPr lang="fr-FR" sz="800" dirty="0" err="1" smtClean="0"/>
              <a:t>led</a:t>
            </a:r>
            <a:r>
              <a:rPr lang="tr-TR" sz="800" dirty="0" smtClean="0"/>
              <a:t>iği </a:t>
            </a:r>
            <a:r>
              <a:rPr lang="fr-FR" sz="800" dirty="0" smtClean="0"/>
              <a:t>f</a:t>
            </a:r>
            <a:r>
              <a:rPr lang="tr-TR" sz="800" dirty="0" smtClean="0"/>
              <a:t>ii</a:t>
            </a:r>
            <a:r>
              <a:rPr lang="fr-FR" sz="800" dirty="0" smtClean="0"/>
              <a:t>l </a:t>
            </a:r>
            <a:r>
              <a:rPr lang="fr-FR" sz="800" dirty="0" err="1"/>
              <a:t>suç</a:t>
            </a:r>
            <a:r>
              <a:rPr lang="fr-FR" sz="800" dirty="0"/>
              <a:t> </a:t>
            </a:r>
            <a:r>
              <a:rPr lang="fr-FR" sz="800" dirty="0" err="1" smtClean="0"/>
              <a:t>tesk</a:t>
            </a:r>
            <a:r>
              <a:rPr lang="tr-TR" sz="800" dirty="0" smtClean="0"/>
              <a:t>i</a:t>
            </a:r>
            <a:r>
              <a:rPr lang="fr-FR" sz="800" dirty="0" smtClean="0"/>
              <a:t>l </a:t>
            </a:r>
            <a:r>
              <a:rPr lang="fr-FR" sz="800" dirty="0" err="1" smtClean="0"/>
              <a:t>etmezd</a:t>
            </a:r>
            <a:r>
              <a:rPr lang="tr-TR" sz="800" dirty="0" smtClean="0"/>
              <a:t>i</a:t>
            </a:r>
            <a:r>
              <a:rPr lang="fr-FR" sz="800" dirty="0" smtClean="0"/>
              <a:t> d</a:t>
            </a:r>
            <a:r>
              <a:rPr lang="tr-TR" sz="800" dirty="0" smtClean="0"/>
              <a:t>i</a:t>
            </a:r>
            <a:r>
              <a:rPr lang="fr-FR" sz="800" dirty="0" err="1" smtClean="0"/>
              <a:t>yeb</a:t>
            </a:r>
            <a:r>
              <a:rPr lang="tr-TR" sz="800" dirty="0" smtClean="0"/>
              <a:t>i</a:t>
            </a:r>
            <a:r>
              <a:rPr lang="fr-FR" sz="800" dirty="0" err="1" smtClean="0"/>
              <a:t>ld</a:t>
            </a:r>
            <a:r>
              <a:rPr lang="tr-TR" sz="800" dirty="0" smtClean="0"/>
              <a:t>iğimiz</a:t>
            </a:r>
            <a:r>
              <a:rPr lang="fr-FR" sz="800" dirty="0" smtClean="0"/>
              <a:t> h</a:t>
            </a:r>
            <a:r>
              <a:rPr lang="tr-TR" sz="800" dirty="0" smtClean="0"/>
              <a:t>a</a:t>
            </a:r>
            <a:r>
              <a:rPr lang="fr-FR" sz="800" dirty="0" err="1" smtClean="0"/>
              <a:t>llerde</a:t>
            </a:r>
            <a:r>
              <a:rPr lang="fr-FR" sz="800" dirty="0" smtClean="0"/>
              <a:t> </a:t>
            </a:r>
            <a:r>
              <a:rPr lang="fr-FR" sz="800" dirty="0" err="1"/>
              <a:t>kastını</a:t>
            </a:r>
            <a:r>
              <a:rPr lang="fr-FR" sz="800" dirty="0"/>
              <a:t> </a:t>
            </a:r>
            <a:r>
              <a:rPr lang="fr-FR" sz="800" dirty="0" err="1"/>
              <a:t>kaldırır</a:t>
            </a:r>
            <a:r>
              <a:rPr lang="fr-FR" sz="800" dirty="0" smtClean="0"/>
              <a:t>.</a:t>
            </a:r>
            <a:endParaRPr lang="tr-TR" sz="800" dirty="0" smtClean="0"/>
          </a:p>
          <a:p>
            <a:pPr algn="just"/>
            <a:r>
              <a:rPr lang="fr-FR" sz="800" dirty="0" err="1"/>
              <a:t>Örne</a:t>
            </a:r>
            <a:r>
              <a:rPr lang="tr-TR" sz="800" dirty="0" err="1"/>
              <a:t>ğin</a:t>
            </a:r>
            <a:r>
              <a:rPr lang="fr-FR" sz="800" dirty="0"/>
              <a:t> fa</a:t>
            </a:r>
            <a:r>
              <a:rPr lang="tr-TR" sz="800" dirty="0"/>
              <a:t>ilin</a:t>
            </a:r>
            <a:r>
              <a:rPr lang="fr-FR" sz="800" dirty="0"/>
              <a:t> </a:t>
            </a:r>
            <a:r>
              <a:rPr lang="fr-FR" sz="800" dirty="0" err="1"/>
              <a:t>A’yı</a:t>
            </a:r>
            <a:r>
              <a:rPr lang="tr-TR" sz="800" dirty="0"/>
              <a:t> </a:t>
            </a:r>
            <a:r>
              <a:rPr lang="fr-FR" sz="800" dirty="0" err="1"/>
              <a:t>öldürmek</a:t>
            </a:r>
            <a:r>
              <a:rPr lang="fr-FR" sz="800" dirty="0"/>
              <a:t> </a:t>
            </a:r>
            <a:r>
              <a:rPr lang="tr-TR" sz="800" dirty="0"/>
              <a:t>i</a:t>
            </a:r>
            <a:r>
              <a:rPr lang="fr-FR" sz="800" dirty="0" err="1"/>
              <a:t>sterken</a:t>
            </a:r>
            <a:r>
              <a:rPr lang="fr-FR" sz="800" dirty="0"/>
              <a:t> </a:t>
            </a:r>
            <a:r>
              <a:rPr lang="fr-FR" sz="800" dirty="0" err="1"/>
              <a:t>hata</a:t>
            </a:r>
            <a:r>
              <a:rPr lang="fr-FR" sz="800" dirty="0"/>
              <a:t> </a:t>
            </a:r>
            <a:r>
              <a:rPr lang="fr-FR" sz="800" dirty="0" err="1"/>
              <a:t>sonucu</a:t>
            </a:r>
            <a:r>
              <a:rPr lang="fr-FR" sz="800" dirty="0"/>
              <a:t> </a:t>
            </a:r>
            <a:r>
              <a:rPr lang="fr-FR" sz="800" dirty="0" err="1"/>
              <a:t>B’y</a:t>
            </a:r>
            <a:r>
              <a:rPr lang="tr-TR" sz="800" dirty="0"/>
              <a:t>i </a:t>
            </a:r>
            <a:r>
              <a:rPr lang="fr-FR" sz="800" dirty="0" err="1"/>
              <a:t>öldürmes</a:t>
            </a:r>
            <a:r>
              <a:rPr lang="tr-TR" sz="800" dirty="0"/>
              <a:t>i</a:t>
            </a:r>
            <a:r>
              <a:rPr lang="fr-FR" sz="800" dirty="0"/>
              <a:t> </a:t>
            </a:r>
            <a:r>
              <a:rPr lang="fr-FR" sz="800" dirty="0" err="1"/>
              <a:t>veya</a:t>
            </a:r>
            <a:r>
              <a:rPr lang="fr-FR" sz="800" dirty="0"/>
              <a:t> </a:t>
            </a:r>
            <a:r>
              <a:rPr lang="fr-FR" sz="800" dirty="0" err="1"/>
              <a:t>A’yı</a:t>
            </a:r>
            <a:r>
              <a:rPr lang="fr-FR" sz="800" dirty="0"/>
              <a:t> </a:t>
            </a:r>
            <a:r>
              <a:rPr lang="fr-FR" sz="800" dirty="0" err="1"/>
              <a:t>kaçırmak</a:t>
            </a:r>
            <a:r>
              <a:rPr lang="fr-FR" sz="800" dirty="0"/>
              <a:t> </a:t>
            </a:r>
            <a:r>
              <a:rPr lang="tr-TR" sz="800" dirty="0"/>
              <a:t>i</a:t>
            </a:r>
            <a:r>
              <a:rPr lang="fr-FR" sz="800" dirty="0" err="1"/>
              <a:t>sterken</a:t>
            </a:r>
            <a:r>
              <a:rPr lang="fr-FR" sz="800" dirty="0"/>
              <a:t> </a:t>
            </a:r>
            <a:r>
              <a:rPr lang="fr-FR" sz="800" dirty="0" err="1"/>
              <a:t>yanlı</a:t>
            </a:r>
            <a:r>
              <a:rPr lang="tr-TR" sz="800" dirty="0" err="1"/>
              <a:t>şlıkla</a:t>
            </a:r>
            <a:r>
              <a:rPr lang="tr-TR" sz="800" dirty="0"/>
              <a:t> </a:t>
            </a:r>
            <a:r>
              <a:rPr lang="fr-FR" sz="800" dirty="0" err="1"/>
              <a:t>B’y</a:t>
            </a:r>
            <a:r>
              <a:rPr lang="tr-TR" sz="800" dirty="0"/>
              <a:t>i </a:t>
            </a:r>
            <a:r>
              <a:rPr lang="fr-FR" sz="800" dirty="0" err="1"/>
              <a:t>kaçırması</a:t>
            </a:r>
            <a:r>
              <a:rPr lang="fr-FR" sz="800" dirty="0"/>
              <a:t> h</a:t>
            </a:r>
            <a:r>
              <a:rPr lang="tr-TR" sz="800" dirty="0"/>
              <a:t>alinde ş</a:t>
            </a:r>
            <a:r>
              <a:rPr lang="fr-FR" sz="800" dirty="0" err="1"/>
              <a:t>ahısta</a:t>
            </a:r>
            <a:r>
              <a:rPr lang="fr-FR" sz="800" dirty="0"/>
              <a:t> </a:t>
            </a:r>
            <a:r>
              <a:rPr lang="fr-FR" sz="800" dirty="0" err="1"/>
              <a:t>hata</a:t>
            </a:r>
            <a:r>
              <a:rPr lang="fr-FR" sz="800" dirty="0"/>
              <a:t> </a:t>
            </a:r>
            <a:r>
              <a:rPr lang="fr-FR" sz="800" dirty="0" err="1"/>
              <a:t>vardır</a:t>
            </a:r>
            <a:r>
              <a:rPr lang="fr-FR" sz="800" dirty="0"/>
              <a:t>. Bu g</a:t>
            </a:r>
            <a:r>
              <a:rPr lang="tr-TR" sz="800" dirty="0" err="1"/>
              <a:t>ibi</a:t>
            </a:r>
            <a:r>
              <a:rPr lang="fr-FR" sz="800" dirty="0"/>
              <a:t> h</a:t>
            </a:r>
            <a:r>
              <a:rPr lang="tr-TR" sz="800" dirty="0"/>
              <a:t>a</a:t>
            </a:r>
            <a:r>
              <a:rPr lang="fr-FR" sz="800" dirty="0" err="1"/>
              <a:t>llerde</a:t>
            </a:r>
            <a:r>
              <a:rPr lang="fr-FR" sz="800" dirty="0"/>
              <a:t> fa</a:t>
            </a:r>
            <a:r>
              <a:rPr lang="tr-TR" sz="800" dirty="0"/>
              <a:t>i</a:t>
            </a:r>
            <a:r>
              <a:rPr lang="fr-FR" sz="800" dirty="0"/>
              <a:t>l </a:t>
            </a:r>
            <a:r>
              <a:rPr lang="fr-FR" sz="800" dirty="0" err="1"/>
              <a:t>yanılmasaydı</a:t>
            </a:r>
            <a:r>
              <a:rPr lang="fr-FR" sz="800" dirty="0"/>
              <a:t>,</a:t>
            </a:r>
            <a:r>
              <a:rPr lang="tr-TR" sz="800" dirty="0"/>
              <a:t> </a:t>
            </a:r>
            <a:r>
              <a:rPr lang="fr-FR" sz="800" dirty="0" err="1"/>
              <a:t>dü</a:t>
            </a:r>
            <a:r>
              <a:rPr lang="tr-TR" sz="800" dirty="0" err="1"/>
              <a:t>şündüğünü</a:t>
            </a:r>
            <a:r>
              <a:rPr lang="tr-TR" sz="800" dirty="0"/>
              <a:t> </a:t>
            </a:r>
            <a:r>
              <a:rPr lang="fr-FR" sz="800" dirty="0" err="1"/>
              <a:t>gerçekle</a:t>
            </a:r>
            <a:r>
              <a:rPr lang="tr-TR" sz="800" dirty="0"/>
              <a:t>ş</a:t>
            </a:r>
            <a:r>
              <a:rPr lang="fr-FR" sz="800" dirty="0"/>
              <a:t>t</a:t>
            </a:r>
            <a:r>
              <a:rPr lang="tr-TR" sz="800" dirty="0"/>
              <a:t>i</a:t>
            </a:r>
            <a:r>
              <a:rPr lang="fr-FR" sz="800" dirty="0"/>
              <a:t>m</a:t>
            </a:r>
            <a:r>
              <a:rPr lang="tr-TR" sz="800" dirty="0"/>
              <a:t>iş</a:t>
            </a:r>
            <a:r>
              <a:rPr lang="fr-FR" sz="800" dirty="0"/>
              <a:t> </a:t>
            </a:r>
            <a:r>
              <a:rPr lang="fr-FR" sz="800" dirty="0" err="1"/>
              <a:t>olsaydı</a:t>
            </a:r>
            <a:r>
              <a:rPr lang="fr-FR" sz="800" dirty="0"/>
              <a:t> </a:t>
            </a:r>
            <a:r>
              <a:rPr lang="fr-FR" sz="800" dirty="0" err="1"/>
              <a:t>dah</a:t>
            </a:r>
            <a:r>
              <a:rPr lang="tr-TR" sz="800" dirty="0"/>
              <a:t>i</a:t>
            </a:r>
            <a:r>
              <a:rPr lang="fr-FR" sz="800" dirty="0"/>
              <a:t> </a:t>
            </a:r>
            <a:r>
              <a:rPr lang="tr-TR" sz="800" dirty="0"/>
              <a:t>işlediği </a:t>
            </a:r>
            <a:r>
              <a:rPr lang="fr-FR" sz="800" dirty="0"/>
              <a:t>f</a:t>
            </a:r>
            <a:r>
              <a:rPr lang="tr-TR" sz="800" dirty="0" err="1"/>
              <a:t>iil</a:t>
            </a:r>
            <a:r>
              <a:rPr lang="fr-FR" sz="800" dirty="0"/>
              <a:t> y</a:t>
            </a:r>
            <a:r>
              <a:rPr lang="tr-TR" sz="800" dirty="0"/>
              <a:t>i</a:t>
            </a:r>
            <a:r>
              <a:rPr lang="fr-FR" sz="800" dirty="0"/>
              <a:t>ne </a:t>
            </a:r>
            <a:r>
              <a:rPr lang="fr-FR" sz="800" dirty="0" err="1"/>
              <a:t>suç</a:t>
            </a:r>
            <a:r>
              <a:rPr lang="tr-TR" sz="800" dirty="0"/>
              <a:t> </a:t>
            </a:r>
            <a:r>
              <a:rPr lang="fr-FR" sz="800" dirty="0"/>
              <a:t>te</a:t>
            </a:r>
            <a:r>
              <a:rPr lang="tr-TR" sz="800" dirty="0"/>
              <a:t>ş</a:t>
            </a:r>
            <a:r>
              <a:rPr lang="fr-FR" sz="800" dirty="0"/>
              <a:t>k</a:t>
            </a:r>
            <a:r>
              <a:rPr lang="tr-TR" sz="800" dirty="0"/>
              <a:t>i</a:t>
            </a:r>
            <a:r>
              <a:rPr lang="fr-FR" sz="800" dirty="0"/>
              <a:t>l </a:t>
            </a:r>
            <a:r>
              <a:rPr lang="fr-FR" sz="800" dirty="0" err="1"/>
              <a:t>edecekt</a:t>
            </a:r>
            <a:r>
              <a:rPr lang="tr-TR" sz="800" dirty="0"/>
              <a:t>i</a:t>
            </a:r>
            <a:r>
              <a:rPr lang="fr-FR" sz="800" dirty="0"/>
              <a:t>r. Bu </a:t>
            </a:r>
            <a:r>
              <a:rPr lang="fr-FR" sz="800" dirty="0" err="1"/>
              <a:t>nedenle</a:t>
            </a:r>
            <a:r>
              <a:rPr lang="fr-FR" sz="800" dirty="0"/>
              <a:t>, </a:t>
            </a:r>
            <a:r>
              <a:rPr lang="tr-TR" sz="800" dirty="0"/>
              <a:t>ş</a:t>
            </a:r>
            <a:r>
              <a:rPr lang="fr-FR" sz="800" dirty="0" err="1"/>
              <a:t>ahısta</a:t>
            </a:r>
            <a:r>
              <a:rPr lang="fr-FR" sz="800" dirty="0"/>
              <a:t> </a:t>
            </a:r>
            <a:r>
              <a:rPr lang="fr-FR" sz="800" dirty="0" err="1"/>
              <a:t>hata</a:t>
            </a:r>
            <a:r>
              <a:rPr lang="tr-TR" sz="800" dirty="0"/>
              <a:t> </a:t>
            </a:r>
            <a:r>
              <a:rPr lang="fr-FR" sz="800" dirty="0" err="1"/>
              <a:t>olarak</a:t>
            </a:r>
            <a:r>
              <a:rPr lang="fr-FR" sz="800" dirty="0"/>
              <a:t> n</a:t>
            </a:r>
            <a:r>
              <a:rPr lang="tr-TR" sz="800" dirty="0"/>
              <a:t>i</a:t>
            </a:r>
            <a:r>
              <a:rPr lang="fr-FR" sz="800" dirty="0" err="1"/>
              <a:t>telend</a:t>
            </a:r>
            <a:r>
              <a:rPr lang="tr-TR" sz="800" dirty="0"/>
              <a:t>i</a:t>
            </a:r>
            <a:r>
              <a:rPr lang="fr-FR" sz="800" dirty="0"/>
              <a:t>r</a:t>
            </a:r>
            <a:r>
              <a:rPr lang="tr-TR" sz="800" dirty="0"/>
              <a:t>i</a:t>
            </a:r>
            <a:r>
              <a:rPr lang="fr-FR" sz="800" dirty="0" err="1"/>
              <a:t>len</a:t>
            </a:r>
            <a:r>
              <a:rPr lang="tr-TR" sz="800" dirty="0"/>
              <a:t> </a:t>
            </a:r>
            <a:r>
              <a:rPr lang="fr-FR" sz="800" dirty="0" err="1"/>
              <a:t>ve</a:t>
            </a:r>
            <a:r>
              <a:rPr lang="fr-FR" sz="800" dirty="0"/>
              <a:t> </a:t>
            </a:r>
            <a:r>
              <a:rPr lang="fr-FR" sz="800" dirty="0" err="1"/>
              <a:t>magdurun</a:t>
            </a:r>
            <a:r>
              <a:rPr lang="fr-FR" sz="800" dirty="0"/>
              <a:t> k</a:t>
            </a:r>
            <a:r>
              <a:rPr lang="tr-TR" sz="800" dirty="0"/>
              <a:t>i</a:t>
            </a:r>
            <a:r>
              <a:rPr lang="fr-FR" sz="800" dirty="0"/>
              <a:t>m </a:t>
            </a:r>
            <a:r>
              <a:rPr lang="fr-FR" sz="800" dirty="0" err="1"/>
              <a:t>oldu</a:t>
            </a:r>
            <a:r>
              <a:rPr lang="tr-TR" sz="800" dirty="0"/>
              <a:t>ğ</a:t>
            </a:r>
            <a:r>
              <a:rPr lang="fr-FR" sz="800" dirty="0"/>
              <a:t>u </a:t>
            </a:r>
            <a:r>
              <a:rPr lang="fr-FR" sz="800" dirty="0" err="1"/>
              <a:t>hususunda</a:t>
            </a:r>
            <a:r>
              <a:rPr lang="fr-FR" sz="800" dirty="0"/>
              <a:t> </a:t>
            </a:r>
            <a:r>
              <a:rPr lang="fr-FR" sz="800" dirty="0" err="1"/>
              <a:t>dü</a:t>
            </a:r>
            <a:r>
              <a:rPr lang="tr-TR" sz="800" dirty="0"/>
              <a:t>ş</a:t>
            </a:r>
            <a:r>
              <a:rPr lang="fr-FR" sz="800" dirty="0" err="1"/>
              <a:t>ülen</a:t>
            </a:r>
            <a:r>
              <a:rPr lang="fr-FR" sz="800" dirty="0"/>
              <a:t> </a:t>
            </a:r>
            <a:r>
              <a:rPr lang="fr-FR" sz="800" dirty="0" err="1"/>
              <a:t>hata</a:t>
            </a:r>
            <a:r>
              <a:rPr lang="fr-FR" sz="800" dirty="0"/>
              <a:t> </a:t>
            </a:r>
            <a:r>
              <a:rPr lang="fr-FR" sz="800" dirty="0" err="1"/>
              <a:t>kastı</a:t>
            </a:r>
            <a:r>
              <a:rPr lang="tr-TR" sz="800" dirty="0"/>
              <a:t> </a:t>
            </a:r>
            <a:r>
              <a:rPr lang="fr-FR" sz="800" dirty="0" err="1"/>
              <a:t>kaldırmaz</a:t>
            </a:r>
            <a:r>
              <a:rPr lang="fr-FR" sz="800" dirty="0"/>
              <a:t>.</a:t>
            </a:r>
          </a:p>
        </p:txBody>
      </p:sp>
      <p:sp>
        <p:nvSpPr>
          <p:cNvPr id="8" name="Dikdörtgen 7"/>
          <p:cNvSpPr/>
          <p:nvPr/>
        </p:nvSpPr>
        <p:spPr>
          <a:xfrm>
            <a:off x="6380917" y="5594104"/>
            <a:ext cx="5575853" cy="784830"/>
          </a:xfrm>
          <a:prstGeom prst="rect">
            <a:avLst/>
          </a:prstGeom>
        </p:spPr>
        <p:txBody>
          <a:bodyPr wrap="square">
            <a:spAutoFit/>
          </a:bodyPr>
          <a:lstStyle/>
          <a:p>
            <a:pPr algn="just"/>
            <a:r>
              <a:rPr lang="tr-TR" sz="900" dirty="0" smtClean="0"/>
              <a:t>1-İş</a:t>
            </a:r>
            <a:r>
              <a:rPr lang="fr-FR" sz="900" dirty="0" err="1" smtClean="0"/>
              <a:t>led</a:t>
            </a:r>
            <a:r>
              <a:rPr lang="tr-TR" sz="900" dirty="0" smtClean="0"/>
              <a:t>iği </a:t>
            </a:r>
            <a:r>
              <a:rPr lang="fr-FR" sz="900" dirty="0" err="1" smtClean="0"/>
              <a:t>suçta</a:t>
            </a:r>
            <a:r>
              <a:rPr lang="fr-FR" sz="900" dirty="0" smtClean="0"/>
              <a:t> </a:t>
            </a:r>
            <a:r>
              <a:rPr lang="fr-FR" sz="900" dirty="0" err="1"/>
              <a:t>cezayı</a:t>
            </a:r>
            <a:r>
              <a:rPr lang="fr-FR" sz="900" dirty="0"/>
              <a:t> </a:t>
            </a:r>
            <a:r>
              <a:rPr lang="fr-FR" sz="900" dirty="0" smtClean="0"/>
              <a:t>a</a:t>
            </a:r>
            <a:r>
              <a:rPr lang="tr-TR" sz="900" dirty="0" smtClean="0"/>
              <a:t>ğ</a:t>
            </a:r>
            <a:r>
              <a:rPr lang="fr-FR" sz="900" dirty="0" err="1" smtClean="0"/>
              <a:t>ırla</a:t>
            </a:r>
            <a:r>
              <a:rPr lang="tr-TR" sz="900" dirty="0" smtClean="0"/>
              <a:t>ş</a:t>
            </a:r>
            <a:r>
              <a:rPr lang="fr-FR" sz="900" dirty="0" err="1" smtClean="0"/>
              <a:t>tıran</a:t>
            </a:r>
            <a:r>
              <a:rPr lang="fr-FR" sz="900" dirty="0" smtClean="0"/>
              <a:t> n</a:t>
            </a:r>
            <a:r>
              <a:rPr lang="tr-TR" sz="900" dirty="0" smtClean="0"/>
              <a:t>i</a:t>
            </a:r>
            <a:r>
              <a:rPr lang="fr-FR" sz="900" dirty="0" smtClean="0"/>
              <a:t>tel</a:t>
            </a:r>
            <a:r>
              <a:rPr lang="tr-TR" sz="900" dirty="0" smtClean="0"/>
              <a:t>i</a:t>
            </a:r>
            <a:r>
              <a:rPr lang="fr-FR" sz="900" dirty="0" smtClean="0"/>
              <a:t>kl</a:t>
            </a:r>
            <a:r>
              <a:rPr lang="tr-TR" sz="900" dirty="0" smtClean="0"/>
              <a:t>i</a:t>
            </a:r>
            <a:r>
              <a:rPr lang="fr-FR" sz="900" dirty="0" smtClean="0"/>
              <a:t> h</a:t>
            </a:r>
            <a:r>
              <a:rPr lang="tr-TR" sz="900" dirty="0" smtClean="0"/>
              <a:t>a</a:t>
            </a:r>
            <a:r>
              <a:rPr lang="fr-FR" sz="900" dirty="0" smtClean="0"/>
              <a:t>l </a:t>
            </a:r>
            <a:r>
              <a:rPr lang="fr-FR" sz="900" dirty="0" err="1"/>
              <a:t>bulunmasına</a:t>
            </a:r>
            <a:r>
              <a:rPr lang="fr-FR" sz="900" dirty="0"/>
              <a:t> </a:t>
            </a:r>
            <a:r>
              <a:rPr lang="fr-FR" sz="900" dirty="0" smtClean="0"/>
              <a:t>ra</a:t>
            </a:r>
            <a:r>
              <a:rPr lang="tr-TR" sz="900" dirty="0" smtClean="0"/>
              <a:t>ğ</a:t>
            </a:r>
            <a:r>
              <a:rPr lang="fr-FR" sz="900" dirty="0" smtClean="0"/>
              <a:t>men fa</a:t>
            </a:r>
            <a:r>
              <a:rPr lang="tr-TR" sz="900" dirty="0" smtClean="0"/>
              <a:t>i</a:t>
            </a:r>
            <a:r>
              <a:rPr lang="fr-FR" sz="900" dirty="0" smtClean="0"/>
              <a:t>l </a:t>
            </a:r>
            <a:r>
              <a:rPr lang="fr-FR" sz="900" dirty="0" err="1"/>
              <a:t>bunları</a:t>
            </a:r>
            <a:r>
              <a:rPr lang="fr-FR" sz="900" dirty="0"/>
              <a:t> </a:t>
            </a:r>
            <a:r>
              <a:rPr lang="fr-FR" sz="900" dirty="0" smtClean="0"/>
              <a:t>b</a:t>
            </a:r>
            <a:r>
              <a:rPr lang="tr-TR" sz="900" dirty="0" smtClean="0"/>
              <a:t>i</a:t>
            </a:r>
            <a:r>
              <a:rPr lang="fr-FR" sz="900" dirty="0" err="1" smtClean="0"/>
              <a:t>lmemekted</a:t>
            </a:r>
            <a:r>
              <a:rPr lang="tr-TR" sz="900" dirty="0" smtClean="0"/>
              <a:t>i</a:t>
            </a:r>
            <a:r>
              <a:rPr lang="fr-FR" sz="900" dirty="0"/>
              <a:t>r. </a:t>
            </a:r>
            <a:r>
              <a:rPr lang="tr-TR" sz="900" dirty="0" smtClean="0"/>
              <a:t>C</a:t>
            </a:r>
            <a:r>
              <a:rPr lang="fr-FR" sz="900" dirty="0" err="1" smtClean="0"/>
              <a:t>eza</a:t>
            </a:r>
            <a:r>
              <a:rPr lang="tr-TR" sz="900" dirty="0" smtClean="0"/>
              <a:t>s</a:t>
            </a:r>
            <a:r>
              <a:rPr lang="fr-FR" sz="900" dirty="0" smtClean="0"/>
              <a:t>ı </a:t>
            </a:r>
            <a:r>
              <a:rPr lang="fr-FR" sz="900" dirty="0" err="1" smtClean="0"/>
              <a:t>artırılmaz</a:t>
            </a:r>
            <a:endParaRPr lang="tr-TR" sz="900" dirty="0" smtClean="0"/>
          </a:p>
          <a:p>
            <a:pPr algn="just"/>
            <a:r>
              <a:rPr lang="tr-TR" sz="900" dirty="0" smtClean="0"/>
              <a:t>2-</a:t>
            </a:r>
            <a:r>
              <a:rPr lang="fr-FR" sz="900" dirty="0" err="1" smtClean="0"/>
              <a:t>Failin</a:t>
            </a:r>
            <a:r>
              <a:rPr lang="fr-FR" sz="900" dirty="0" smtClean="0"/>
              <a:t> </a:t>
            </a:r>
            <a:r>
              <a:rPr lang="fr-FR" sz="900" dirty="0" err="1"/>
              <a:t>işlediği</a:t>
            </a:r>
            <a:r>
              <a:rPr lang="fr-FR" sz="900" dirty="0"/>
              <a:t> </a:t>
            </a:r>
            <a:r>
              <a:rPr lang="fr-FR" sz="900" dirty="0" err="1"/>
              <a:t>suçta</a:t>
            </a:r>
            <a:r>
              <a:rPr lang="fr-FR" sz="900" dirty="0"/>
              <a:t> </a:t>
            </a:r>
            <a:r>
              <a:rPr lang="fr-FR" sz="900" dirty="0" err="1"/>
              <a:t>nitelikli</a:t>
            </a:r>
            <a:r>
              <a:rPr lang="fr-FR" sz="900" dirty="0"/>
              <a:t> </a:t>
            </a:r>
            <a:r>
              <a:rPr lang="fr-FR" sz="900" dirty="0" err="1"/>
              <a:t>hal</a:t>
            </a:r>
            <a:r>
              <a:rPr lang="fr-FR" sz="900" dirty="0"/>
              <a:t> </a:t>
            </a:r>
            <a:r>
              <a:rPr lang="fr-FR" sz="900" dirty="0" err="1"/>
              <a:t>bulunmamasına</a:t>
            </a:r>
            <a:r>
              <a:rPr lang="fr-FR" sz="900" dirty="0"/>
              <a:t> </a:t>
            </a:r>
            <a:r>
              <a:rPr lang="fr-FR" sz="900" dirty="0" err="1"/>
              <a:t>rağmen</a:t>
            </a:r>
            <a:r>
              <a:rPr lang="fr-FR" sz="900" dirty="0"/>
              <a:t>, </a:t>
            </a:r>
            <a:r>
              <a:rPr lang="fr-FR" sz="900" dirty="0" err="1"/>
              <a:t>fail</a:t>
            </a:r>
            <a:r>
              <a:rPr lang="fr-FR" sz="900" dirty="0"/>
              <a:t> </a:t>
            </a:r>
            <a:r>
              <a:rPr lang="fr-FR" sz="900" dirty="0" err="1"/>
              <a:t>bulunduğunu</a:t>
            </a:r>
            <a:r>
              <a:rPr lang="fr-FR" sz="900" dirty="0"/>
              <a:t> </a:t>
            </a:r>
            <a:r>
              <a:rPr lang="fr-FR" sz="900" dirty="0" err="1"/>
              <a:t>zannetmektedir</a:t>
            </a:r>
            <a:r>
              <a:rPr lang="fr-FR" sz="900" dirty="0"/>
              <a:t>. Bu </a:t>
            </a:r>
            <a:r>
              <a:rPr lang="fr-FR" sz="900" dirty="0" err="1"/>
              <a:t>ihtimalde</a:t>
            </a:r>
            <a:r>
              <a:rPr lang="fr-FR" sz="900" dirty="0"/>
              <a:t> </a:t>
            </a:r>
            <a:r>
              <a:rPr lang="fr-FR" sz="900" dirty="0" err="1"/>
              <a:t>failin</a:t>
            </a:r>
            <a:r>
              <a:rPr lang="fr-FR" sz="900" dirty="0"/>
              <a:t> </a:t>
            </a:r>
            <a:r>
              <a:rPr lang="fr-FR" sz="900" dirty="0" err="1"/>
              <a:t>kastı</a:t>
            </a:r>
            <a:r>
              <a:rPr lang="fr-FR" sz="900" dirty="0"/>
              <a:t> </a:t>
            </a:r>
            <a:r>
              <a:rPr lang="fr-FR" sz="900" dirty="0" err="1"/>
              <a:t>suçun</a:t>
            </a:r>
            <a:r>
              <a:rPr lang="fr-FR" sz="900" dirty="0"/>
              <a:t> </a:t>
            </a:r>
            <a:r>
              <a:rPr lang="fr-FR" sz="900" dirty="0" err="1"/>
              <a:t>nitelikli</a:t>
            </a:r>
            <a:r>
              <a:rPr lang="fr-FR" sz="900" dirty="0"/>
              <a:t> </a:t>
            </a:r>
            <a:r>
              <a:rPr lang="fr-FR" sz="900" dirty="0" err="1"/>
              <a:t>halini</a:t>
            </a:r>
            <a:r>
              <a:rPr lang="fr-FR" sz="900" dirty="0"/>
              <a:t> </a:t>
            </a:r>
            <a:r>
              <a:rPr lang="fr-FR" sz="900" dirty="0" err="1"/>
              <a:t>gerçekleştirmeye</a:t>
            </a:r>
            <a:r>
              <a:rPr lang="fr-FR" sz="900" dirty="0"/>
              <a:t> </a:t>
            </a:r>
            <a:r>
              <a:rPr lang="fr-FR" sz="900" dirty="0" err="1"/>
              <a:t>yöneliktir</a:t>
            </a:r>
            <a:r>
              <a:rPr lang="fr-FR" sz="900" dirty="0"/>
              <a:t>, </a:t>
            </a:r>
            <a:r>
              <a:rPr lang="fr-FR" sz="900" dirty="0" err="1"/>
              <a:t>fakat</a:t>
            </a:r>
            <a:r>
              <a:rPr lang="fr-FR" sz="900" dirty="0"/>
              <a:t> </a:t>
            </a:r>
            <a:r>
              <a:rPr lang="fr-FR" sz="900" dirty="0" err="1"/>
              <a:t>gerçekleşen</a:t>
            </a:r>
            <a:r>
              <a:rPr lang="fr-FR" sz="900" dirty="0"/>
              <a:t> </a:t>
            </a:r>
            <a:r>
              <a:rPr lang="fr-FR" sz="900" dirty="0" err="1"/>
              <a:t>suçta</a:t>
            </a:r>
            <a:r>
              <a:rPr lang="fr-FR" sz="900" dirty="0"/>
              <a:t> </a:t>
            </a:r>
            <a:r>
              <a:rPr lang="fr-FR" sz="900" dirty="0" err="1"/>
              <a:t>nitelikli</a:t>
            </a:r>
            <a:r>
              <a:rPr lang="fr-FR" sz="900" dirty="0"/>
              <a:t> </a:t>
            </a:r>
            <a:r>
              <a:rPr lang="fr-FR" sz="900" dirty="0" err="1"/>
              <a:t>hal</a:t>
            </a:r>
            <a:r>
              <a:rPr lang="fr-FR" sz="900" dirty="0"/>
              <a:t> </a:t>
            </a:r>
            <a:r>
              <a:rPr lang="fr-FR" sz="900" dirty="0" err="1"/>
              <a:t>bulunmamaktadır</a:t>
            </a:r>
            <a:r>
              <a:rPr lang="fr-FR" sz="900" dirty="0"/>
              <a:t>. Bu </a:t>
            </a:r>
            <a:r>
              <a:rPr lang="fr-FR" sz="900" dirty="0" err="1"/>
              <a:t>durumda</a:t>
            </a:r>
            <a:r>
              <a:rPr lang="fr-FR" sz="900" dirty="0"/>
              <a:t> da </a:t>
            </a:r>
            <a:r>
              <a:rPr lang="fr-FR" sz="900" dirty="0" err="1"/>
              <a:t>fail</a:t>
            </a:r>
            <a:r>
              <a:rPr lang="fr-FR" sz="900" dirty="0"/>
              <a:t> </a:t>
            </a:r>
            <a:r>
              <a:rPr lang="fr-FR" sz="900" dirty="0" err="1"/>
              <a:t>hatasından</a:t>
            </a:r>
            <a:r>
              <a:rPr lang="fr-FR" sz="900" dirty="0"/>
              <a:t> </a:t>
            </a:r>
            <a:r>
              <a:rPr lang="fr-FR" sz="900" dirty="0" err="1"/>
              <a:t>yararlanır</a:t>
            </a:r>
            <a:r>
              <a:rPr lang="fr-FR" sz="900" dirty="0" smtClean="0"/>
              <a:t>.</a:t>
            </a:r>
            <a:r>
              <a:rPr lang="tr-TR" sz="900" b="1" i="1" dirty="0">
                <a:effectLst>
                  <a:outerShdw blurRad="38100" dist="38100" dir="2700000" algn="tl">
                    <a:srgbClr val="000000">
                      <a:alpha val="43137"/>
                    </a:srgbClr>
                  </a:outerShdw>
                </a:effectLst>
              </a:rPr>
              <a:t> </a:t>
            </a:r>
            <a:endParaRPr lang="tr-TR" sz="900" b="1" i="1" dirty="0" smtClean="0">
              <a:effectLst>
                <a:outerShdw blurRad="38100" dist="38100" dir="2700000" algn="tl">
                  <a:srgbClr val="000000">
                    <a:alpha val="43137"/>
                  </a:srgbClr>
                </a:outerShdw>
              </a:effectLst>
            </a:endParaRPr>
          </a:p>
          <a:p>
            <a:pPr algn="ctr"/>
            <a:r>
              <a:rPr lang="tr-TR" sz="900" b="1" i="1" dirty="0" smtClean="0">
                <a:effectLst>
                  <a:outerShdw blurRad="38100" dist="38100" dir="2700000" algn="tl">
                    <a:srgbClr val="000000">
                      <a:alpha val="43137"/>
                    </a:srgbClr>
                  </a:outerShdw>
                </a:effectLst>
              </a:rPr>
              <a:t>SUÇUN </a:t>
            </a:r>
            <a:r>
              <a:rPr lang="tr-TR" sz="900" b="1" i="1" dirty="0">
                <a:effectLst>
                  <a:outerShdw blurRad="38100" dist="38100" dir="2700000" algn="tl">
                    <a:srgbClr val="000000">
                      <a:alpha val="43137"/>
                    </a:srgbClr>
                  </a:outerShdw>
                </a:effectLst>
              </a:rPr>
              <a:t>TEMEL ŞEKLİNE GÖRE </a:t>
            </a:r>
            <a:r>
              <a:rPr lang="tr-TR" sz="900" b="1" i="1" dirty="0" smtClean="0">
                <a:effectLst>
                  <a:outerShdw blurRad="38100" dist="38100" dir="2700000" algn="tl">
                    <a:srgbClr val="000000">
                      <a:alpha val="43137"/>
                    </a:srgbClr>
                  </a:outerShdw>
                </a:effectLst>
              </a:rPr>
              <a:t>CEZALANDIRILIR</a:t>
            </a:r>
            <a:endParaRPr lang="fr-FR" sz="900" dirty="0"/>
          </a:p>
        </p:txBody>
      </p:sp>
      <p:sp>
        <p:nvSpPr>
          <p:cNvPr id="18"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7" name="Slayt Numarası Yer Tutucusu 6"/>
          <p:cNvSpPr>
            <a:spLocks noGrp="1"/>
          </p:cNvSpPr>
          <p:nvPr>
            <p:ph type="sldNum" sz="quarter" idx="12"/>
          </p:nvPr>
        </p:nvSpPr>
        <p:spPr/>
        <p:txBody>
          <a:bodyPr/>
          <a:lstStyle/>
          <a:p>
            <a:fld id="{39F9BA00-44CD-41D4-A3D8-F864C744DC1F}" type="slidenum">
              <a:rPr lang="tr-TR" smtClean="0"/>
              <a:t>73</a:t>
            </a:fld>
            <a:r>
              <a:rPr lang="tr-TR"/>
              <a:t>/116</a:t>
            </a:r>
          </a:p>
        </p:txBody>
      </p:sp>
    </p:spTree>
    <p:extLst>
      <p:ext uri="{BB962C8B-B14F-4D97-AF65-F5344CB8AC3E}">
        <p14:creationId xmlns:p14="http://schemas.microsoft.com/office/powerpoint/2010/main" val="322554489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p:cNvSpPr txBox="1">
            <a:spLocks/>
          </p:cNvSpPr>
          <p:nvPr/>
        </p:nvSpPr>
        <p:spPr>
          <a:xfrm>
            <a:off x="1035183" y="1788586"/>
            <a:ext cx="914400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Çeşitli Hata halleri 	</a:t>
            </a:r>
            <a:endParaRPr lang="tr-TR" b="1" dirty="0"/>
          </a:p>
        </p:txBody>
      </p:sp>
      <p:sp>
        <p:nvSpPr>
          <p:cNvPr id="17" name="Alt Başlık 2"/>
          <p:cNvSpPr txBox="1">
            <a:spLocks/>
          </p:cNvSpPr>
          <p:nvPr/>
        </p:nvSpPr>
        <p:spPr>
          <a:xfrm>
            <a:off x="1816827" y="2151258"/>
            <a:ext cx="4484581" cy="213696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b="1" dirty="0" smtClean="0"/>
              <a:t>Kusurluluğu Etkileyen Hata</a:t>
            </a:r>
          </a:p>
          <a:p>
            <a:pPr algn="just"/>
            <a:r>
              <a:rPr lang="tr-TR" sz="1800" b="1" dirty="0"/>
              <a:t>1.</a:t>
            </a:r>
            <a:r>
              <a:rPr lang="tr-TR" sz="1800" dirty="0"/>
              <a:t>Kusurluluğu kaldıran/azaltan bir nedenin maddi şartlarında </a:t>
            </a:r>
            <a:r>
              <a:rPr lang="tr-TR" sz="1800" dirty="0" smtClean="0"/>
              <a:t>hata</a:t>
            </a:r>
          </a:p>
          <a:p>
            <a:pPr algn="just"/>
            <a:r>
              <a:rPr lang="tr-TR" sz="1800" b="1" dirty="0"/>
              <a:t>2.</a:t>
            </a:r>
            <a:r>
              <a:rPr lang="tr-TR" sz="1800" dirty="0"/>
              <a:t>İşlenen fiilin haksızlık oluşturduğu hususunda </a:t>
            </a:r>
            <a:r>
              <a:rPr lang="tr-TR" sz="1800" dirty="0" smtClean="0"/>
              <a:t>hata (Haksızlık Hatası)</a:t>
            </a:r>
          </a:p>
          <a:p>
            <a:pPr algn="just"/>
            <a:r>
              <a:rPr lang="tr-TR" sz="1400" i="1" dirty="0" smtClean="0">
                <a:effectLst>
                  <a:outerShdw blurRad="38100" dist="38100" dir="2700000" algn="tl">
                    <a:srgbClr val="000000">
                      <a:alpha val="43137"/>
                    </a:srgbClr>
                  </a:outerShdw>
                </a:effectLst>
              </a:rPr>
              <a:t>Yukarıdaki her 2 durumda da Hata Kaçınılmaz olmalıdır.</a:t>
            </a:r>
            <a:endParaRPr lang="tr-TR" sz="1400" i="1" dirty="0">
              <a:effectLst>
                <a:outerShdw blurRad="38100" dist="38100" dir="2700000" algn="tl">
                  <a:srgbClr val="000000">
                    <a:alpha val="43137"/>
                  </a:srgbClr>
                </a:outerShdw>
              </a:effectLst>
            </a:endParaRPr>
          </a:p>
          <a:p>
            <a:pPr algn="l"/>
            <a:endParaRPr lang="tr-TR" sz="1800" dirty="0"/>
          </a:p>
          <a:p>
            <a:endParaRPr lang="tr-TR" b="1" dirty="0">
              <a:effectLst>
                <a:outerShdw blurRad="38100" dist="38100" dir="2700000" algn="tl">
                  <a:srgbClr val="000000">
                    <a:alpha val="43137"/>
                  </a:srgbClr>
                </a:outerShdw>
              </a:effectLst>
            </a:endParaRPr>
          </a:p>
        </p:txBody>
      </p:sp>
      <p:sp>
        <p:nvSpPr>
          <p:cNvPr id="4" name="Metin kutusu 3"/>
          <p:cNvSpPr txBox="1"/>
          <p:nvPr/>
        </p:nvSpPr>
        <p:spPr>
          <a:xfrm>
            <a:off x="6542216" y="3451936"/>
            <a:ext cx="5575853" cy="1569660"/>
          </a:xfrm>
          <a:prstGeom prst="rect">
            <a:avLst/>
          </a:prstGeom>
          <a:noFill/>
          <a:ln w="15875">
            <a:solidFill>
              <a:schemeClr val="tx1"/>
            </a:solidFill>
          </a:ln>
        </p:spPr>
        <p:txBody>
          <a:bodyPr wrap="square" rtlCol="0">
            <a:spAutoFit/>
          </a:bodyPr>
          <a:lstStyle/>
          <a:p>
            <a:pPr algn="just"/>
            <a:r>
              <a:rPr lang="tr-TR" sz="1200" dirty="0" smtClean="0"/>
              <a:t>5237 s. TCK Madde </a:t>
            </a:r>
            <a:r>
              <a:rPr lang="tr-TR" sz="1200" dirty="0"/>
              <a:t>4- (1) Ceza kanunlarını bilmemek mazeret sayılmaz</a:t>
            </a:r>
            <a:r>
              <a:rPr lang="tr-TR" sz="1200" dirty="0" smtClean="0"/>
              <a:t>.</a:t>
            </a:r>
          </a:p>
          <a:p>
            <a:pPr algn="just"/>
            <a:r>
              <a:rPr lang="tr-TR" sz="1200" dirty="0" smtClean="0"/>
              <a:t>Temel ilke.</a:t>
            </a:r>
          </a:p>
          <a:p>
            <a:pPr algn="just"/>
            <a:r>
              <a:rPr lang="tr-TR" sz="1200" dirty="0" smtClean="0"/>
              <a:t>Bu temel ilkenin mutlak surette tatbik edilmesi bazı durumlarda hakkaniyetli olmayabilir. </a:t>
            </a:r>
            <a:r>
              <a:rPr lang="tr-TR" sz="1200" dirty="0"/>
              <a:t>Örneğin Kişinin uzun bir süredir ağır hasta olması </a:t>
            </a:r>
            <a:r>
              <a:rPr lang="tr-TR" sz="1200" dirty="0" smtClean="0"/>
              <a:t>halinde olduğu gibi. Bu durumda failin, fiilinin suç teşkil etmediğini düşünmesi İSTİSNAEN önem kazanıp Hata kapsamında değerlendirilebilir.</a:t>
            </a:r>
          </a:p>
          <a:p>
            <a:pPr marL="171450" indent="-171450" algn="just">
              <a:buFont typeface="Arial" panose="020B0604020202020204" pitchFamily="34" charset="0"/>
              <a:buChar char="•"/>
            </a:pPr>
            <a:r>
              <a:rPr lang="tr-TR" sz="1200" dirty="0" smtClean="0"/>
              <a:t>Ülkesinde uyuşturucu olarak düşünülmeyen bir malın Türkiye’ye sokulması</a:t>
            </a:r>
          </a:p>
          <a:p>
            <a:pPr algn="just"/>
            <a:endParaRPr lang="tr-TR" sz="1200" dirty="0" smtClean="0"/>
          </a:p>
        </p:txBody>
      </p:sp>
      <p:sp>
        <p:nvSpPr>
          <p:cNvPr id="14" name="Metin kutusu 13"/>
          <p:cNvSpPr txBox="1"/>
          <p:nvPr/>
        </p:nvSpPr>
        <p:spPr>
          <a:xfrm>
            <a:off x="6542217" y="1916176"/>
            <a:ext cx="5575853" cy="830997"/>
          </a:xfrm>
          <a:prstGeom prst="rect">
            <a:avLst/>
          </a:prstGeom>
          <a:noFill/>
          <a:ln w="15875">
            <a:solidFill>
              <a:schemeClr val="tx1"/>
            </a:solidFill>
          </a:ln>
        </p:spPr>
        <p:txBody>
          <a:bodyPr wrap="square" rtlCol="0">
            <a:spAutoFit/>
          </a:bodyPr>
          <a:lstStyle/>
          <a:p>
            <a:pPr algn="just"/>
            <a:r>
              <a:rPr lang="tr-TR" sz="1200" dirty="0" smtClean="0"/>
              <a:t>Zorunluluk hali, haksız tahrik </a:t>
            </a:r>
            <a:r>
              <a:rPr lang="tr-TR" sz="1200" dirty="0" err="1" smtClean="0"/>
              <a:t>vb</a:t>
            </a:r>
            <a:r>
              <a:rPr lang="tr-TR" sz="1200" dirty="0" smtClean="0"/>
              <a:t> kusurluluğu kaldıran/azaltan nedenler somut olayda gerçekleşti sanılarak bir suç işlenmesi durumu.</a:t>
            </a:r>
          </a:p>
          <a:p>
            <a:pPr algn="just"/>
            <a:r>
              <a:rPr lang="tr-TR" sz="1200" dirty="0" smtClean="0"/>
              <a:t>Kendisine hakaret edilmediği halde hakaret edildiğini sanıp bu hakaret tahrikiyle yaralama meydana getirilirse. </a:t>
            </a:r>
            <a:endParaRPr lang="fr-FR" sz="1200" dirty="0"/>
          </a:p>
        </p:txBody>
      </p:sp>
      <p:sp>
        <p:nvSpPr>
          <p:cNvPr id="2" name="Bükülü Ok 1"/>
          <p:cNvSpPr/>
          <p:nvPr/>
        </p:nvSpPr>
        <p:spPr>
          <a:xfrm>
            <a:off x="5959366" y="2151258"/>
            <a:ext cx="472965" cy="465818"/>
          </a:xfrm>
          <a:prstGeom prst="ben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 name="Sağ Ok 2"/>
          <p:cNvSpPr/>
          <p:nvPr/>
        </p:nvSpPr>
        <p:spPr>
          <a:xfrm>
            <a:off x="5959366" y="3541986"/>
            <a:ext cx="472965" cy="252248"/>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7" name="Slayt Numarası Yer Tutucusu 6"/>
          <p:cNvSpPr>
            <a:spLocks noGrp="1"/>
          </p:cNvSpPr>
          <p:nvPr>
            <p:ph type="sldNum" sz="quarter" idx="12"/>
          </p:nvPr>
        </p:nvSpPr>
        <p:spPr/>
        <p:txBody>
          <a:bodyPr/>
          <a:lstStyle/>
          <a:p>
            <a:fld id="{39F9BA00-44CD-41D4-A3D8-F864C744DC1F}" type="slidenum">
              <a:rPr lang="tr-TR" smtClean="0"/>
              <a:t>74</a:t>
            </a:fld>
            <a:r>
              <a:rPr lang="tr-TR"/>
              <a:t>/116</a:t>
            </a:r>
          </a:p>
        </p:txBody>
      </p:sp>
    </p:spTree>
    <p:extLst>
      <p:ext uri="{BB962C8B-B14F-4D97-AF65-F5344CB8AC3E}">
        <p14:creationId xmlns:p14="http://schemas.microsoft.com/office/powerpoint/2010/main" val="340886756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lt Başlık 2"/>
          <p:cNvSpPr txBox="1">
            <a:spLocks/>
          </p:cNvSpPr>
          <p:nvPr/>
        </p:nvSpPr>
        <p:spPr>
          <a:xfrm>
            <a:off x="7972076" y="1379913"/>
            <a:ext cx="273464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tr-TR" sz="1800" b="1" dirty="0" smtClean="0">
                <a:effectLst>
                  <a:outerShdw blurRad="38100" dist="38100" dir="2700000" algn="tl">
                    <a:srgbClr val="000000">
                      <a:alpha val="43137"/>
                    </a:srgbClr>
                  </a:outerShdw>
                </a:effectLst>
              </a:rPr>
              <a:t>Kusurluluğu Kaldıran/Azaltan Nedenler</a:t>
            </a:r>
          </a:p>
          <a:p>
            <a:r>
              <a:rPr lang="tr-TR" sz="1800" b="1" dirty="0" smtClean="0">
                <a:effectLst>
                  <a:outerShdw blurRad="38100" dist="38100" dir="2700000" algn="tl">
                    <a:srgbClr val="000000">
                      <a:alpha val="43137"/>
                    </a:srgbClr>
                  </a:outerShdw>
                </a:effectLst>
              </a:rPr>
              <a:t>	</a:t>
            </a:r>
            <a:endParaRPr lang="tr-TR" sz="1800" b="1" dirty="0">
              <a:effectLst>
                <a:outerShdw blurRad="38100" dist="38100" dir="2700000" algn="tl">
                  <a:srgbClr val="000000">
                    <a:alpha val="43137"/>
                  </a:srgbClr>
                </a:outerShdw>
              </a:effectLst>
            </a:endParaRPr>
          </a:p>
        </p:txBody>
      </p:sp>
      <p:sp>
        <p:nvSpPr>
          <p:cNvPr id="44" name="Alt Başlık 2"/>
          <p:cNvSpPr txBox="1">
            <a:spLocks/>
          </p:cNvSpPr>
          <p:nvPr/>
        </p:nvSpPr>
        <p:spPr>
          <a:xfrm>
            <a:off x="1340169" y="1394661"/>
            <a:ext cx="2734640" cy="51703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tr-TR" sz="1800" b="1" dirty="0" smtClean="0">
                <a:effectLst>
                  <a:outerShdw blurRad="38100" dist="38100" dir="2700000" algn="tl">
                    <a:srgbClr val="000000">
                      <a:alpha val="43137"/>
                    </a:srgbClr>
                  </a:outerShdw>
                </a:effectLst>
              </a:rPr>
              <a:t>Hukuka Uygunluk Nedenleri</a:t>
            </a:r>
          </a:p>
          <a:p>
            <a:r>
              <a:rPr lang="tr-TR" sz="1800" b="1" dirty="0" smtClean="0">
                <a:effectLst>
                  <a:outerShdw blurRad="38100" dist="38100" dir="2700000" algn="tl">
                    <a:srgbClr val="000000">
                      <a:alpha val="43137"/>
                    </a:srgbClr>
                  </a:outerShdw>
                </a:effectLst>
              </a:rPr>
              <a:t>	</a:t>
            </a:r>
            <a:endParaRPr lang="tr-TR" sz="1800" b="1" dirty="0">
              <a:effectLst>
                <a:outerShdw blurRad="38100" dist="38100" dir="2700000" algn="tl">
                  <a:srgbClr val="000000">
                    <a:alpha val="43137"/>
                  </a:srgbClr>
                </a:outerShdw>
              </a:effectLst>
            </a:endParaRPr>
          </a:p>
        </p:txBody>
      </p:sp>
      <p:sp>
        <p:nvSpPr>
          <p:cNvPr id="45" name="Alt Başlık 2"/>
          <p:cNvSpPr txBox="1">
            <a:spLocks/>
          </p:cNvSpPr>
          <p:nvPr/>
        </p:nvSpPr>
        <p:spPr>
          <a:xfrm>
            <a:off x="7146015" y="1842829"/>
            <a:ext cx="4695002" cy="710444"/>
          </a:xfrm>
          <a:prstGeom prst="rect">
            <a:avLst/>
          </a:prstGeom>
        </p:spPr>
        <p:txBody>
          <a:bodyPr vert="horz" lIns="91440" tIns="45720" rIns="91440" bIns="45720" rtlCol="0">
            <a:noAutofit/>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tr-TR" sz="1200" b="1" i="0" u="none" strike="noStrike" kern="1200" cap="none" spc="0" normalizeH="0" baseline="0" noProof="0" dirty="0" smtClean="0">
                <a:ln>
                  <a:noFill/>
                </a:ln>
                <a:solidFill>
                  <a:prstClr val="black"/>
                </a:solidFill>
                <a:effectLst/>
                <a:uLnTx/>
                <a:uFillTx/>
                <a:latin typeface="Calibri" panose="020F0502020204030204"/>
              </a:rPr>
              <a:t>Suç</a:t>
            </a:r>
            <a:r>
              <a:rPr kumimoji="0" lang="tr-TR" sz="1200" b="1" i="0" u="none" strike="noStrike" kern="1200" cap="none" spc="0" normalizeH="0" noProof="0" dirty="0" smtClean="0">
                <a:ln>
                  <a:noFill/>
                </a:ln>
                <a:solidFill>
                  <a:prstClr val="black"/>
                </a:solidFill>
                <a:effectLst/>
                <a:uLnTx/>
                <a:uFillTx/>
                <a:latin typeface="Calibri" panose="020F0502020204030204"/>
              </a:rPr>
              <a:t> VARDIR</a:t>
            </a:r>
          </a:p>
          <a:p>
            <a:pPr marL="285750" marR="0" lvl="0" indent="-285750"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tr-TR" sz="1200" b="1" dirty="0" smtClean="0">
                <a:solidFill>
                  <a:prstClr val="black"/>
                </a:solidFill>
                <a:latin typeface="Calibri" panose="020F0502020204030204"/>
              </a:rPr>
              <a:t>Fail </a:t>
            </a:r>
            <a:r>
              <a:rPr lang="tr-TR" sz="1200" b="1" dirty="0">
                <a:solidFill>
                  <a:prstClr val="black"/>
                </a:solidFill>
                <a:latin typeface="Calibri" panose="020F0502020204030204"/>
              </a:rPr>
              <a:t>hakkında </a:t>
            </a:r>
            <a:r>
              <a:rPr lang="tr-TR" sz="1200" b="1" dirty="0" smtClean="0">
                <a:solidFill>
                  <a:prstClr val="black"/>
                </a:solidFill>
                <a:latin typeface="Calibri" panose="020F0502020204030204"/>
              </a:rPr>
              <a:t>CEZA VERİLMESİNE YER OLMADIĞI karar verilir veya indirimli olarak ceza verilir</a:t>
            </a:r>
          </a:p>
          <a:p>
            <a:pPr marL="285750" marR="0" lvl="0" indent="-285750"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tr-TR" sz="1200" b="1" dirty="0" smtClean="0">
                <a:solidFill>
                  <a:prstClr val="black"/>
                </a:solidFill>
                <a:latin typeface="Calibri" panose="020F0502020204030204"/>
              </a:rPr>
              <a:t>Fail hakkında Güvenlik Tedbirine hükmedilebilir</a:t>
            </a:r>
            <a:endParaRPr lang="tr-TR" sz="1200" b="1" dirty="0">
              <a:solidFill>
                <a:prstClr val="black"/>
              </a:solidFill>
              <a:latin typeface="Calibri" panose="020F0502020204030204"/>
            </a:endParaRPr>
          </a:p>
        </p:txBody>
      </p:sp>
      <p:sp>
        <p:nvSpPr>
          <p:cNvPr id="46" name="Alt Başlık 2"/>
          <p:cNvSpPr txBox="1">
            <a:spLocks/>
          </p:cNvSpPr>
          <p:nvPr/>
        </p:nvSpPr>
        <p:spPr>
          <a:xfrm>
            <a:off x="1118211" y="1862820"/>
            <a:ext cx="2956598" cy="547931"/>
          </a:xfrm>
          <a:prstGeom prst="rect">
            <a:avLst/>
          </a:prstGeom>
        </p:spPr>
        <p:txBody>
          <a:bodyPr vert="horz" lIns="91440" tIns="45720" rIns="91440" bIns="45720" rtlCol="0">
            <a:normAutofit/>
          </a:bodyPr>
          <a:lstStyle>
            <a:defPPr>
              <a:defRPr lang="tr-TR"/>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solidFill>
                  <a:prstClr val="black"/>
                </a:solidFill>
                <a:effectLst/>
                <a:uLnTx/>
                <a:uFillTx/>
                <a:latin typeface="Calibri" panose="020F0502020204030204"/>
              </a:defRPr>
            </a:lvl1pPr>
          </a:lstStyle>
          <a:p>
            <a:pPr marL="285750" indent="-285750" algn="l">
              <a:buFont typeface="Wingdings" panose="05000000000000000000" pitchFamily="2" charset="2"/>
              <a:buChar char="ü"/>
            </a:pPr>
            <a:r>
              <a:rPr lang="tr-TR" sz="1200" dirty="0" smtClean="0"/>
              <a:t>Suç OLUŞMAZ</a:t>
            </a:r>
          </a:p>
          <a:p>
            <a:pPr marL="285750" indent="-285750" algn="l">
              <a:buFont typeface="Wingdings" panose="05000000000000000000" pitchFamily="2" charset="2"/>
              <a:buChar char="ü"/>
            </a:pPr>
            <a:r>
              <a:rPr lang="tr-TR" sz="1200" dirty="0" smtClean="0"/>
              <a:t>Fail hakkında BERAAT kararı verilir</a:t>
            </a:r>
            <a:endParaRPr lang="tr-TR" sz="1200" dirty="0"/>
          </a:p>
        </p:txBody>
      </p:sp>
      <p:sp>
        <p:nvSpPr>
          <p:cNvPr id="47" name="Metin kutusu 46"/>
          <p:cNvSpPr txBox="1"/>
          <p:nvPr/>
        </p:nvSpPr>
        <p:spPr>
          <a:xfrm flipH="1">
            <a:off x="3380512" y="6084015"/>
            <a:ext cx="1239975" cy="276999"/>
          </a:xfrm>
          <a:prstGeom prst="rect">
            <a:avLst/>
          </a:prstGeom>
        </p:spPr>
        <p:txBody>
          <a:bodyPr wrap="square">
            <a:spAutoFit/>
          </a:bodyPr>
          <a:lstStyle>
            <a:defPPr>
              <a:defRPr lang="tr-TR"/>
            </a:defPPr>
            <a:lvl1pPr algn="ctr">
              <a:defRPr sz="1200"/>
            </a:lvl1pPr>
          </a:lstStyle>
          <a:p>
            <a:r>
              <a:rPr lang="tr-TR" b="1" dirty="0">
                <a:effectLst>
                  <a:outerShdw blurRad="38100" dist="38100" dir="2700000" algn="tl">
                    <a:srgbClr val="000000">
                      <a:alpha val="43137"/>
                    </a:srgbClr>
                  </a:outerShdw>
                </a:effectLst>
              </a:rPr>
              <a:t>İlgilinin Rızası</a:t>
            </a:r>
          </a:p>
        </p:txBody>
      </p:sp>
      <p:sp>
        <p:nvSpPr>
          <p:cNvPr id="48" name="Aşağı Ok 47"/>
          <p:cNvSpPr/>
          <p:nvPr/>
        </p:nvSpPr>
        <p:spPr>
          <a:xfrm>
            <a:off x="1269670" y="2337415"/>
            <a:ext cx="144000" cy="592401"/>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Dikdörtgen 1"/>
          <p:cNvSpPr/>
          <p:nvPr/>
        </p:nvSpPr>
        <p:spPr>
          <a:xfrm>
            <a:off x="773823" y="2939199"/>
            <a:ext cx="1132692" cy="830997"/>
          </a:xfrm>
          <a:prstGeom prst="rect">
            <a:avLst/>
          </a:prstGeom>
        </p:spPr>
        <p:txBody>
          <a:bodyPr wrap="square">
            <a:spAutoFit/>
          </a:bodyPr>
          <a:lstStyle/>
          <a:p>
            <a:pPr algn="ctr"/>
            <a:r>
              <a:rPr lang="tr-TR" sz="1200" b="1" dirty="0">
                <a:effectLst>
                  <a:outerShdw blurRad="38100" dist="38100" dir="2700000" algn="tl">
                    <a:srgbClr val="000000">
                      <a:alpha val="43137"/>
                    </a:srgbClr>
                  </a:outerShdw>
                </a:effectLst>
              </a:rPr>
              <a:t>Kanunun Hükmünü Yerine Getirme (Görevin İfası)</a:t>
            </a:r>
          </a:p>
        </p:txBody>
      </p:sp>
      <p:sp>
        <p:nvSpPr>
          <p:cNvPr id="50" name="Aşağı Ok 49"/>
          <p:cNvSpPr/>
          <p:nvPr/>
        </p:nvSpPr>
        <p:spPr>
          <a:xfrm>
            <a:off x="2013133" y="2332363"/>
            <a:ext cx="144000" cy="1759052"/>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Aşağı Ok 51"/>
          <p:cNvSpPr/>
          <p:nvPr/>
        </p:nvSpPr>
        <p:spPr>
          <a:xfrm>
            <a:off x="2905057" y="2322877"/>
            <a:ext cx="136912" cy="2780063"/>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Dikdörtgen 9"/>
          <p:cNvSpPr/>
          <p:nvPr/>
        </p:nvSpPr>
        <p:spPr>
          <a:xfrm>
            <a:off x="2352893" y="5231194"/>
            <a:ext cx="1241240" cy="461665"/>
          </a:xfrm>
          <a:prstGeom prst="rect">
            <a:avLst/>
          </a:prstGeom>
        </p:spPr>
        <p:txBody>
          <a:bodyPr wrap="square">
            <a:spAutoFit/>
          </a:bodyPr>
          <a:lstStyle/>
          <a:p>
            <a:pPr algn="ctr"/>
            <a:r>
              <a:rPr lang="tr-TR" sz="1200" b="1" dirty="0">
                <a:effectLst>
                  <a:outerShdw blurRad="38100" dist="38100" dir="2700000" algn="tl">
                    <a:srgbClr val="000000">
                      <a:alpha val="43137"/>
                    </a:srgbClr>
                  </a:outerShdw>
                </a:effectLst>
              </a:rPr>
              <a:t>Hakkın Kullanılması</a:t>
            </a:r>
          </a:p>
        </p:txBody>
      </p:sp>
      <p:sp>
        <p:nvSpPr>
          <p:cNvPr id="54" name="Aşağı Ok 53"/>
          <p:cNvSpPr/>
          <p:nvPr/>
        </p:nvSpPr>
        <p:spPr>
          <a:xfrm>
            <a:off x="3875577" y="2359071"/>
            <a:ext cx="124923" cy="3724944"/>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Dikdörtgen 37"/>
          <p:cNvSpPr/>
          <p:nvPr/>
        </p:nvSpPr>
        <p:spPr>
          <a:xfrm>
            <a:off x="1518787" y="4114155"/>
            <a:ext cx="1132692" cy="461665"/>
          </a:xfrm>
          <a:prstGeom prst="rect">
            <a:avLst/>
          </a:prstGeom>
        </p:spPr>
        <p:txBody>
          <a:bodyPr wrap="square">
            <a:spAutoFit/>
          </a:bodyPr>
          <a:lstStyle/>
          <a:p>
            <a:pPr algn="ctr"/>
            <a:r>
              <a:rPr lang="tr-TR" sz="1200" b="1" dirty="0">
                <a:effectLst>
                  <a:outerShdw blurRad="38100" dist="38100" dir="2700000" algn="tl">
                    <a:srgbClr val="000000">
                      <a:alpha val="43137"/>
                    </a:srgbClr>
                  </a:outerShdw>
                </a:effectLst>
              </a:rPr>
              <a:t>Meşru </a:t>
            </a:r>
            <a:r>
              <a:rPr lang="tr-TR" sz="1200" b="1" dirty="0" smtClean="0">
                <a:effectLst>
                  <a:outerShdw blurRad="38100" dist="38100" dir="2700000" algn="tl">
                    <a:srgbClr val="000000">
                      <a:alpha val="43137"/>
                    </a:srgbClr>
                  </a:outerShdw>
                </a:effectLst>
              </a:rPr>
              <a:t>Savunma</a:t>
            </a:r>
            <a:endParaRPr lang="tr-TR" sz="1200" b="1" dirty="0">
              <a:effectLst>
                <a:outerShdw blurRad="38100" dist="38100" dir="2700000" algn="tl">
                  <a:srgbClr val="000000">
                    <a:alpha val="43137"/>
                  </a:srgbClr>
                </a:outerShdw>
              </a:effectLst>
            </a:endParaRPr>
          </a:p>
        </p:txBody>
      </p:sp>
      <p:sp>
        <p:nvSpPr>
          <p:cNvPr id="18" name="Dikdörtgen 17"/>
          <p:cNvSpPr/>
          <p:nvPr/>
        </p:nvSpPr>
        <p:spPr>
          <a:xfrm>
            <a:off x="8966639" y="2584009"/>
            <a:ext cx="2743200" cy="3985706"/>
          </a:xfrm>
          <a:prstGeom prst="rect">
            <a:avLst/>
          </a:prstGeom>
        </p:spPr>
        <p:txBody>
          <a:bodyPr wrap="square">
            <a:spAutoFit/>
          </a:bodyPr>
          <a:lstStyle/>
          <a:p>
            <a:r>
              <a:rPr lang="tr-TR" sz="1100" dirty="0" smtClean="0">
                <a:effectLst>
                  <a:outerShdw blurRad="38100" dist="38100" dir="2700000" algn="tl">
                    <a:srgbClr val="000000">
                      <a:alpha val="43137"/>
                    </a:srgbClr>
                  </a:outerShdw>
                </a:effectLst>
              </a:rPr>
              <a:t>Yaş küçüklüğü</a:t>
            </a:r>
          </a:p>
          <a:p>
            <a:r>
              <a:rPr lang="tr-TR" sz="1100" dirty="0" smtClean="0">
                <a:effectLst>
                  <a:outerShdw blurRad="38100" dist="38100" dir="2700000" algn="tl">
                    <a:srgbClr val="000000">
                      <a:alpha val="43137"/>
                    </a:srgbClr>
                  </a:outerShdw>
                </a:effectLst>
              </a:rPr>
              <a:t> </a:t>
            </a:r>
            <a:endParaRPr lang="tr-TR" sz="1100" dirty="0">
              <a:effectLst>
                <a:outerShdw blurRad="38100" dist="38100" dir="2700000" algn="tl">
                  <a:srgbClr val="000000">
                    <a:alpha val="43137"/>
                  </a:srgbClr>
                </a:outerShdw>
              </a:effectLst>
            </a:endParaRPr>
          </a:p>
          <a:p>
            <a:r>
              <a:rPr lang="tr-TR" sz="1100" dirty="0">
                <a:effectLst>
                  <a:outerShdw blurRad="38100" dist="38100" dir="2700000" algn="tl">
                    <a:srgbClr val="000000">
                      <a:alpha val="43137"/>
                    </a:srgbClr>
                  </a:outerShdw>
                </a:effectLst>
              </a:rPr>
              <a:t>Sağır ve </a:t>
            </a:r>
            <a:r>
              <a:rPr lang="tr-TR" sz="1100" dirty="0" smtClean="0">
                <a:effectLst>
                  <a:outerShdw blurRad="38100" dist="38100" dir="2700000" algn="tl">
                    <a:srgbClr val="000000">
                      <a:alpha val="43137"/>
                    </a:srgbClr>
                  </a:outerShdw>
                </a:effectLst>
              </a:rPr>
              <a:t>Dilsizlik</a:t>
            </a:r>
          </a:p>
          <a:p>
            <a:endParaRPr lang="tr-TR" sz="1100" dirty="0">
              <a:effectLst>
                <a:outerShdw blurRad="38100" dist="38100" dir="2700000" algn="tl">
                  <a:srgbClr val="000000">
                    <a:alpha val="43137"/>
                  </a:srgbClr>
                </a:outerShdw>
              </a:effectLst>
            </a:endParaRPr>
          </a:p>
          <a:p>
            <a:r>
              <a:rPr lang="tr-TR" sz="1100" dirty="0">
                <a:effectLst>
                  <a:outerShdw blurRad="38100" dist="38100" dir="2700000" algn="tl">
                    <a:srgbClr val="000000">
                      <a:alpha val="43137"/>
                    </a:srgbClr>
                  </a:outerShdw>
                </a:effectLst>
              </a:rPr>
              <a:t>Akıl </a:t>
            </a:r>
            <a:r>
              <a:rPr lang="tr-TR" sz="1100" dirty="0" smtClean="0">
                <a:effectLst>
                  <a:outerShdw blurRad="38100" dist="38100" dir="2700000" algn="tl">
                    <a:srgbClr val="000000">
                      <a:alpha val="43137"/>
                    </a:srgbClr>
                  </a:outerShdw>
                </a:effectLst>
              </a:rPr>
              <a:t>Hastalığı</a:t>
            </a:r>
          </a:p>
          <a:p>
            <a:endParaRPr lang="tr-TR" sz="1100" dirty="0">
              <a:effectLst>
                <a:outerShdw blurRad="38100" dist="38100" dir="2700000" algn="tl">
                  <a:srgbClr val="000000">
                    <a:alpha val="43137"/>
                  </a:srgbClr>
                </a:outerShdw>
              </a:effectLst>
            </a:endParaRPr>
          </a:p>
          <a:p>
            <a:r>
              <a:rPr lang="tr-TR" sz="1100" dirty="0">
                <a:effectLst>
                  <a:outerShdw blurRad="38100" dist="38100" dir="2700000" algn="tl">
                    <a:srgbClr val="000000">
                      <a:alpha val="43137"/>
                    </a:srgbClr>
                  </a:outerShdw>
                </a:effectLst>
              </a:rPr>
              <a:t>Geçici Nedenler, Alkol veya Uyuşturucu Madde Etkisinde </a:t>
            </a:r>
            <a:r>
              <a:rPr lang="tr-TR" sz="1100" dirty="0" smtClean="0">
                <a:effectLst>
                  <a:outerShdw blurRad="38100" dist="38100" dir="2700000" algn="tl">
                    <a:srgbClr val="000000">
                      <a:alpha val="43137"/>
                    </a:srgbClr>
                  </a:outerShdw>
                </a:effectLst>
              </a:rPr>
              <a:t>Olma</a:t>
            </a:r>
          </a:p>
          <a:p>
            <a:endParaRPr lang="tr-TR" sz="1100" dirty="0">
              <a:effectLst>
                <a:outerShdw blurRad="38100" dist="38100" dir="2700000" algn="tl">
                  <a:srgbClr val="000000">
                    <a:alpha val="43137"/>
                  </a:srgbClr>
                </a:outerShdw>
              </a:effectLst>
            </a:endParaRPr>
          </a:p>
          <a:p>
            <a:r>
              <a:rPr lang="tr-TR" sz="1100" dirty="0">
                <a:effectLst>
                  <a:outerShdw blurRad="38100" dist="38100" dir="2700000" algn="tl">
                    <a:srgbClr val="000000">
                      <a:alpha val="43137"/>
                    </a:srgbClr>
                  </a:outerShdw>
                </a:effectLst>
              </a:rPr>
              <a:t>Hukuka Aykırı fakat Bağlayıcı bir Emrin Yerine </a:t>
            </a:r>
            <a:r>
              <a:rPr lang="tr-TR" sz="1100" dirty="0" smtClean="0">
                <a:effectLst>
                  <a:outerShdw blurRad="38100" dist="38100" dir="2700000" algn="tl">
                    <a:srgbClr val="000000">
                      <a:alpha val="43137"/>
                    </a:srgbClr>
                  </a:outerShdw>
                </a:effectLst>
              </a:rPr>
              <a:t>Getirilmesi</a:t>
            </a:r>
          </a:p>
          <a:p>
            <a:endParaRPr lang="tr-TR" sz="1100" dirty="0">
              <a:effectLst>
                <a:outerShdw blurRad="38100" dist="38100" dir="2700000" algn="tl">
                  <a:srgbClr val="000000">
                    <a:alpha val="43137"/>
                  </a:srgbClr>
                </a:outerShdw>
              </a:effectLst>
            </a:endParaRPr>
          </a:p>
          <a:p>
            <a:r>
              <a:rPr lang="tr-TR" sz="1100" dirty="0">
                <a:effectLst>
                  <a:outerShdw blurRad="38100" dist="38100" dir="2700000" algn="tl">
                    <a:srgbClr val="000000">
                      <a:alpha val="43137"/>
                    </a:srgbClr>
                  </a:outerShdw>
                </a:effectLst>
              </a:rPr>
              <a:t>Zorunluluk </a:t>
            </a:r>
            <a:r>
              <a:rPr lang="tr-TR" sz="1100" dirty="0" smtClean="0">
                <a:effectLst>
                  <a:outerShdw blurRad="38100" dist="38100" dir="2700000" algn="tl">
                    <a:srgbClr val="000000">
                      <a:alpha val="43137"/>
                    </a:srgbClr>
                  </a:outerShdw>
                </a:effectLst>
              </a:rPr>
              <a:t>Hali</a:t>
            </a:r>
          </a:p>
          <a:p>
            <a:endParaRPr lang="tr-TR" sz="1100" dirty="0">
              <a:effectLst>
                <a:outerShdw blurRad="38100" dist="38100" dir="2700000" algn="tl">
                  <a:srgbClr val="000000">
                    <a:alpha val="43137"/>
                  </a:srgbClr>
                </a:outerShdw>
              </a:effectLst>
            </a:endParaRPr>
          </a:p>
          <a:p>
            <a:r>
              <a:rPr lang="tr-TR" sz="1100" dirty="0">
                <a:effectLst>
                  <a:outerShdw blurRad="38100" dist="38100" dir="2700000" algn="tl">
                    <a:srgbClr val="000000">
                      <a:alpha val="43137"/>
                    </a:srgbClr>
                  </a:outerShdw>
                </a:effectLst>
              </a:rPr>
              <a:t>Cebir ve tehdit Dolayısıyla Kişinin İrade Yetkisinin </a:t>
            </a:r>
            <a:r>
              <a:rPr lang="tr-TR" sz="1100" dirty="0" smtClean="0">
                <a:effectLst>
                  <a:outerShdw blurRad="38100" dist="38100" dir="2700000" algn="tl">
                    <a:srgbClr val="000000">
                      <a:alpha val="43137"/>
                    </a:srgbClr>
                  </a:outerShdw>
                </a:effectLst>
              </a:rPr>
              <a:t>Etkilenmesi</a:t>
            </a:r>
          </a:p>
          <a:p>
            <a:endParaRPr lang="tr-TR" sz="1100" dirty="0">
              <a:effectLst>
                <a:outerShdw blurRad="38100" dist="38100" dir="2700000" algn="tl">
                  <a:srgbClr val="000000">
                    <a:alpha val="43137"/>
                  </a:srgbClr>
                </a:outerShdw>
              </a:effectLst>
            </a:endParaRPr>
          </a:p>
          <a:p>
            <a:r>
              <a:rPr lang="tr-TR" sz="1100" dirty="0">
                <a:effectLst>
                  <a:outerShdw blurRad="38100" dist="38100" dir="2700000" algn="tl">
                    <a:srgbClr val="000000">
                      <a:alpha val="43137"/>
                    </a:srgbClr>
                  </a:outerShdw>
                </a:effectLst>
              </a:rPr>
              <a:t>Haksız </a:t>
            </a:r>
            <a:r>
              <a:rPr lang="tr-TR" sz="1100" dirty="0" smtClean="0">
                <a:effectLst>
                  <a:outerShdw blurRad="38100" dist="38100" dir="2700000" algn="tl">
                    <a:srgbClr val="000000">
                      <a:alpha val="43137"/>
                    </a:srgbClr>
                  </a:outerShdw>
                </a:effectLst>
              </a:rPr>
              <a:t>Tahrik</a:t>
            </a:r>
          </a:p>
          <a:p>
            <a:endParaRPr lang="tr-TR" sz="1100" dirty="0">
              <a:effectLst>
                <a:outerShdw blurRad="38100" dist="38100" dir="2700000" algn="tl">
                  <a:srgbClr val="000000">
                    <a:alpha val="43137"/>
                  </a:srgbClr>
                </a:outerShdw>
              </a:effectLst>
            </a:endParaRPr>
          </a:p>
          <a:p>
            <a:r>
              <a:rPr lang="tr-TR" sz="1100" dirty="0">
                <a:effectLst>
                  <a:outerShdw blurRad="38100" dist="38100" dir="2700000" algn="tl">
                    <a:srgbClr val="000000">
                      <a:alpha val="43137"/>
                    </a:srgbClr>
                  </a:outerShdw>
                </a:effectLst>
              </a:rPr>
              <a:t>Hukuka Uygunluk Nedenlerinde Sınırın </a:t>
            </a:r>
            <a:r>
              <a:rPr lang="tr-TR" sz="1100" dirty="0" smtClean="0">
                <a:effectLst>
                  <a:outerShdw blurRad="38100" dist="38100" dir="2700000" algn="tl">
                    <a:srgbClr val="000000">
                      <a:alpha val="43137"/>
                    </a:srgbClr>
                  </a:outerShdw>
                </a:effectLst>
              </a:rPr>
              <a:t>Aşılması</a:t>
            </a:r>
          </a:p>
          <a:p>
            <a:endParaRPr lang="tr-TR" sz="1100" dirty="0">
              <a:effectLst>
                <a:outerShdw blurRad="38100" dist="38100" dir="2700000" algn="tl">
                  <a:srgbClr val="000000">
                    <a:alpha val="43137"/>
                  </a:srgbClr>
                </a:outerShdw>
              </a:effectLst>
            </a:endParaRPr>
          </a:p>
          <a:p>
            <a:r>
              <a:rPr lang="tr-TR" sz="1100" dirty="0">
                <a:effectLst>
                  <a:outerShdw blurRad="38100" dist="38100" dir="2700000" algn="tl">
                    <a:srgbClr val="000000">
                      <a:alpha val="43137"/>
                    </a:srgbClr>
                  </a:outerShdw>
                </a:effectLst>
              </a:rPr>
              <a:t>Kusurluluğu Etkileyen Hata Halleri</a:t>
            </a:r>
            <a:endParaRPr lang="fr-FR" sz="1100" dirty="0">
              <a:effectLst>
                <a:outerShdw blurRad="38100" dist="38100" dir="2700000" algn="tl">
                  <a:srgbClr val="000000">
                    <a:alpha val="43137"/>
                  </a:srgbClr>
                </a:outerShdw>
              </a:effectLst>
            </a:endParaRPr>
          </a:p>
        </p:txBody>
      </p:sp>
      <p:sp>
        <p:nvSpPr>
          <p:cNvPr id="5" name="Köşeli Çift Ayraç 4"/>
          <p:cNvSpPr/>
          <p:nvPr/>
        </p:nvSpPr>
        <p:spPr>
          <a:xfrm>
            <a:off x="8490389" y="2675655"/>
            <a:ext cx="476250" cy="107125"/>
          </a:xfrm>
          <a:prstGeom prst="chevron">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9" name="Köşeli Çift Ayraç 18"/>
          <p:cNvSpPr/>
          <p:nvPr/>
        </p:nvSpPr>
        <p:spPr>
          <a:xfrm>
            <a:off x="8474628" y="2996219"/>
            <a:ext cx="476250" cy="107125"/>
          </a:xfrm>
          <a:prstGeom prst="chevron">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0" name="Köşeli Çift Ayraç 19"/>
          <p:cNvSpPr/>
          <p:nvPr/>
        </p:nvSpPr>
        <p:spPr>
          <a:xfrm>
            <a:off x="8455578" y="6370511"/>
            <a:ext cx="476250" cy="107125"/>
          </a:xfrm>
          <a:prstGeom prst="chevron">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2" name="Köşeli Çift Ayraç 21"/>
          <p:cNvSpPr/>
          <p:nvPr/>
        </p:nvSpPr>
        <p:spPr>
          <a:xfrm>
            <a:off x="8455578" y="4212649"/>
            <a:ext cx="476250" cy="107125"/>
          </a:xfrm>
          <a:prstGeom prst="chevron">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3" name="Köşeli Çift Ayraç 22"/>
          <p:cNvSpPr/>
          <p:nvPr/>
        </p:nvSpPr>
        <p:spPr>
          <a:xfrm>
            <a:off x="8472984" y="4684811"/>
            <a:ext cx="476250" cy="107125"/>
          </a:xfrm>
          <a:prstGeom prst="chevron">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4" name="Köşeli Çift Ayraç 23"/>
          <p:cNvSpPr/>
          <p:nvPr/>
        </p:nvSpPr>
        <p:spPr>
          <a:xfrm>
            <a:off x="8474628" y="5066820"/>
            <a:ext cx="476250" cy="107125"/>
          </a:xfrm>
          <a:prstGeom prst="chevron">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5" name="Köşeli Çift Ayraç 24"/>
          <p:cNvSpPr/>
          <p:nvPr/>
        </p:nvSpPr>
        <p:spPr>
          <a:xfrm>
            <a:off x="8460177" y="5522406"/>
            <a:ext cx="476250" cy="107125"/>
          </a:xfrm>
          <a:prstGeom prst="chevron">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6" name="Köşeli Çift Ayraç 25"/>
          <p:cNvSpPr/>
          <p:nvPr/>
        </p:nvSpPr>
        <p:spPr>
          <a:xfrm>
            <a:off x="8455578" y="5881781"/>
            <a:ext cx="476250" cy="107125"/>
          </a:xfrm>
          <a:prstGeom prst="chevron">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7" name="Köşeli Çift Ayraç 26"/>
          <p:cNvSpPr/>
          <p:nvPr/>
        </p:nvSpPr>
        <p:spPr>
          <a:xfrm>
            <a:off x="8472984" y="3327293"/>
            <a:ext cx="476250" cy="107125"/>
          </a:xfrm>
          <a:prstGeom prst="chevron">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8" name="Köşeli Çift Ayraç 27"/>
          <p:cNvSpPr/>
          <p:nvPr/>
        </p:nvSpPr>
        <p:spPr>
          <a:xfrm>
            <a:off x="8455578" y="3721113"/>
            <a:ext cx="476250" cy="107125"/>
          </a:xfrm>
          <a:prstGeom prst="chevron">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9" name="Unvan 1"/>
          <p:cNvSpPr txBox="1">
            <a:spLocks/>
          </p:cNvSpPr>
          <p:nvPr/>
        </p:nvSpPr>
        <p:spPr>
          <a:xfrm>
            <a:off x="286326" y="176701"/>
            <a:ext cx="11554691" cy="12392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smtClean="0">
                <a:effectLst>
                  <a:outerShdw blurRad="38100" dist="38100" dir="2700000" algn="tl">
                    <a:srgbClr val="000000">
                      <a:alpha val="43137"/>
                    </a:srgbClr>
                  </a:outerShdw>
                </a:effectLst>
              </a:rPr>
              <a:t/>
            </a:r>
            <a:br>
              <a:rPr lang="tr-TR" sz="2600" b="1" smtClean="0">
                <a:effectLst>
                  <a:outerShdw blurRad="38100" dist="38100" dir="2700000" algn="tl">
                    <a:srgbClr val="000000">
                      <a:alpha val="43137"/>
                    </a:srgbClr>
                  </a:outerShdw>
                </a:effectLst>
              </a:rPr>
            </a:br>
            <a:r>
              <a:rPr lang="tr-TR" sz="2600" b="1" i="1" spc="300">
                <a:effectLst>
                  <a:outerShdw blurRad="38100" dist="38100" dir="2700000" algn="tl">
                    <a:srgbClr val="000000">
                      <a:alpha val="43137"/>
                    </a:srgbClr>
                  </a:outerShdw>
                </a:effectLst>
              </a:rPr>
              <a:t>Hukuka Aykırılık, Hukuka Uygunluk, Kusur ve Hata Kavramları</a:t>
            </a:r>
            <a:endParaRPr lang="tr-TR" sz="2600" b="1" i="1" spc="300" dirty="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75</a:t>
            </a:fld>
            <a:r>
              <a:rPr lang="tr-TR"/>
              <a:t>/116</a:t>
            </a:r>
          </a:p>
        </p:txBody>
      </p:sp>
      <p:sp>
        <p:nvSpPr>
          <p:cNvPr id="3" name="Dikdörtgen 2"/>
          <p:cNvSpPr/>
          <p:nvPr/>
        </p:nvSpPr>
        <p:spPr>
          <a:xfrm>
            <a:off x="185777" y="5870694"/>
            <a:ext cx="3272996" cy="338554"/>
          </a:xfrm>
          <a:prstGeom prst="rect">
            <a:avLst/>
          </a:prstGeom>
        </p:spPr>
        <p:txBody>
          <a:bodyPr wrap="square">
            <a:spAutoFit/>
          </a:bodyPr>
          <a:lstStyle/>
          <a:p>
            <a:r>
              <a:rPr lang="tr-TR" sz="800" dirty="0"/>
              <a:t>Madde 223 – (2) Beraat kararı</a:t>
            </a:r>
            <a:r>
              <a:rPr lang="tr-TR" sz="800" dirty="0" smtClean="0"/>
              <a:t>; </a:t>
            </a:r>
            <a:r>
              <a:rPr lang="tr-TR" sz="800" dirty="0"/>
              <a:t>d) Yüklenen suçun sanık tarafından işlenmesine rağmen, olayda bir hukuka uygunluk nedeninin bulunması,</a:t>
            </a:r>
          </a:p>
        </p:txBody>
      </p:sp>
      <p:sp>
        <p:nvSpPr>
          <p:cNvPr id="30" name="Dikdörtgen 29"/>
          <p:cNvSpPr/>
          <p:nvPr/>
        </p:nvSpPr>
        <p:spPr>
          <a:xfrm>
            <a:off x="5228933" y="5246150"/>
            <a:ext cx="3272996" cy="1323439"/>
          </a:xfrm>
          <a:prstGeom prst="rect">
            <a:avLst/>
          </a:prstGeom>
        </p:spPr>
        <p:txBody>
          <a:bodyPr wrap="square">
            <a:spAutoFit/>
          </a:bodyPr>
          <a:lstStyle/>
          <a:p>
            <a:r>
              <a:rPr lang="tr-TR" sz="800" dirty="0"/>
              <a:t>Madde 223 – (3) Sanık hakkında;</a:t>
            </a:r>
          </a:p>
          <a:p>
            <a:r>
              <a:rPr lang="tr-TR" sz="800" dirty="0" smtClean="0"/>
              <a:t>a</a:t>
            </a:r>
            <a:r>
              <a:rPr lang="tr-TR" sz="800" dirty="0"/>
              <a:t>) Yüklenen suçla bağlantılı olarak yaş küçüklüğü, akıl hastalığı veya sağır ve dilsizlik hali ya da geçici nedenlerin bulunması,</a:t>
            </a:r>
          </a:p>
          <a:p>
            <a:r>
              <a:rPr lang="tr-TR" sz="800" dirty="0" smtClean="0"/>
              <a:t>b</a:t>
            </a:r>
            <a:r>
              <a:rPr lang="tr-TR" sz="800" dirty="0"/>
              <a:t>) (Değişik: 25/5/2005 - 5353/30 </a:t>
            </a:r>
            <a:r>
              <a:rPr lang="tr-TR" sz="800" dirty="0" err="1"/>
              <a:t>md.</a:t>
            </a:r>
            <a:r>
              <a:rPr lang="tr-TR" sz="800" dirty="0"/>
              <a:t>) Yüklenen suçun hukuka aykırı fakat bağlayıcı emrin yerine getirilmesi suretiyle veya zorunluluk hali ya da cebir veya tehdit etkisiyle işlenmesi,</a:t>
            </a:r>
          </a:p>
          <a:p>
            <a:r>
              <a:rPr lang="tr-TR" sz="800" dirty="0" smtClean="0"/>
              <a:t>c</a:t>
            </a:r>
            <a:r>
              <a:rPr lang="tr-TR" sz="800" dirty="0"/>
              <a:t>) Meşru savunmada sınırın heyecan, korku ve telaş nedeniyle aşılması,</a:t>
            </a:r>
          </a:p>
          <a:p>
            <a:r>
              <a:rPr lang="tr-TR" sz="800" dirty="0" smtClean="0"/>
              <a:t>d</a:t>
            </a:r>
            <a:r>
              <a:rPr lang="tr-TR" sz="800" dirty="0"/>
              <a:t>) Kusurluluğu ortadan kaldıran hataya düşülmesi,</a:t>
            </a:r>
          </a:p>
          <a:p>
            <a:r>
              <a:rPr lang="tr-TR" sz="800" dirty="0" smtClean="0"/>
              <a:t>Hallerinde</a:t>
            </a:r>
            <a:r>
              <a:rPr lang="tr-TR" sz="800" dirty="0"/>
              <a:t>, kusurunun bulunmaması dolayısıyla ceza verilmesine yer olmadığı kararı verilir.</a:t>
            </a:r>
          </a:p>
        </p:txBody>
      </p:sp>
    </p:spTree>
    <p:extLst>
      <p:ext uri="{BB962C8B-B14F-4D97-AF65-F5344CB8AC3E}">
        <p14:creationId xmlns:p14="http://schemas.microsoft.com/office/powerpoint/2010/main" val="348402540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Cezalandırılmaya </a:t>
            </a:r>
            <a:r>
              <a:rPr lang="tr-TR" sz="2600" b="1" i="1" spc="300" dirty="0" smtClean="0">
                <a:effectLst>
                  <a:outerShdw blurRad="38100" dist="38100" dir="2700000" algn="tl">
                    <a:srgbClr val="000000">
                      <a:alpha val="43137"/>
                    </a:srgbClr>
                  </a:outerShdw>
                </a:effectLst>
              </a:rPr>
              <a:t>Etkili Olan Şartlar (Haksızlık ve Kusur Dışında Kalan Hususlar)</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2463340"/>
            <a:ext cx="5148675" cy="400110"/>
          </a:xfrm>
          <a:prstGeom prst="rect">
            <a:avLst/>
          </a:prstGeom>
        </p:spPr>
        <p:txBody>
          <a:bodyPr wrap="square">
            <a:spAutoFit/>
          </a:bodyPr>
          <a:lstStyle/>
          <a:p>
            <a:pPr marR="0" lvl="0" algn="just"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Objektif Cezalandırılabilme Şartları</a:t>
            </a:r>
          </a:p>
        </p:txBody>
      </p:sp>
      <p:sp>
        <p:nvSpPr>
          <p:cNvPr id="11" name="Dikdörtgen 10"/>
          <p:cNvSpPr/>
          <p:nvPr/>
        </p:nvSpPr>
        <p:spPr>
          <a:xfrm>
            <a:off x="1547398" y="3459391"/>
            <a:ext cx="3310350" cy="400110"/>
          </a:xfrm>
          <a:prstGeom prst="rect">
            <a:avLst/>
          </a:prstGeom>
        </p:spPr>
        <p:txBody>
          <a:bodyPr wrap="square">
            <a:spAutoFit/>
          </a:bodyPr>
          <a:lstStyle/>
          <a:p>
            <a:pPr algn="just"/>
            <a:r>
              <a:rPr lang="tr-TR" sz="2000" b="1" dirty="0">
                <a:effectLst>
                  <a:outerShdw blurRad="38100" dist="38100" dir="2700000" algn="tl">
                    <a:srgbClr val="000000">
                      <a:alpha val="43137"/>
                    </a:srgbClr>
                  </a:outerShdw>
                </a:effectLst>
                <a:latin typeface="Calibri" panose="020F0502020204030204"/>
              </a:rPr>
              <a:t>Cezasızlık Sebepleri</a:t>
            </a:r>
          </a:p>
        </p:txBody>
      </p:sp>
      <p:sp>
        <p:nvSpPr>
          <p:cNvPr id="2" name="Dikdörtgen 1"/>
          <p:cNvSpPr/>
          <p:nvPr/>
        </p:nvSpPr>
        <p:spPr>
          <a:xfrm>
            <a:off x="2446345" y="2908698"/>
            <a:ext cx="7983529" cy="307777"/>
          </a:xfrm>
          <a:prstGeom prst="rect">
            <a:avLst/>
          </a:prstGeom>
        </p:spPr>
        <p:txBody>
          <a:bodyPr wrap="square">
            <a:spAutoFit/>
          </a:bodyPr>
          <a:lstStyle/>
          <a:p>
            <a:pPr algn="just"/>
            <a:r>
              <a:rPr lang="fr-FR" sz="1400" i="1" u="sng" dirty="0" smtClean="0"/>
              <a:t>Objekt</a:t>
            </a:r>
            <a:r>
              <a:rPr lang="tr-TR" sz="1400" i="1" u="sng" dirty="0" smtClean="0"/>
              <a:t>i</a:t>
            </a:r>
            <a:r>
              <a:rPr lang="fr-FR" sz="1400" i="1" u="sng" dirty="0" smtClean="0"/>
              <a:t>f</a:t>
            </a:r>
            <a:r>
              <a:rPr lang="fr-FR" sz="1400" i="1" dirty="0" smtClean="0"/>
              <a:t> cezalandırılab</a:t>
            </a:r>
            <a:r>
              <a:rPr lang="tr-TR" sz="1400" i="1" dirty="0" smtClean="0"/>
              <a:t>i</a:t>
            </a:r>
            <a:r>
              <a:rPr lang="fr-FR" sz="1400" i="1" dirty="0" smtClean="0"/>
              <a:t>lme </a:t>
            </a:r>
            <a:r>
              <a:rPr lang="tr-TR" sz="1400" i="1" dirty="0" smtClean="0"/>
              <a:t>ş</a:t>
            </a:r>
            <a:r>
              <a:rPr lang="fr-FR" sz="1400" i="1" dirty="0" smtClean="0"/>
              <a:t>artları</a:t>
            </a:r>
            <a:r>
              <a:rPr lang="tr-TR" sz="1400" i="1" dirty="0" smtClean="0"/>
              <a:t> </a:t>
            </a:r>
            <a:r>
              <a:rPr lang="fr-FR" sz="1400" i="1" u="sng" dirty="0" smtClean="0"/>
              <a:t>cezalandırılab</a:t>
            </a:r>
            <a:r>
              <a:rPr lang="tr-TR" sz="1400" i="1" u="sng" dirty="0" smtClean="0"/>
              <a:t>ilirliğin </a:t>
            </a:r>
            <a:r>
              <a:rPr lang="fr-FR" sz="1400" i="1" u="sng" dirty="0" smtClean="0"/>
              <a:t>alanını</a:t>
            </a:r>
            <a:r>
              <a:rPr lang="tr-TR" sz="1400" i="1" u="sng" dirty="0" smtClean="0"/>
              <a:t> </a:t>
            </a:r>
            <a:r>
              <a:rPr lang="fr-FR" sz="1400" i="1" u="sng" dirty="0" smtClean="0"/>
              <a:t>daraltan </a:t>
            </a:r>
            <a:r>
              <a:rPr lang="fr-FR" sz="1400" i="1" dirty="0" smtClean="0"/>
              <a:t>b</a:t>
            </a:r>
            <a:r>
              <a:rPr lang="tr-TR" sz="1400" i="1" dirty="0" smtClean="0"/>
              <a:t>ir</a:t>
            </a:r>
            <a:r>
              <a:rPr lang="fr-FR" sz="1400" i="1" dirty="0" smtClean="0"/>
              <a:t> </a:t>
            </a:r>
            <a:r>
              <a:rPr lang="tr-TR" sz="1400" i="1" dirty="0" smtClean="0"/>
              <a:t>işleve sahiptir</a:t>
            </a:r>
            <a:r>
              <a:rPr lang="fr-FR" sz="1400" i="1" dirty="0" smtClean="0"/>
              <a:t>. </a:t>
            </a:r>
            <a:endParaRPr lang="fr-FR" sz="1400" i="1" dirty="0"/>
          </a:p>
        </p:txBody>
      </p:sp>
      <p:sp>
        <p:nvSpPr>
          <p:cNvPr id="3" name="Dikdörtgen 2"/>
          <p:cNvSpPr/>
          <p:nvPr/>
        </p:nvSpPr>
        <p:spPr>
          <a:xfrm>
            <a:off x="2446344" y="3910859"/>
            <a:ext cx="8962429" cy="307777"/>
          </a:xfrm>
          <a:prstGeom prst="rect">
            <a:avLst/>
          </a:prstGeom>
        </p:spPr>
        <p:txBody>
          <a:bodyPr wrap="square">
            <a:spAutoFit/>
          </a:bodyPr>
          <a:lstStyle/>
          <a:p>
            <a:pPr algn="just"/>
            <a:r>
              <a:rPr lang="tr-TR" sz="1400" i="1" u="sng" dirty="0" smtClean="0"/>
              <a:t>Şahsi</a:t>
            </a:r>
            <a:r>
              <a:rPr lang="tr-TR" sz="1400" i="1" dirty="0" smtClean="0"/>
              <a:t> nedenlerden dolayı </a:t>
            </a:r>
            <a:r>
              <a:rPr lang="fr-FR" sz="1400" i="1" dirty="0" smtClean="0"/>
              <a:t>fa</a:t>
            </a:r>
            <a:r>
              <a:rPr lang="tr-TR" sz="1400" i="1" dirty="0" smtClean="0"/>
              <a:t>ilin </a:t>
            </a:r>
            <a:r>
              <a:rPr lang="fr-FR" sz="1400" i="1" u="sng" dirty="0" smtClean="0"/>
              <a:t>cezalandırılmasını</a:t>
            </a:r>
            <a:r>
              <a:rPr lang="tr-TR" sz="1400" i="1" u="sng" dirty="0" smtClean="0"/>
              <a:t> e</a:t>
            </a:r>
            <a:r>
              <a:rPr lang="fr-FR" sz="1400" i="1" u="sng" dirty="0" smtClean="0"/>
              <a:t>ngelleyen</a:t>
            </a:r>
            <a:r>
              <a:rPr lang="tr-TR" sz="1400" i="1" u="sng" dirty="0" smtClean="0"/>
              <a:t> </a:t>
            </a:r>
            <a:r>
              <a:rPr lang="tr-TR" sz="1400" i="1" dirty="0" smtClean="0"/>
              <a:t>sebeplerdir</a:t>
            </a:r>
            <a:endParaRPr lang="fr-FR" sz="1400" i="1" dirty="0"/>
          </a:p>
        </p:txBody>
      </p:sp>
      <p:sp>
        <p:nvSpPr>
          <p:cNvPr id="4" name="Dikdörtgen 3"/>
          <p:cNvSpPr/>
          <p:nvPr/>
        </p:nvSpPr>
        <p:spPr>
          <a:xfrm>
            <a:off x="1547398" y="4318554"/>
            <a:ext cx="9861375" cy="2308324"/>
          </a:xfrm>
          <a:prstGeom prst="rect">
            <a:avLst/>
          </a:prstGeom>
        </p:spPr>
        <p:txBody>
          <a:bodyPr wrap="square">
            <a:spAutoFit/>
          </a:bodyPr>
          <a:lstStyle/>
          <a:p>
            <a:pPr algn="just">
              <a:defRPr/>
            </a:pPr>
            <a:r>
              <a:rPr lang="tr-TR" sz="1600" b="1" i="1" dirty="0" smtClean="0"/>
              <a:t>Kural: </a:t>
            </a:r>
            <a:endParaRPr lang="tr-TR" sz="1600" b="1" i="1" dirty="0"/>
          </a:p>
          <a:p>
            <a:pPr algn="just">
              <a:defRPr/>
            </a:pPr>
            <a:r>
              <a:rPr lang="tr-TR" sz="1600" b="1" i="1" dirty="0"/>
              <a:t>Failin cezalandırılabilmesi=Hukuka aykırılık + Tipiklik + </a:t>
            </a:r>
            <a:r>
              <a:rPr lang="tr-TR" sz="1600" b="1" i="1" dirty="0" smtClean="0"/>
              <a:t>Kusurluluk</a:t>
            </a:r>
            <a:endParaRPr lang="tr-TR" sz="1600" b="1" i="1" dirty="0"/>
          </a:p>
          <a:p>
            <a:pPr algn="just">
              <a:defRPr/>
            </a:pPr>
            <a:endParaRPr lang="tr-TR" sz="1600" b="1" i="1" dirty="0" smtClean="0"/>
          </a:p>
          <a:p>
            <a:pPr algn="just">
              <a:defRPr/>
            </a:pPr>
            <a:r>
              <a:rPr lang="tr-TR" sz="1600" b="1" i="1" dirty="0" smtClean="0"/>
              <a:t>Bazı </a:t>
            </a:r>
            <a:r>
              <a:rPr lang="tr-TR" sz="1600" b="1" i="1" dirty="0"/>
              <a:t>suçlar </a:t>
            </a:r>
            <a:r>
              <a:rPr lang="tr-TR" sz="1600" b="1" i="1" dirty="0" smtClean="0"/>
              <a:t>için; </a:t>
            </a:r>
            <a:endParaRPr lang="tr-TR" sz="1600" b="1" i="1" dirty="0"/>
          </a:p>
          <a:p>
            <a:pPr algn="just">
              <a:defRPr/>
            </a:pPr>
            <a:r>
              <a:rPr lang="tr-TR" sz="1600" b="1" i="1" dirty="0"/>
              <a:t>Failin </a:t>
            </a:r>
            <a:r>
              <a:rPr lang="tr-TR" sz="1600" b="1" i="1" dirty="0" smtClean="0"/>
              <a:t>cezalandırılabilmesi için = Hukuka </a:t>
            </a:r>
            <a:r>
              <a:rPr lang="tr-TR" sz="1600" b="1" i="1" dirty="0"/>
              <a:t>Aykırılık + Tipiklik + Kusurluluk </a:t>
            </a:r>
            <a:r>
              <a:rPr lang="tr-TR" sz="1600" b="1" i="1" dirty="0" smtClean="0"/>
              <a:t>     </a:t>
            </a:r>
            <a:r>
              <a:rPr lang="tr-TR" sz="1600" b="1" i="1" dirty="0" smtClean="0">
                <a:effectLst>
                  <a:outerShdw blurRad="38100" dist="38100" dir="2700000" algn="tl">
                    <a:srgbClr val="000000">
                      <a:alpha val="43137"/>
                    </a:srgbClr>
                  </a:outerShdw>
                </a:effectLst>
              </a:rPr>
              <a:t>+</a:t>
            </a:r>
            <a:r>
              <a:rPr lang="tr-TR" sz="1600" b="1" i="1" dirty="0" smtClean="0"/>
              <a:t>      Objektif </a:t>
            </a:r>
            <a:r>
              <a:rPr lang="tr-TR" sz="1600" b="1" i="1" dirty="0"/>
              <a:t>Cezalandırılabilme Şartları</a:t>
            </a:r>
          </a:p>
          <a:p>
            <a:pPr algn="just">
              <a:defRPr/>
            </a:pPr>
            <a:r>
              <a:rPr lang="tr-TR" sz="1600" b="1" i="1" dirty="0"/>
              <a:t>Failin </a:t>
            </a:r>
            <a:r>
              <a:rPr lang="tr-TR" sz="1600" b="1" i="1" dirty="0" smtClean="0"/>
              <a:t>cezalandırılabilmesi için = Hukuka </a:t>
            </a:r>
            <a:r>
              <a:rPr lang="tr-TR" sz="1600" b="1" i="1" dirty="0"/>
              <a:t>Aykırılık + Tipiklik + Kusurluluk </a:t>
            </a:r>
            <a:r>
              <a:rPr lang="tr-TR" sz="1600" b="1" i="1" dirty="0" smtClean="0"/>
              <a:t>     </a:t>
            </a:r>
            <a:r>
              <a:rPr lang="tr-TR" sz="1600" b="1" i="1" dirty="0" smtClean="0">
                <a:effectLst>
                  <a:outerShdw blurRad="38100" dist="38100" dir="2700000" algn="tl">
                    <a:srgbClr val="000000">
                      <a:alpha val="43137"/>
                    </a:srgbClr>
                  </a:outerShdw>
                </a:effectLst>
              </a:rPr>
              <a:t>–</a:t>
            </a:r>
            <a:r>
              <a:rPr lang="tr-TR" sz="1600" b="1" i="1" dirty="0" smtClean="0"/>
              <a:t>      Cezasızlık </a:t>
            </a:r>
            <a:r>
              <a:rPr lang="tr-TR" sz="1600" b="1" i="1" dirty="0"/>
              <a:t>Sebepleri</a:t>
            </a:r>
          </a:p>
          <a:p>
            <a:pPr algn="just">
              <a:defRPr/>
            </a:pPr>
            <a:r>
              <a:rPr lang="tr-TR" sz="1600" b="1" i="1" dirty="0" smtClean="0"/>
              <a:t>Yani</a:t>
            </a:r>
          </a:p>
          <a:p>
            <a:pPr algn="just">
              <a:defRPr/>
            </a:pPr>
            <a:r>
              <a:rPr lang="tr-TR" sz="1600" b="1" i="1" dirty="0" smtClean="0"/>
              <a:t>Bazı </a:t>
            </a:r>
            <a:r>
              <a:rPr lang="tr-TR" sz="1600" b="1" i="1" dirty="0"/>
              <a:t>suçlar nedeniyle failin cezalandırılabilmesi</a:t>
            </a:r>
            <a:r>
              <a:rPr lang="fr-FR" sz="1600" b="1" i="1" dirty="0"/>
              <a:t> </a:t>
            </a:r>
            <a:r>
              <a:rPr lang="tr-TR" sz="1600" b="1" i="1" dirty="0"/>
              <a:t>için Objektif Cezalandırılabilme Şartlarının varlığı, Cezasızlık Sebeplerinin </a:t>
            </a:r>
            <a:r>
              <a:rPr lang="tr-TR" sz="1600" b="1" i="1" dirty="0" smtClean="0"/>
              <a:t>ise </a:t>
            </a:r>
            <a:r>
              <a:rPr lang="tr-TR" sz="1600" b="1" i="1" dirty="0"/>
              <a:t>yokluğu gerekecektir.</a:t>
            </a:r>
          </a:p>
        </p:txBody>
      </p:sp>
      <p:sp>
        <p:nvSpPr>
          <p:cNvPr id="5" name="Dikdörtgen 4"/>
          <p:cNvSpPr/>
          <p:nvPr/>
        </p:nvSpPr>
        <p:spPr>
          <a:xfrm>
            <a:off x="8782983" y="3459391"/>
            <a:ext cx="1789080" cy="276999"/>
          </a:xfrm>
          <a:prstGeom prst="rect">
            <a:avLst/>
          </a:prstGeom>
        </p:spPr>
        <p:txBody>
          <a:bodyPr wrap="none">
            <a:spAutoFit/>
          </a:bodyPr>
          <a:lstStyle/>
          <a:p>
            <a:r>
              <a:rPr lang="tr-TR" sz="1200" b="1" noProof="1" smtClean="0"/>
              <a:t>Şahsi</a:t>
            </a:r>
            <a:r>
              <a:rPr lang="fr-FR" sz="1200" b="1" dirty="0" smtClean="0"/>
              <a:t> </a:t>
            </a:r>
            <a:r>
              <a:rPr lang="tr-TR" sz="1200" b="1" noProof="1" smtClean="0"/>
              <a:t>Cezasızlık Sebepleri</a:t>
            </a:r>
            <a:endParaRPr lang="tr-TR" sz="1200" b="1" noProof="1"/>
          </a:p>
        </p:txBody>
      </p:sp>
      <p:sp>
        <p:nvSpPr>
          <p:cNvPr id="6" name="Dikdörtgen 5"/>
          <p:cNvSpPr/>
          <p:nvPr/>
        </p:nvSpPr>
        <p:spPr>
          <a:xfrm>
            <a:off x="8782983" y="3702307"/>
            <a:ext cx="2111219" cy="276999"/>
          </a:xfrm>
          <a:prstGeom prst="rect">
            <a:avLst/>
          </a:prstGeom>
        </p:spPr>
        <p:txBody>
          <a:bodyPr wrap="none">
            <a:spAutoFit/>
          </a:bodyPr>
          <a:lstStyle/>
          <a:p>
            <a:r>
              <a:rPr lang="tr-TR" sz="1200" b="1" dirty="0"/>
              <a:t>Cezayı Kaldıran Şahsi Sebepler</a:t>
            </a:r>
            <a:endParaRPr lang="fr-FR" sz="1200" b="1" dirty="0"/>
          </a:p>
        </p:txBody>
      </p:sp>
      <p:sp>
        <p:nvSpPr>
          <p:cNvPr id="7" name="Sağ Ok 6"/>
          <p:cNvSpPr/>
          <p:nvPr/>
        </p:nvSpPr>
        <p:spPr>
          <a:xfrm flipV="1">
            <a:off x="3752850" y="3615034"/>
            <a:ext cx="5030133" cy="45719"/>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ükülü Ok 7"/>
          <p:cNvSpPr/>
          <p:nvPr/>
        </p:nvSpPr>
        <p:spPr>
          <a:xfrm flipV="1">
            <a:off x="3752850" y="3789502"/>
            <a:ext cx="5030133" cy="68447"/>
          </a:xfrm>
          <a:prstGeom prst="ben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2" name="Slayt Numarası Yer Tutucusu 11"/>
          <p:cNvSpPr>
            <a:spLocks noGrp="1"/>
          </p:cNvSpPr>
          <p:nvPr>
            <p:ph type="sldNum" sz="quarter" idx="12"/>
          </p:nvPr>
        </p:nvSpPr>
        <p:spPr/>
        <p:txBody>
          <a:bodyPr/>
          <a:lstStyle/>
          <a:p>
            <a:fld id="{39F9BA00-44CD-41D4-A3D8-F864C744DC1F}" type="slidenum">
              <a:rPr lang="tr-TR" smtClean="0"/>
              <a:t>76</a:t>
            </a:fld>
            <a:r>
              <a:rPr lang="tr-TR"/>
              <a:t>/116</a:t>
            </a:r>
          </a:p>
        </p:txBody>
      </p:sp>
    </p:spTree>
    <p:extLst>
      <p:ext uri="{BB962C8B-B14F-4D97-AF65-F5344CB8AC3E}">
        <p14:creationId xmlns:p14="http://schemas.microsoft.com/office/powerpoint/2010/main" val="110751903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ikdörtgen 9"/>
          <p:cNvSpPr/>
          <p:nvPr/>
        </p:nvSpPr>
        <p:spPr>
          <a:xfrm>
            <a:off x="1547399" y="2941363"/>
            <a:ext cx="10063576" cy="1200329"/>
          </a:xfrm>
          <a:prstGeom prst="rect">
            <a:avLst/>
          </a:prstGeom>
        </p:spPr>
        <p:txBody>
          <a:bodyPr wrap="square">
            <a:spAutoFit/>
          </a:bodyPr>
          <a:lstStyle/>
          <a:p>
            <a:pPr lvl="0" algn="just">
              <a:defRPr/>
            </a:pPr>
            <a:r>
              <a:rPr lang="tr-TR" dirty="0" smtClean="0"/>
              <a:t>Objektif cezalandırılabilme şartları</a:t>
            </a:r>
            <a:r>
              <a:rPr lang="tr-TR" dirty="0"/>
              <a:t>, suçun yapısında </a:t>
            </a:r>
            <a:r>
              <a:rPr lang="tr-TR" dirty="0" smtClean="0"/>
              <a:t>haksızlığın </a:t>
            </a:r>
            <a:r>
              <a:rPr lang="tr-TR" dirty="0"/>
              <a:t>ve </a:t>
            </a:r>
            <a:r>
              <a:rPr lang="tr-TR" dirty="0" smtClean="0"/>
              <a:t>kusurluluğun dışında kalan </a:t>
            </a:r>
            <a:r>
              <a:rPr lang="tr-TR" dirty="0"/>
              <a:t>ve </a:t>
            </a:r>
            <a:r>
              <a:rPr lang="tr-TR" dirty="0" smtClean="0"/>
              <a:t>failin cezalandırılabilmesi için gerekli </a:t>
            </a:r>
            <a:r>
              <a:rPr lang="tr-TR" dirty="0"/>
              <a:t>olan </a:t>
            </a:r>
            <a:r>
              <a:rPr lang="tr-TR" dirty="0" smtClean="0"/>
              <a:t>koşullardır</a:t>
            </a:r>
            <a:r>
              <a:rPr lang="tr-TR" dirty="0"/>
              <a:t>. Bu </a:t>
            </a:r>
            <a:r>
              <a:rPr lang="tr-TR" dirty="0" smtClean="0"/>
              <a:t>şarta </a:t>
            </a:r>
            <a:r>
              <a:rPr lang="tr-TR" dirty="0"/>
              <a:t>yapısında </a:t>
            </a:r>
            <a:r>
              <a:rPr lang="tr-TR" dirty="0" smtClean="0"/>
              <a:t>yer veren </a:t>
            </a:r>
            <a:r>
              <a:rPr lang="tr-TR" dirty="0"/>
              <a:t>suçlarda </a:t>
            </a:r>
            <a:r>
              <a:rPr lang="tr-TR" dirty="0" smtClean="0"/>
              <a:t>işlenen </a:t>
            </a:r>
            <a:r>
              <a:rPr lang="tr-TR" u="sng" dirty="0" smtClean="0"/>
              <a:t>fiil </a:t>
            </a:r>
            <a:r>
              <a:rPr lang="tr-TR" u="sng" dirty="0"/>
              <a:t>haksızlık </a:t>
            </a:r>
            <a:r>
              <a:rPr lang="tr-TR" u="sng" dirty="0" smtClean="0"/>
              <a:t>oluşturmakla birlikte</a:t>
            </a:r>
            <a:r>
              <a:rPr lang="tr-TR" dirty="0" smtClean="0"/>
              <a:t> </a:t>
            </a:r>
            <a:r>
              <a:rPr lang="tr-TR" u="sng" dirty="0" smtClean="0">
                <a:effectLst>
                  <a:outerShdw blurRad="38100" dist="38100" dir="2700000" algn="tl">
                    <a:srgbClr val="000000">
                      <a:alpha val="43137"/>
                    </a:srgbClr>
                  </a:outerShdw>
                </a:effectLst>
              </a:rPr>
              <a:t>objektif nitelikteki </a:t>
            </a:r>
            <a:r>
              <a:rPr lang="tr-TR" i="1" dirty="0">
                <a:effectLst>
                  <a:outerShdw blurRad="38100" dist="38100" dir="2700000" algn="tl">
                    <a:srgbClr val="000000">
                      <a:alpha val="43137"/>
                    </a:srgbClr>
                  </a:outerShdw>
                </a:effectLst>
              </a:rPr>
              <a:t>bu </a:t>
            </a:r>
            <a:r>
              <a:rPr lang="tr-TR" i="1" dirty="0" smtClean="0">
                <a:effectLst>
                  <a:outerShdw blurRad="38100" dist="38100" dir="2700000" algn="tl">
                    <a:srgbClr val="000000">
                      <a:alpha val="43137"/>
                    </a:srgbClr>
                  </a:outerShdw>
                </a:effectLst>
              </a:rPr>
              <a:t>şartlar gerçekleşmedikçe kişiye </a:t>
            </a:r>
            <a:r>
              <a:rPr lang="tr-TR" i="1" dirty="0">
                <a:effectLst>
                  <a:outerShdw blurRad="38100" dist="38100" dir="2700000" algn="tl">
                    <a:srgbClr val="000000">
                      <a:alpha val="43137"/>
                    </a:srgbClr>
                  </a:outerShdw>
                </a:effectLst>
              </a:rPr>
              <a:t>ceza </a:t>
            </a:r>
            <a:r>
              <a:rPr lang="tr-TR" i="1" dirty="0" smtClean="0">
                <a:effectLst>
                  <a:outerShdw blurRad="38100" dist="38100" dir="2700000" algn="tl">
                    <a:srgbClr val="000000">
                      <a:alpha val="43137"/>
                    </a:srgbClr>
                  </a:outerShdw>
                </a:effectLst>
              </a:rPr>
              <a:t>verilememektedir</a:t>
            </a:r>
            <a:r>
              <a:rPr lang="tr-TR" dirty="0"/>
              <a:t>. Bu nedenle, </a:t>
            </a:r>
            <a:r>
              <a:rPr lang="tr-TR" dirty="0" smtClean="0"/>
              <a:t>objektif cezalandırılabilme şartları cezalandırabilirliğin </a:t>
            </a:r>
            <a:r>
              <a:rPr lang="tr-TR" dirty="0"/>
              <a:t>alanını daraltan </a:t>
            </a:r>
            <a:r>
              <a:rPr lang="tr-TR" dirty="0" smtClean="0"/>
              <a:t>bir işlev görmektedirler</a:t>
            </a:r>
            <a:endParaRPr lang="tr-TR" dirty="0" smtClean="0">
              <a:latin typeface="Calibri" panose="020F0502020204030204"/>
            </a:endParaRPr>
          </a:p>
        </p:txBody>
      </p:sp>
      <p:sp>
        <p:nvSpPr>
          <p:cNvPr id="7" name="Dikdörtgen 6"/>
          <p:cNvSpPr/>
          <p:nvPr/>
        </p:nvSpPr>
        <p:spPr>
          <a:xfrm>
            <a:off x="1547399" y="2463340"/>
            <a:ext cx="5148675" cy="400110"/>
          </a:xfrm>
          <a:prstGeom prst="rect">
            <a:avLst/>
          </a:prstGeom>
        </p:spPr>
        <p:txBody>
          <a:bodyPr wrap="square">
            <a:spAutoFit/>
          </a:bodyPr>
          <a:lstStyle/>
          <a:p>
            <a:pPr marR="0" lvl="0" algn="just"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Objektif Cezalandırılabilme Şartları</a:t>
            </a:r>
          </a:p>
        </p:txBody>
      </p:sp>
      <p:sp>
        <p:nvSpPr>
          <p:cNvPr id="4" name="Dikdörtgen 3"/>
          <p:cNvSpPr/>
          <p:nvPr/>
        </p:nvSpPr>
        <p:spPr>
          <a:xfrm>
            <a:off x="1963493" y="4141692"/>
            <a:ext cx="4838056" cy="338554"/>
          </a:xfrm>
          <a:prstGeom prst="rect">
            <a:avLst/>
          </a:prstGeom>
        </p:spPr>
        <p:txBody>
          <a:bodyPr wrap="none">
            <a:spAutoFit/>
          </a:bodyPr>
          <a:lstStyle/>
          <a:p>
            <a:pPr lvl="0" algn="just">
              <a:defRPr/>
            </a:pPr>
            <a:r>
              <a:rPr lang="tr-TR" sz="1600" b="1" dirty="0" smtClean="0">
                <a:effectLst>
                  <a:outerShdw blurRad="38100" dist="38100" dir="2700000" algn="tl">
                    <a:srgbClr val="000000">
                      <a:alpha val="43137"/>
                    </a:srgbClr>
                  </a:outerShdw>
                </a:effectLst>
              </a:rPr>
              <a:t>Yani bazı suçlar yönüyle </a:t>
            </a:r>
            <a:r>
              <a:rPr lang="tr-TR" sz="1600" b="1" u="sng" dirty="0" smtClean="0">
                <a:effectLst>
                  <a:outerShdw blurRad="38100" dist="38100" dir="2700000" algn="tl">
                    <a:srgbClr val="000000">
                      <a:alpha val="43137"/>
                    </a:srgbClr>
                  </a:outerShdw>
                </a:effectLst>
              </a:rPr>
              <a:t>failin </a:t>
            </a:r>
            <a:r>
              <a:rPr lang="tr-TR" sz="1600" b="1" u="sng" dirty="0">
                <a:effectLst>
                  <a:outerShdw blurRad="38100" dist="38100" dir="2700000" algn="tl">
                    <a:srgbClr val="000000">
                      <a:alpha val="43137"/>
                    </a:srgbClr>
                  </a:outerShdw>
                </a:effectLst>
              </a:rPr>
              <a:t>cezalandırılabilmesi</a:t>
            </a:r>
            <a:r>
              <a:rPr lang="tr-TR" sz="1600" b="1" dirty="0">
                <a:effectLst>
                  <a:outerShdw blurRad="38100" dist="38100" dir="2700000" algn="tl">
                    <a:srgbClr val="000000">
                      <a:alpha val="43137"/>
                    </a:srgbClr>
                  </a:outerShdw>
                </a:effectLst>
              </a:rPr>
              <a:t> için; </a:t>
            </a:r>
          </a:p>
        </p:txBody>
      </p:sp>
      <p:sp>
        <p:nvSpPr>
          <p:cNvPr id="5" name="Dikdörtgen 4"/>
          <p:cNvSpPr/>
          <p:nvPr/>
        </p:nvSpPr>
        <p:spPr>
          <a:xfrm>
            <a:off x="1992124" y="4417197"/>
            <a:ext cx="9618851" cy="523220"/>
          </a:xfrm>
          <a:prstGeom prst="rect">
            <a:avLst/>
          </a:prstGeom>
        </p:spPr>
        <p:txBody>
          <a:bodyPr wrap="square">
            <a:spAutoFit/>
          </a:bodyPr>
          <a:lstStyle/>
          <a:p>
            <a:pPr lvl="0" algn="just">
              <a:defRPr/>
            </a:pPr>
            <a:r>
              <a:rPr lang="tr-TR" sz="1400" b="1" i="1" dirty="0"/>
              <a:t>Suçun unsurlarının gerçekleşmesi ve failin de kusurlu olması yetmez, bunlara ilaveten başka şartların da gerçekleşmesi gerekebilir.</a:t>
            </a:r>
          </a:p>
        </p:txBody>
      </p:sp>
      <p:sp>
        <p:nvSpPr>
          <p:cNvPr id="8" name="Dikdörtgen 7"/>
          <p:cNvSpPr/>
          <p:nvPr/>
        </p:nvSpPr>
        <p:spPr>
          <a:xfrm>
            <a:off x="1547399" y="5003314"/>
            <a:ext cx="10063576" cy="523220"/>
          </a:xfrm>
          <a:prstGeom prst="rect">
            <a:avLst/>
          </a:prstGeom>
        </p:spPr>
        <p:txBody>
          <a:bodyPr wrap="square">
            <a:spAutoFit/>
          </a:bodyPr>
          <a:lstStyle/>
          <a:p>
            <a:pPr lvl="0" algn="just">
              <a:defRPr/>
            </a:pPr>
            <a:r>
              <a:rPr lang="tr-TR" sz="1400" dirty="0"/>
              <a:t>Objektif cezalandırılabilme </a:t>
            </a:r>
            <a:r>
              <a:rPr lang="tr-TR" sz="1400" dirty="0" smtClean="0"/>
              <a:t>şartı, suçun işlenmesinden önce, suçun işlenmesi sırasında veya suç tamamlandıktan sonra söz konusu olabilen ve gerçekleşmediği takdire kişinin haksızlık ve suç teşkil eden eyleminden cezalandırılmasını engelleyen şartlardır.</a:t>
            </a:r>
            <a:endParaRPr lang="tr-TR" sz="1400" b="1" i="1" dirty="0"/>
          </a:p>
        </p:txBody>
      </p:sp>
      <p:sp>
        <p:nvSpPr>
          <p:cNvPr id="9"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Cezalandırılmaya </a:t>
            </a:r>
            <a:r>
              <a:rPr lang="tr-TR" sz="2600" b="1" i="1" spc="300" dirty="0" smtClean="0">
                <a:effectLst>
                  <a:outerShdw blurRad="38100" dist="38100" dir="2700000" algn="tl">
                    <a:srgbClr val="000000">
                      <a:alpha val="43137"/>
                    </a:srgbClr>
                  </a:outerShdw>
                </a:effectLst>
              </a:rPr>
              <a:t>Etkili Olan Şartlar (Haksızlık ve Kusur Dışında Kalan Hususlar)</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77</a:t>
            </a:fld>
            <a:r>
              <a:rPr lang="tr-TR"/>
              <a:t>/116</a:t>
            </a:r>
          </a:p>
        </p:txBody>
      </p:sp>
    </p:spTree>
    <p:extLst>
      <p:ext uri="{BB962C8B-B14F-4D97-AF65-F5344CB8AC3E}">
        <p14:creationId xmlns:p14="http://schemas.microsoft.com/office/powerpoint/2010/main" val="422789934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ikdörtgen 6"/>
          <p:cNvSpPr/>
          <p:nvPr/>
        </p:nvSpPr>
        <p:spPr>
          <a:xfrm>
            <a:off x="1547399" y="2463340"/>
            <a:ext cx="5148675" cy="400110"/>
          </a:xfrm>
          <a:prstGeom prst="rect">
            <a:avLst/>
          </a:prstGeom>
        </p:spPr>
        <p:txBody>
          <a:bodyPr wrap="square">
            <a:spAutoFit/>
          </a:bodyPr>
          <a:lstStyle/>
          <a:p>
            <a:pPr marR="0" lvl="0" algn="just"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Objektif Cezalandırılabilme Şartları</a:t>
            </a:r>
          </a:p>
        </p:txBody>
      </p:sp>
      <p:sp>
        <p:nvSpPr>
          <p:cNvPr id="8" name="Dikdörtgen 7"/>
          <p:cNvSpPr/>
          <p:nvPr/>
        </p:nvSpPr>
        <p:spPr>
          <a:xfrm>
            <a:off x="2421524" y="3347366"/>
            <a:ext cx="9008475" cy="1077218"/>
          </a:xfrm>
          <a:prstGeom prst="rect">
            <a:avLst/>
          </a:prstGeom>
        </p:spPr>
        <p:txBody>
          <a:bodyPr wrap="square">
            <a:spAutoFit/>
          </a:bodyPr>
          <a:lstStyle/>
          <a:p>
            <a:pPr algn="just"/>
            <a:r>
              <a:rPr lang="fr-FR" sz="1600" b="1" dirty="0">
                <a:solidFill>
                  <a:srgbClr val="000000"/>
                </a:solidFill>
              </a:rPr>
              <a:t>Görevi kötüye </a:t>
            </a:r>
            <a:r>
              <a:rPr lang="fr-FR" sz="1600" b="1" dirty="0" smtClean="0">
                <a:solidFill>
                  <a:srgbClr val="000000"/>
                </a:solidFill>
              </a:rPr>
              <a:t>kullanma</a:t>
            </a:r>
            <a:endParaRPr lang="fr-FR" sz="1600" dirty="0">
              <a:solidFill>
                <a:srgbClr val="000000"/>
              </a:solidFill>
            </a:endParaRPr>
          </a:p>
          <a:p>
            <a:pPr algn="just"/>
            <a:r>
              <a:rPr lang="fr-FR" sz="1600" b="1" dirty="0">
                <a:solidFill>
                  <a:srgbClr val="000000"/>
                </a:solidFill>
              </a:rPr>
              <a:t>Madde 257- </a:t>
            </a:r>
            <a:r>
              <a:rPr lang="fr-FR" sz="1600" dirty="0">
                <a:solidFill>
                  <a:srgbClr val="000000"/>
                </a:solidFill>
              </a:rPr>
              <a:t>(1) Kanunda ayrıca suç olarak tanımlanan haller dışında, görevinin gereklerine aykırı hareket etmek suretiyle, </a:t>
            </a:r>
            <a:r>
              <a:rPr lang="fr-FR" sz="1600" i="1" dirty="0">
                <a:effectLst>
                  <a:outerShdw blurRad="38100" dist="38100" dir="2700000" algn="tl">
                    <a:srgbClr val="000000">
                      <a:alpha val="43137"/>
                    </a:srgbClr>
                  </a:outerShdw>
                </a:effectLst>
              </a:rPr>
              <a:t>kişilerin mağduriyetine veya kamunun zararına neden olan ya da kişilere haksız bir menfaat sağlayan</a:t>
            </a:r>
            <a:r>
              <a:rPr lang="fr-FR" sz="1600" dirty="0">
                <a:solidFill>
                  <a:srgbClr val="000000"/>
                </a:solidFill>
              </a:rPr>
              <a:t> kamu görevlisi, altı aydan iki yıla kadar hapis cezası ile cezalandırılır. </a:t>
            </a:r>
            <a:endParaRPr lang="fr-FR" sz="1600" dirty="0"/>
          </a:p>
        </p:txBody>
      </p:sp>
      <p:sp>
        <p:nvSpPr>
          <p:cNvPr id="9" name="Dikdörtgen 8"/>
          <p:cNvSpPr/>
          <p:nvPr/>
        </p:nvSpPr>
        <p:spPr>
          <a:xfrm>
            <a:off x="2376071" y="2983157"/>
            <a:ext cx="1474202" cy="369332"/>
          </a:xfrm>
          <a:prstGeom prst="rect">
            <a:avLst/>
          </a:prstGeom>
        </p:spPr>
        <p:txBody>
          <a:bodyPr wrap="square">
            <a:spAutoFit/>
          </a:bodyPr>
          <a:lstStyle/>
          <a:p>
            <a:pPr algn="just"/>
            <a:r>
              <a:rPr lang="tr-TR" b="1" dirty="0" smtClean="0">
                <a:solidFill>
                  <a:srgbClr val="000000"/>
                </a:solidFill>
              </a:rPr>
              <a:t>Örnek Suçlar</a:t>
            </a:r>
            <a:endParaRPr lang="fr-FR" dirty="0"/>
          </a:p>
        </p:txBody>
      </p:sp>
      <p:sp>
        <p:nvSpPr>
          <p:cNvPr id="2" name="Dikdörtgen 1"/>
          <p:cNvSpPr/>
          <p:nvPr/>
        </p:nvSpPr>
        <p:spPr>
          <a:xfrm>
            <a:off x="2421523" y="4481876"/>
            <a:ext cx="9008475" cy="1077218"/>
          </a:xfrm>
          <a:prstGeom prst="rect">
            <a:avLst/>
          </a:prstGeom>
        </p:spPr>
        <p:txBody>
          <a:bodyPr wrap="square">
            <a:spAutoFit/>
          </a:bodyPr>
          <a:lstStyle/>
          <a:p>
            <a:pPr algn="just"/>
            <a:r>
              <a:rPr lang="tr-TR" sz="1600" b="1" dirty="0" smtClean="0">
                <a:solidFill>
                  <a:srgbClr val="000000"/>
                </a:solidFill>
              </a:rPr>
              <a:t>Hayvanın tehlike yaratabilecek şekilde serbest bırakılması </a:t>
            </a:r>
          </a:p>
          <a:p>
            <a:pPr algn="just"/>
            <a:r>
              <a:rPr lang="tr-TR" sz="1600" b="1" dirty="0" smtClean="0">
                <a:solidFill>
                  <a:srgbClr val="000000"/>
                </a:solidFill>
              </a:rPr>
              <a:t>Madde 177- </a:t>
            </a:r>
            <a:r>
              <a:rPr lang="tr-TR" sz="1600" dirty="0" smtClean="0">
                <a:solidFill>
                  <a:srgbClr val="000000"/>
                </a:solidFill>
              </a:rPr>
              <a:t>(1) Gözetimi altında bulunan hayvanı </a:t>
            </a:r>
            <a:r>
              <a:rPr lang="tr-TR" sz="1600" i="1" dirty="0" smtClean="0">
                <a:effectLst>
                  <a:outerShdw blurRad="38100" dist="38100" dir="2700000" algn="tl">
                    <a:srgbClr val="000000">
                      <a:alpha val="43137"/>
                    </a:srgbClr>
                  </a:outerShdw>
                </a:effectLst>
              </a:rPr>
              <a:t>başkalarının hayatı veya sağlığı bakımından tehlikeli olabilecek şekilde</a:t>
            </a:r>
            <a:r>
              <a:rPr lang="tr-TR" sz="1600" dirty="0" smtClean="0">
                <a:solidFill>
                  <a:srgbClr val="000000"/>
                </a:solidFill>
              </a:rPr>
              <a:t> serbest bırakan veya bunların kontrol altına alınmasında ihmal gösteren kişi, altı aya kadar hapis veya adlî para cezası ile cezalandırılır. </a:t>
            </a:r>
            <a:endParaRPr lang="tr-TR" sz="1600" dirty="0">
              <a:solidFill>
                <a:srgbClr val="000000"/>
              </a:solidFill>
            </a:endParaRPr>
          </a:p>
        </p:txBody>
      </p:sp>
      <p:sp>
        <p:nvSpPr>
          <p:cNvPr id="3" name="Dikdörtgen 2"/>
          <p:cNvSpPr/>
          <p:nvPr/>
        </p:nvSpPr>
        <p:spPr>
          <a:xfrm>
            <a:off x="2421523" y="5485447"/>
            <a:ext cx="9124948" cy="1077218"/>
          </a:xfrm>
          <a:prstGeom prst="rect">
            <a:avLst/>
          </a:prstGeom>
        </p:spPr>
        <p:txBody>
          <a:bodyPr wrap="square">
            <a:spAutoFit/>
          </a:bodyPr>
          <a:lstStyle/>
          <a:p>
            <a:pPr algn="just"/>
            <a:r>
              <a:rPr lang="tr-TR" sz="1600" b="1" dirty="0" smtClean="0">
                <a:solidFill>
                  <a:srgbClr val="000000"/>
                </a:solidFill>
              </a:rPr>
              <a:t>Suçu ve suçluyu övme </a:t>
            </a:r>
          </a:p>
          <a:p>
            <a:pPr algn="just"/>
            <a:r>
              <a:rPr lang="tr-TR" sz="1600" b="1" dirty="0" smtClean="0">
                <a:solidFill>
                  <a:srgbClr val="000000"/>
                </a:solidFill>
              </a:rPr>
              <a:t>Madde 215- </a:t>
            </a:r>
            <a:r>
              <a:rPr lang="tr-TR" sz="1600" dirty="0" smtClean="0">
                <a:solidFill>
                  <a:srgbClr val="000000"/>
                </a:solidFill>
              </a:rPr>
              <a:t>(1) İşlenmiş olan bir suçu veya işlemiş olduğu suçtan dolayı bir kişiyi alenen öven kimse, bu nedenle </a:t>
            </a:r>
            <a:r>
              <a:rPr lang="tr-TR" sz="1600" i="1" dirty="0" smtClean="0">
                <a:effectLst>
                  <a:outerShdw blurRad="38100" dist="38100" dir="2700000" algn="tl">
                    <a:srgbClr val="000000">
                      <a:alpha val="43137"/>
                    </a:srgbClr>
                  </a:outerShdw>
                </a:effectLst>
              </a:rPr>
              <a:t>kamu düzeni açısından açık ve yakın bir tehlikenin ortaya çıkması hâlinde</a:t>
            </a:r>
            <a:r>
              <a:rPr lang="tr-TR" sz="1600" dirty="0" smtClean="0">
                <a:solidFill>
                  <a:srgbClr val="000000"/>
                </a:solidFill>
              </a:rPr>
              <a:t>, iki yıla kadar hapis cezası ile cezalandırılır </a:t>
            </a:r>
            <a:endParaRPr lang="tr-TR" sz="1600" dirty="0">
              <a:solidFill>
                <a:srgbClr val="000000"/>
              </a:solidFill>
            </a:endParaRPr>
          </a:p>
        </p:txBody>
      </p:sp>
      <p:sp>
        <p:nvSpPr>
          <p:cNvPr id="10"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Cezalandırılmaya </a:t>
            </a:r>
            <a:r>
              <a:rPr lang="tr-TR" sz="2600" b="1" i="1" spc="300" dirty="0" smtClean="0">
                <a:effectLst>
                  <a:outerShdw blurRad="38100" dist="38100" dir="2700000" algn="tl">
                    <a:srgbClr val="000000">
                      <a:alpha val="43137"/>
                    </a:srgbClr>
                  </a:outerShdw>
                </a:effectLst>
              </a:rPr>
              <a:t>Etkili Olan Şartlar (Haksızlık ve Kusur Dışında Kalan Hususlar)</a:t>
            </a:r>
            <a:endParaRPr lang="tr-TR" sz="2600" b="1" i="1" spc="300" dirty="0">
              <a:effectLst>
                <a:outerShdw blurRad="38100" dist="38100" dir="2700000" algn="tl">
                  <a:srgbClr val="000000">
                    <a:alpha val="43137"/>
                  </a:srgbClr>
                </a:outerShdw>
              </a:effectLst>
            </a:endParaRPr>
          </a:p>
        </p:txBody>
      </p:sp>
      <p:sp>
        <p:nvSpPr>
          <p:cNvPr id="5" name="Slayt Numarası Yer Tutucusu 4"/>
          <p:cNvSpPr>
            <a:spLocks noGrp="1"/>
          </p:cNvSpPr>
          <p:nvPr>
            <p:ph type="sldNum" sz="quarter" idx="12"/>
          </p:nvPr>
        </p:nvSpPr>
        <p:spPr/>
        <p:txBody>
          <a:bodyPr/>
          <a:lstStyle/>
          <a:p>
            <a:fld id="{39F9BA00-44CD-41D4-A3D8-F864C744DC1F}" type="slidenum">
              <a:rPr lang="tr-TR" smtClean="0"/>
              <a:t>78</a:t>
            </a:fld>
            <a:r>
              <a:rPr lang="tr-TR"/>
              <a:t>/116</a:t>
            </a:r>
          </a:p>
        </p:txBody>
      </p:sp>
    </p:spTree>
    <p:extLst>
      <p:ext uri="{BB962C8B-B14F-4D97-AF65-F5344CB8AC3E}">
        <p14:creationId xmlns:p14="http://schemas.microsoft.com/office/powerpoint/2010/main" val="163941849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ikdörtgen 6"/>
          <p:cNvSpPr/>
          <p:nvPr/>
        </p:nvSpPr>
        <p:spPr>
          <a:xfrm>
            <a:off x="1547399" y="2463340"/>
            <a:ext cx="5148675" cy="400110"/>
          </a:xfrm>
          <a:prstGeom prst="rect">
            <a:avLst/>
          </a:prstGeom>
        </p:spPr>
        <p:txBody>
          <a:bodyPr wrap="square">
            <a:spAutoFit/>
          </a:bodyPr>
          <a:lstStyle/>
          <a:p>
            <a:pPr lvl="0" algn="just">
              <a:defRPr/>
            </a:pPr>
            <a:r>
              <a:rPr lang="tr-TR" sz="2000" b="1" dirty="0">
                <a:effectLst>
                  <a:outerShdw blurRad="38100" dist="38100" dir="2700000" algn="tl">
                    <a:srgbClr val="000000">
                      <a:alpha val="43137"/>
                    </a:srgbClr>
                  </a:outerShdw>
                </a:effectLst>
              </a:rPr>
              <a:t>Cezasızlık Sebepleri</a:t>
            </a:r>
          </a:p>
        </p:txBody>
      </p:sp>
      <p:sp>
        <p:nvSpPr>
          <p:cNvPr id="13" name="Dikdörtgen 12"/>
          <p:cNvSpPr/>
          <p:nvPr/>
        </p:nvSpPr>
        <p:spPr>
          <a:xfrm>
            <a:off x="1547398" y="3717048"/>
            <a:ext cx="4531726" cy="984885"/>
          </a:xfrm>
          <a:prstGeom prst="rect">
            <a:avLst/>
          </a:prstGeom>
        </p:spPr>
        <p:txBody>
          <a:bodyPr wrap="square">
            <a:spAutoFit/>
          </a:bodyPr>
          <a:lstStyle/>
          <a:p>
            <a:pPr marR="0" lvl="0" algn="ctr" defTabSz="914400" rtl="0" eaLnBrk="1" fontAlgn="auto" latinLnBrk="0" hangingPunct="1">
              <a:lnSpc>
                <a:spcPct val="100000"/>
              </a:lnSpc>
              <a:spcBef>
                <a:spcPts val="0"/>
              </a:spcBef>
              <a:spcAft>
                <a:spcPts val="0"/>
              </a:spcAft>
              <a:buClrTx/>
              <a:buSzTx/>
              <a:tabLst/>
              <a:defRPr/>
            </a:pPr>
            <a:r>
              <a:rPr lang="tr-TR" sz="1600" b="1" dirty="0" smtClean="0">
                <a:latin typeface="Calibri" panose="020F0502020204030204"/>
              </a:rPr>
              <a:t>1)</a:t>
            </a:r>
            <a:r>
              <a:rPr lang="tr-TR" sz="1600" dirty="0" smtClean="0">
                <a:latin typeface="Calibri" panose="020F0502020204030204"/>
              </a:rPr>
              <a:t> </a:t>
            </a:r>
            <a:r>
              <a:rPr lang="tr-TR" sz="1600" b="1" dirty="0" smtClean="0">
                <a:latin typeface="Calibri" panose="020F0502020204030204"/>
              </a:rPr>
              <a:t>Şahsi Cezasızlık Sebepleri</a:t>
            </a:r>
            <a:r>
              <a:rPr lang="tr-TR" sz="1600" dirty="0" smtClean="0">
                <a:latin typeface="Calibri" panose="020F0502020204030204"/>
              </a:rPr>
              <a:t>:</a:t>
            </a:r>
          </a:p>
          <a:p>
            <a:pPr marR="0" lvl="0" algn="just" defTabSz="914400" rtl="0" eaLnBrk="1" fontAlgn="auto" latinLnBrk="0" hangingPunct="1">
              <a:lnSpc>
                <a:spcPct val="100000"/>
              </a:lnSpc>
              <a:spcBef>
                <a:spcPts val="0"/>
              </a:spcBef>
              <a:spcAft>
                <a:spcPts val="0"/>
              </a:spcAft>
              <a:buClrTx/>
              <a:buSzTx/>
              <a:tabLst/>
              <a:defRPr/>
            </a:pPr>
            <a:r>
              <a:rPr lang="tr-TR" sz="1400" i="1" dirty="0" smtClean="0">
                <a:effectLst>
                  <a:outerShdw blurRad="38100" dist="38100" dir="2700000" algn="tl">
                    <a:srgbClr val="000000">
                      <a:alpha val="43137"/>
                    </a:srgbClr>
                  </a:outerShdw>
                </a:effectLst>
                <a:latin typeface="Calibri" panose="020F0502020204030204"/>
              </a:rPr>
              <a:t>Bu cezasızlık sebebinden faydalanmak için failin şahsi cezasızlık sebebini bilmesine gerek yoktur.</a:t>
            </a:r>
          </a:p>
          <a:p>
            <a:pPr marR="0" lvl="0" algn="just" defTabSz="914400" rtl="0" eaLnBrk="1" fontAlgn="auto" latinLnBrk="0" hangingPunct="1">
              <a:lnSpc>
                <a:spcPct val="100000"/>
              </a:lnSpc>
              <a:spcBef>
                <a:spcPts val="0"/>
              </a:spcBef>
              <a:spcAft>
                <a:spcPts val="0"/>
              </a:spcAft>
              <a:buClrTx/>
              <a:buSzTx/>
              <a:tabLst/>
              <a:defRPr/>
            </a:pPr>
            <a:r>
              <a:rPr kumimoji="0" lang="tr-TR" sz="1400" b="0" i="1" u="none" strike="noStrike" kern="1200" cap="none" spc="0" normalizeH="0" baseline="0" noProof="0" dirty="0" smtClean="0">
                <a:ln>
                  <a:noFill/>
                </a:ln>
                <a:effectLst>
                  <a:outerShdw blurRad="38100" dist="38100" dir="2700000" algn="tl">
                    <a:srgbClr val="000000">
                      <a:alpha val="43137"/>
                    </a:srgbClr>
                  </a:outerShdw>
                </a:effectLst>
                <a:uLnTx/>
                <a:uFillTx/>
                <a:latin typeface="Calibri" panose="020F0502020204030204"/>
              </a:rPr>
              <a:t>Bu sebepler suçun </a:t>
            </a:r>
            <a:r>
              <a:rPr kumimoji="0" lang="tr-TR" sz="1400" b="0" i="1" u="sng" strike="noStrike" kern="1200" cap="none" spc="0" normalizeH="0" baseline="0" noProof="0" dirty="0" smtClean="0">
                <a:ln>
                  <a:noFill/>
                </a:ln>
                <a:effectLst>
                  <a:outerShdw blurRad="38100" dist="38100" dir="2700000" algn="tl">
                    <a:srgbClr val="000000">
                      <a:alpha val="43137"/>
                    </a:srgbClr>
                  </a:outerShdw>
                </a:effectLst>
                <a:uLnTx/>
                <a:uFillTx/>
                <a:latin typeface="Calibri" panose="020F0502020204030204"/>
              </a:rPr>
              <a:t>işlenmesi anında</a:t>
            </a:r>
            <a:r>
              <a:rPr kumimoji="0" lang="tr-TR" sz="1400" b="0" i="1" u="none" strike="noStrike" kern="1200" cap="none" spc="0" normalizeH="0" noProof="0" dirty="0" smtClean="0">
                <a:ln>
                  <a:noFill/>
                </a:ln>
                <a:effectLst>
                  <a:outerShdw blurRad="38100" dist="38100" dir="2700000" algn="tl">
                    <a:srgbClr val="000000">
                      <a:alpha val="43137"/>
                    </a:srgbClr>
                  </a:outerShdw>
                </a:effectLst>
                <a:uLnTx/>
                <a:uFillTx/>
                <a:latin typeface="Calibri" panose="020F0502020204030204"/>
              </a:rPr>
              <a:t> mevcuttur</a:t>
            </a:r>
            <a:endParaRPr kumimoji="0" lang="tr-TR" b="0" i="1" u="none" strike="noStrike" kern="1200" cap="none" spc="0" normalizeH="0" baseline="0" noProof="0" dirty="0">
              <a:ln>
                <a:noFill/>
              </a:ln>
              <a:effectLst>
                <a:outerShdw blurRad="38100" dist="38100" dir="2700000" algn="tl">
                  <a:srgbClr val="000000">
                    <a:alpha val="43137"/>
                  </a:srgbClr>
                </a:outerShdw>
              </a:effectLst>
              <a:uLnTx/>
              <a:uFillTx/>
              <a:latin typeface="Calibri" panose="020F0502020204030204"/>
            </a:endParaRPr>
          </a:p>
        </p:txBody>
      </p:sp>
      <p:sp>
        <p:nvSpPr>
          <p:cNvPr id="4" name="Dikdörtgen 3"/>
          <p:cNvSpPr/>
          <p:nvPr/>
        </p:nvSpPr>
        <p:spPr>
          <a:xfrm>
            <a:off x="1547398" y="4725543"/>
            <a:ext cx="6672677" cy="1384995"/>
          </a:xfrm>
          <a:prstGeom prst="rect">
            <a:avLst/>
          </a:prstGeom>
        </p:spPr>
        <p:txBody>
          <a:bodyPr wrap="square">
            <a:spAutoFit/>
          </a:bodyPr>
          <a:lstStyle/>
          <a:p>
            <a:pPr algn="just"/>
            <a:r>
              <a:rPr lang="tr-TR" sz="1200" b="1" dirty="0"/>
              <a:t>5237 s. TCK </a:t>
            </a:r>
            <a:endParaRPr lang="tr-TR" sz="1200" b="1" dirty="0" smtClean="0"/>
          </a:p>
          <a:p>
            <a:pPr algn="just"/>
            <a:r>
              <a:rPr lang="tr-TR" sz="1200" b="1" dirty="0" smtClean="0"/>
              <a:t>Şahsi cezasızlık sebebi veya cezada indirim yapılmasını gerektiren şahsi sebep</a:t>
            </a:r>
          </a:p>
          <a:p>
            <a:pPr algn="just"/>
            <a:r>
              <a:rPr lang="tr-TR" sz="1200" b="1" dirty="0" smtClean="0"/>
              <a:t>Madde 167- </a:t>
            </a:r>
            <a:r>
              <a:rPr lang="tr-TR" sz="1200" dirty="0" smtClean="0"/>
              <a:t>(1) </a:t>
            </a:r>
            <a:r>
              <a:rPr lang="tr-TR" sz="1200" u="sng" dirty="0" smtClean="0"/>
              <a:t>Yağma ve nitelikli yağma hariç</a:t>
            </a:r>
            <a:r>
              <a:rPr lang="tr-TR" sz="1200" dirty="0" smtClean="0"/>
              <a:t>, bu bölümde yer alan suçların;</a:t>
            </a:r>
          </a:p>
          <a:p>
            <a:pPr algn="just"/>
            <a:r>
              <a:rPr lang="tr-TR" sz="1200" dirty="0" smtClean="0"/>
              <a:t>a) Haklarında ayrılık kararı verilmemiş eşlerden birinin,</a:t>
            </a:r>
          </a:p>
          <a:p>
            <a:pPr algn="just"/>
            <a:r>
              <a:rPr lang="tr-TR" sz="1200" dirty="0" smtClean="0"/>
              <a:t>b) Üstsoy veya altsoyunun veya bu derecede kayın hısımlarından birinin veya evlat edinen veya evlatlığın,</a:t>
            </a:r>
          </a:p>
          <a:p>
            <a:pPr algn="just"/>
            <a:r>
              <a:rPr lang="tr-TR" sz="1200" dirty="0" smtClean="0"/>
              <a:t>c) Aynı konutta beraber yaşayan kardeşlerden birinin,</a:t>
            </a:r>
          </a:p>
          <a:p>
            <a:pPr algn="just"/>
            <a:r>
              <a:rPr lang="tr-TR" sz="1200" dirty="0" smtClean="0"/>
              <a:t>Zararına olarak işlenmesi halinde, ilgili </a:t>
            </a:r>
            <a:r>
              <a:rPr lang="tr-TR" sz="1200" u="sng" dirty="0" smtClean="0"/>
              <a:t>akraba hakkında cezaya hükmolunmaz</a:t>
            </a:r>
            <a:endParaRPr lang="tr-TR" sz="1200" u="sng" dirty="0"/>
          </a:p>
        </p:txBody>
      </p:sp>
      <p:sp>
        <p:nvSpPr>
          <p:cNvPr id="5" name="Dikdörtgen 4"/>
          <p:cNvSpPr/>
          <p:nvPr/>
        </p:nvSpPr>
        <p:spPr>
          <a:xfrm>
            <a:off x="3149519" y="6110538"/>
            <a:ext cx="2082621" cy="230832"/>
          </a:xfrm>
          <a:prstGeom prst="rect">
            <a:avLst/>
          </a:prstGeom>
        </p:spPr>
        <p:txBody>
          <a:bodyPr wrap="none">
            <a:spAutoFit/>
          </a:bodyPr>
          <a:lstStyle/>
          <a:p>
            <a:pPr lvl="0" algn="just">
              <a:defRPr/>
            </a:pPr>
            <a:r>
              <a:rPr lang="tr-TR" sz="900" dirty="0"/>
              <a:t>(Çocuğun babasına karşı işlediği hırsızlık)</a:t>
            </a:r>
          </a:p>
        </p:txBody>
      </p:sp>
      <p:sp>
        <p:nvSpPr>
          <p:cNvPr id="15" name="Dikdörtgen 14"/>
          <p:cNvSpPr/>
          <p:nvPr/>
        </p:nvSpPr>
        <p:spPr>
          <a:xfrm>
            <a:off x="6838950" y="2636364"/>
            <a:ext cx="5172076" cy="769441"/>
          </a:xfrm>
          <a:prstGeom prst="rect">
            <a:avLst/>
          </a:prstGeom>
        </p:spPr>
        <p:txBody>
          <a:bodyPr wrap="square">
            <a:spAutoFit/>
          </a:bodyPr>
          <a:lstStyle/>
          <a:p>
            <a:pPr lvl="0" algn="ctr">
              <a:defRPr/>
            </a:pPr>
            <a:r>
              <a:rPr lang="tr-TR" sz="1600" b="1" dirty="0" smtClean="0">
                <a:latin typeface="Calibri" panose="020F0502020204030204"/>
              </a:rPr>
              <a:t>2)</a:t>
            </a:r>
            <a:r>
              <a:rPr lang="tr-TR" sz="1600" dirty="0" smtClean="0">
                <a:latin typeface="Calibri" panose="020F0502020204030204"/>
              </a:rPr>
              <a:t> </a:t>
            </a:r>
            <a:r>
              <a:rPr lang="tr-TR" sz="1600" b="1" dirty="0" smtClean="0">
                <a:latin typeface="Calibri" panose="020F0502020204030204"/>
              </a:rPr>
              <a:t>Cezayı Kaldıran </a:t>
            </a:r>
            <a:r>
              <a:rPr lang="tr-TR" sz="1600" b="1" dirty="0"/>
              <a:t>Şahsi </a:t>
            </a:r>
            <a:r>
              <a:rPr lang="tr-TR" sz="1600" b="1" dirty="0" smtClean="0">
                <a:latin typeface="Calibri" panose="020F0502020204030204"/>
              </a:rPr>
              <a:t>Sebepler</a:t>
            </a:r>
            <a:r>
              <a:rPr lang="tr-TR" sz="1600" dirty="0" smtClean="0">
                <a:latin typeface="Calibri" panose="020F0502020204030204"/>
              </a:rPr>
              <a:t>:</a:t>
            </a:r>
          </a:p>
          <a:p>
            <a:pPr marR="0" lvl="0" algn="just" defTabSz="914400" rtl="0" eaLnBrk="1" fontAlgn="auto" latinLnBrk="0" hangingPunct="1">
              <a:lnSpc>
                <a:spcPct val="100000"/>
              </a:lnSpc>
              <a:spcBef>
                <a:spcPts val="0"/>
              </a:spcBef>
              <a:spcAft>
                <a:spcPts val="0"/>
              </a:spcAft>
              <a:buClrTx/>
              <a:buSzTx/>
              <a:tabLst/>
              <a:defRPr/>
            </a:pPr>
            <a:r>
              <a:rPr kumimoji="0" lang="tr-TR" sz="1400" b="0" i="1" u="none" strike="noStrike" kern="1200" cap="none" spc="0" normalizeH="0" baseline="0" noProof="0" dirty="0" smtClean="0">
                <a:ln>
                  <a:noFill/>
                </a:ln>
                <a:effectLst>
                  <a:outerShdw blurRad="38100" dist="38100" dir="2700000" algn="tl">
                    <a:srgbClr val="000000">
                      <a:alpha val="43137"/>
                    </a:srgbClr>
                  </a:outerShdw>
                </a:effectLst>
                <a:uLnTx/>
                <a:uFillTx/>
                <a:latin typeface="Calibri" panose="020F0502020204030204"/>
              </a:rPr>
              <a:t>Bu sebepler suçun işlenmesi anında</a:t>
            </a:r>
            <a:r>
              <a:rPr kumimoji="0" lang="tr-TR" sz="1400" b="0" i="1" u="none" strike="noStrike" kern="1200" cap="none" spc="0" normalizeH="0" noProof="0" dirty="0" smtClean="0">
                <a:ln>
                  <a:noFill/>
                </a:ln>
                <a:effectLst>
                  <a:outerShdw blurRad="38100" dist="38100" dir="2700000" algn="tl">
                    <a:srgbClr val="000000">
                      <a:alpha val="43137"/>
                    </a:srgbClr>
                  </a:outerShdw>
                </a:effectLst>
                <a:uLnTx/>
                <a:uFillTx/>
                <a:latin typeface="Calibri" panose="020F0502020204030204"/>
              </a:rPr>
              <a:t> mevcut değildir, </a:t>
            </a:r>
            <a:r>
              <a:rPr kumimoji="0" lang="tr-TR" sz="1400" b="0" i="1" u="sng" strike="noStrike" kern="1200" cap="none" spc="0" normalizeH="0" noProof="0" dirty="0" smtClean="0">
                <a:ln>
                  <a:noFill/>
                </a:ln>
                <a:effectLst>
                  <a:outerShdw blurRad="38100" dist="38100" dir="2700000" algn="tl">
                    <a:srgbClr val="000000">
                      <a:alpha val="43137"/>
                    </a:srgbClr>
                  </a:outerShdw>
                </a:effectLst>
                <a:uLnTx/>
                <a:uFillTx/>
                <a:latin typeface="Calibri" panose="020F0502020204030204"/>
              </a:rPr>
              <a:t>suç tamamlandıktan sonra</a:t>
            </a:r>
            <a:r>
              <a:rPr kumimoji="0" lang="tr-TR" sz="1400" b="0" i="1" u="none" strike="noStrike" kern="1200" cap="none" spc="0" normalizeH="0" noProof="0" dirty="0" smtClean="0">
                <a:ln>
                  <a:noFill/>
                </a:ln>
                <a:effectLst>
                  <a:outerShdw blurRad="38100" dist="38100" dir="2700000" algn="tl">
                    <a:srgbClr val="000000">
                      <a:alpha val="43137"/>
                    </a:srgbClr>
                  </a:outerShdw>
                </a:effectLst>
                <a:uLnTx/>
                <a:uFillTx/>
                <a:latin typeface="Calibri" panose="020F0502020204030204"/>
              </a:rPr>
              <a:t> ortaya çıkmaktadır.</a:t>
            </a:r>
            <a:endParaRPr kumimoji="0" lang="tr-TR" b="0" i="1" u="none" strike="noStrike" kern="1200" cap="none" spc="0" normalizeH="0" baseline="0" noProof="0" dirty="0">
              <a:ln>
                <a:noFill/>
              </a:ln>
              <a:effectLst>
                <a:outerShdw blurRad="38100" dist="38100" dir="2700000" algn="tl">
                  <a:srgbClr val="000000">
                    <a:alpha val="43137"/>
                  </a:srgbClr>
                </a:outerShdw>
              </a:effectLst>
              <a:uLnTx/>
              <a:uFillTx/>
              <a:latin typeface="Calibri" panose="020F0502020204030204"/>
            </a:endParaRPr>
          </a:p>
        </p:txBody>
      </p:sp>
      <p:sp>
        <p:nvSpPr>
          <p:cNvPr id="16" name="Dikdörtgen 15"/>
          <p:cNvSpPr/>
          <p:nvPr/>
        </p:nvSpPr>
        <p:spPr>
          <a:xfrm>
            <a:off x="6838950" y="3398124"/>
            <a:ext cx="5172076" cy="1338828"/>
          </a:xfrm>
          <a:prstGeom prst="rect">
            <a:avLst/>
          </a:prstGeom>
        </p:spPr>
        <p:txBody>
          <a:bodyPr wrap="square">
            <a:spAutoFit/>
          </a:bodyPr>
          <a:lstStyle/>
          <a:p>
            <a:pPr algn="just"/>
            <a:r>
              <a:rPr lang="tr-TR" sz="900" b="1" dirty="0" smtClean="0"/>
              <a:t>Türk Ceza Kanunu</a:t>
            </a:r>
          </a:p>
          <a:p>
            <a:pPr algn="just"/>
            <a:r>
              <a:rPr lang="fr-FR" sz="900" b="1" dirty="0" err="1"/>
              <a:t>Gönüllü</a:t>
            </a:r>
            <a:r>
              <a:rPr lang="fr-FR" sz="900" b="1" dirty="0"/>
              <a:t> </a:t>
            </a:r>
            <a:r>
              <a:rPr lang="fr-FR" sz="900" b="1" dirty="0" err="1"/>
              <a:t>vazgeçme</a:t>
            </a:r>
            <a:endParaRPr lang="fr-FR" sz="900" b="1" dirty="0"/>
          </a:p>
          <a:p>
            <a:pPr algn="just"/>
            <a:r>
              <a:rPr lang="fr-FR" sz="900" b="1" dirty="0" err="1"/>
              <a:t>Madde</a:t>
            </a:r>
            <a:r>
              <a:rPr lang="fr-FR" sz="900" b="1" dirty="0"/>
              <a:t> 36-</a:t>
            </a:r>
            <a:r>
              <a:rPr lang="fr-FR" sz="900" dirty="0"/>
              <a:t> (1) Fail, </a:t>
            </a:r>
            <a:r>
              <a:rPr lang="fr-FR" sz="900" dirty="0" err="1"/>
              <a:t>suçun</a:t>
            </a:r>
            <a:r>
              <a:rPr lang="fr-FR" sz="900" dirty="0"/>
              <a:t> </a:t>
            </a:r>
            <a:r>
              <a:rPr lang="fr-FR" sz="900" dirty="0" err="1"/>
              <a:t>icra</a:t>
            </a:r>
            <a:r>
              <a:rPr lang="fr-FR" sz="900" dirty="0"/>
              <a:t> </a:t>
            </a:r>
            <a:r>
              <a:rPr lang="fr-FR" sz="900" dirty="0" err="1"/>
              <a:t>hareketlerinden</a:t>
            </a:r>
            <a:r>
              <a:rPr lang="fr-FR" sz="900" dirty="0"/>
              <a:t> </a:t>
            </a:r>
            <a:r>
              <a:rPr lang="fr-FR" sz="900" dirty="0" err="1"/>
              <a:t>gönüllü</a:t>
            </a:r>
            <a:r>
              <a:rPr lang="fr-FR" sz="900" dirty="0"/>
              <a:t> </a:t>
            </a:r>
            <a:r>
              <a:rPr lang="fr-FR" sz="900" dirty="0" err="1"/>
              <a:t>vazgeçer</a:t>
            </a:r>
            <a:r>
              <a:rPr lang="fr-FR" sz="900" dirty="0"/>
              <a:t> </a:t>
            </a:r>
            <a:r>
              <a:rPr lang="fr-FR" sz="900" dirty="0" err="1"/>
              <a:t>veya</a:t>
            </a:r>
            <a:r>
              <a:rPr lang="fr-FR" sz="900" dirty="0"/>
              <a:t> </a:t>
            </a:r>
            <a:r>
              <a:rPr lang="fr-FR" sz="900" dirty="0" err="1"/>
              <a:t>kendi</a:t>
            </a:r>
            <a:r>
              <a:rPr lang="fr-FR" sz="900" dirty="0"/>
              <a:t> </a:t>
            </a:r>
            <a:r>
              <a:rPr lang="fr-FR" sz="900" dirty="0" err="1"/>
              <a:t>çabalarıyla</a:t>
            </a:r>
            <a:r>
              <a:rPr lang="fr-FR" sz="900" dirty="0"/>
              <a:t> </a:t>
            </a:r>
            <a:r>
              <a:rPr lang="fr-FR" sz="900" dirty="0" err="1"/>
              <a:t>suçun</a:t>
            </a:r>
            <a:r>
              <a:rPr lang="fr-FR" sz="900" dirty="0"/>
              <a:t> </a:t>
            </a:r>
            <a:r>
              <a:rPr lang="fr-FR" sz="900" dirty="0" err="1"/>
              <a:t>tamamlanmasını</a:t>
            </a:r>
            <a:r>
              <a:rPr lang="fr-FR" sz="900" dirty="0"/>
              <a:t> </a:t>
            </a:r>
            <a:r>
              <a:rPr lang="fr-FR" sz="900" dirty="0" err="1"/>
              <a:t>veya</a:t>
            </a:r>
            <a:r>
              <a:rPr lang="fr-FR" sz="900" dirty="0"/>
              <a:t> </a:t>
            </a:r>
            <a:r>
              <a:rPr lang="fr-FR" sz="900" dirty="0" err="1"/>
              <a:t>neticenin</a:t>
            </a:r>
            <a:r>
              <a:rPr lang="fr-FR" sz="900" dirty="0"/>
              <a:t> </a:t>
            </a:r>
            <a:r>
              <a:rPr lang="fr-FR" sz="900" dirty="0" err="1"/>
              <a:t>gerçekleşmesini</a:t>
            </a:r>
            <a:r>
              <a:rPr lang="fr-FR" sz="900" dirty="0"/>
              <a:t> </a:t>
            </a:r>
            <a:r>
              <a:rPr lang="fr-FR" sz="900" dirty="0" err="1"/>
              <a:t>önlerse</a:t>
            </a:r>
            <a:r>
              <a:rPr lang="fr-FR" sz="900" dirty="0"/>
              <a:t>, </a:t>
            </a:r>
            <a:r>
              <a:rPr lang="fr-FR" sz="900" dirty="0" err="1"/>
              <a:t>teşebbüsten</a:t>
            </a:r>
            <a:r>
              <a:rPr lang="fr-FR" sz="900" dirty="0"/>
              <a:t> </a:t>
            </a:r>
            <a:r>
              <a:rPr lang="fr-FR" sz="900" dirty="0" err="1"/>
              <a:t>dolayı</a:t>
            </a:r>
            <a:r>
              <a:rPr lang="fr-FR" sz="900" dirty="0"/>
              <a:t> </a:t>
            </a:r>
            <a:r>
              <a:rPr lang="fr-FR" sz="900" dirty="0" err="1"/>
              <a:t>cezalandırılmaz</a:t>
            </a:r>
            <a:r>
              <a:rPr lang="fr-FR" sz="900" dirty="0"/>
              <a:t>; </a:t>
            </a:r>
            <a:r>
              <a:rPr lang="fr-FR" sz="900" dirty="0" err="1"/>
              <a:t>fakat</a:t>
            </a:r>
            <a:r>
              <a:rPr lang="fr-FR" sz="900" dirty="0"/>
              <a:t> </a:t>
            </a:r>
            <a:r>
              <a:rPr lang="fr-FR" sz="900" dirty="0" err="1"/>
              <a:t>tamam</a:t>
            </a:r>
            <a:r>
              <a:rPr lang="fr-FR" sz="900" dirty="0"/>
              <a:t> </a:t>
            </a:r>
            <a:r>
              <a:rPr lang="fr-FR" sz="900" dirty="0" err="1"/>
              <a:t>olan</a:t>
            </a:r>
            <a:r>
              <a:rPr lang="fr-FR" sz="900" dirty="0"/>
              <a:t> </a:t>
            </a:r>
            <a:r>
              <a:rPr lang="fr-FR" sz="900" dirty="0" err="1"/>
              <a:t>kısım</a:t>
            </a:r>
            <a:r>
              <a:rPr lang="fr-FR" sz="900" dirty="0"/>
              <a:t> </a:t>
            </a:r>
            <a:r>
              <a:rPr lang="fr-FR" sz="900" dirty="0" err="1"/>
              <a:t>esasen</a:t>
            </a:r>
            <a:r>
              <a:rPr lang="fr-FR" sz="900" dirty="0"/>
              <a:t> </a:t>
            </a:r>
            <a:r>
              <a:rPr lang="fr-FR" sz="900" dirty="0" err="1"/>
              <a:t>bir</a:t>
            </a:r>
            <a:r>
              <a:rPr lang="fr-FR" sz="900" dirty="0"/>
              <a:t> </a:t>
            </a:r>
            <a:r>
              <a:rPr lang="fr-FR" sz="900" dirty="0" err="1"/>
              <a:t>suç</a:t>
            </a:r>
            <a:r>
              <a:rPr lang="fr-FR" sz="900" dirty="0"/>
              <a:t> </a:t>
            </a:r>
            <a:r>
              <a:rPr lang="fr-FR" sz="900" dirty="0" err="1"/>
              <a:t>oluşturduğu</a:t>
            </a:r>
            <a:r>
              <a:rPr lang="fr-FR" sz="900" dirty="0"/>
              <a:t> </a:t>
            </a:r>
            <a:r>
              <a:rPr lang="fr-FR" sz="900" dirty="0" err="1"/>
              <a:t>takdirde</a:t>
            </a:r>
            <a:r>
              <a:rPr lang="fr-FR" sz="900" dirty="0"/>
              <a:t>, </a:t>
            </a:r>
            <a:r>
              <a:rPr lang="fr-FR" sz="900" dirty="0" err="1"/>
              <a:t>sadece</a:t>
            </a:r>
            <a:r>
              <a:rPr lang="fr-FR" sz="900" dirty="0"/>
              <a:t> o suça ait </a:t>
            </a:r>
            <a:r>
              <a:rPr lang="fr-FR" sz="900" dirty="0" err="1"/>
              <a:t>ceza</a:t>
            </a:r>
            <a:r>
              <a:rPr lang="fr-FR" sz="900" dirty="0"/>
              <a:t> ile </a:t>
            </a:r>
            <a:r>
              <a:rPr lang="fr-FR" sz="900" dirty="0" err="1"/>
              <a:t>cezalandırılır</a:t>
            </a:r>
            <a:endParaRPr lang="fr-FR" sz="900" dirty="0"/>
          </a:p>
          <a:p>
            <a:pPr algn="just"/>
            <a:r>
              <a:rPr lang="tr-TR" sz="900" b="1" dirty="0" smtClean="0"/>
              <a:t>Etkin Pişmanlık</a:t>
            </a:r>
            <a:endParaRPr lang="tr-TR" sz="900" b="1" dirty="0"/>
          </a:p>
          <a:p>
            <a:pPr algn="just"/>
            <a:r>
              <a:rPr lang="tr-TR" sz="900" b="1" dirty="0" smtClean="0"/>
              <a:t>Madde 221- </a:t>
            </a:r>
            <a:r>
              <a:rPr lang="tr-TR" sz="900" dirty="0" smtClean="0"/>
              <a:t>(1) Suç işlemek amacıyla örgüt kurma suçu nedeniyle soruşturmaya başlanmadan ve örgütün amacı doğrultusunda suç işlenmeden önce, örgütü dağıtan veya verdiği bilgilerle örgütün dağılmasını sağlayan kurucu veya yöneticiler hakkında cezaya hükmolunmaz</a:t>
            </a:r>
            <a:endParaRPr lang="tr-TR" sz="900" dirty="0"/>
          </a:p>
        </p:txBody>
      </p:sp>
      <p:sp>
        <p:nvSpPr>
          <p:cNvPr id="17" name="Sağ Ok 16"/>
          <p:cNvSpPr/>
          <p:nvPr/>
        </p:nvSpPr>
        <p:spPr>
          <a:xfrm>
            <a:off x="3464143" y="2745194"/>
            <a:ext cx="4432082" cy="172412"/>
          </a:xfrm>
          <a:prstGeom prst="righ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Aşağı Ok 17"/>
          <p:cNvSpPr/>
          <p:nvPr/>
        </p:nvSpPr>
        <p:spPr>
          <a:xfrm>
            <a:off x="3163612" y="2887061"/>
            <a:ext cx="157655" cy="829987"/>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Dikdörtgen 18"/>
          <p:cNvSpPr/>
          <p:nvPr/>
        </p:nvSpPr>
        <p:spPr>
          <a:xfrm>
            <a:off x="8321675" y="4843629"/>
            <a:ext cx="3790951" cy="1015663"/>
          </a:xfrm>
          <a:prstGeom prst="rect">
            <a:avLst/>
          </a:prstGeom>
          <a:ln>
            <a:gradFill flip="none" rotWithShape="1">
              <a:gsLst>
                <a:gs pos="9000">
                  <a:schemeClr val="tx1"/>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wrap="square">
            <a:spAutoFit/>
          </a:bodyPr>
          <a:lstStyle/>
          <a:p>
            <a:r>
              <a:rPr lang="tr-TR" sz="1000" b="1" dirty="0" smtClean="0">
                <a:effectLst>
                  <a:outerShdw blurRad="38100" dist="38100" dir="2700000" algn="tl">
                    <a:srgbClr val="000000">
                      <a:alpha val="43137"/>
                    </a:srgbClr>
                  </a:outerShdw>
                </a:effectLst>
              </a:rPr>
              <a:t>NOT:</a:t>
            </a:r>
          </a:p>
          <a:p>
            <a:pPr algn="just"/>
            <a:r>
              <a:rPr lang="tr-TR" sz="1000" dirty="0" smtClean="0"/>
              <a:t>Şahsi c</a:t>
            </a:r>
            <a:r>
              <a:rPr lang="tr-TR" sz="1000" noProof="1" smtClean="0"/>
              <a:t>ezasızlık</a:t>
            </a:r>
            <a:r>
              <a:rPr lang="fr-FR" sz="1000" dirty="0" smtClean="0"/>
              <a:t> sebepler</a:t>
            </a:r>
            <a:r>
              <a:rPr lang="tr-TR" sz="1000" dirty="0" smtClean="0"/>
              <a:t>i</a:t>
            </a:r>
            <a:r>
              <a:rPr lang="fr-FR" sz="1000" dirty="0" smtClean="0"/>
              <a:t> </a:t>
            </a:r>
            <a:r>
              <a:rPr lang="fr-FR" sz="1000" dirty="0"/>
              <a:t>ve cezayı kaldıran </a:t>
            </a:r>
            <a:r>
              <a:rPr lang="tr-TR" sz="1000" dirty="0" smtClean="0"/>
              <a:t>şahsi </a:t>
            </a:r>
            <a:r>
              <a:rPr lang="fr-FR" sz="1000" dirty="0" smtClean="0"/>
              <a:t>sebepler </a:t>
            </a:r>
            <a:r>
              <a:rPr lang="tr-TR" sz="1000" dirty="0" smtClean="0"/>
              <a:t>ş</a:t>
            </a:r>
            <a:r>
              <a:rPr lang="fr-FR" sz="1000" dirty="0" smtClean="0"/>
              <a:t>ahsa ba</a:t>
            </a:r>
            <a:r>
              <a:rPr lang="tr-TR" sz="1000" dirty="0" smtClean="0"/>
              <a:t>ğ</a:t>
            </a:r>
            <a:r>
              <a:rPr lang="fr-FR" sz="1000" dirty="0" smtClean="0"/>
              <a:t>lı</a:t>
            </a:r>
            <a:r>
              <a:rPr lang="tr-TR" sz="1000" dirty="0" smtClean="0"/>
              <a:t> </a:t>
            </a:r>
            <a:r>
              <a:rPr lang="fr-FR" sz="1000" dirty="0" smtClean="0"/>
              <a:t>olduklarından,</a:t>
            </a:r>
            <a:r>
              <a:rPr lang="tr-TR" sz="1000" dirty="0" smtClean="0"/>
              <a:t> </a:t>
            </a:r>
            <a:r>
              <a:rPr lang="fr-FR" sz="1000" i="1" dirty="0" smtClean="0">
                <a:effectLst>
                  <a:outerShdw blurRad="38100" dist="38100" dir="2700000" algn="tl">
                    <a:srgbClr val="000000">
                      <a:alpha val="43137"/>
                    </a:srgbClr>
                  </a:outerShdw>
                </a:effectLst>
              </a:rPr>
              <a:t>sadece </a:t>
            </a:r>
            <a:r>
              <a:rPr lang="tr-TR" sz="1000" i="1" dirty="0" smtClean="0">
                <a:effectLst>
                  <a:outerShdw blurRad="38100" dist="38100" dir="2700000" algn="tl">
                    <a:srgbClr val="000000">
                      <a:alpha val="43137"/>
                    </a:srgbClr>
                  </a:outerShdw>
                </a:effectLst>
              </a:rPr>
              <a:t>ilgili </a:t>
            </a:r>
            <a:r>
              <a:rPr lang="fr-FR" sz="1000" i="1" dirty="0" smtClean="0">
                <a:effectLst>
                  <a:outerShdw blurRad="38100" dist="38100" dir="2700000" algn="tl">
                    <a:srgbClr val="000000">
                      <a:alpha val="43137"/>
                    </a:srgbClr>
                  </a:outerShdw>
                </a:effectLst>
              </a:rPr>
              <a:t>oldukları k</a:t>
            </a:r>
            <a:r>
              <a:rPr lang="tr-TR" sz="1000" i="1" dirty="0" smtClean="0">
                <a:effectLst>
                  <a:outerShdw blurRad="38100" dist="38100" dir="2700000" algn="tl">
                    <a:srgbClr val="000000">
                      <a:alpha val="43137"/>
                    </a:srgbClr>
                  </a:outerShdw>
                </a:effectLst>
              </a:rPr>
              <a:t>işi </a:t>
            </a:r>
            <a:r>
              <a:rPr lang="fr-FR" sz="1000" i="1" dirty="0" smtClean="0">
                <a:effectLst>
                  <a:outerShdw blurRad="38100" dist="38100" dir="2700000" algn="tl">
                    <a:srgbClr val="000000">
                      <a:alpha val="43137"/>
                    </a:srgbClr>
                  </a:outerShdw>
                </a:effectLst>
              </a:rPr>
              <a:t>bakımından </a:t>
            </a:r>
            <a:r>
              <a:rPr lang="fr-FR" sz="1000" dirty="0" smtClean="0"/>
              <a:t>kend</a:t>
            </a:r>
            <a:r>
              <a:rPr lang="tr-TR" sz="1000" dirty="0" smtClean="0"/>
              <a:t>ilerine </a:t>
            </a:r>
            <a:r>
              <a:rPr lang="fr-FR" sz="1000" dirty="0" smtClean="0"/>
              <a:t>ba</a:t>
            </a:r>
            <a:r>
              <a:rPr lang="tr-TR" sz="1000" dirty="0" smtClean="0"/>
              <a:t>ğ</a:t>
            </a:r>
            <a:r>
              <a:rPr lang="fr-FR" sz="1000" dirty="0" smtClean="0"/>
              <a:t>lanan </a:t>
            </a:r>
            <a:r>
              <a:rPr lang="fr-FR" sz="1000" dirty="0"/>
              <a:t>sonucu </a:t>
            </a:r>
            <a:r>
              <a:rPr lang="fr-FR" sz="1000" dirty="0" smtClean="0"/>
              <a:t>do</a:t>
            </a:r>
            <a:r>
              <a:rPr lang="tr-TR" sz="1000" dirty="0" smtClean="0"/>
              <a:t>ğ</a:t>
            </a:r>
            <a:r>
              <a:rPr lang="fr-FR" sz="1000" dirty="0" smtClean="0"/>
              <a:t>ururlar</a:t>
            </a:r>
            <a:r>
              <a:rPr lang="fr-FR" sz="1000" dirty="0"/>
              <a:t>. </a:t>
            </a:r>
            <a:r>
              <a:rPr lang="fr-FR" sz="1000" dirty="0" smtClean="0"/>
              <a:t>Dolayısıyla</a:t>
            </a:r>
            <a:r>
              <a:rPr lang="tr-TR" sz="1000" dirty="0" smtClean="0"/>
              <a:t> iştirak </a:t>
            </a:r>
            <a:r>
              <a:rPr lang="fr-FR" sz="1000" dirty="0" smtClean="0"/>
              <a:t>h</a:t>
            </a:r>
            <a:r>
              <a:rPr lang="tr-TR" sz="1000" dirty="0" smtClean="0"/>
              <a:t>alinde işlenen </a:t>
            </a:r>
            <a:r>
              <a:rPr lang="fr-FR" sz="1000" dirty="0" smtClean="0"/>
              <a:t>suçlarda </a:t>
            </a:r>
            <a:r>
              <a:rPr lang="fr-FR" sz="1000" dirty="0"/>
              <a:t>bu sebeplerden </a:t>
            </a:r>
            <a:r>
              <a:rPr lang="fr-FR" sz="1000" dirty="0" smtClean="0"/>
              <a:t>d</a:t>
            </a:r>
            <a:r>
              <a:rPr lang="tr-TR" sz="1000" dirty="0" smtClean="0"/>
              <a:t>iğ</a:t>
            </a:r>
            <a:r>
              <a:rPr lang="fr-FR" sz="1000" dirty="0" smtClean="0"/>
              <a:t>er </a:t>
            </a:r>
            <a:r>
              <a:rPr lang="fr-FR" sz="1000" dirty="0"/>
              <a:t>suç ortaklarının </a:t>
            </a:r>
            <a:r>
              <a:rPr lang="fr-FR" sz="1000" dirty="0" smtClean="0"/>
              <a:t>yararlanması</a:t>
            </a:r>
            <a:r>
              <a:rPr lang="tr-TR" sz="1000" dirty="0" smtClean="0"/>
              <a:t> </a:t>
            </a:r>
            <a:r>
              <a:rPr lang="fr-FR" sz="1000" dirty="0" smtClean="0"/>
              <a:t>mümkün de</a:t>
            </a:r>
            <a:r>
              <a:rPr lang="tr-TR" sz="1000" dirty="0" smtClean="0"/>
              <a:t>ğildir</a:t>
            </a:r>
            <a:r>
              <a:rPr lang="fr-FR" sz="1000" dirty="0" smtClean="0"/>
              <a:t>.</a:t>
            </a:r>
            <a:endParaRPr lang="fr-FR" sz="1000" dirty="0"/>
          </a:p>
        </p:txBody>
      </p:sp>
      <p:sp>
        <p:nvSpPr>
          <p:cNvPr id="12"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Cezalandırılmaya </a:t>
            </a:r>
            <a:r>
              <a:rPr lang="tr-TR" sz="2600" b="1" i="1" spc="300" dirty="0" smtClean="0">
                <a:effectLst>
                  <a:outerShdw blurRad="38100" dist="38100" dir="2700000" algn="tl">
                    <a:srgbClr val="000000">
                      <a:alpha val="43137"/>
                    </a:srgbClr>
                  </a:outerShdw>
                </a:effectLst>
              </a:rPr>
              <a:t>Etkili Olan Şartlar (Haksızlık ve Kusur Dışında Kalan Hususlar)</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79</a:t>
            </a:fld>
            <a:r>
              <a:rPr lang="tr-TR"/>
              <a:t>/116</a:t>
            </a:r>
          </a:p>
        </p:txBody>
      </p:sp>
    </p:spTree>
    <p:extLst>
      <p:ext uri="{BB962C8B-B14F-4D97-AF65-F5344CB8AC3E}">
        <p14:creationId xmlns:p14="http://schemas.microsoft.com/office/powerpoint/2010/main" val="421763279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ikdörtgen 8"/>
          <p:cNvSpPr/>
          <p:nvPr/>
        </p:nvSpPr>
        <p:spPr>
          <a:xfrm>
            <a:off x="1499775" y="2064252"/>
            <a:ext cx="7520400" cy="338554"/>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tr-TR" sz="1600" b="1" dirty="0" smtClean="0">
                <a:effectLst>
                  <a:outerShdw blurRad="38100" dist="38100" dir="2700000" algn="tl">
                    <a:srgbClr val="000000">
                      <a:alpha val="43137"/>
                    </a:srgbClr>
                  </a:outerShdw>
                </a:effectLst>
                <a:latin typeface="Calibri" panose="020F0502020204030204"/>
              </a:rPr>
              <a:t>Soruşturma ve Kovuşturma (Muhakeme-Dava) Şartları </a:t>
            </a:r>
          </a:p>
        </p:txBody>
      </p:sp>
      <p:sp>
        <p:nvSpPr>
          <p:cNvPr id="7" name="Dikdörtgen 6"/>
          <p:cNvSpPr/>
          <p:nvPr/>
        </p:nvSpPr>
        <p:spPr>
          <a:xfrm>
            <a:off x="1423574" y="2577469"/>
            <a:ext cx="10301701" cy="1077218"/>
          </a:xfrm>
          <a:prstGeom prst="rect">
            <a:avLst/>
          </a:prstGeom>
        </p:spPr>
        <p:txBody>
          <a:bodyPr wrap="square">
            <a:spAutoFit/>
          </a:bodyPr>
          <a:lstStyle/>
          <a:p>
            <a:pPr lvl="0" algn="just">
              <a:defRPr/>
            </a:pPr>
            <a:r>
              <a:rPr lang="tr-TR" sz="1600" b="1" dirty="0" smtClean="0">
                <a:latin typeface="Calibri" panose="020F0502020204030204"/>
              </a:rPr>
              <a:t>a)</a:t>
            </a:r>
            <a:r>
              <a:rPr lang="tr-TR" sz="1600" dirty="0" smtClean="0">
                <a:latin typeface="Calibri" panose="020F0502020204030204"/>
              </a:rPr>
              <a:t> </a:t>
            </a:r>
            <a:r>
              <a:rPr lang="tr-TR" sz="1600" b="1" dirty="0" smtClean="0">
                <a:effectLst>
                  <a:outerShdw blurRad="38100" dist="38100" dir="2700000" algn="tl">
                    <a:srgbClr val="000000">
                      <a:alpha val="43137"/>
                    </a:srgbClr>
                  </a:outerShdw>
                </a:effectLst>
                <a:latin typeface="Calibri" panose="020F0502020204030204"/>
              </a:rPr>
              <a:t>Şikayet :</a:t>
            </a:r>
            <a:r>
              <a:rPr lang="tr-TR" sz="1600" dirty="0" smtClean="0">
                <a:latin typeface="Calibri" panose="020F0502020204030204"/>
              </a:rPr>
              <a:t> Suç soruşturması/kovuşturması kural olarak </a:t>
            </a:r>
            <a:r>
              <a:rPr lang="tr-TR" sz="1600" b="1" dirty="0" smtClean="0">
                <a:latin typeface="Calibri" panose="020F0502020204030204"/>
              </a:rPr>
              <a:t>RESEN</a:t>
            </a:r>
            <a:r>
              <a:rPr lang="tr-TR" sz="1600" dirty="0" smtClean="0">
                <a:latin typeface="Calibri" panose="020F0502020204030204"/>
              </a:rPr>
              <a:t> yapılmaktadır. Yani mağdur/zarar görenin şikayeti aranmaz. Ancak bazı suçlar için ŞİKAYET şartı aranmaktadır. </a:t>
            </a:r>
            <a:r>
              <a:rPr lang="tr-TR" sz="1600" dirty="0"/>
              <a:t>Bunlara Takibi şikayete bağlı suçlar </a:t>
            </a:r>
            <a:r>
              <a:rPr lang="tr-TR" sz="1600" dirty="0" smtClean="0"/>
              <a:t>denilmekte olup şikayet, bu suçlar yönüyle Ceza Muhakemesi şartıdır</a:t>
            </a:r>
            <a:endParaRPr lang="tr-TR" sz="1600" dirty="0" smtClean="0">
              <a:latin typeface="Calibri" panose="020F0502020204030204"/>
            </a:endParaRPr>
          </a:p>
          <a:p>
            <a:pPr marR="0" lvl="0" algn="just" defTabSz="914400" rtl="0" eaLnBrk="1" fontAlgn="auto" latinLnBrk="0" hangingPunct="1">
              <a:lnSpc>
                <a:spcPct val="100000"/>
              </a:lnSpc>
              <a:spcBef>
                <a:spcPts val="0"/>
              </a:spcBef>
              <a:spcAft>
                <a:spcPts val="0"/>
              </a:spcAft>
              <a:buClrTx/>
              <a:buSzTx/>
              <a:tabLst/>
              <a:defRPr/>
            </a:pPr>
            <a:r>
              <a:rPr lang="tr-TR" sz="1600" dirty="0" smtClean="0">
                <a:latin typeface="Calibri" panose="020F0502020204030204"/>
              </a:rPr>
              <a:t>					</a:t>
            </a:r>
          </a:p>
        </p:txBody>
      </p:sp>
      <p:sp>
        <p:nvSpPr>
          <p:cNvPr id="2" name="Dikdörtgen 1"/>
          <p:cNvSpPr/>
          <p:nvPr/>
        </p:nvSpPr>
        <p:spPr>
          <a:xfrm>
            <a:off x="2211975" y="3654687"/>
            <a:ext cx="9513300" cy="1938992"/>
          </a:xfrm>
          <a:prstGeom prst="rect">
            <a:avLst/>
          </a:prstGeom>
        </p:spPr>
        <p:txBody>
          <a:bodyPr wrap="square">
            <a:spAutoFit/>
          </a:bodyPr>
          <a:lstStyle/>
          <a:p>
            <a:pPr algn="just"/>
            <a:r>
              <a:rPr lang="tr-TR" sz="1200" b="1" dirty="0" smtClean="0"/>
              <a:t>Türk Ceza Kanunu</a:t>
            </a:r>
          </a:p>
          <a:p>
            <a:pPr algn="just"/>
            <a:r>
              <a:rPr lang="fr-FR" sz="1200" b="1" dirty="0" err="1" smtClean="0"/>
              <a:t>Soruşturulması</a:t>
            </a:r>
            <a:r>
              <a:rPr lang="fr-FR" sz="1200" b="1" dirty="0" smtClean="0"/>
              <a:t> </a:t>
            </a:r>
            <a:r>
              <a:rPr lang="fr-FR" sz="1200" b="1" dirty="0" err="1"/>
              <a:t>ve</a:t>
            </a:r>
            <a:r>
              <a:rPr lang="fr-FR" sz="1200" b="1" dirty="0"/>
              <a:t> </a:t>
            </a:r>
            <a:r>
              <a:rPr lang="fr-FR" sz="1200" b="1" dirty="0" err="1"/>
              <a:t>kovuşturulması</a:t>
            </a:r>
            <a:r>
              <a:rPr lang="fr-FR" sz="1200" b="1" dirty="0"/>
              <a:t> </a:t>
            </a:r>
            <a:r>
              <a:rPr lang="fr-FR" sz="1200" b="1" dirty="0" err="1"/>
              <a:t>şikayete</a:t>
            </a:r>
            <a:r>
              <a:rPr lang="fr-FR" sz="1200" b="1" dirty="0"/>
              <a:t> </a:t>
            </a:r>
            <a:r>
              <a:rPr lang="fr-FR" sz="1200" b="1" dirty="0" err="1"/>
              <a:t>bağlı</a:t>
            </a:r>
            <a:r>
              <a:rPr lang="fr-FR" sz="1200" b="1" dirty="0"/>
              <a:t> </a:t>
            </a:r>
            <a:r>
              <a:rPr lang="fr-FR" sz="1200" b="1" dirty="0" err="1" smtClean="0"/>
              <a:t>suçlar</a:t>
            </a:r>
            <a:endParaRPr lang="fr-FR" sz="1200" b="1" dirty="0"/>
          </a:p>
          <a:p>
            <a:pPr algn="just"/>
            <a:r>
              <a:rPr lang="fr-FR" sz="1200" b="1" dirty="0" err="1"/>
              <a:t>Madde</a:t>
            </a:r>
            <a:r>
              <a:rPr lang="fr-FR" sz="1200" b="1" dirty="0"/>
              <a:t> 73-</a:t>
            </a:r>
            <a:r>
              <a:rPr lang="fr-FR" sz="1200" dirty="0"/>
              <a:t> (1) </a:t>
            </a:r>
            <a:r>
              <a:rPr lang="fr-FR" sz="1200" dirty="0" err="1"/>
              <a:t>Soruşturulması</a:t>
            </a:r>
            <a:r>
              <a:rPr lang="fr-FR" sz="1200" dirty="0"/>
              <a:t> </a:t>
            </a:r>
            <a:r>
              <a:rPr lang="fr-FR" sz="1200" dirty="0" err="1"/>
              <a:t>ve</a:t>
            </a:r>
            <a:r>
              <a:rPr lang="fr-FR" sz="1200" dirty="0"/>
              <a:t> </a:t>
            </a:r>
            <a:r>
              <a:rPr lang="fr-FR" sz="1200" dirty="0" err="1"/>
              <a:t>kovuşturulması</a:t>
            </a:r>
            <a:r>
              <a:rPr lang="fr-FR" sz="1200" dirty="0"/>
              <a:t> </a:t>
            </a:r>
            <a:r>
              <a:rPr lang="fr-FR" sz="1200" dirty="0" err="1"/>
              <a:t>şikayete</a:t>
            </a:r>
            <a:r>
              <a:rPr lang="fr-FR" sz="1200" dirty="0"/>
              <a:t> </a:t>
            </a:r>
            <a:r>
              <a:rPr lang="fr-FR" sz="1200" dirty="0" err="1"/>
              <a:t>bağlı</a:t>
            </a:r>
            <a:r>
              <a:rPr lang="fr-FR" sz="1200" dirty="0"/>
              <a:t> </a:t>
            </a:r>
            <a:r>
              <a:rPr lang="fr-FR" sz="1200" dirty="0" err="1"/>
              <a:t>olan</a:t>
            </a:r>
            <a:r>
              <a:rPr lang="fr-FR" sz="1200" dirty="0"/>
              <a:t> </a:t>
            </a:r>
            <a:r>
              <a:rPr lang="fr-FR" sz="1200" dirty="0" err="1"/>
              <a:t>suç</a:t>
            </a:r>
            <a:r>
              <a:rPr lang="fr-FR" sz="1200" dirty="0"/>
              <a:t> </a:t>
            </a:r>
            <a:r>
              <a:rPr lang="fr-FR" sz="1200" dirty="0" err="1"/>
              <a:t>hakkında</a:t>
            </a:r>
            <a:r>
              <a:rPr lang="fr-FR" sz="1200" dirty="0"/>
              <a:t> </a:t>
            </a:r>
            <a:r>
              <a:rPr lang="fr-FR" sz="1200" dirty="0" err="1"/>
              <a:t>yetkili</a:t>
            </a:r>
            <a:r>
              <a:rPr lang="fr-FR" sz="1200" dirty="0"/>
              <a:t> </a:t>
            </a:r>
            <a:r>
              <a:rPr lang="fr-FR" sz="1200" dirty="0" err="1"/>
              <a:t>kimse</a:t>
            </a:r>
            <a:r>
              <a:rPr lang="fr-FR" sz="1200" dirty="0"/>
              <a:t> </a:t>
            </a:r>
            <a:r>
              <a:rPr lang="fr-FR" sz="1200" dirty="0" err="1"/>
              <a:t>altı</a:t>
            </a:r>
            <a:r>
              <a:rPr lang="fr-FR" sz="1200" dirty="0"/>
              <a:t> ay </a:t>
            </a:r>
            <a:r>
              <a:rPr lang="fr-FR" sz="1200" dirty="0" err="1"/>
              <a:t>içinde</a:t>
            </a:r>
            <a:r>
              <a:rPr lang="fr-FR" sz="1200" dirty="0"/>
              <a:t> </a:t>
            </a:r>
            <a:r>
              <a:rPr lang="fr-FR" sz="1200" dirty="0" err="1"/>
              <a:t>şikayette</a:t>
            </a:r>
            <a:r>
              <a:rPr lang="fr-FR" sz="1200" dirty="0"/>
              <a:t> </a:t>
            </a:r>
            <a:r>
              <a:rPr lang="fr-FR" sz="1200" dirty="0" err="1"/>
              <a:t>bulunmadığı</a:t>
            </a:r>
            <a:r>
              <a:rPr lang="fr-FR" sz="1200" dirty="0"/>
              <a:t> </a:t>
            </a:r>
            <a:r>
              <a:rPr lang="fr-FR" sz="1200" dirty="0" err="1"/>
              <a:t>takdirde</a:t>
            </a:r>
            <a:r>
              <a:rPr lang="fr-FR" sz="1200" dirty="0"/>
              <a:t> </a:t>
            </a:r>
            <a:r>
              <a:rPr lang="fr-FR" sz="1200" dirty="0" err="1"/>
              <a:t>soruşturma</a:t>
            </a:r>
            <a:r>
              <a:rPr lang="fr-FR" sz="1200" dirty="0"/>
              <a:t> </a:t>
            </a:r>
            <a:r>
              <a:rPr lang="fr-FR" sz="1200" dirty="0" err="1"/>
              <a:t>ve</a:t>
            </a:r>
            <a:r>
              <a:rPr lang="fr-FR" sz="1200" dirty="0"/>
              <a:t> </a:t>
            </a:r>
            <a:r>
              <a:rPr lang="fr-FR" sz="1200" dirty="0" err="1"/>
              <a:t>kovuşturma</a:t>
            </a:r>
            <a:r>
              <a:rPr lang="fr-FR" sz="1200" dirty="0"/>
              <a:t> </a:t>
            </a:r>
            <a:r>
              <a:rPr lang="fr-FR" sz="1200" dirty="0" err="1"/>
              <a:t>yapılamaz</a:t>
            </a:r>
            <a:r>
              <a:rPr lang="fr-FR" sz="1200" dirty="0"/>
              <a:t>.</a:t>
            </a:r>
          </a:p>
          <a:p>
            <a:pPr marL="273050" algn="just"/>
            <a:r>
              <a:rPr lang="fr-FR" sz="1200" dirty="0"/>
              <a:t>(2) </a:t>
            </a:r>
            <a:r>
              <a:rPr lang="fr-FR" sz="1200" dirty="0" err="1"/>
              <a:t>Zamanaşımı</a:t>
            </a:r>
            <a:r>
              <a:rPr lang="fr-FR" sz="1200" dirty="0"/>
              <a:t> </a:t>
            </a:r>
            <a:r>
              <a:rPr lang="fr-FR" sz="1200" dirty="0" err="1"/>
              <a:t>süresini</a:t>
            </a:r>
            <a:r>
              <a:rPr lang="fr-FR" sz="1200" dirty="0"/>
              <a:t> </a:t>
            </a:r>
            <a:r>
              <a:rPr lang="fr-FR" sz="1200" dirty="0" err="1"/>
              <a:t>geçmemek</a:t>
            </a:r>
            <a:r>
              <a:rPr lang="fr-FR" sz="1200" dirty="0"/>
              <a:t> </a:t>
            </a:r>
            <a:r>
              <a:rPr lang="fr-FR" sz="1200" dirty="0" err="1"/>
              <a:t>koşuluyla</a:t>
            </a:r>
            <a:r>
              <a:rPr lang="fr-FR" sz="1200" dirty="0"/>
              <a:t> bu </a:t>
            </a:r>
            <a:r>
              <a:rPr lang="fr-FR" sz="1200" dirty="0" err="1"/>
              <a:t>süre</a:t>
            </a:r>
            <a:r>
              <a:rPr lang="fr-FR" sz="1200" dirty="0"/>
              <a:t>, </a:t>
            </a:r>
            <a:r>
              <a:rPr lang="fr-FR" sz="1200" dirty="0" err="1"/>
              <a:t>şikayet</a:t>
            </a:r>
            <a:r>
              <a:rPr lang="fr-FR" sz="1200" dirty="0"/>
              <a:t> </a:t>
            </a:r>
            <a:r>
              <a:rPr lang="fr-FR" sz="1200" dirty="0" err="1"/>
              <a:t>hakkı</a:t>
            </a:r>
            <a:r>
              <a:rPr lang="fr-FR" sz="1200" dirty="0"/>
              <a:t> </a:t>
            </a:r>
            <a:r>
              <a:rPr lang="fr-FR" sz="1200" dirty="0" err="1"/>
              <a:t>olan</a:t>
            </a:r>
            <a:r>
              <a:rPr lang="fr-FR" sz="1200" dirty="0"/>
              <a:t> </a:t>
            </a:r>
            <a:r>
              <a:rPr lang="fr-FR" sz="1200" dirty="0" err="1"/>
              <a:t>kişinin</a:t>
            </a:r>
            <a:r>
              <a:rPr lang="fr-FR" sz="1200" dirty="0"/>
              <a:t> </a:t>
            </a:r>
            <a:r>
              <a:rPr lang="fr-FR" sz="1200" u="sng" dirty="0" err="1">
                <a:effectLst>
                  <a:outerShdw blurRad="38100" dist="38100" dir="2700000" algn="tl">
                    <a:srgbClr val="000000">
                      <a:alpha val="43137"/>
                    </a:srgbClr>
                  </a:outerShdw>
                </a:effectLst>
              </a:rPr>
              <a:t>fiili</a:t>
            </a:r>
            <a:r>
              <a:rPr lang="fr-FR" sz="1200" u="sng" dirty="0">
                <a:effectLst>
                  <a:outerShdw blurRad="38100" dist="38100" dir="2700000" algn="tl">
                    <a:srgbClr val="000000">
                      <a:alpha val="43137"/>
                    </a:srgbClr>
                  </a:outerShdw>
                </a:effectLst>
              </a:rPr>
              <a:t> </a:t>
            </a:r>
            <a:r>
              <a:rPr lang="fr-FR" sz="1200" u="sng" dirty="0" err="1">
                <a:effectLst>
                  <a:outerShdw blurRad="38100" dist="38100" dir="2700000" algn="tl">
                    <a:srgbClr val="000000">
                      <a:alpha val="43137"/>
                    </a:srgbClr>
                  </a:outerShdw>
                </a:effectLst>
              </a:rPr>
              <a:t>ve</a:t>
            </a:r>
            <a:r>
              <a:rPr lang="fr-FR" sz="1200" u="sng" dirty="0">
                <a:effectLst>
                  <a:outerShdw blurRad="38100" dist="38100" dir="2700000" algn="tl">
                    <a:srgbClr val="000000">
                      <a:alpha val="43137"/>
                    </a:srgbClr>
                  </a:outerShdw>
                </a:effectLst>
              </a:rPr>
              <a:t> </a:t>
            </a:r>
            <a:r>
              <a:rPr lang="fr-FR" sz="1200" u="sng" dirty="0" err="1">
                <a:effectLst>
                  <a:outerShdw blurRad="38100" dist="38100" dir="2700000" algn="tl">
                    <a:srgbClr val="000000">
                      <a:alpha val="43137"/>
                    </a:srgbClr>
                  </a:outerShdw>
                </a:effectLst>
              </a:rPr>
              <a:t>failin</a:t>
            </a:r>
            <a:r>
              <a:rPr lang="fr-FR" sz="1200" dirty="0"/>
              <a:t> </a:t>
            </a:r>
            <a:r>
              <a:rPr lang="fr-FR" sz="1200" dirty="0" err="1"/>
              <a:t>kim</a:t>
            </a:r>
            <a:r>
              <a:rPr lang="fr-FR" sz="1200" dirty="0"/>
              <a:t> </a:t>
            </a:r>
            <a:r>
              <a:rPr lang="fr-FR" sz="1200" dirty="0" err="1"/>
              <a:t>olduğunu</a:t>
            </a:r>
            <a:r>
              <a:rPr lang="fr-FR" sz="1200" dirty="0"/>
              <a:t> </a:t>
            </a:r>
            <a:r>
              <a:rPr lang="fr-FR" sz="1200" dirty="0" err="1"/>
              <a:t>bildiği</a:t>
            </a:r>
            <a:r>
              <a:rPr lang="fr-FR" sz="1200" dirty="0"/>
              <a:t> </a:t>
            </a:r>
            <a:r>
              <a:rPr lang="fr-FR" sz="1200" dirty="0" err="1"/>
              <a:t>veya</a:t>
            </a:r>
            <a:r>
              <a:rPr lang="fr-FR" sz="1200" dirty="0"/>
              <a:t> </a:t>
            </a:r>
            <a:r>
              <a:rPr lang="fr-FR" sz="1200" dirty="0" err="1"/>
              <a:t>öğrendiği</a:t>
            </a:r>
            <a:r>
              <a:rPr lang="fr-FR" sz="1200" dirty="0"/>
              <a:t> </a:t>
            </a:r>
            <a:r>
              <a:rPr lang="fr-FR" sz="1200" dirty="0" err="1"/>
              <a:t>günden</a:t>
            </a:r>
            <a:r>
              <a:rPr lang="fr-FR" sz="1200" dirty="0"/>
              <a:t> </a:t>
            </a:r>
            <a:r>
              <a:rPr lang="fr-FR" sz="1200" dirty="0" err="1"/>
              <a:t>başlar</a:t>
            </a:r>
            <a:r>
              <a:rPr lang="fr-FR" sz="1200" dirty="0"/>
              <a:t>.</a:t>
            </a:r>
          </a:p>
          <a:p>
            <a:pPr marL="273050" algn="just"/>
            <a:r>
              <a:rPr lang="fr-FR" sz="1200" dirty="0"/>
              <a:t>(3) </a:t>
            </a:r>
            <a:r>
              <a:rPr lang="fr-FR" sz="1200" dirty="0" err="1"/>
              <a:t>Şikayet</a:t>
            </a:r>
            <a:r>
              <a:rPr lang="fr-FR" sz="1200" dirty="0"/>
              <a:t> </a:t>
            </a:r>
            <a:r>
              <a:rPr lang="fr-FR" sz="1200" dirty="0" err="1"/>
              <a:t>hakkı</a:t>
            </a:r>
            <a:r>
              <a:rPr lang="fr-FR" sz="1200" dirty="0"/>
              <a:t> </a:t>
            </a:r>
            <a:r>
              <a:rPr lang="fr-FR" sz="1200" dirty="0" err="1"/>
              <a:t>olan</a:t>
            </a:r>
            <a:r>
              <a:rPr lang="fr-FR" sz="1200" dirty="0"/>
              <a:t> </a:t>
            </a:r>
            <a:r>
              <a:rPr lang="fr-FR" sz="1200" dirty="0" err="1"/>
              <a:t>birkaç</a:t>
            </a:r>
            <a:r>
              <a:rPr lang="fr-FR" sz="1200" dirty="0"/>
              <a:t> </a:t>
            </a:r>
            <a:r>
              <a:rPr lang="fr-FR" sz="1200" dirty="0" err="1"/>
              <a:t>kişiden</a:t>
            </a:r>
            <a:r>
              <a:rPr lang="fr-FR" sz="1200" dirty="0"/>
              <a:t> </a:t>
            </a:r>
            <a:r>
              <a:rPr lang="fr-FR" sz="1200" dirty="0" err="1"/>
              <a:t>birisi</a:t>
            </a:r>
            <a:r>
              <a:rPr lang="fr-FR" sz="1200" dirty="0"/>
              <a:t> </a:t>
            </a:r>
            <a:r>
              <a:rPr lang="fr-FR" sz="1200" dirty="0" err="1"/>
              <a:t>altı</a:t>
            </a:r>
            <a:r>
              <a:rPr lang="fr-FR" sz="1200" dirty="0"/>
              <a:t> </a:t>
            </a:r>
            <a:r>
              <a:rPr lang="fr-FR" sz="1200" dirty="0" err="1"/>
              <a:t>aylık</a:t>
            </a:r>
            <a:r>
              <a:rPr lang="fr-FR" sz="1200" dirty="0"/>
              <a:t> </a:t>
            </a:r>
            <a:r>
              <a:rPr lang="fr-FR" sz="1200" dirty="0" err="1"/>
              <a:t>süreyi</a:t>
            </a:r>
            <a:r>
              <a:rPr lang="fr-FR" sz="1200" dirty="0"/>
              <a:t> </a:t>
            </a:r>
            <a:r>
              <a:rPr lang="fr-FR" sz="1200" dirty="0" err="1"/>
              <a:t>geçirirse</a:t>
            </a:r>
            <a:r>
              <a:rPr lang="fr-FR" sz="1200" dirty="0"/>
              <a:t> </a:t>
            </a:r>
            <a:r>
              <a:rPr lang="fr-FR" sz="1200" dirty="0" err="1"/>
              <a:t>bundan</a:t>
            </a:r>
            <a:r>
              <a:rPr lang="fr-FR" sz="1200" dirty="0"/>
              <a:t> </a:t>
            </a:r>
            <a:r>
              <a:rPr lang="fr-FR" sz="1200" dirty="0" err="1"/>
              <a:t>dolayı</a:t>
            </a:r>
            <a:r>
              <a:rPr lang="fr-FR" sz="1200" dirty="0"/>
              <a:t> </a:t>
            </a:r>
            <a:r>
              <a:rPr lang="fr-FR" sz="1200" dirty="0" err="1"/>
              <a:t>diğerlerinin</a:t>
            </a:r>
            <a:r>
              <a:rPr lang="fr-FR" sz="1200" dirty="0"/>
              <a:t> </a:t>
            </a:r>
            <a:r>
              <a:rPr lang="fr-FR" sz="1200" dirty="0" err="1"/>
              <a:t>hakları</a:t>
            </a:r>
            <a:r>
              <a:rPr lang="fr-FR" sz="1200" dirty="0"/>
              <a:t> </a:t>
            </a:r>
            <a:r>
              <a:rPr lang="fr-FR" sz="1200" dirty="0" err="1"/>
              <a:t>düşmez</a:t>
            </a:r>
            <a:r>
              <a:rPr lang="fr-FR" sz="1200" dirty="0"/>
              <a:t>.</a:t>
            </a:r>
          </a:p>
          <a:p>
            <a:pPr marL="273050" algn="just"/>
            <a:r>
              <a:rPr lang="fr-FR" sz="1200" dirty="0"/>
              <a:t>(4) </a:t>
            </a:r>
            <a:r>
              <a:rPr lang="fr-FR" sz="1200" dirty="0" err="1"/>
              <a:t>Kovuşturma</a:t>
            </a:r>
            <a:r>
              <a:rPr lang="fr-FR" sz="1200" dirty="0"/>
              <a:t> </a:t>
            </a:r>
            <a:r>
              <a:rPr lang="fr-FR" sz="1200" dirty="0" err="1"/>
              <a:t>yapılabilmesi</a:t>
            </a:r>
            <a:r>
              <a:rPr lang="fr-FR" sz="1200" dirty="0"/>
              <a:t> </a:t>
            </a:r>
            <a:r>
              <a:rPr lang="fr-FR" sz="1200" dirty="0" err="1"/>
              <a:t>şikayete</a:t>
            </a:r>
            <a:r>
              <a:rPr lang="fr-FR" sz="1200" dirty="0"/>
              <a:t> </a:t>
            </a:r>
            <a:r>
              <a:rPr lang="fr-FR" sz="1200" dirty="0" err="1"/>
              <a:t>bağlı</a:t>
            </a:r>
            <a:r>
              <a:rPr lang="fr-FR" sz="1200" dirty="0"/>
              <a:t> </a:t>
            </a:r>
            <a:r>
              <a:rPr lang="fr-FR" sz="1200" dirty="0" err="1"/>
              <a:t>suçlarda</a:t>
            </a:r>
            <a:r>
              <a:rPr lang="fr-FR" sz="1200" dirty="0"/>
              <a:t> </a:t>
            </a:r>
            <a:r>
              <a:rPr lang="fr-FR" sz="1200" dirty="0" err="1"/>
              <a:t>kanunda</a:t>
            </a:r>
            <a:r>
              <a:rPr lang="fr-FR" sz="1200" dirty="0"/>
              <a:t> </a:t>
            </a:r>
            <a:r>
              <a:rPr lang="fr-FR" sz="1200" dirty="0" err="1"/>
              <a:t>aksi</a:t>
            </a:r>
            <a:r>
              <a:rPr lang="fr-FR" sz="1200" dirty="0"/>
              <a:t> </a:t>
            </a:r>
            <a:r>
              <a:rPr lang="fr-FR" sz="1200" dirty="0" err="1"/>
              <a:t>yazılı</a:t>
            </a:r>
            <a:r>
              <a:rPr lang="fr-FR" sz="1200" dirty="0"/>
              <a:t> </a:t>
            </a:r>
            <a:r>
              <a:rPr lang="fr-FR" sz="1200" dirty="0" err="1"/>
              <a:t>olmadıkça</a:t>
            </a:r>
            <a:r>
              <a:rPr lang="fr-FR" sz="1200" dirty="0"/>
              <a:t> </a:t>
            </a:r>
            <a:r>
              <a:rPr lang="fr-FR" sz="1200" dirty="0" err="1"/>
              <a:t>suçtan</a:t>
            </a:r>
            <a:r>
              <a:rPr lang="fr-FR" sz="1200" dirty="0"/>
              <a:t> </a:t>
            </a:r>
            <a:r>
              <a:rPr lang="fr-FR" sz="1200" dirty="0" err="1"/>
              <a:t>zarar</a:t>
            </a:r>
            <a:r>
              <a:rPr lang="fr-FR" sz="1200" dirty="0"/>
              <a:t> </a:t>
            </a:r>
            <a:r>
              <a:rPr lang="fr-FR" sz="1200" dirty="0" err="1"/>
              <a:t>gören</a:t>
            </a:r>
            <a:r>
              <a:rPr lang="fr-FR" sz="1200" dirty="0"/>
              <a:t> </a:t>
            </a:r>
            <a:r>
              <a:rPr lang="fr-FR" sz="1200" dirty="0" err="1"/>
              <a:t>kişinin</a:t>
            </a:r>
            <a:r>
              <a:rPr lang="fr-FR" sz="1200" dirty="0"/>
              <a:t> </a:t>
            </a:r>
            <a:r>
              <a:rPr lang="fr-FR" sz="1200" dirty="0" err="1"/>
              <a:t>vazgeçmesi</a:t>
            </a:r>
            <a:r>
              <a:rPr lang="fr-FR" sz="1200" dirty="0"/>
              <a:t> </a:t>
            </a:r>
            <a:r>
              <a:rPr lang="fr-FR" sz="1200" dirty="0" err="1"/>
              <a:t>davayı</a:t>
            </a:r>
            <a:r>
              <a:rPr lang="fr-FR" sz="1200" dirty="0"/>
              <a:t> </a:t>
            </a:r>
            <a:r>
              <a:rPr lang="fr-FR" sz="1200" dirty="0" err="1"/>
              <a:t>düşürür</a:t>
            </a:r>
            <a:r>
              <a:rPr lang="fr-FR" sz="1200" dirty="0"/>
              <a:t> </a:t>
            </a:r>
            <a:r>
              <a:rPr lang="fr-FR" sz="1200" dirty="0" err="1"/>
              <a:t>ve</a:t>
            </a:r>
            <a:r>
              <a:rPr lang="fr-FR" sz="1200" dirty="0"/>
              <a:t> </a:t>
            </a:r>
            <a:r>
              <a:rPr lang="fr-FR" sz="1200" dirty="0" err="1"/>
              <a:t>hükmün</a:t>
            </a:r>
            <a:r>
              <a:rPr lang="fr-FR" sz="1200" dirty="0"/>
              <a:t> </a:t>
            </a:r>
            <a:r>
              <a:rPr lang="fr-FR" sz="1200" dirty="0" err="1"/>
              <a:t>kesinleşmesinden</a:t>
            </a:r>
            <a:r>
              <a:rPr lang="fr-FR" sz="1200" dirty="0"/>
              <a:t> </a:t>
            </a:r>
            <a:r>
              <a:rPr lang="fr-FR" sz="1200" dirty="0" err="1"/>
              <a:t>sonraki</a:t>
            </a:r>
            <a:r>
              <a:rPr lang="fr-FR" sz="1200" dirty="0"/>
              <a:t> </a:t>
            </a:r>
            <a:r>
              <a:rPr lang="fr-FR" sz="1200" dirty="0" err="1"/>
              <a:t>vazgeçme</a:t>
            </a:r>
            <a:r>
              <a:rPr lang="fr-FR" sz="1200" dirty="0"/>
              <a:t> </a:t>
            </a:r>
            <a:r>
              <a:rPr lang="fr-FR" sz="1200" dirty="0" err="1"/>
              <a:t>cezanın</a:t>
            </a:r>
            <a:r>
              <a:rPr lang="fr-FR" sz="1200" dirty="0"/>
              <a:t> </a:t>
            </a:r>
            <a:r>
              <a:rPr lang="fr-FR" sz="1200" dirty="0" err="1"/>
              <a:t>infazına</a:t>
            </a:r>
            <a:r>
              <a:rPr lang="fr-FR" sz="1200" dirty="0"/>
              <a:t> </a:t>
            </a:r>
            <a:r>
              <a:rPr lang="fr-FR" sz="1200" dirty="0" err="1"/>
              <a:t>engel</a:t>
            </a:r>
            <a:r>
              <a:rPr lang="fr-FR" sz="1200" dirty="0"/>
              <a:t> </a:t>
            </a:r>
            <a:r>
              <a:rPr lang="fr-FR" sz="1200" dirty="0" err="1"/>
              <a:t>olmaz</a:t>
            </a:r>
            <a:r>
              <a:rPr lang="fr-FR" sz="1200" dirty="0"/>
              <a:t>.</a:t>
            </a:r>
          </a:p>
          <a:p>
            <a:pPr marL="273050" algn="just"/>
            <a:r>
              <a:rPr lang="fr-FR" sz="1200" dirty="0"/>
              <a:t>(5) </a:t>
            </a:r>
            <a:r>
              <a:rPr lang="fr-FR" sz="1200" dirty="0" err="1"/>
              <a:t>İştirak</a:t>
            </a:r>
            <a:r>
              <a:rPr lang="fr-FR" sz="1200" dirty="0"/>
              <a:t> </a:t>
            </a:r>
            <a:r>
              <a:rPr lang="fr-FR" sz="1200" dirty="0" err="1"/>
              <a:t>halinde</a:t>
            </a:r>
            <a:r>
              <a:rPr lang="fr-FR" sz="1200" dirty="0"/>
              <a:t> </a:t>
            </a:r>
            <a:r>
              <a:rPr lang="fr-FR" sz="1200" dirty="0" err="1"/>
              <a:t>suç</a:t>
            </a:r>
            <a:r>
              <a:rPr lang="fr-FR" sz="1200" dirty="0"/>
              <a:t> </a:t>
            </a:r>
            <a:r>
              <a:rPr lang="fr-FR" sz="1200" dirty="0" err="1"/>
              <a:t>işlemiş</a:t>
            </a:r>
            <a:r>
              <a:rPr lang="fr-FR" sz="1200" dirty="0"/>
              <a:t> </a:t>
            </a:r>
            <a:r>
              <a:rPr lang="fr-FR" sz="1200" dirty="0" err="1"/>
              <a:t>sanıklardan</a:t>
            </a:r>
            <a:r>
              <a:rPr lang="fr-FR" sz="1200" dirty="0"/>
              <a:t> </a:t>
            </a:r>
            <a:r>
              <a:rPr lang="fr-FR" sz="1200" dirty="0" err="1"/>
              <a:t>biri</a:t>
            </a:r>
            <a:r>
              <a:rPr lang="fr-FR" sz="1200" dirty="0"/>
              <a:t> </a:t>
            </a:r>
            <a:r>
              <a:rPr lang="fr-FR" sz="1200" dirty="0" err="1"/>
              <a:t>hakkındaki</a:t>
            </a:r>
            <a:r>
              <a:rPr lang="fr-FR" sz="1200" dirty="0"/>
              <a:t> </a:t>
            </a:r>
            <a:r>
              <a:rPr lang="fr-FR" sz="1200" dirty="0" err="1"/>
              <a:t>şikayetten</a:t>
            </a:r>
            <a:r>
              <a:rPr lang="fr-FR" sz="1200" dirty="0"/>
              <a:t> </a:t>
            </a:r>
            <a:r>
              <a:rPr lang="fr-FR" sz="1200" dirty="0" err="1"/>
              <a:t>vazgeçme</a:t>
            </a:r>
            <a:r>
              <a:rPr lang="fr-FR" sz="1200" dirty="0"/>
              <a:t>, </a:t>
            </a:r>
            <a:r>
              <a:rPr lang="fr-FR" sz="1200" dirty="0" err="1"/>
              <a:t>diğerlerini</a:t>
            </a:r>
            <a:r>
              <a:rPr lang="fr-FR" sz="1200" dirty="0"/>
              <a:t> de </a:t>
            </a:r>
            <a:r>
              <a:rPr lang="fr-FR" sz="1200" dirty="0" err="1"/>
              <a:t>kapsar</a:t>
            </a:r>
            <a:r>
              <a:rPr lang="fr-FR" sz="1200" dirty="0"/>
              <a:t>.</a:t>
            </a:r>
          </a:p>
          <a:p>
            <a:pPr marL="273050" algn="just"/>
            <a:r>
              <a:rPr lang="fr-FR" sz="1200" dirty="0"/>
              <a:t>(6) </a:t>
            </a:r>
            <a:r>
              <a:rPr lang="fr-FR" sz="1200" dirty="0" err="1"/>
              <a:t>Kanunda</a:t>
            </a:r>
            <a:r>
              <a:rPr lang="fr-FR" sz="1200" dirty="0"/>
              <a:t> </a:t>
            </a:r>
            <a:r>
              <a:rPr lang="fr-FR" sz="1200" dirty="0" err="1"/>
              <a:t>aksi</a:t>
            </a:r>
            <a:r>
              <a:rPr lang="fr-FR" sz="1200" dirty="0"/>
              <a:t> </a:t>
            </a:r>
            <a:r>
              <a:rPr lang="fr-FR" sz="1200" dirty="0" err="1"/>
              <a:t>yazılı</a:t>
            </a:r>
            <a:r>
              <a:rPr lang="fr-FR" sz="1200" dirty="0"/>
              <a:t> </a:t>
            </a:r>
            <a:r>
              <a:rPr lang="fr-FR" sz="1200" dirty="0" err="1"/>
              <a:t>olmadıkça</a:t>
            </a:r>
            <a:r>
              <a:rPr lang="fr-FR" sz="1200" dirty="0"/>
              <a:t>, </a:t>
            </a:r>
            <a:r>
              <a:rPr lang="fr-FR" sz="1200" dirty="0" err="1"/>
              <a:t>vazgeçme</a:t>
            </a:r>
            <a:r>
              <a:rPr lang="fr-FR" sz="1200" dirty="0"/>
              <a:t> </a:t>
            </a:r>
            <a:r>
              <a:rPr lang="fr-FR" sz="1200" dirty="0" err="1"/>
              <a:t>onu</a:t>
            </a:r>
            <a:r>
              <a:rPr lang="fr-FR" sz="1200" dirty="0"/>
              <a:t> </a:t>
            </a:r>
            <a:r>
              <a:rPr lang="fr-FR" sz="1200" dirty="0" err="1"/>
              <a:t>kabul</a:t>
            </a:r>
            <a:r>
              <a:rPr lang="fr-FR" sz="1200" dirty="0"/>
              <a:t> </a:t>
            </a:r>
            <a:r>
              <a:rPr lang="fr-FR" sz="1200" dirty="0" err="1"/>
              <a:t>etmeyen</a:t>
            </a:r>
            <a:r>
              <a:rPr lang="fr-FR" sz="1200" dirty="0"/>
              <a:t> </a:t>
            </a:r>
            <a:r>
              <a:rPr lang="fr-FR" sz="1200" dirty="0" err="1"/>
              <a:t>sanığı</a:t>
            </a:r>
            <a:r>
              <a:rPr lang="fr-FR" sz="1200" dirty="0"/>
              <a:t> </a:t>
            </a:r>
            <a:r>
              <a:rPr lang="fr-FR" sz="1200" dirty="0" err="1"/>
              <a:t>etkilemez</a:t>
            </a:r>
            <a:endParaRPr lang="fr-FR" sz="1200" dirty="0"/>
          </a:p>
        </p:txBody>
      </p:sp>
      <p:sp>
        <p:nvSpPr>
          <p:cNvPr id="6"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Cezalandırılmaya </a:t>
            </a:r>
            <a:r>
              <a:rPr lang="tr-TR" sz="2600" b="1" i="1" spc="300" dirty="0" smtClean="0">
                <a:effectLst>
                  <a:outerShdw blurRad="38100" dist="38100" dir="2700000" algn="tl">
                    <a:srgbClr val="000000">
                      <a:alpha val="43137"/>
                    </a:srgbClr>
                  </a:outerShdw>
                </a:effectLst>
              </a:rPr>
              <a:t>Etkili Olan Şartlar (Haksızlık ve Kusur Dışında Kalan Hususlar)</a:t>
            </a:r>
            <a:endParaRPr lang="tr-TR" sz="2600" b="1" i="1" spc="300" dirty="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80</a:t>
            </a:fld>
            <a:r>
              <a:rPr lang="tr-TR"/>
              <a:t>/116</a:t>
            </a:r>
          </a:p>
        </p:txBody>
      </p:sp>
    </p:spTree>
    <p:extLst>
      <p:ext uri="{BB962C8B-B14F-4D97-AF65-F5344CB8AC3E}">
        <p14:creationId xmlns:p14="http://schemas.microsoft.com/office/powerpoint/2010/main" val="195273291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ikdörtgen 8"/>
          <p:cNvSpPr/>
          <p:nvPr/>
        </p:nvSpPr>
        <p:spPr>
          <a:xfrm>
            <a:off x="1499775" y="2064252"/>
            <a:ext cx="7520400" cy="338554"/>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tr-TR" sz="1600" b="1" dirty="0" smtClean="0">
                <a:effectLst>
                  <a:outerShdw blurRad="38100" dist="38100" dir="2700000" algn="tl">
                    <a:srgbClr val="000000">
                      <a:alpha val="43137"/>
                    </a:srgbClr>
                  </a:outerShdw>
                </a:effectLst>
                <a:latin typeface="Calibri" panose="020F0502020204030204"/>
              </a:rPr>
              <a:t>Soruşturma ve Kovuşturma (Muhakeme-Dava) Şartları </a:t>
            </a:r>
          </a:p>
        </p:txBody>
      </p:sp>
      <p:sp>
        <p:nvSpPr>
          <p:cNvPr id="15" name="Dikdörtgen 14"/>
          <p:cNvSpPr/>
          <p:nvPr/>
        </p:nvSpPr>
        <p:spPr>
          <a:xfrm>
            <a:off x="1644291" y="2560598"/>
            <a:ext cx="10301701" cy="1508105"/>
          </a:xfrm>
          <a:prstGeom prst="rect">
            <a:avLst/>
          </a:prstGeom>
        </p:spPr>
        <p:txBody>
          <a:bodyPr wrap="square">
            <a:spAutoFit/>
          </a:bodyPr>
          <a:lstStyle/>
          <a:p>
            <a:pPr lvl="0" algn="just">
              <a:defRPr/>
            </a:pPr>
            <a:r>
              <a:rPr lang="tr-TR" sz="1600" b="1" dirty="0" smtClean="0">
                <a:latin typeface="Calibri" panose="020F0502020204030204"/>
              </a:rPr>
              <a:t>b)</a:t>
            </a:r>
            <a:r>
              <a:rPr lang="tr-TR" sz="1600" dirty="0" smtClean="0">
                <a:latin typeface="Calibri" panose="020F0502020204030204"/>
              </a:rPr>
              <a:t> </a:t>
            </a:r>
            <a:r>
              <a:rPr lang="tr-TR" sz="1600" b="1" dirty="0" smtClean="0">
                <a:effectLst>
                  <a:outerShdw blurRad="38100" dist="38100" dir="2700000" algn="tl">
                    <a:srgbClr val="000000">
                      <a:alpha val="43137"/>
                    </a:srgbClr>
                  </a:outerShdw>
                </a:effectLst>
                <a:latin typeface="Calibri" panose="020F0502020204030204"/>
              </a:rPr>
              <a:t>Dava Süresi :</a:t>
            </a:r>
            <a:r>
              <a:rPr lang="tr-TR" sz="1600" dirty="0" smtClean="0">
                <a:latin typeface="Calibri" panose="020F0502020204030204"/>
              </a:rPr>
              <a:t> Kanun </a:t>
            </a:r>
            <a:r>
              <a:rPr lang="tr-TR" sz="1600" dirty="0"/>
              <a:t>Özellikle basın özgürlüğü ve düşünce özgürlüğü gibi alanlarda olmak </a:t>
            </a:r>
            <a:r>
              <a:rPr lang="tr-TR" sz="1600" dirty="0" smtClean="0"/>
              <a:t>üzere </a:t>
            </a:r>
            <a:r>
              <a:rPr lang="tr-TR" sz="1600" dirty="0" smtClean="0">
                <a:latin typeface="Calibri" panose="020F0502020204030204"/>
              </a:rPr>
              <a:t>bazı suçlar bakımından dava açılmasını belli bir süreyle sınırlamıştır. </a:t>
            </a:r>
          </a:p>
          <a:p>
            <a:pPr lvl="0" algn="just">
              <a:defRPr/>
            </a:pPr>
            <a:r>
              <a:rPr lang="tr-TR" sz="1000" dirty="0" smtClean="0">
                <a:latin typeface="Calibri" panose="020F0502020204030204"/>
              </a:rPr>
              <a:t>5187 sayılı Basın Kanunu </a:t>
            </a:r>
          </a:p>
          <a:p>
            <a:pPr lvl="0" algn="just">
              <a:defRPr/>
            </a:pPr>
            <a:r>
              <a:rPr lang="tr-TR" sz="1000" dirty="0" smtClean="0"/>
              <a:t>Dava </a:t>
            </a:r>
            <a:r>
              <a:rPr lang="tr-TR" sz="1000" dirty="0"/>
              <a:t>süreleri</a:t>
            </a:r>
          </a:p>
          <a:p>
            <a:pPr lvl="0" algn="just">
              <a:defRPr/>
            </a:pPr>
            <a:r>
              <a:rPr lang="tr-TR" sz="1000" dirty="0" smtClean="0"/>
              <a:t>Madde </a:t>
            </a:r>
            <a:r>
              <a:rPr lang="tr-TR" sz="1000" dirty="0"/>
              <a:t>26- Basılmış eserler veya internet haber siteleri yoluyla işlenen veya bu Kanunda öngörülen diğer suçlarla ilgili ceza davalarının bir muhakeme şartı olarak, günlük süreli yayınlar ve internet haber siteleri yönünden dört ay, diğer basılmış eserler yönünden altı ay içinde açılması zorunludur.</a:t>
            </a:r>
          </a:p>
          <a:p>
            <a:pPr lvl="0" algn="just">
              <a:defRPr/>
            </a:pPr>
            <a:r>
              <a:rPr lang="tr-TR" sz="1000" dirty="0" smtClean="0"/>
              <a:t>Bu </a:t>
            </a:r>
            <a:r>
              <a:rPr lang="tr-TR" sz="1000" dirty="0"/>
              <a:t>süreler basılmış eserlerin Cumhuriyet Başsavcılığına teslim edildiği tarihten, internet haber siteleri için ise habere ilişkin suç ihbarının yapıldığı tarihten başlar. Basılmış eserlerin Cumhuriyet Başsavcılığına teslim edilmemesi halinde yukarıdaki sürelerin başlama tarihi, suçu oluşturan fiilin Cumhuriyet Başsavcılığı tarafından öğrenildiği tarihtir.</a:t>
            </a:r>
            <a:endParaRPr lang="tr-TR" sz="1000" dirty="0" smtClean="0">
              <a:latin typeface="Calibri" panose="020F0502020204030204"/>
            </a:endParaRPr>
          </a:p>
        </p:txBody>
      </p:sp>
      <p:sp>
        <p:nvSpPr>
          <p:cNvPr id="16" name="Dikdörtgen 15"/>
          <p:cNvSpPr/>
          <p:nvPr/>
        </p:nvSpPr>
        <p:spPr>
          <a:xfrm>
            <a:off x="1644291" y="4058560"/>
            <a:ext cx="10301701" cy="1077218"/>
          </a:xfrm>
          <a:prstGeom prst="rect">
            <a:avLst/>
          </a:prstGeom>
        </p:spPr>
        <p:txBody>
          <a:bodyPr wrap="square">
            <a:spAutoFit/>
          </a:bodyPr>
          <a:lstStyle/>
          <a:p>
            <a:pPr marR="0" lvl="0" algn="just" defTabSz="914400" rtl="0" eaLnBrk="1" fontAlgn="auto" latinLnBrk="0" hangingPunct="1">
              <a:lnSpc>
                <a:spcPct val="100000"/>
              </a:lnSpc>
              <a:spcBef>
                <a:spcPts val="0"/>
              </a:spcBef>
              <a:spcAft>
                <a:spcPts val="0"/>
              </a:spcAft>
              <a:buClrTx/>
              <a:buSzTx/>
              <a:tabLst/>
              <a:defRPr/>
            </a:pPr>
            <a:r>
              <a:rPr lang="tr-TR" sz="1600" b="1" dirty="0" smtClean="0">
                <a:latin typeface="Calibri" panose="020F0502020204030204"/>
              </a:rPr>
              <a:t>c)</a:t>
            </a:r>
            <a:r>
              <a:rPr lang="tr-TR" sz="1600" dirty="0" smtClean="0">
                <a:latin typeface="Calibri" panose="020F0502020204030204"/>
              </a:rPr>
              <a:t> </a:t>
            </a:r>
            <a:r>
              <a:rPr lang="tr-TR" sz="1600" b="1" dirty="0" smtClean="0">
                <a:effectLst>
                  <a:outerShdw blurRad="38100" dist="38100" dir="2700000" algn="tl">
                    <a:srgbClr val="000000">
                      <a:alpha val="43137"/>
                    </a:srgbClr>
                  </a:outerShdw>
                </a:effectLst>
                <a:latin typeface="Calibri" panose="020F0502020204030204"/>
              </a:rPr>
              <a:t>İzin, Talep ve Karar :</a:t>
            </a:r>
            <a:r>
              <a:rPr lang="tr-TR" sz="1600" dirty="0" smtClean="0">
                <a:latin typeface="Calibri" panose="020F0502020204030204"/>
              </a:rPr>
              <a:t> Bazı suçlar bakımından yargılama bir Makamın iznine, kararına veya talebine bırakılmış olabilir. Memurların görev sebebiyle işledikleri suçlar bakımından yargılama ancak bağlı bulundukları İdari Makamın izin vermesi halinde yapılabilir</a:t>
            </a:r>
          </a:p>
          <a:p>
            <a:pPr lvl="0" algn="just">
              <a:defRPr/>
            </a:pPr>
            <a:r>
              <a:rPr lang="tr-TR" sz="1200" smtClean="0"/>
              <a:t>5237 </a:t>
            </a:r>
            <a:r>
              <a:rPr lang="tr-TR" sz="1200" dirty="0" smtClean="0"/>
              <a:t>s. TCK Madde </a:t>
            </a:r>
            <a:r>
              <a:rPr lang="tr-TR" sz="1200" dirty="0"/>
              <a:t>299- </a:t>
            </a:r>
            <a:r>
              <a:rPr lang="tr-TR" sz="1200" dirty="0" smtClean="0"/>
              <a:t>Cumhurbaşkanına hakaret suçundan </a:t>
            </a:r>
            <a:r>
              <a:rPr lang="tr-TR" sz="1200" dirty="0"/>
              <a:t>dolayı kovuşturma yapılması, Adalet Bakanının iznine </a:t>
            </a:r>
            <a:r>
              <a:rPr lang="tr-TR" sz="1200" dirty="0" smtClean="0"/>
              <a:t>bağlıdır</a:t>
            </a:r>
            <a:r>
              <a:rPr lang="tr-TR" sz="1600" dirty="0" smtClean="0">
                <a:latin typeface="Calibri" panose="020F0502020204030204"/>
              </a:rPr>
              <a:t>		</a:t>
            </a:r>
          </a:p>
        </p:txBody>
      </p:sp>
      <p:sp>
        <p:nvSpPr>
          <p:cNvPr id="6"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Cezalandırılmaya </a:t>
            </a:r>
            <a:r>
              <a:rPr lang="tr-TR" sz="2600" b="1" i="1" spc="300" dirty="0" smtClean="0">
                <a:effectLst>
                  <a:outerShdw blurRad="38100" dist="38100" dir="2700000" algn="tl">
                    <a:srgbClr val="000000">
                      <a:alpha val="43137"/>
                    </a:srgbClr>
                  </a:outerShdw>
                </a:effectLst>
              </a:rPr>
              <a:t>Etkili Olan Şartlar (Haksızlık ve Kusur Dışında Kalan Hususlar)</a:t>
            </a:r>
            <a:endParaRPr lang="tr-TR" sz="2600" b="1" i="1" spc="300" dirty="0">
              <a:effectLst>
                <a:outerShdw blurRad="38100" dist="38100" dir="2700000" algn="tl">
                  <a:srgbClr val="000000">
                    <a:alpha val="43137"/>
                  </a:srgbClr>
                </a:outerShdw>
              </a:effectLst>
            </a:endParaRPr>
          </a:p>
        </p:txBody>
      </p:sp>
      <p:sp>
        <p:nvSpPr>
          <p:cNvPr id="3" name="Slayt Numarası Yer Tutucusu 2"/>
          <p:cNvSpPr>
            <a:spLocks noGrp="1"/>
          </p:cNvSpPr>
          <p:nvPr>
            <p:ph type="sldNum" sz="quarter" idx="12"/>
          </p:nvPr>
        </p:nvSpPr>
        <p:spPr/>
        <p:txBody>
          <a:bodyPr/>
          <a:lstStyle/>
          <a:p>
            <a:fld id="{39F9BA00-44CD-41D4-A3D8-F864C744DC1F}" type="slidenum">
              <a:rPr lang="tr-TR" smtClean="0"/>
              <a:t>81</a:t>
            </a:fld>
            <a:r>
              <a:rPr lang="tr-TR"/>
              <a:t>/116</a:t>
            </a:r>
          </a:p>
        </p:txBody>
      </p:sp>
    </p:spTree>
    <p:extLst>
      <p:ext uri="{BB962C8B-B14F-4D97-AF65-F5344CB8AC3E}">
        <p14:creationId xmlns:p14="http://schemas.microsoft.com/office/powerpoint/2010/main" val="143805947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720676" cy="1015663"/>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dirty="0" smtClean="0">
                <a:latin typeface="Calibri" panose="020F0502020204030204"/>
              </a:rPr>
              <a:t>Kural olarak ceza normları, tek bir kişi tarafından işlenen ve tamamlanmış suçların ceza ve muhakemesi üzerine düzenlenmiştir.</a:t>
            </a:r>
          </a:p>
          <a:p>
            <a:pPr marR="0" lvl="0" indent="361950" algn="just" defTabSz="914400" rtl="0" eaLnBrk="1" fontAlgn="auto" latinLnBrk="0" hangingPunct="1">
              <a:lnSpc>
                <a:spcPct val="100000"/>
              </a:lnSpc>
              <a:spcBef>
                <a:spcPts val="0"/>
              </a:spcBef>
              <a:spcAft>
                <a:spcPts val="0"/>
              </a:spcAft>
              <a:buClrTx/>
              <a:buSzTx/>
              <a:tabLst/>
              <a:defRPr/>
            </a:pPr>
            <a:r>
              <a:rPr lang="tr-TR" sz="2000" dirty="0" smtClean="0">
                <a:latin typeface="Calibri" panose="020F0502020204030204"/>
              </a:rPr>
              <a:t>Ancak;</a:t>
            </a:r>
          </a:p>
        </p:txBody>
      </p:sp>
      <p:sp>
        <p:nvSpPr>
          <p:cNvPr id="4" name="Metin kutusu 3"/>
          <p:cNvSpPr txBox="1"/>
          <p:nvPr/>
        </p:nvSpPr>
        <p:spPr>
          <a:xfrm>
            <a:off x="1547398" y="3465730"/>
            <a:ext cx="5339176" cy="369332"/>
          </a:xfrm>
          <a:prstGeom prst="rect">
            <a:avLst/>
          </a:prstGeom>
          <a:noFill/>
        </p:spPr>
        <p:txBody>
          <a:bodyPr wrap="square" rtlCol="0">
            <a:spAutoFit/>
          </a:bodyPr>
          <a:lstStyle/>
          <a:p>
            <a:r>
              <a:rPr lang="tr-TR" dirty="0"/>
              <a:t>Suçlar </a:t>
            </a:r>
            <a:r>
              <a:rPr lang="tr-TR" b="1" u="sng" dirty="0">
                <a:effectLst>
                  <a:outerShdw blurRad="38100" dist="38100" dir="2700000" algn="tl">
                    <a:srgbClr val="000000">
                      <a:alpha val="43137"/>
                    </a:srgbClr>
                  </a:outerShdw>
                </a:effectLst>
              </a:rPr>
              <a:t>birden fazla kişi</a:t>
            </a:r>
            <a:r>
              <a:rPr lang="tr-TR" dirty="0"/>
              <a:t> tarafından işlenmiş olabilir</a:t>
            </a:r>
            <a:endParaRPr lang="fr-FR" dirty="0"/>
          </a:p>
        </p:txBody>
      </p:sp>
      <p:sp>
        <p:nvSpPr>
          <p:cNvPr id="8" name="Metin kutusu 7"/>
          <p:cNvSpPr txBox="1"/>
          <p:nvPr/>
        </p:nvSpPr>
        <p:spPr>
          <a:xfrm>
            <a:off x="9275860" y="3453156"/>
            <a:ext cx="1841302" cy="400110"/>
          </a:xfrm>
          <a:prstGeom prst="rect">
            <a:avLst/>
          </a:prstGeom>
          <a:noFill/>
        </p:spPr>
        <p:txBody>
          <a:bodyPr wrap="square" rtlCol="0">
            <a:spAutoFit/>
          </a:bodyPr>
          <a:lstStyle/>
          <a:p>
            <a:pPr algn="r"/>
            <a:r>
              <a:rPr lang="tr-TR" sz="2000" dirty="0" smtClean="0">
                <a:effectLst>
                  <a:outerShdw blurRad="38100" dist="38100" dir="2700000" algn="tl">
                    <a:srgbClr val="000000">
                      <a:alpha val="43137"/>
                    </a:srgbClr>
                  </a:outerShdw>
                </a:effectLst>
              </a:rPr>
              <a:t>SUÇA İŞTİRAK</a:t>
            </a:r>
            <a:endParaRPr lang="fr-FR" sz="2000" dirty="0">
              <a:effectLst>
                <a:outerShdw blurRad="38100" dist="38100" dir="2700000" algn="tl">
                  <a:srgbClr val="000000">
                    <a:alpha val="43137"/>
                  </a:srgbClr>
                </a:outerShdw>
              </a:effectLst>
            </a:endParaRPr>
          </a:p>
        </p:txBody>
      </p:sp>
      <p:sp>
        <p:nvSpPr>
          <p:cNvPr id="9" name="Metin kutusu 8"/>
          <p:cNvSpPr txBox="1"/>
          <p:nvPr/>
        </p:nvSpPr>
        <p:spPr>
          <a:xfrm>
            <a:off x="1547398" y="3012027"/>
            <a:ext cx="5339176" cy="369332"/>
          </a:xfrm>
          <a:prstGeom prst="rect">
            <a:avLst/>
          </a:prstGeom>
          <a:noFill/>
        </p:spPr>
        <p:txBody>
          <a:bodyPr wrap="square" rtlCol="0">
            <a:spAutoFit/>
          </a:bodyPr>
          <a:lstStyle/>
          <a:p>
            <a:r>
              <a:rPr lang="tr-TR" dirty="0"/>
              <a:t>Suçlar </a:t>
            </a:r>
            <a:r>
              <a:rPr lang="tr-TR" b="1" u="sng" dirty="0" smtClean="0">
                <a:effectLst>
                  <a:outerShdw blurRad="38100" dist="38100" dir="2700000" algn="tl">
                    <a:srgbClr val="000000">
                      <a:alpha val="43137"/>
                    </a:srgbClr>
                  </a:outerShdw>
                </a:effectLst>
              </a:rPr>
              <a:t>tamamlanmamış</a:t>
            </a:r>
            <a:r>
              <a:rPr lang="tr-TR" dirty="0" smtClean="0"/>
              <a:t> olabilir</a:t>
            </a:r>
            <a:endParaRPr lang="fr-FR" dirty="0"/>
          </a:p>
        </p:txBody>
      </p:sp>
      <p:sp>
        <p:nvSpPr>
          <p:cNvPr id="12" name="Metin kutusu 11"/>
          <p:cNvSpPr txBox="1"/>
          <p:nvPr/>
        </p:nvSpPr>
        <p:spPr>
          <a:xfrm>
            <a:off x="9124949" y="2939023"/>
            <a:ext cx="2143125" cy="400110"/>
          </a:xfrm>
          <a:prstGeom prst="rect">
            <a:avLst/>
          </a:prstGeom>
          <a:noFill/>
        </p:spPr>
        <p:txBody>
          <a:bodyPr wrap="square" rtlCol="0">
            <a:spAutoFit/>
          </a:bodyPr>
          <a:lstStyle/>
          <a:p>
            <a:pPr algn="r"/>
            <a:r>
              <a:rPr lang="tr-TR" sz="2000" dirty="0" smtClean="0">
                <a:effectLst>
                  <a:outerShdw blurRad="38100" dist="38100" dir="2700000" algn="tl">
                    <a:srgbClr val="000000">
                      <a:alpha val="43137"/>
                    </a:srgbClr>
                  </a:outerShdw>
                </a:effectLst>
              </a:rPr>
              <a:t>SUÇA TEŞEBBÜS</a:t>
            </a:r>
            <a:endParaRPr lang="fr-FR" sz="2000" dirty="0">
              <a:effectLst>
                <a:outerShdw blurRad="38100" dist="38100" dir="2700000" algn="tl">
                  <a:srgbClr val="000000">
                    <a:alpha val="43137"/>
                  </a:srgbClr>
                </a:outerShdw>
              </a:effectLst>
            </a:endParaRPr>
          </a:p>
        </p:txBody>
      </p:sp>
      <p:sp>
        <p:nvSpPr>
          <p:cNvPr id="13" name="Metin kutusu 12"/>
          <p:cNvSpPr txBox="1"/>
          <p:nvPr/>
        </p:nvSpPr>
        <p:spPr>
          <a:xfrm>
            <a:off x="1547398" y="3967289"/>
            <a:ext cx="6701251" cy="369332"/>
          </a:xfrm>
          <a:prstGeom prst="rect">
            <a:avLst/>
          </a:prstGeom>
          <a:noFill/>
        </p:spPr>
        <p:txBody>
          <a:bodyPr wrap="square" rtlCol="0">
            <a:spAutoFit/>
          </a:bodyPr>
          <a:lstStyle/>
          <a:p>
            <a:r>
              <a:rPr lang="tr-TR" b="1" u="sng" dirty="0" smtClean="0">
                <a:effectLst>
                  <a:outerShdw blurRad="38100" dist="38100" dir="2700000" algn="tl">
                    <a:srgbClr val="000000">
                      <a:alpha val="43137"/>
                    </a:srgbClr>
                  </a:outerShdw>
                </a:effectLst>
              </a:rPr>
              <a:t>Bir veya birden fazla</a:t>
            </a:r>
            <a:r>
              <a:rPr lang="tr-TR" b="1" dirty="0" smtClean="0">
                <a:effectLst>
                  <a:outerShdw blurRad="38100" dist="38100" dir="2700000" algn="tl">
                    <a:srgbClr val="000000">
                      <a:alpha val="43137"/>
                    </a:srgbClr>
                  </a:outerShdw>
                </a:effectLst>
              </a:rPr>
              <a:t> </a:t>
            </a:r>
            <a:r>
              <a:rPr lang="tr-TR" dirty="0" smtClean="0"/>
              <a:t>fiille </a:t>
            </a:r>
            <a:r>
              <a:rPr lang="tr-TR" b="1" u="sng" dirty="0" smtClean="0">
                <a:effectLst>
                  <a:outerShdw blurRad="38100" dist="38100" dir="2700000" algn="tl">
                    <a:srgbClr val="000000">
                      <a:alpha val="43137"/>
                    </a:srgbClr>
                  </a:outerShdw>
                </a:effectLst>
              </a:rPr>
              <a:t>aynı veya farklı suçlar</a:t>
            </a:r>
            <a:r>
              <a:rPr lang="tr-TR" b="1" dirty="0" smtClean="0">
                <a:effectLst>
                  <a:outerShdw blurRad="38100" dist="38100" dir="2700000" algn="tl">
                    <a:srgbClr val="000000">
                      <a:alpha val="43137"/>
                    </a:srgbClr>
                  </a:outerShdw>
                </a:effectLst>
              </a:rPr>
              <a:t> </a:t>
            </a:r>
            <a:r>
              <a:rPr lang="tr-TR" dirty="0" smtClean="0"/>
              <a:t>işlenmiş olabilir</a:t>
            </a:r>
            <a:endParaRPr lang="fr-FR" dirty="0"/>
          </a:p>
        </p:txBody>
      </p:sp>
      <p:sp>
        <p:nvSpPr>
          <p:cNvPr id="15" name="Metin kutusu 14"/>
          <p:cNvSpPr txBox="1"/>
          <p:nvPr/>
        </p:nvSpPr>
        <p:spPr>
          <a:xfrm>
            <a:off x="9124950" y="3967289"/>
            <a:ext cx="2143125" cy="400110"/>
          </a:xfrm>
          <a:prstGeom prst="rect">
            <a:avLst/>
          </a:prstGeom>
          <a:noFill/>
        </p:spPr>
        <p:txBody>
          <a:bodyPr wrap="square" rtlCol="0">
            <a:spAutoFit/>
          </a:bodyPr>
          <a:lstStyle/>
          <a:p>
            <a:pPr algn="r"/>
            <a:r>
              <a:rPr lang="tr-TR" sz="2000" dirty="0" smtClean="0">
                <a:effectLst>
                  <a:outerShdw blurRad="38100" dist="38100" dir="2700000" algn="tl">
                    <a:srgbClr val="000000">
                      <a:alpha val="43137"/>
                    </a:srgbClr>
                  </a:outerShdw>
                </a:effectLst>
              </a:rPr>
              <a:t>SUÇLARIN İÇTİMAI</a:t>
            </a:r>
            <a:endParaRPr lang="fr-FR" sz="2000" dirty="0">
              <a:effectLst>
                <a:outerShdw blurRad="38100" dist="38100" dir="2700000" algn="tl">
                  <a:srgbClr val="000000">
                    <a:alpha val="43137"/>
                  </a:srgbClr>
                </a:outerShdw>
              </a:effectLst>
            </a:endParaRPr>
          </a:p>
        </p:txBody>
      </p:sp>
      <p:sp>
        <p:nvSpPr>
          <p:cNvPr id="2" name="Şeritli Sağ Ok 1"/>
          <p:cNvSpPr/>
          <p:nvPr/>
        </p:nvSpPr>
        <p:spPr>
          <a:xfrm>
            <a:off x="7115503" y="3063110"/>
            <a:ext cx="2009448" cy="270392"/>
          </a:xfrm>
          <a:prstGeom prst="striped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Şeritli Sağ Ok 10"/>
          <p:cNvSpPr/>
          <p:nvPr/>
        </p:nvSpPr>
        <p:spPr>
          <a:xfrm>
            <a:off x="7546428" y="3565617"/>
            <a:ext cx="1578522" cy="257235"/>
          </a:xfrm>
          <a:prstGeom prst="striped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Şeritli Sağ Ok 15"/>
          <p:cNvSpPr/>
          <p:nvPr/>
        </p:nvSpPr>
        <p:spPr>
          <a:xfrm>
            <a:off x="8050925" y="4054967"/>
            <a:ext cx="1074026" cy="270392"/>
          </a:xfrm>
          <a:prstGeom prst="striped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Metin kutusu 2"/>
          <p:cNvSpPr txBox="1"/>
          <p:nvPr/>
        </p:nvSpPr>
        <p:spPr>
          <a:xfrm>
            <a:off x="105103" y="5703214"/>
            <a:ext cx="2322787" cy="954107"/>
          </a:xfrm>
          <a:prstGeom prst="rect">
            <a:avLst/>
          </a:prstGeom>
          <a:noFill/>
        </p:spPr>
        <p:txBody>
          <a:bodyPr wrap="square" rtlCol="0">
            <a:spAutoFit/>
          </a:bodyPr>
          <a:lstStyle/>
          <a:p>
            <a:r>
              <a:rPr lang="tr-TR" sz="1400" dirty="0" smtClean="0">
                <a:effectLst>
                  <a:outerShdw blurRad="38100" dist="38100" dir="2700000" algn="tl">
                    <a:srgbClr val="000000">
                      <a:alpha val="43137"/>
                    </a:srgbClr>
                  </a:outerShdw>
                </a:effectLst>
              </a:rPr>
              <a:t>Suçun Özel Görünüş Biçimleri</a:t>
            </a:r>
          </a:p>
          <a:p>
            <a:r>
              <a:rPr lang="tr-TR" sz="1400" b="1" dirty="0" smtClean="0"/>
              <a:t>1-</a:t>
            </a:r>
            <a:r>
              <a:rPr lang="tr-TR" sz="1400" dirty="0" smtClean="0"/>
              <a:t>Teşebbüs</a:t>
            </a:r>
          </a:p>
          <a:p>
            <a:r>
              <a:rPr lang="tr-TR" sz="1400" b="1" dirty="0" smtClean="0"/>
              <a:t>2-</a:t>
            </a:r>
            <a:r>
              <a:rPr lang="tr-TR" sz="1400" dirty="0" smtClean="0"/>
              <a:t>İştirak</a:t>
            </a:r>
          </a:p>
          <a:p>
            <a:r>
              <a:rPr lang="tr-TR" sz="1400" b="1" dirty="0" smtClean="0"/>
              <a:t>3-</a:t>
            </a:r>
            <a:r>
              <a:rPr lang="tr-TR" sz="1400" dirty="0" smtClean="0"/>
              <a:t>İçtima</a:t>
            </a:r>
            <a:endParaRPr lang="fr-FR" sz="1400" dirty="0"/>
          </a:p>
        </p:txBody>
      </p:sp>
      <p:sp>
        <p:nvSpPr>
          <p:cNvPr id="6" name="Slayt Numarası Yer Tutucusu 5"/>
          <p:cNvSpPr>
            <a:spLocks noGrp="1"/>
          </p:cNvSpPr>
          <p:nvPr>
            <p:ph type="sldNum" sz="quarter" idx="12"/>
          </p:nvPr>
        </p:nvSpPr>
        <p:spPr/>
        <p:txBody>
          <a:bodyPr/>
          <a:lstStyle/>
          <a:p>
            <a:fld id="{39F9BA00-44CD-41D4-A3D8-F864C744DC1F}" type="slidenum">
              <a:rPr lang="tr-TR" smtClean="0"/>
              <a:t>82</a:t>
            </a:fld>
            <a:r>
              <a:rPr lang="tr-TR"/>
              <a:t>/116</a:t>
            </a:r>
          </a:p>
        </p:txBody>
      </p:sp>
    </p:spTree>
    <p:extLst>
      <p:ext uri="{BB962C8B-B14F-4D97-AF65-F5344CB8AC3E}">
        <p14:creationId xmlns:p14="http://schemas.microsoft.com/office/powerpoint/2010/main" val="344005124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20244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Teşebbüs</a:t>
            </a:r>
          </a:p>
        </p:txBody>
      </p:sp>
      <p:sp>
        <p:nvSpPr>
          <p:cNvPr id="2" name="Dikdörtgen 1"/>
          <p:cNvSpPr/>
          <p:nvPr/>
        </p:nvSpPr>
        <p:spPr>
          <a:xfrm>
            <a:off x="3015671" y="2244325"/>
            <a:ext cx="6096000" cy="1446550"/>
          </a:xfrm>
          <a:prstGeom prst="rect">
            <a:avLst/>
          </a:prstGeom>
        </p:spPr>
        <p:txBody>
          <a:bodyPr>
            <a:spAutoFit/>
          </a:bodyPr>
          <a:lstStyle/>
          <a:p>
            <a:pPr algn="just"/>
            <a:r>
              <a:rPr lang="tr-TR" sz="1100" b="1" dirty="0" smtClean="0">
                <a:solidFill>
                  <a:srgbClr val="000000"/>
                </a:solidFill>
                <a:latin typeface="Times New Roman" panose="02020603050405020304" pitchFamily="18" charset="0"/>
              </a:rPr>
              <a:t>5237 s. Türk Ceza Kanunu</a:t>
            </a:r>
          </a:p>
          <a:p>
            <a:pPr algn="just"/>
            <a:r>
              <a:rPr lang="fr-FR" sz="1100" b="1" dirty="0" smtClean="0">
                <a:solidFill>
                  <a:srgbClr val="000000"/>
                </a:solidFill>
                <a:latin typeface="Times New Roman" panose="02020603050405020304" pitchFamily="18" charset="0"/>
              </a:rPr>
              <a:t>Suça </a:t>
            </a:r>
            <a:r>
              <a:rPr lang="fr-FR" sz="1100" b="1" dirty="0" err="1">
                <a:solidFill>
                  <a:srgbClr val="000000"/>
                </a:solidFill>
                <a:latin typeface="Times New Roman" panose="02020603050405020304" pitchFamily="18" charset="0"/>
              </a:rPr>
              <a:t>teşebbüs</a:t>
            </a:r>
            <a:r>
              <a:rPr lang="fr-FR" sz="1100" b="1" dirty="0">
                <a:solidFill>
                  <a:srgbClr val="000000"/>
                </a:solidFill>
                <a:latin typeface="Times New Roman" panose="02020603050405020304" pitchFamily="18" charset="0"/>
              </a:rPr>
              <a:t> </a:t>
            </a:r>
            <a:endParaRPr lang="fr-FR" sz="1100" dirty="0">
              <a:solidFill>
                <a:srgbClr val="000000"/>
              </a:solidFill>
              <a:latin typeface="Times New Roman" panose="02020603050405020304" pitchFamily="18" charset="0"/>
            </a:endParaRPr>
          </a:p>
          <a:p>
            <a:pPr algn="just"/>
            <a:r>
              <a:rPr lang="fr-FR" sz="1100" b="1" dirty="0" err="1">
                <a:solidFill>
                  <a:srgbClr val="000000"/>
                </a:solidFill>
                <a:latin typeface="Times New Roman" panose="02020603050405020304" pitchFamily="18" charset="0"/>
              </a:rPr>
              <a:t>Madde</a:t>
            </a:r>
            <a:r>
              <a:rPr lang="fr-FR" sz="1100" b="1" dirty="0">
                <a:solidFill>
                  <a:srgbClr val="000000"/>
                </a:solidFill>
                <a:latin typeface="Times New Roman" panose="02020603050405020304" pitchFamily="18" charset="0"/>
              </a:rPr>
              <a:t> 35- </a:t>
            </a:r>
            <a:r>
              <a:rPr lang="fr-FR" sz="1100" dirty="0">
                <a:solidFill>
                  <a:srgbClr val="000000"/>
                </a:solidFill>
                <a:latin typeface="Times New Roman" panose="02020603050405020304" pitchFamily="18" charset="0"/>
              </a:rPr>
              <a:t>(1) </a:t>
            </a:r>
            <a:r>
              <a:rPr lang="fr-FR" sz="1100" dirty="0" err="1">
                <a:solidFill>
                  <a:srgbClr val="000000"/>
                </a:solidFill>
                <a:latin typeface="Times New Roman" panose="02020603050405020304" pitchFamily="18" charset="0"/>
              </a:rPr>
              <a:t>Kişi</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işlemeyi</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kastettiği</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bir</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suçu</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elverişli</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hareketlerle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doğrudan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doğruya</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icraya</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başlayıp</a:t>
            </a:r>
            <a:r>
              <a:rPr lang="fr-FR" sz="1100" dirty="0">
                <a:solidFill>
                  <a:srgbClr val="000000"/>
                </a:solidFill>
                <a:latin typeface="Times New Roman" panose="02020603050405020304" pitchFamily="18" charset="0"/>
              </a:rPr>
              <a:t> da </a:t>
            </a:r>
            <a:r>
              <a:rPr lang="fr-FR" sz="1100" dirty="0" err="1">
                <a:solidFill>
                  <a:srgbClr val="000000"/>
                </a:solidFill>
                <a:latin typeface="Times New Roman" panose="02020603050405020304" pitchFamily="18" charset="0"/>
              </a:rPr>
              <a:t>elinde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olmayan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nedenlerle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tamamlayamaz</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ise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teşebbüsten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dolayı</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sorumlu</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tutulur</a:t>
            </a:r>
            <a:r>
              <a:rPr lang="fr-FR" sz="1100" dirty="0">
                <a:solidFill>
                  <a:srgbClr val="000000"/>
                </a:solidFill>
                <a:latin typeface="Times New Roman" panose="02020603050405020304" pitchFamily="18" charset="0"/>
              </a:rPr>
              <a:t>. </a:t>
            </a:r>
          </a:p>
          <a:p>
            <a:pPr algn="just"/>
            <a:r>
              <a:rPr lang="fr-FR" sz="1100" dirty="0">
                <a:solidFill>
                  <a:srgbClr val="000000"/>
                </a:solidFill>
                <a:latin typeface="Times New Roman" panose="02020603050405020304" pitchFamily="18" charset="0"/>
              </a:rPr>
              <a:t>(2) Suça </a:t>
            </a:r>
            <a:r>
              <a:rPr lang="fr-FR" sz="1100" dirty="0" err="1">
                <a:solidFill>
                  <a:srgbClr val="000000"/>
                </a:solidFill>
                <a:latin typeface="Times New Roman" panose="02020603050405020304" pitchFamily="18" charset="0"/>
              </a:rPr>
              <a:t>teşebbüs</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halinde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fail</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meydana</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gelen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zarar</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veya</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tehlikenin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ağırlığına</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göre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ağırlaştırılmış</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müebbet</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hapis</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cezası</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yerine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onüç</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yıldan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yirmi</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yıla</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kadar</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müebbet</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hapis</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cezası</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yerine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dokuz</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yıldan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onbeş</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yıla</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kadar</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hapis</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cezası</a:t>
            </a:r>
            <a:r>
              <a:rPr lang="fr-FR" sz="1100" dirty="0">
                <a:solidFill>
                  <a:srgbClr val="000000"/>
                </a:solidFill>
                <a:latin typeface="Times New Roman" panose="02020603050405020304" pitchFamily="18" charset="0"/>
              </a:rPr>
              <a:t> ile </a:t>
            </a:r>
            <a:r>
              <a:rPr lang="fr-FR" sz="1100" dirty="0" err="1">
                <a:solidFill>
                  <a:srgbClr val="000000"/>
                </a:solidFill>
                <a:latin typeface="Times New Roman" panose="02020603050405020304" pitchFamily="18" charset="0"/>
              </a:rPr>
              <a:t>cezalandırılır</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Diğer</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hallerde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verilecek</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cezanın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dörtte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birinden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dörtte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üçüne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kadarı</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indirilir</a:t>
            </a:r>
            <a:r>
              <a:rPr lang="fr-FR" sz="1100" dirty="0">
                <a:solidFill>
                  <a:srgbClr val="000000"/>
                </a:solidFill>
                <a:latin typeface="Times New Roman" panose="02020603050405020304" pitchFamily="18" charset="0"/>
              </a:rPr>
              <a:t>. </a:t>
            </a:r>
            <a:endParaRPr lang="fr-FR" sz="1100" dirty="0"/>
          </a:p>
        </p:txBody>
      </p:sp>
      <p:sp>
        <p:nvSpPr>
          <p:cNvPr id="3" name="Metin kutusu 2"/>
          <p:cNvSpPr txBox="1"/>
          <p:nvPr/>
        </p:nvSpPr>
        <p:spPr>
          <a:xfrm>
            <a:off x="2095500" y="3952875"/>
            <a:ext cx="9010650" cy="369332"/>
          </a:xfrm>
          <a:prstGeom prst="rect">
            <a:avLst/>
          </a:prstGeom>
          <a:noFill/>
        </p:spPr>
        <p:txBody>
          <a:bodyPr wrap="square" rtlCol="0">
            <a:spAutoFit/>
          </a:bodyPr>
          <a:lstStyle/>
          <a:p>
            <a:r>
              <a:rPr lang="tr-TR" dirty="0" smtClean="0"/>
              <a:t>Suç, suç yolu adı verilen bir sürecin sonucudur</a:t>
            </a:r>
            <a:endParaRPr lang="fr-FR" dirty="0"/>
          </a:p>
        </p:txBody>
      </p:sp>
      <p:sp>
        <p:nvSpPr>
          <p:cNvPr id="16" name="Metin kutusu 15"/>
          <p:cNvSpPr txBox="1"/>
          <p:nvPr/>
        </p:nvSpPr>
        <p:spPr>
          <a:xfrm>
            <a:off x="2095500" y="4322207"/>
            <a:ext cx="1304925" cy="369332"/>
          </a:xfrm>
          <a:prstGeom prst="rect">
            <a:avLst/>
          </a:prstGeom>
          <a:noFill/>
        </p:spPr>
        <p:txBody>
          <a:bodyPr wrap="square" rtlCol="0">
            <a:spAutoFit/>
          </a:bodyPr>
          <a:lstStyle/>
          <a:p>
            <a:r>
              <a:rPr lang="tr-TR" dirty="0" smtClean="0"/>
              <a:t>Suç yolu   =</a:t>
            </a:r>
            <a:endParaRPr lang="fr-FR" dirty="0"/>
          </a:p>
        </p:txBody>
      </p:sp>
      <p:sp>
        <p:nvSpPr>
          <p:cNvPr id="17" name="Metin kutusu 16"/>
          <p:cNvSpPr txBox="1"/>
          <p:nvPr/>
        </p:nvSpPr>
        <p:spPr>
          <a:xfrm>
            <a:off x="3857625" y="4322207"/>
            <a:ext cx="3676650" cy="369332"/>
          </a:xfrm>
          <a:prstGeom prst="rect">
            <a:avLst/>
          </a:prstGeom>
          <a:noFill/>
        </p:spPr>
        <p:txBody>
          <a:bodyPr wrap="square" rtlCol="0">
            <a:spAutoFit/>
          </a:bodyPr>
          <a:lstStyle/>
          <a:p>
            <a:r>
              <a:rPr lang="tr-TR" dirty="0" smtClean="0"/>
              <a:t>Düşünme (suç fikrinin ortaya çıkması)</a:t>
            </a:r>
            <a:endParaRPr lang="fr-FR" dirty="0"/>
          </a:p>
        </p:txBody>
      </p:sp>
      <p:sp>
        <p:nvSpPr>
          <p:cNvPr id="18" name="Metin kutusu 17"/>
          <p:cNvSpPr txBox="1"/>
          <p:nvPr/>
        </p:nvSpPr>
        <p:spPr>
          <a:xfrm>
            <a:off x="4762500" y="4691539"/>
            <a:ext cx="2667000" cy="369332"/>
          </a:xfrm>
          <a:prstGeom prst="rect">
            <a:avLst/>
          </a:prstGeom>
          <a:noFill/>
        </p:spPr>
        <p:txBody>
          <a:bodyPr wrap="square" rtlCol="0">
            <a:spAutoFit/>
          </a:bodyPr>
          <a:lstStyle/>
          <a:p>
            <a:r>
              <a:rPr lang="tr-TR" dirty="0" smtClean="0"/>
              <a:t>Hazırlık Hareketleri</a:t>
            </a:r>
            <a:endParaRPr lang="fr-FR" dirty="0"/>
          </a:p>
        </p:txBody>
      </p:sp>
      <p:sp>
        <p:nvSpPr>
          <p:cNvPr id="19" name="Metin kutusu 18"/>
          <p:cNvSpPr txBox="1"/>
          <p:nvPr/>
        </p:nvSpPr>
        <p:spPr>
          <a:xfrm>
            <a:off x="5829300" y="5060871"/>
            <a:ext cx="2667000" cy="369332"/>
          </a:xfrm>
          <a:prstGeom prst="rect">
            <a:avLst/>
          </a:prstGeom>
          <a:noFill/>
        </p:spPr>
        <p:txBody>
          <a:bodyPr wrap="square" rtlCol="0">
            <a:spAutoFit/>
          </a:bodyPr>
          <a:lstStyle/>
          <a:p>
            <a:r>
              <a:rPr lang="tr-TR" dirty="0" smtClean="0"/>
              <a:t>İcra Hareketleri</a:t>
            </a:r>
            <a:endParaRPr lang="fr-FR" dirty="0"/>
          </a:p>
        </p:txBody>
      </p:sp>
      <p:sp>
        <p:nvSpPr>
          <p:cNvPr id="22" name="Metin kutusu 21"/>
          <p:cNvSpPr txBox="1"/>
          <p:nvPr/>
        </p:nvSpPr>
        <p:spPr>
          <a:xfrm>
            <a:off x="7162800" y="5664521"/>
            <a:ext cx="2667000" cy="369332"/>
          </a:xfrm>
          <a:prstGeom prst="rect">
            <a:avLst/>
          </a:prstGeom>
          <a:noFill/>
        </p:spPr>
        <p:txBody>
          <a:bodyPr wrap="square" rtlCol="0">
            <a:spAutoFit/>
          </a:bodyPr>
          <a:lstStyle/>
          <a:p>
            <a:r>
              <a:rPr lang="tr-TR" dirty="0" smtClean="0"/>
              <a:t>Suçun Tamamlanması</a:t>
            </a:r>
            <a:endParaRPr lang="fr-FR" dirty="0"/>
          </a:p>
        </p:txBody>
      </p:sp>
      <p:sp>
        <p:nvSpPr>
          <p:cNvPr id="7" name="Yukarı Bükülü Ok 6"/>
          <p:cNvSpPr/>
          <p:nvPr/>
        </p:nvSpPr>
        <p:spPr>
          <a:xfrm rot="5400000">
            <a:off x="4387334" y="4618198"/>
            <a:ext cx="381000" cy="369332"/>
          </a:xfrm>
          <a:prstGeom prst="ben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Yukarı Bükülü Ok 22"/>
          <p:cNvSpPr/>
          <p:nvPr/>
        </p:nvSpPr>
        <p:spPr>
          <a:xfrm rot="5400000">
            <a:off x="5408652" y="4999198"/>
            <a:ext cx="381000" cy="369332"/>
          </a:xfrm>
          <a:prstGeom prst="bentUp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Yukarı Bükülü Ok 23"/>
          <p:cNvSpPr/>
          <p:nvPr/>
        </p:nvSpPr>
        <p:spPr>
          <a:xfrm rot="5400000">
            <a:off x="6432797" y="5300754"/>
            <a:ext cx="631332" cy="828675"/>
          </a:xfrm>
          <a:prstGeom prst="bentUp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noFill/>
            </a:endParaRPr>
          </a:p>
        </p:txBody>
      </p:sp>
      <p:sp>
        <p:nvSpPr>
          <p:cNvPr id="11" name="Sağ Ayraç 10"/>
          <p:cNvSpPr/>
          <p:nvPr/>
        </p:nvSpPr>
        <p:spPr>
          <a:xfrm>
            <a:off x="7052438" y="5374364"/>
            <a:ext cx="204952" cy="340727"/>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5" name="Metin kutusu 24"/>
          <p:cNvSpPr txBox="1"/>
          <p:nvPr/>
        </p:nvSpPr>
        <p:spPr>
          <a:xfrm>
            <a:off x="7208282" y="5338470"/>
            <a:ext cx="2667000" cy="369332"/>
          </a:xfrm>
          <a:prstGeom prst="rect">
            <a:avLst/>
          </a:prstGeom>
          <a:noFill/>
        </p:spPr>
        <p:txBody>
          <a:bodyPr wrap="square" rtlCol="0">
            <a:spAutoFit/>
          </a:bodyPr>
          <a:lstStyle/>
          <a:p>
            <a:r>
              <a:rPr lang="tr-TR" i="1" spc="600" dirty="0" smtClean="0">
                <a:effectLst>
                  <a:outerShdw blurRad="38100" dist="38100" dir="2700000" algn="tl">
                    <a:srgbClr val="000000">
                      <a:alpha val="43137"/>
                    </a:srgbClr>
                  </a:outerShdw>
                </a:effectLst>
              </a:rPr>
              <a:t>Teşebbüs</a:t>
            </a:r>
            <a:endParaRPr lang="fr-FR" i="1" spc="600" dirty="0">
              <a:effectLst>
                <a:outerShdw blurRad="38100" dist="38100" dir="2700000" algn="tl">
                  <a:srgbClr val="000000">
                    <a:alpha val="43137"/>
                  </a:srgbClr>
                </a:outerShdw>
              </a:effectLst>
            </a:endParaRPr>
          </a:p>
        </p:txBody>
      </p:sp>
      <p:sp>
        <p:nvSpPr>
          <p:cNvPr id="21" name="Metin kutusu 20"/>
          <p:cNvSpPr txBox="1"/>
          <p:nvPr/>
        </p:nvSpPr>
        <p:spPr>
          <a:xfrm>
            <a:off x="105103" y="5703214"/>
            <a:ext cx="2322787" cy="954107"/>
          </a:xfrm>
          <a:prstGeom prst="rect">
            <a:avLst/>
          </a:prstGeom>
          <a:noFill/>
        </p:spPr>
        <p:txBody>
          <a:bodyPr wrap="square" rtlCol="0">
            <a:spAutoFit/>
          </a:bodyPr>
          <a:lstStyle/>
          <a:p>
            <a:r>
              <a:rPr lang="tr-TR" sz="1400" dirty="0" smtClean="0">
                <a:effectLst>
                  <a:outerShdw blurRad="38100" dist="38100" dir="2700000" algn="tl">
                    <a:srgbClr val="000000">
                      <a:alpha val="43137"/>
                    </a:srgbClr>
                  </a:outerShdw>
                </a:effectLst>
              </a:rPr>
              <a:t>Suçun Özel Görünüş Biçimleri</a:t>
            </a:r>
          </a:p>
          <a:p>
            <a:r>
              <a:rPr lang="tr-TR" sz="1400" b="1" u="sng" dirty="0" smtClean="0"/>
              <a:t>1-Teşebbüs</a:t>
            </a:r>
          </a:p>
          <a:p>
            <a:r>
              <a:rPr lang="tr-TR" sz="1400" b="1" dirty="0" smtClean="0"/>
              <a:t>2-</a:t>
            </a:r>
            <a:r>
              <a:rPr lang="tr-TR" sz="1400" dirty="0" smtClean="0"/>
              <a:t>İştirak</a:t>
            </a:r>
          </a:p>
          <a:p>
            <a:r>
              <a:rPr lang="tr-TR" sz="1400" b="1" dirty="0" smtClean="0"/>
              <a:t>3-</a:t>
            </a:r>
            <a:r>
              <a:rPr lang="tr-TR" sz="1400" dirty="0" smtClean="0"/>
              <a:t>İçtima</a:t>
            </a:r>
            <a:endParaRPr lang="fr-FR" sz="1400" dirty="0"/>
          </a:p>
        </p:txBody>
      </p:sp>
      <p:sp>
        <p:nvSpPr>
          <p:cNvPr id="5" name="Slayt Numarası Yer Tutucusu 4"/>
          <p:cNvSpPr>
            <a:spLocks noGrp="1"/>
          </p:cNvSpPr>
          <p:nvPr>
            <p:ph type="sldNum" sz="quarter" idx="12"/>
          </p:nvPr>
        </p:nvSpPr>
        <p:spPr/>
        <p:txBody>
          <a:bodyPr/>
          <a:lstStyle/>
          <a:p>
            <a:fld id="{39F9BA00-44CD-41D4-A3D8-F864C744DC1F}" type="slidenum">
              <a:rPr lang="tr-TR" smtClean="0"/>
              <a:t>83</a:t>
            </a:fld>
            <a:r>
              <a:rPr lang="tr-TR"/>
              <a:t>/116</a:t>
            </a:r>
          </a:p>
        </p:txBody>
      </p:sp>
    </p:spTree>
    <p:extLst>
      <p:ext uri="{BB962C8B-B14F-4D97-AF65-F5344CB8AC3E}">
        <p14:creationId xmlns:p14="http://schemas.microsoft.com/office/powerpoint/2010/main" val="100938840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874781" y="1844215"/>
            <a:ext cx="1697094"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Teşebbüs</a:t>
            </a:r>
          </a:p>
        </p:txBody>
      </p:sp>
      <p:sp>
        <p:nvSpPr>
          <p:cNvPr id="3" name="Metin kutusu 2"/>
          <p:cNvSpPr txBox="1"/>
          <p:nvPr/>
        </p:nvSpPr>
        <p:spPr>
          <a:xfrm>
            <a:off x="1874781" y="2333813"/>
            <a:ext cx="9966235" cy="646331"/>
          </a:xfrm>
          <a:prstGeom prst="rect">
            <a:avLst/>
          </a:prstGeom>
          <a:noFill/>
        </p:spPr>
        <p:txBody>
          <a:bodyPr wrap="square" rtlCol="0">
            <a:spAutoFit/>
          </a:bodyPr>
          <a:lstStyle/>
          <a:p>
            <a:pPr algn="just"/>
            <a:r>
              <a:rPr lang="tr-TR" dirty="0" smtClean="0"/>
              <a:t>Teşebbüs aşamasında kalmış bir suçun tamamlanmış bir suçtan tek farkı, suçun maddi unsurlarının TAMAMLANMAMIŞ olmasıdır</a:t>
            </a:r>
            <a:endParaRPr lang="fr-FR" dirty="0"/>
          </a:p>
        </p:txBody>
      </p:sp>
      <p:sp>
        <p:nvSpPr>
          <p:cNvPr id="20" name="Metin kutusu 19"/>
          <p:cNvSpPr txBox="1"/>
          <p:nvPr/>
        </p:nvSpPr>
        <p:spPr>
          <a:xfrm>
            <a:off x="2559637" y="3007912"/>
            <a:ext cx="5104086" cy="800219"/>
          </a:xfrm>
          <a:prstGeom prst="rect">
            <a:avLst/>
          </a:prstGeom>
          <a:noFill/>
        </p:spPr>
        <p:txBody>
          <a:bodyPr wrap="square" rtlCol="0">
            <a:spAutoFit/>
          </a:bodyPr>
          <a:lstStyle/>
          <a:p>
            <a:pPr marL="285750" indent="-285750" algn="just">
              <a:buFont typeface="Arial" panose="020B0604020202020204" pitchFamily="34" charset="0"/>
              <a:buChar char="•"/>
            </a:pPr>
            <a:r>
              <a:rPr lang="tr-TR" sz="1600" b="1" dirty="0" smtClean="0"/>
              <a:t>Kasten işlenebilen bir suçun varlığı</a:t>
            </a:r>
          </a:p>
          <a:p>
            <a:pPr algn="just"/>
            <a:r>
              <a:rPr lang="tr-TR" dirty="0"/>
              <a:t>	</a:t>
            </a:r>
            <a:r>
              <a:rPr lang="tr-TR" sz="1200" i="1" dirty="0" smtClean="0"/>
              <a:t>Taksirli suçlar teşebbüse elverişli değildir</a:t>
            </a:r>
          </a:p>
          <a:p>
            <a:pPr algn="just"/>
            <a:r>
              <a:rPr lang="tr-TR" sz="1200" i="1" dirty="0"/>
              <a:t>	</a:t>
            </a:r>
            <a:r>
              <a:rPr lang="tr-TR" sz="1200" i="1" dirty="0" smtClean="0"/>
              <a:t>Failde suç işleme kastı bulunmalıdır</a:t>
            </a:r>
            <a:endParaRPr lang="fr-FR" sz="1600" i="1" dirty="0"/>
          </a:p>
        </p:txBody>
      </p:sp>
      <p:sp>
        <p:nvSpPr>
          <p:cNvPr id="26" name="Metin kutusu 25"/>
          <p:cNvSpPr txBox="1"/>
          <p:nvPr/>
        </p:nvSpPr>
        <p:spPr>
          <a:xfrm>
            <a:off x="2559637" y="3775096"/>
            <a:ext cx="9281380" cy="1184940"/>
          </a:xfrm>
          <a:prstGeom prst="rect">
            <a:avLst/>
          </a:prstGeom>
          <a:noFill/>
        </p:spPr>
        <p:txBody>
          <a:bodyPr wrap="square" rtlCol="0">
            <a:spAutoFit/>
          </a:bodyPr>
          <a:lstStyle/>
          <a:p>
            <a:pPr marL="285750" indent="-285750" algn="just">
              <a:buFont typeface="Arial" panose="020B0604020202020204" pitchFamily="34" charset="0"/>
              <a:buChar char="•"/>
            </a:pPr>
            <a:r>
              <a:rPr lang="tr-TR" sz="1600" b="1" dirty="0" smtClean="0"/>
              <a:t>İcra hareketinin başlamış olması</a:t>
            </a:r>
          </a:p>
          <a:p>
            <a:pPr marL="893763" indent="-893763" algn="just"/>
            <a:r>
              <a:rPr lang="tr-TR" sz="1100" i="1" dirty="0"/>
              <a:t>	Fiil, suçun gerçekleşmesi için gerekli olan hareketlerle sıkı bir bağlantı içindeyse ve herhangi bir engel çıkmaması durumunda doğrudan suçun gerçekleşmesini sağlayacaksa, yani suç tanımında belirtilen fiille zamansal ve mekânsal olarak doğrudan ilişki içinde bulunan bir hareket yapılıyorsa icra hareketine başlanmış demektir</a:t>
            </a:r>
            <a:r>
              <a:rPr lang="tr-TR" sz="1100" i="1" dirty="0" smtClean="0"/>
              <a:t>. Yağma suçunda mağdura cebir uygulanması halinde icra hareketine başlandığı kabul edilebilir. Ancak binada hırsızlık yapmaya karar veren failin kapıyı açmaya çalışırken yakalanması halinde, henüz suçun konusuyla yakın bağlantı içinde olan bir hareketi gerçekleştirmediğinden hırsızlığa teşebbüs ettiği söylenemeyebilir. </a:t>
            </a:r>
            <a:endParaRPr lang="fr-FR" sz="1100" i="1" dirty="0"/>
          </a:p>
        </p:txBody>
      </p:sp>
      <p:sp>
        <p:nvSpPr>
          <p:cNvPr id="29" name="Metin kutusu 28"/>
          <p:cNvSpPr txBox="1"/>
          <p:nvPr/>
        </p:nvSpPr>
        <p:spPr>
          <a:xfrm>
            <a:off x="2559636" y="4848373"/>
            <a:ext cx="9281380" cy="846386"/>
          </a:xfrm>
          <a:prstGeom prst="rect">
            <a:avLst/>
          </a:prstGeom>
          <a:noFill/>
        </p:spPr>
        <p:txBody>
          <a:bodyPr wrap="square" rtlCol="0">
            <a:spAutoFit/>
          </a:bodyPr>
          <a:lstStyle/>
          <a:p>
            <a:pPr marL="285750" indent="-285750" algn="just">
              <a:buFont typeface="Arial" panose="020B0604020202020204" pitchFamily="34" charset="0"/>
              <a:buChar char="•"/>
            </a:pPr>
            <a:r>
              <a:rPr lang="tr-TR" sz="1600" b="1" dirty="0" smtClean="0"/>
              <a:t>Hareketlerin Tipikliği gerçekleştirmeye elverişli olması</a:t>
            </a:r>
          </a:p>
          <a:p>
            <a:pPr marL="893763" algn="just"/>
            <a:r>
              <a:rPr lang="tr-TR" sz="1100" i="1" dirty="0" smtClean="0"/>
              <a:t>Elverişlilik</a:t>
            </a:r>
            <a:r>
              <a:rPr lang="tr-TR" sz="1100" i="1" dirty="0"/>
              <a:t>, kullanılan araç da dikkate alınarak fail </a:t>
            </a:r>
            <a:r>
              <a:rPr lang="tr-TR" sz="1100" i="1" dirty="0" smtClean="0"/>
              <a:t>tarafından </a:t>
            </a:r>
            <a:r>
              <a:rPr lang="tr-TR" sz="1100" i="1" dirty="0"/>
              <a:t>gerçekleştirilen faaliyetin tümü, hareket ve mevcut diğer şartlar göz önünde bulundurularak </a:t>
            </a:r>
            <a:r>
              <a:rPr lang="tr-TR" sz="1100" i="1" dirty="0" smtClean="0"/>
              <a:t>değerlendirilmelidir. Yani zehirlemek istenilen kişiye şeker verilmiş olması halinde fiilin suç tipikliğini gerçekleştirmeye elverişli olmadığı söylenebilir.  Ayrıca bkz. İŞLENEMEZ SUÇ</a:t>
            </a:r>
            <a:endParaRPr lang="fr-FR" sz="1100" i="1" dirty="0"/>
          </a:p>
        </p:txBody>
      </p:sp>
      <p:sp>
        <p:nvSpPr>
          <p:cNvPr id="30" name="Metin kutusu 29"/>
          <p:cNvSpPr txBox="1"/>
          <p:nvPr/>
        </p:nvSpPr>
        <p:spPr>
          <a:xfrm>
            <a:off x="2559636" y="5583453"/>
            <a:ext cx="9281380" cy="984885"/>
          </a:xfrm>
          <a:prstGeom prst="rect">
            <a:avLst/>
          </a:prstGeom>
          <a:noFill/>
        </p:spPr>
        <p:txBody>
          <a:bodyPr wrap="square" rtlCol="0">
            <a:spAutoFit/>
          </a:bodyPr>
          <a:lstStyle/>
          <a:p>
            <a:pPr marL="285750" indent="-285750" algn="just">
              <a:buFont typeface="Arial" panose="020B0604020202020204" pitchFamily="34" charset="0"/>
              <a:buChar char="•"/>
            </a:pPr>
            <a:r>
              <a:rPr lang="tr-TR" sz="1600" b="1" dirty="0" smtClean="0"/>
              <a:t>Failin elinde olmayan nedenlerden dolayı icra hareketlerinin tamamlanamaması ve neticenin gerçekleşmemesi</a:t>
            </a:r>
          </a:p>
          <a:p>
            <a:pPr marL="893763" indent="-84138" algn="just"/>
            <a:r>
              <a:rPr lang="tr-TR" sz="1400" i="1" dirty="0" smtClean="0"/>
              <a:t>	</a:t>
            </a:r>
            <a:r>
              <a:rPr lang="tr-TR" sz="1200" i="1" dirty="0" smtClean="0"/>
              <a:t>Tamamlanamama failin İRADESİ dışında bir nedenden kaynaklanmalıdır. İradesinden kaynaklanıyor ise Gönüllü Vazgeçme söz konusu olacaktır. </a:t>
            </a:r>
          </a:p>
        </p:txBody>
      </p:sp>
      <p:sp>
        <p:nvSpPr>
          <p:cNvPr id="9" name="Metin kutusu 8"/>
          <p:cNvSpPr txBox="1"/>
          <p:nvPr/>
        </p:nvSpPr>
        <p:spPr>
          <a:xfrm>
            <a:off x="105103" y="5703214"/>
            <a:ext cx="2322787" cy="954107"/>
          </a:xfrm>
          <a:prstGeom prst="rect">
            <a:avLst/>
          </a:prstGeom>
          <a:noFill/>
        </p:spPr>
        <p:txBody>
          <a:bodyPr wrap="square" rtlCol="0">
            <a:spAutoFit/>
          </a:bodyPr>
          <a:lstStyle/>
          <a:p>
            <a:r>
              <a:rPr lang="tr-TR" sz="1400" dirty="0" smtClean="0">
                <a:effectLst>
                  <a:outerShdw blurRad="38100" dist="38100" dir="2700000" algn="tl">
                    <a:srgbClr val="000000">
                      <a:alpha val="43137"/>
                    </a:srgbClr>
                  </a:outerShdw>
                </a:effectLst>
              </a:rPr>
              <a:t>Suçun Özel Görünüş Biçimleri</a:t>
            </a:r>
          </a:p>
          <a:p>
            <a:r>
              <a:rPr lang="tr-TR" sz="1400" b="1" u="sng" dirty="0" smtClean="0"/>
              <a:t>1-Teşebbüs</a:t>
            </a:r>
          </a:p>
          <a:p>
            <a:r>
              <a:rPr lang="tr-TR" sz="1400" b="1" dirty="0" smtClean="0"/>
              <a:t>2-</a:t>
            </a:r>
            <a:r>
              <a:rPr lang="tr-TR" sz="1400" dirty="0" smtClean="0"/>
              <a:t>İştirak</a:t>
            </a:r>
          </a:p>
          <a:p>
            <a:r>
              <a:rPr lang="tr-TR" sz="1400" b="1" dirty="0" smtClean="0"/>
              <a:t>3-</a:t>
            </a:r>
            <a:r>
              <a:rPr lang="tr-TR" sz="1400" dirty="0" smtClean="0"/>
              <a:t>İçtima</a:t>
            </a:r>
            <a:endParaRPr lang="fr-FR" sz="1400" dirty="0"/>
          </a:p>
        </p:txBody>
      </p:sp>
      <p:sp>
        <p:nvSpPr>
          <p:cNvPr id="4" name="Slayt Numarası Yer Tutucusu 3"/>
          <p:cNvSpPr>
            <a:spLocks noGrp="1"/>
          </p:cNvSpPr>
          <p:nvPr>
            <p:ph type="sldNum" sz="quarter" idx="12"/>
          </p:nvPr>
        </p:nvSpPr>
        <p:spPr/>
        <p:txBody>
          <a:bodyPr/>
          <a:lstStyle/>
          <a:p>
            <a:fld id="{39F9BA00-44CD-41D4-A3D8-F864C744DC1F}" type="slidenum">
              <a:rPr lang="tr-TR" smtClean="0"/>
              <a:t>84</a:t>
            </a:fld>
            <a:r>
              <a:rPr lang="tr-TR"/>
              <a:t>/116</a:t>
            </a:r>
          </a:p>
        </p:txBody>
      </p:sp>
    </p:spTree>
    <p:extLst>
      <p:ext uri="{BB962C8B-B14F-4D97-AF65-F5344CB8AC3E}">
        <p14:creationId xmlns:p14="http://schemas.microsoft.com/office/powerpoint/2010/main" val="74932505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874780" y="1844215"/>
            <a:ext cx="9875785"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Teşebbüs Halinde Cezanın Belirlenmesi</a:t>
            </a:r>
          </a:p>
        </p:txBody>
      </p:sp>
      <p:sp>
        <p:nvSpPr>
          <p:cNvPr id="3" name="Metin kutusu 2"/>
          <p:cNvSpPr txBox="1"/>
          <p:nvPr/>
        </p:nvSpPr>
        <p:spPr>
          <a:xfrm>
            <a:off x="1874780" y="2303277"/>
            <a:ext cx="9966235" cy="369332"/>
          </a:xfrm>
          <a:prstGeom prst="rect">
            <a:avLst/>
          </a:prstGeom>
          <a:noFill/>
        </p:spPr>
        <p:txBody>
          <a:bodyPr wrap="square" rtlCol="0">
            <a:spAutoFit/>
          </a:bodyPr>
          <a:lstStyle/>
          <a:p>
            <a:pPr algn="just"/>
            <a:r>
              <a:rPr lang="tr-TR" dirty="0"/>
              <a:t>Meydana gelen zarar veya tehlikenin ağırlığına göre asli suçun cezası üzerinden indirim yapılacaktır.</a:t>
            </a:r>
            <a:endParaRPr lang="fr-FR" dirty="0"/>
          </a:p>
        </p:txBody>
      </p:sp>
      <p:sp>
        <p:nvSpPr>
          <p:cNvPr id="15" name="Dikdörtgen 14"/>
          <p:cNvSpPr/>
          <p:nvPr/>
        </p:nvSpPr>
        <p:spPr>
          <a:xfrm>
            <a:off x="1874779" y="2633963"/>
            <a:ext cx="4578573"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Gönüllü Vazgeçme</a:t>
            </a:r>
          </a:p>
        </p:txBody>
      </p:sp>
      <p:sp>
        <p:nvSpPr>
          <p:cNvPr id="2" name="Dikdörtgen 1"/>
          <p:cNvSpPr/>
          <p:nvPr/>
        </p:nvSpPr>
        <p:spPr>
          <a:xfrm>
            <a:off x="1874779" y="3944982"/>
            <a:ext cx="9875786" cy="369332"/>
          </a:xfrm>
          <a:prstGeom prst="rect">
            <a:avLst/>
          </a:prstGeom>
        </p:spPr>
        <p:txBody>
          <a:bodyPr wrap="square">
            <a:spAutoFit/>
          </a:bodyPr>
          <a:lstStyle/>
          <a:p>
            <a:pPr algn="just"/>
            <a:r>
              <a:rPr lang="tr-TR" i="1" dirty="0" smtClean="0"/>
              <a:t>Suçun tamamlanmaması failin </a:t>
            </a:r>
            <a:r>
              <a:rPr lang="tr-TR" i="1" u="sng" dirty="0" smtClean="0"/>
              <a:t>iradesinden kaynaklanıyor</a:t>
            </a:r>
            <a:r>
              <a:rPr lang="tr-TR" i="1" dirty="0" smtClean="0"/>
              <a:t> ise Gönüllü Vazgeçme söz konusu olacaktır. </a:t>
            </a:r>
            <a:endParaRPr lang="tr-TR" i="1" dirty="0"/>
          </a:p>
        </p:txBody>
      </p:sp>
      <p:sp>
        <p:nvSpPr>
          <p:cNvPr id="4" name="Dikdörtgen 3"/>
          <p:cNvSpPr/>
          <p:nvPr/>
        </p:nvSpPr>
        <p:spPr>
          <a:xfrm>
            <a:off x="2797720" y="3004779"/>
            <a:ext cx="8416818" cy="769441"/>
          </a:xfrm>
          <a:prstGeom prst="rect">
            <a:avLst/>
          </a:prstGeom>
        </p:spPr>
        <p:txBody>
          <a:bodyPr wrap="square">
            <a:spAutoFit/>
          </a:bodyPr>
          <a:lstStyle/>
          <a:p>
            <a:pPr algn="just"/>
            <a:r>
              <a:rPr lang="tr-TR" sz="1100" b="1" dirty="0">
                <a:solidFill>
                  <a:srgbClr val="000000"/>
                </a:solidFill>
                <a:latin typeface="Times New Roman" panose="02020603050405020304" pitchFamily="18" charset="0"/>
              </a:rPr>
              <a:t>5237 s. Türk Ceza Kanunu</a:t>
            </a:r>
          </a:p>
          <a:p>
            <a:pPr algn="just"/>
            <a:r>
              <a:rPr lang="fr-FR" sz="1100" b="1" dirty="0" err="1">
                <a:solidFill>
                  <a:srgbClr val="000000"/>
                </a:solidFill>
                <a:latin typeface="Times New Roman" panose="02020603050405020304" pitchFamily="18" charset="0"/>
              </a:rPr>
              <a:t>Gönüllü</a:t>
            </a:r>
            <a:r>
              <a:rPr lang="fr-FR" sz="1100" b="1" dirty="0">
                <a:solidFill>
                  <a:srgbClr val="000000"/>
                </a:solidFill>
                <a:latin typeface="Times New Roman" panose="02020603050405020304" pitchFamily="18" charset="0"/>
              </a:rPr>
              <a:t> </a:t>
            </a:r>
            <a:r>
              <a:rPr lang="fr-FR" sz="1100" b="1" dirty="0" err="1">
                <a:solidFill>
                  <a:srgbClr val="000000"/>
                </a:solidFill>
                <a:latin typeface="Times New Roman" panose="02020603050405020304" pitchFamily="18" charset="0"/>
              </a:rPr>
              <a:t>vazgeçme</a:t>
            </a:r>
            <a:r>
              <a:rPr lang="fr-FR" sz="1100" b="1" dirty="0">
                <a:solidFill>
                  <a:srgbClr val="000000"/>
                </a:solidFill>
                <a:latin typeface="Times New Roman" panose="02020603050405020304" pitchFamily="18" charset="0"/>
              </a:rPr>
              <a:t> </a:t>
            </a:r>
          </a:p>
          <a:p>
            <a:pPr algn="just"/>
            <a:r>
              <a:rPr lang="fr-FR" sz="1100" b="1" dirty="0" err="1">
                <a:solidFill>
                  <a:srgbClr val="000000"/>
                </a:solidFill>
                <a:latin typeface="Times New Roman" panose="02020603050405020304" pitchFamily="18" charset="0"/>
              </a:rPr>
              <a:t>Madde</a:t>
            </a:r>
            <a:r>
              <a:rPr lang="fr-FR" sz="1100" b="1" dirty="0">
                <a:solidFill>
                  <a:srgbClr val="000000"/>
                </a:solidFill>
                <a:latin typeface="Times New Roman" panose="02020603050405020304" pitchFamily="18" charset="0"/>
              </a:rPr>
              <a:t> 36- </a:t>
            </a:r>
            <a:r>
              <a:rPr lang="fr-FR" sz="1100" dirty="0">
                <a:solidFill>
                  <a:srgbClr val="000000"/>
                </a:solidFill>
                <a:latin typeface="Times New Roman" panose="02020603050405020304" pitchFamily="18" charset="0"/>
              </a:rPr>
              <a:t>(1) Fail, </a:t>
            </a:r>
            <a:r>
              <a:rPr lang="fr-FR" sz="1100" dirty="0" err="1">
                <a:solidFill>
                  <a:srgbClr val="000000"/>
                </a:solidFill>
                <a:latin typeface="Times New Roman" panose="02020603050405020304" pitchFamily="18" charset="0"/>
              </a:rPr>
              <a:t>suçun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icra</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hareketlerinden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gönüllü</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vazgeçer</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veya</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kendi</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çabalarıyla</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suçun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tamamlanmasını</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veya</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neticenin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gerçekleşmesini</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önlerse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teşebbüsten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dolayı</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cezalandırılmaz</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fakat</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tamam</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olan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kısım</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esasen</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bir</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suç</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oluşturduğu</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takdirde</a:t>
            </a:r>
            <a:r>
              <a:rPr lang="fr-FR" sz="1100" dirty="0">
                <a:solidFill>
                  <a:srgbClr val="000000"/>
                </a:solidFill>
                <a:latin typeface="Times New Roman" panose="02020603050405020304" pitchFamily="18" charset="0"/>
              </a:rPr>
              <a:t>, </a:t>
            </a:r>
            <a:r>
              <a:rPr lang="fr-FR" sz="1100" dirty="0" err="1">
                <a:solidFill>
                  <a:srgbClr val="000000"/>
                </a:solidFill>
                <a:latin typeface="Times New Roman" panose="02020603050405020304" pitchFamily="18" charset="0"/>
              </a:rPr>
              <a:t>sadece</a:t>
            </a:r>
            <a:r>
              <a:rPr lang="fr-FR" sz="1100" dirty="0">
                <a:solidFill>
                  <a:srgbClr val="000000"/>
                </a:solidFill>
                <a:latin typeface="Times New Roman" panose="02020603050405020304" pitchFamily="18" charset="0"/>
              </a:rPr>
              <a:t> o suça ait </a:t>
            </a:r>
            <a:r>
              <a:rPr lang="fr-FR" sz="1100" dirty="0" err="1">
                <a:solidFill>
                  <a:srgbClr val="000000"/>
                </a:solidFill>
                <a:latin typeface="Times New Roman" panose="02020603050405020304" pitchFamily="18" charset="0"/>
              </a:rPr>
              <a:t>ceza</a:t>
            </a:r>
            <a:r>
              <a:rPr lang="fr-FR" sz="1100" dirty="0">
                <a:solidFill>
                  <a:srgbClr val="000000"/>
                </a:solidFill>
                <a:latin typeface="Times New Roman" panose="02020603050405020304" pitchFamily="18" charset="0"/>
              </a:rPr>
              <a:t> ile </a:t>
            </a:r>
            <a:r>
              <a:rPr lang="fr-FR" sz="1100" dirty="0" err="1">
                <a:solidFill>
                  <a:srgbClr val="000000"/>
                </a:solidFill>
                <a:latin typeface="Times New Roman" panose="02020603050405020304" pitchFamily="18" charset="0"/>
              </a:rPr>
              <a:t>cezalandırılır</a:t>
            </a:r>
            <a:r>
              <a:rPr lang="fr-FR" sz="1100" dirty="0">
                <a:solidFill>
                  <a:srgbClr val="000000"/>
                </a:solidFill>
                <a:latin typeface="Times New Roman" panose="02020603050405020304" pitchFamily="18" charset="0"/>
              </a:rPr>
              <a:t>. </a:t>
            </a:r>
          </a:p>
        </p:txBody>
      </p:sp>
      <p:sp>
        <p:nvSpPr>
          <p:cNvPr id="16" name="Metin kutusu 15"/>
          <p:cNvSpPr txBox="1"/>
          <p:nvPr/>
        </p:nvSpPr>
        <p:spPr>
          <a:xfrm>
            <a:off x="2433511" y="4314314"/>
            <a:ext cx="9407503" cy="892552"/>
          </a:xfrm>
          <a:prstGeom prst="rect">
            <a:avLst/>
          </a:prstGeom>
          <a:noFill/>
        </p:spPr>
        <p:txBody>
          <a:bodyPr wrap="square" rtlCol="0">
            <a:spAutoFit/>
          </a:bodyPr>
          <a:lstStyle/>
          <a:p>
            <a:pPr marL="285750" indent="-285750" algn="just">
              <a:buFont typeface="Arial" panose="020B0604020202020204" pitchFamily="34" charset="0"/>
              <a:buChar char="•"/>
            </a:pPr>
            <a:r>
              <a:rPr lang="tr-TR" sz="1600" b="1" dirty="0" smtClean="0"/>
              <a:t>Suç tamamlanmamış olmalıdır</a:t>
            </a:r>
          </a:p>
          <a:p>
            <a:pPr marL="893763" algn="just"/>
            <a:r>
              <a:rPr lang="tr-TR" sz="1200" i="1" dirty="0" smtClean="0"/>
              <a:t>Uygulama alanı teşebbüs aşamasıyla sınırlıdır. Yani suçun Kanuni tipikliğinde yer alan unsurların tümünün, neticeli suçlarda da neticenin gerçekleşmesinden sonra gönüllü vazgeçme mümkün değildir. Suçun tamamlanmasından sonra ancak şartları varsa etkin pişmanlık hükümleri uygulanabilecektir.</a:t>
            </a:r>
            <a:endParaRPr lang="fr-FR" sz="1600" i="1" dirty="0"/>
          </a:p>
        </p:txBody>
      </p:sp>
      <p:sp>
        <p:nvSpPr>
          <p:cNvPr id="17" name="Metin kutusu 16"/>
          <p:cNvSpPr txBox="1"/>
          <p:nvPr/>
        </p:nvSpPr>
        <p:spPr>
          <a:xfrm>
            <a:off x="2433510" y="5225629"/>
            <a:ext cx="9407503" cy="800219"/>
          </a:xfrm>
          <a:prstGeom prst="rect">
            <a:avLst/>
          </a:prstGeom>
          <a:noFill/>
        </p:spPr>
        <p:txBody>
          <a:bodyPr wrap="square" rtlCol="0">
            <a:spAutoFit/>
          </a:bodyPr>
          <a:lstStyle/>
          <a:p>
            <a:pPr marL="285750" indent="-285750" algn="just">
              <a:buFont typeface="Arial" panose="020B0604020202020204" pitchFamily="34" charset="0"/>
              <a:buChar char="•"/>
            </a:pPr>
            <a:r>
              <a:rPr lang="tr-TR" sz="1600" b="1" dirty="0" smtClean="0"/>
              <a:t>Vazgeçme iradi ve gönüllü olmalıdır</a:t>
            </a:r>
          </a:p>
          <a:p>
            <a:pPr algn="just"/>
            <a:r>
              <a:rPr lang="tr-TR" dirty="0" smtClean="0"/>
              <a:t>	</a:t>
            </a:r>
            <a:r>
              <a:rPr lang="tr-TR" sz="1200" i="1" dirty="0" smtClean="0"/>
              <a:t>Serbest İrade</a:t>
            </a:r>
          </a:p>
          <a:p>
            <a:pPr algn="just"/>
            <a:r>
              <a:rPr lang="tr-TR" sz="1200" i="1" dirty="0"/>
              <a:t>	</a:t>
            </a:r>
            <a:r>
              <a:rPr lang="tr-TR" sz="1200" i="1" dirty="0" smtClean="0"/>
              <a:t>Fail suçu tamamlama imkanına sahip olmasına rağmen, icra hareketlerine gönüllü olarak son vermektedir</a:t>
            </a:r>
          </a:p>
        </p:txBody>
      </p:sp>
      <p:sp>
        <p:nvSpPr>
          <p:cNvPr id="11" name="Dikdörtgen 10"/>
          <p:cNvSpPr/>
          <p:nvPr/>
        </p:nvSpPr>
        <p:spPr>
          <a:xfrm>
            <a:off x="1874779" y="6118181"/>
            <a:ext cx="9875786" cy="369332"/>
          </a:xfrm>
          <a:prstGeom prst="rect">
            <a:avLst/>
          </a:prstGeom>
        </p:spPr>
        <p:txBody>
          <a:bodyPr wrap="square">
            <a:spAutoFit/>
          </a:bodyPr>
          <a:lstStyle/>
          <a:p>
            <a:pPr algn="ctr"/>
            <a:r>
              <a:rPr lang="tr-TR" i="1" dirty="0" smtClean="0">
                <a:effectLst>
                  <a:outerShdw blurRad="38100" dist="38100" dir="2700000" algn="tl">
                    <a:srgbClr val="000000">
                      <a:alpha val="43137"/>
                    </a:srgbClr>
                  </a:outerShdw>
                </a:effectLst>
              </a:rPr>
              <a:t>Gönüllü vazgeçme cezayı kaldıran şahsi bir sebeptir. </a:t>
            </a:r>
            <a:endParaRPr lang="tr-TR" i="1" dirty="0">
              <a:effectLst>
                <a:outerShdw blurRad="38100" dist="38100" dir="2700000" algn="tl">
                  <a:srgbClr val="000000">
                    <a:alpha val="43137"/>
                  </a:srgbClr>
                </a:outerShdw>
              </a:effectLst>
            </a:endParaRPr>
          </a:p>
        </p:txBody>
      </p:sp>
      <p:sp>
        <p:nvSpPr>
          <p:cNvPr id="12" name="Metin kutusu 11"/>
          <p:cNvSpPr txBox="1"/>
          <p:nvPr/>
        </p:nvSpPr>
        <p:spPr>
          <a:xfrm>
            <a:off x="105103" y="5703214"/>
            <a:ext cx="2322787" cy="954107"/>
          </a:xfrm>
          <a:prstGeom prst="rect">
            <a:avLst/>
          </a:prstGeom>
          <a:noFill/>
        </p:spPr>
        <p:txBody>
          <a:bodyPr wrap="square" rtlCol="0">
            <a:spAutoFit/>
          </a:bodyPr>
          <a:lstStyle/>
          <a:p>
            <a:r>
              <a:rPr lang="tr-TR" sz="1400" dirty="0" smtClean="0">
                <a:effectLst>
                  <a:outerShdw blurRad="38100" dist="38100" dir="2700000" algn="tl">
                    <a:srgbClr val="000000">
                      <a:alpha val="43137"/>
                    </a:srgbClr>
                  </a:outerShdw>
                </a:effectLst>
              </a:rPr>
              <a:t>Suçun Özel Görünüş Biçimleri</a:t>
            </a:r>
          </a:p>
          <a:p>
            <a:r>
              <a:rPr lang="tr-TR" sz="1400" b="1" u="sng" dirty="0" smtClean="0"/>
              <a:t>1-Teşebbüs</a:t>
            </a:r>
          </a:p>
          <a:p>
            <a:r>
              <a:rPr lang="tr-TR" sz="1400" b="1" dirty="0" smtClean="0"/>
              <a:t>2-</a:t>
            </a:r>
            <a:r>
              <a:rPr lang="tr-TR" sz="1400" dirty="0" smtClean="0"/>
              <a:t>İştirak</a:t>
            </a:r>
          </a:p>
          <a:p>
            <a:r>
              <a:rPr lang="tr-TR" sz="1400" b="1" dirty="0" smtClean="0"/>
              <a:t>3-</a:t>
            </a:r>
            <a:r>
              <a:rPr lang="tr-TR" sz="1400" dirty="0" smtClean="0"/>
              <a:t>İçtima</a:t>
            </a:r>
            <a:endParaRPr lang="fr-FR" sz="1400" dirty="0"/>
          </a:p>
        </p:txBody>
      </p:sp>
      <p:sp>
        <p:nvSpPr>
          <p:cNvPr id="6" name="Slayt Numarası Yer Tutucusu 5"/>
          <p:cNvSpPr>
            <a:spLocks noGrp="1"/>
          </p:cNvSpPr>
          <p:nvPr>
            <p:ph type="sldNum" sz="quarter" idx="12"/>
          </p:nvPr>
        </p:nvSpPr>
        <p:spPr/>
        <p:txBody>
          <a:bodyPr/>
          <a:lstStyle/>
          <a:p>
            <a:fld id="{39F9BA00-44CD-41D4-A3D8-F864C744DC1F}" type="slidenum">
              <a:rPr lang="tr-TR" smtClean="0"/>
              <a:t>85</a:t>
            </a:fld>
            <a:r>
              <a:rPr lang="tr-TR"/>
              <a:t>/116</a:t>
            </a:r>
          </a:p>
        </p:txBody>
      </p:sp>
    </p:spTree>
    <p:extLst>
      <p:ext uri="{BB962C8B-B14F-4D97-AF65-F5344CB8AC3E}">
        <p14:creationId xmlns:p14="http://schemas.microsoft.com/office/powerpoint/2010/main" val="327225751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5" name="Dikdörtgen 14"/>
          <p:cNvSpPr/>
          <p:nvPr/>
        </p:nvSpPr>
        <p:spPr>
          <a:xfrm>
            <a:off x="1874779" y="1842319"/>
            <a:ext cx="9966238"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İştirak      </a:t>
            </a:r>
            <a:r>
              <a:rPr lang="tr-TR" sz="1200" dirty="0" smtClean="0">
                <a:effectLst>
                  <a:outerShdw blurRad="38100" dist="38100" dir="2700000" algn="tl">
                    <a:srgbClr val="000000">
                      <a:alpha val="43137"/>
                    </a:srgbClr>
                  </a:outerShdw>
                </a:effectLst>
                <a:latin typeface="Calibri" panose="020F0502020204030204"/>
              </a:rPr>
              <a:t> </a:t>
            </a:r>
            <a:r>
              <a:rPr lang="tr-TR" sz="1200" i="1" dirty="0" smtClean="0">
                <a:effectLst>
                  <a:outerShdw blurRad="38100" dist="38100" dir="2700000" algn="tl">
                    <a:srgbClr val="000000">
                      <a:alpha val="43137"/>
                    </a:srgbClr>
                  </a:outerShdw>
                </a:effectLst>
                <a:latin typeface="Calibri" panose="020F0502020204030204"/>
              </a:rPr>
              <a:t>Esasen bir kişi tarafından işlenebilen bir suçun, birden fazla kişi tarafından aralarındaki anlaşma uyarınca işbirliği içinde işlenmesi</a:t>
            </a:r>
            <a:endParaRPr lang="tr-TR" sz="2000" b="1" i="1" dirty="0" smtClean="0">
              <a:effectLst>
                <a:outerShdw blurRad="38100" dist="38100" dir="2700000" algn="tl">
                  <a:srgbClr val="000000">
                    <a:alpha val="43137"/>
                  </a:srgbClr>
                </a:outerShdw>
              </a:effectLst>
              <a:latin typeface="Calibri" panose="020F0502020204030204"/>
            </a:endParaRPr>
          </a:p>
        </p:txBody>
      </p:sp>
      <p:sp>
        <p:nvSpPr>
          <p:cNvPr id="2" name="Dikdörtgen 1"/>
          <p:cNvSpPr/>
          <p:nvPr/>
        </p:nvSpPr>
        <p:spPr>
          <a:xfrm>
            <a:off x="2137537" y="2242429"/>
            <a:ext cx="9875786" cy="3785652"/>
          </a:xfrm>
          <a:prstGeom prst="rect">
            <a:avLst/>
          </a:prstGeom>
        </p:spPr>
        <p:txBody>
          <a:bodyPr wrap="square">
            <a:spAutoFit/>
          </a:bodyPr>
          <a:lstStyle/>
          <a:p>
            <a:pPr algn="just"/>
            <a:r>
              <a:rPr lang="tr-TR" sz="1200" b="1" dirty="0" smtClean="0"/>
              <a:t>Türk Ceza Kanunu</a:t>
            </a:r>
            <a:endParaRPr lang="fr-FR" sz="1200" dirty="0"/>
          </a:p>
          <a:p>
            <a:pPr algn="just"/>
            <a:r>
              <a:rPr lang="fr-FR" sz="1200" b="1" dirty="0" err="1"/>
              <a:t>Faillik</a:t>
            </a:r>
            <a:r>
              <a:rPr lang="fr-FR" sz="1200" b="1" dirty="0"/>
              <a:t> </a:t>
            </a:r>
            <a:endParaRPr lang="fr-FR" sz="1200" dirty="0"/>
          </a:p>
          <a:p>
            <a:pPr algn="just"/>
            <a:r>
              <a:rPr lang="fr-FR" sz="1200" b="1" dirty="0" err="1"/>
              <a:t>Madde</a:t>
            </a:r>
            <a:r>
              <a:rPr lang="fr-FR" sz="1200" b="1" dirty="0"/>
              <a:t> 37- </a:t>
            </a:r>
            <a:r>
              <a:rPr lang="fr-FR" sz="1200" dirty="0"/>
              <a:t>(1) </a:t>
            </a:r>
            <a:r>
              <a:rPr lang="fr-FR" sz="1200" dirty="0" err="1"/>
              <a:t>Suçun</a:t>
            </a:r>
            <a:r>
              <a:rPr lang="fr-FR" sz="1200" dirty="0"/>
              <a:t> </a:t>
            </a:r>
            <a:r>
              <a:rPr lang="fr-FR" sz="1200" dirty="0" err="1"/>
              <a:t>kanuni</a:t>
            </a:r>
            <a:r>
              <a:rPr lang="fr-FR" sz="1200" dirty="0"/>
              <a:t> </a:t>
            </a:r>
            <a:r>
              <a:rPr lang="fr-FR" sz="1200" dirty="0" err="1"/>
              <a:t>tanımında</a:t>
            </a:r>
            <a:r>
              <a:rPr lang="fr-FR" sz="1200" dirty="0"/>
              <a:t> </a:t>
            </a:r>
            <a:r>
              <a:rPr lang="fr-FR" sz="1200" dirty="0" err="1"/>
              <a:t>yer</a:t>
            </a:r>
            <a:r>
              <a:rPr lang="fr-FR" sz="1200" dirty="0"/>
              <a:t> </a:t>
            </a:r>
            <a:r>
              <a:rPr lang="fr-FR" sz="1200" dirty="0" err="1"/>
              <a:t>alan</a:t>
            </a:r>
            <a:r>
              <a:rPr lang="fr-FR" sz="1200" dirty="0"/>
              <a:t> </a:t>
            </a:r>
            <a:r>
              <a:rPr lang="fr-FR" sz="1200" dirty="0" err="1"/>
              <a:t>fiili</a:t>
            </a:r>
            <a:r>
              <a:rPr lang="fr-FR" sz="1200" dirty="0"/>
              <a:t> </a:t>
            </a:r>
            <a:r>
              <a:rPr lang="fr-FR" sz="1200" dirty="0" err="1"/>
              <a:t>birlikte</a:t>
            </a:r>
            <a:r>
              <a:rPr lang="fr-FR" sz="1200" dirty="0"/>
              <a:t> </a:t>
            </a:r>
            <a:r>
              <a:rPr lang="fr-FR" sz="1200" dirty="0" err="1"/>
              <a:t>gerçekleştiren</a:t>
            </a:r>
            <a:r>
              <a:rPr lang="fr-FR" sz="1200" dirty="0"/>
              <a:t> </a:t>
            </a:r>
            <a:r>
              <a:rPr lang="fr-FR" sz="1200" dirty="0" err="1"/>
              <a:t>kişilerden</a:t>
            </a:r>
            <a:r>
              <a:rPr lang="fr-FR" sz="1200" dirty="0"/>
              <a:t> </a:t>
            </a:r>
            <a:r>
              <a:rPr lang="fr-FR" sz="1200" dirty="0" err="1"/>
              <a:t>her</a:t>
            </a:r>
            <a:r>
              <a:rPr lang="fr-FR" sz="1200" dirty="0"/>
              <a:t> </a:t>
            </a:r>
            <a:r>
              <a:rPr lang="fr-FR" sz="1200" dirty="0" err="1"/>
              <a:t>biri</a:t>
            </a:r>
            <a:r>
              <a:rPr lang="fr-FR" sz="1200" dirty="0"/>
              <a:t>, </a:t>
            </a:r>
            <a:r>
              <a:rPr lang="fr-FR" sz="1200" dirty="0" err="1"/>
              <a:t>fail</a:t>
            </a:r>
            <a:r>
              <a:rPr lang="fr-FR" sz="1200" dirty="0"/>
              <a:t> </a:t>
            </a:r>
            <a:r>
              <a:rPr lang="fr-FR" sz="1200" dirty="0" err="1"/>
              <a:t>olarak</a:t>
            </a:r>
            <a:r>
              <a:rPr lang="fr-FR" sz="1200" dirty="0"/>
              <a:t> </a:t>
            </a:r>
            <a:r>
              <a:rPr lang="fr-FR" sz="1200" dirty="0" err="1"/>
              <a:t>sorumlu</a:t>
            </a:r>
            <a:r>
              <a:rPr lang="fr-FR" sz="1200" dirty="0"/>
              <a:t> </a:t>
            </a:r>
            <a:r>
              <a:rPr lang="fr-FR" sz="1200" dirty="0" err="1"/>
              <a:t>olur</a:t>
            </a:r>
            <a:r>
              <a:rPr lang="fr-FR" sz="1200" dirty="0"/>
              <a:t>. </a:t>
            </a:r>
          </a:p>
          <a:p>
            <a:pPr algn="just"/>
            <a:r>
              <a:rPr lang="fr-FR" sz="1200" dirty="0"/>
              <a:t>(2) </a:t>
            </a:r>
            <a:r>
              <a:rPr lang="fr-FR" sz="1200" dirty="0" err="1"/>
              <a:t>Suçun</a:t>
            </a:r>
            <a:r>
              <a:rPr lang="fr-FR" sz="1200" dirty="0"/>
              <a:t> </a:t>
            </a:r>
            <a:r>
              <a:rPr lang="fr-FR" sz="1200" dirty="0" err="1"/>
              <a:t>işlenmesinde</a:t>
            </a:r>
            <a:r>
              <a:rPr lang="fr-FR" sz="1200" dirty="0"/>
              <a:t> </a:t>
            </a:r>
            <a:r>
              <a:rPr lang="fr-FR" sz="1200" dirty="0" err="1"/>
              <a:t>bir</a:t>
            </a:r>
            <a:r>
              <a:rPr lang="fr-FR" sz="1200" dirty="0"/>
              <a:t> </a:t>
            </a:r>
            <a:r>
              <a:rPr lang="fr-FR" sz="1200" dirty="0" err="1"/>
              <a:t>başkasını</a:t>
            </a:r>
            <a:r>
              <a:rPr lang="fr-FR" sz="1200" dirty="0"/>
              <a:t> </a:t>
            </a:r>
            <a:r>
              <a:rPr lang="fr-FR" sz="1200" dirty="0" err="1"/>
              <a:t>araç</a:t>
            </a:r>
            <a:r>
              <a:rPr lang="fr-FR" sz="1200" dirty="0"/>
              <a:t> </a:t>
            </a:r>
            <a:r>
              <a:rPr lang="fr-FR" sz="1200" dirty="0" err="1"/>
              <a:t>olarak</a:t>
            </a:r>
            <a:r>
              <a:rPr lang="fr-FR" sz="1200" dirty="0"/>
              <a:t> </a:t>
            </a:r>
            <a:r>
              <a:rPr lang="fr-FR" sz="1200" dirty="0" err="1"/>
              <a:t>kullanan</a:t>
            </a:r>
            <a:r>
              <a:rPr lang="fr-FR" sz="1200" dirty="0"/>
              <a:t> </a:t>
            </a:r>
            <a:r>
              <a:rPr lang="fr-FR" sz="1200" dirty="0" err="1"/>
              <a:t>kişi</a:t>
            </a:r>
            <a:r>
              <a:rPr lang="fr-FR" sz="1200" dirty="0"/>
              <a:t> de </a:t>
            </a:r>
            <a:r>
              <a:rPr lang="fr-FR" sz="1200" dirty="0" err="1"/>
              <a:t>fail</a:t>
            </a:r>
            <a:r>
              <a:rPr lang="fr-FR" sz="1200" dirty="0"/>
              <a:t> </a:t>
            </a:r>
            <a:r>
              <a:rPr lang="fr-FR" sz="1200" dirty="0" err="1"/>
              <a:t>olarak</a:t>
            </a:r>
            <a:r>
              <a:rPr lang="fr-FR" sz="1200" dirty="0"/>
              <a:t> </a:t>
            </a:r>
            <a:r>
              <a:rPr lang="fr-FR" sz="1200" dirty="0" err="1"/>
              <a:t>sorumlu</a:t>
            </a:r>
            <a:r>
              <a:rPr lang="fr-FR" sz="1200" dirty="0"/>
              <a:t> </a:t>
            </a:r>
            <a:r>
              <a:rPr lang="fr-FR" sz="1200" dirty="0" err="1"/>
              <a:t>tutulur</a:t>
            </a:r>
            <a:r>
              <a:rPr lang="fr-FR" sz="1200" dirty="0"/>
              <a:t>. </a:t>
            </a:r>
            <a:r>
              <a:rPr lang="fr-FR" sz="1200" dirty="0" err="1"/>
              <a:t>Kusur</a:t>
            </a:r>
            <a:r>
              <a:rPr lang="fr-FR" sz="1200" dirty="0"/>
              <a:t> </a:t>
            </a:r>
            <a:r>
              <a:rPr lang="fr-FR" sz="1200" dirty="0" err="1"/>
              <a:t>yeteneği</a:t>
            </a:r>
            <a:r>
              <a:rPr lang="fr-FR" sz="1200" dirty="0"/>
              <a:t> </a:t>
            </a:r>
            <a:r>
              <a:rPr lang="fr-FR" sz="1200" dirty="0" err="1"/>
              <a:t>olmayanları</a:t>
            </a:r>
            <a:r>
              <a:rPr lang="fr-FR" sz="1200" dirty="0"/>
              <a:t> </a:t>
            </a:r>
            <a:r>
              <a:rPr lang="fr-FR" sz="1200" dirty="0" err="1"/>
              <a:t>suçun</a:t>
            </a:r>
            <a:r>
              <a:rPr lang="fr-FR" sz="1200" dirty="0"/>
              <a:t> </a:t>
            </a:r>
            <a:r>
              <a:rPr lang="fr-FR" sz="1200" dirty="0" err="1"/>
              <a:t>işlenmesinde</a:t>
            </a:r>
            <a:r>
              <a:rPr lang="fr-FR" sz="1200" dirty="0"/>
              <a:t> </a:t>
            </a:r>
            <a:r>
              <a:rPr lang="fr-FR" sz="1200" dirty="0" err="1"/>
              <a:t>araç</a:t>
            </a:r>
            <a:r>
              <a:rPr lang="fr-FR" sz="1200" dirty="0"/>
              <a:t> </a:t>
            </a:r>
            <a:r>
              <a:rPr lang="fr-FR" sz="1200" dirty="0" err="1"/>
              <a:t>olarak</a:t>
            </a:r>
            <a:r>
              <a:rPr lang="fr-FR" sz="1200" dirty="0"/>
              <a:t> </a:t>
            </a:r>
            <a:r>
              <a:rPr lang="fr-FR" sz="1200" dirty="0" err="1"/>
              <a:t>kullanan</a:t>
            </a:r>
            <a:r>
              <a:rPr lang="fr-FR" sz="1200" dirty="0"/>
              <a:t> </a:t>
            </a:r>
            <a:r>
              <a:rPr lang="fr-FR" sz="1200" dirty="0" err="1"/>
              <a:t>kişinin</a:t>
            </a:r>
            <a:r>
              <a:rPr lang="fr-FR" sz="1200" dirty="0"/>
              <a:t> </a:t>
            </a:r>
            <a:r>
              <a:rPr lang="fr-FR" sz="1200" dirty="0" err="1"/>
              <a:t>cezası</a:t>
            </a:r>
            <a:r>
              <a:rPr lang="fr-FR" sz="1200" dirty="0"/>
              <a:t>, </a:t>
            </a:r>
            <a:r>
              <a:rPr lang="fr-FR" sz="1200" dirty="0" err="1"/>
              <a:t>üçte</a:t>
            </a:r>
            <a:r>
              <a:rPr lang="fr-FR" sz="1200" dirty="0"/>
              <a:t> </a:t>
            </a:r>
            <a:r>
              <a:rPr lang="fr-FR" sz="1200" dirty="0" err="1"/>
              <a:t>birden</a:t>
            </a:r>
            <a:r>
              <a:rPr lang="fr-FR" sz="1200" dirty="0"/>
              <a:t> </a:t>
            </a:r>
            <a:r>
              <a:rPr lang="fr-FR" sz="1200" dirty="0" err="1"/>
              <a:t>yarısına</a:t>
            </a:r>
            <a:r>
              <a:rPr lang="fr-FR" sz="1200" dirty="0"/>
              <a:t> </a:t>
            </a:r>
            <a:r>
              <a:rPr lang="fr-FR" sz="1200" dirty="0" err="1"/>
              <a:t>kadar</a:t>
            </a:r>
            <a:r>
              <a:rPr lang="fr-FR" sz="1200" dirty="0"/>
              <a:t> </a:t>
            </a:r>
            <a:r>
              <a:rPr lang="fr-FR" sz="1200" dirty="0" err="1"/>
              <a:t>artırılır</a:t>
            </a:r>
            <a:r>
              <a:rPr lang="fr-FR" sz="1200" dirty="0"/>
              <a:t>. </a:t>
            </a:r>
          </a:p>
          <a:p>
            <a:pPr algn="just"/>
            <a:r>
              <a:rPr lang="fr-FR" sz="1200" b="1" dirty="0" err="1"/>
              <a:t>Azmettirme</a:t>
            </a:r>
            <a:r>
              <a:rPr lang="fr-FR" sz="1200" b="1" dirty="0"/>
              <a:t> </a:t>
            </a:r>
            <a:endParaRPr lang="fr-FR" sz="1200" dirty="0"/>
          </a:p>
          <a:p>
            <a:pPr algn="just"/>
            <a:r>
              <a:rPr lang="fr-FR" sz="1200" b="1" dirty="0" err="1"/>
              <a:t>Madde</a:t>
            </a:r>
            <a:r>
              <a:rPr lang="fr-FR" sz="1200" b="1" dirty="0"/>
              <a:t> 38- </a:t>
            </a:r>
            <a:r>
              <a:rPr lang="fr-FR" sz="1200" dirty="0"/>
              <a:t>(1) </a:t>
            </a:r>
            <a:r>
              <a:rPr lang="fr-FR" sz="1200" dirty="0" err="1"/>
              <a:t>Başkasını</a:t>
            </a:r>
            <a:r>
              <a:rPr lang="fr-FR" sz="1200" dirty="0"/>
              <a:t> </a:t>
            </a:r>
            <a:r>
              <a:rPr lang="fr-FR" sz="1200" dirty="0" err="1"/>
              <a:t>suç</a:t>
            </a:r>
            <a:r>
              <a:rPr lang="fr-FR" sz="1200" dirty="0"/>
              <a:t> </a:t>
            </a:r>
            <a:r>
              <a:rPr lang="fr-FR" sz="1200" dirty="0" err="1"/>
              <a:t>işlemeye</a:t>
            </a:r>
            <a:r>
              <a:rPr lang="fr-FR" sz="1200" dirty="0"/>
              <a:t> </a:t>
            </a:r>
            <a:r>
              <a:rPr lang="fr-FR" sz="1200" dirty="0" err="1"/>
              <a:t>azmettiren</a:t>
            </a:r>
            <a:r>
              <a:rPr lang="fr-FR" sz="1200" dirty="0"/>
              <a:t> </a:t>
            </a:r>
            <a:r>
              <a:rPr lang="fr-FR" sz="1200" dirty="0" err="1"/>
              <a:t>kişi</a:t>
            </a:r>
            <a:r>
              <a:rPr lang="fr-FR" sz="1200" dirty="0"/>
              <a:t>, </a:t>
            </a:r>
            <a:r>
              <a:rPr lang="fr-FR" sz="1200" dirty="0" err="1"/>
              <a:t>işlenen</a:t>
            </a:r>
            <a:r>
              <a:rPr lang="fr-FR" sz="1200" dirty="0"/>
              <a:t> </a:t>
            </a:r>
            <a:r>
              <a:rPr lang="fr-FR" sz="1200" dirty="0" err="1"/>
              <a:t>suçun</a:t>
            </a:r>
            <a:r>
              <a:rPr lang="fr-FR" sz="1200" dirty="0"/>
              <a:t> </a:t>
            </a:r>
            <a:r>
              <a:rPr lang="fr-FR" sz="1200" dirty="0" err="1"/>
              <a:t>cezası</a:t>
            </a:r>
            <a:r>
              <a:rPr lang="fr-FR" sz="1200" dirty="0"/>
              <a:t> ile </a:t>
            </a:r>
            <a:r>
              <a:rPr lang="fr-FR" sz="1200" dirty="0" err="1"/>
              <a:t>cezalandırılır</a:t>
            </a:r>
            <a:r>
              <a:rPr lang="fr-FR" sz="1200" dirty="0"/>
              <a:t>. </a:t>
            </a:r>
          </a:p>
          <a:p>
            <a:pPr algn="just"/>
            <a:r>
              <a:rPr lang="fr-FR" sz="1200" dirty="0"/>
              <a:t>(2) </a:t>
            </a:r>
            <a:r>
              <a:rPr lang="fr-FR" sz="1200" dirty="0" err="1"/>
              <a:t>Üstsoy</a:t>
            </a:r>
            <a:r>
              <a:rPr lang="fr-FR" sz="1200" dirty="0"/>
              <a:t> </a:t>
            </a:r>
            <a:r>
              <a:rPr lang="fr-FR" sz="1200" dirty="0" err="1"/>
              <a:t>ve</a:t>
            </a:r>
            <a:r>
              <a:rPr lang="fr-FR" sz="1200" dirty="0"/>
              <a:t> </a:t>
            </a:r>
            <a:r>
              <a:rPr lang="fr-FR" sz="1200" dirty="0" err="1"/>
              <a:t>altsoy</a:t>
            </a:r>
            <a:r>
              <a:rPr lang="fr-FR" sz="1200" dirty="0"/>
              <a:t> </a:t>
            </a:r>
            <a:r>
              <a:rPr lang="fr-FR" sz="1200" dirty="0" err="1"/>
              <a:t>ilişkisinden</a:t>
            </a:r>
            <a:r>
              <a:rPr lang="fr-FR" sz="1200" dirty="0"/>
              <a:t> </a:t>
            </a:r>
            <a:r>
              <a:rPr lang="fr-FR" sz="1200" dirty="0" err="1"/>
              <a:t>doğan</a:t>
            </a:r>
            <a:r>
              <a:rPr lang="fr-FR" sz="1200" dirty="0"/>
              <a:t> </a:t>
            </a:r>
            <a:r>
              <a:rPr lang="fr-FR" sz="1200" dirty="0" err="1"/>
              <a:t>nüfuz</a:t>
            </a:r>
            <a:r>
              <a:rPr lang="fr-FR" sz="1200" dirty="0"/>
              <a:t> </a:t>
            </a:r>
            <a:r>
              <a:rPr lang="fr-FR" sz="1200" dirty="0" err="1"/>
              <a:t>kullanılmak</a:t>
            </a:r>
            <a:r>
              <a:rPr lang="fr-FR" sz="1200" dirty="0"/>
              <a:t> </a:t>
            </a:r>
            <a:r>
              <a:rPr lang="fr-FR" sz="1200" dirty="0" err="1"/>
              <a:t>suretiyle</a:t>
            </a:r>
            <a:r>
              <a:rPr lang="fr-FR" sz="1200" dirty="0"/>
              <a:t> suça </a:t>
            </a:r>
            <a:r>
              <a:rPr lang="fr-FR" sz="1200" dirty="0" err="1"/>
              <a:t>azmettirme</a:t>
            </a:r>
            <a:r>
              <a:rPr lang="fr-FR" sz="1200" dirty="0"/>
              <a:t> </a:t>
            </a:r>
            <a:r>
              <a:rPr lang="fr-FR" sz="1200" dirty="0" err="1"/>
              <a:t>halinde</a:t>
            </a:r>
            <a:r>
              <a:rPr lang="fr-FR" sz="1200" dirty="0"/>
              <a:t>, </a:t>
            </a:r>
            <a:r>
              <a:rPr lang="fr-FR" sz="1200" dirty="0" err="1"/>
              <a:t>azmettirenin</a:t>
            </a:r>
            <a:r>
              <a:rPr lang="fr-FR" sz="1200" dirty="0"/>
              <a:t> </a:t>
            </a:r>
            <a:r>
              <a:rPr lang="fr-FR" sz="1200" dirty="0" err="1"/>
              <a:t>cezası</a:t>
            </a:r>
            <a:r>
              <a:rPr lang="fr-FR" sz="1200" dirty="0"/>
              <a:t> </a:t>
            </a:r>
            <a:r>
              <a:rPr lang="fr-FR" sz="1200" dirty="0" err="1"/>
              <a:t>üçte</a:t>
            </a:r>
            <a:r>
              <a:rPr lang="fr-FR" sz="1200" dirty="0"/>
              <a:t> </a:t>
            </a:r>
            <a:r>
              <a:rPr lang="fr-FR" sz="1200" dirty="0" err="1"/>
              <a:t>birden</a:t>
            </a:r>
            <a:r>
              <a:rPr lang="fr-FR" sz="1200" dirty="0"/>
              <a:t> </a:t>
            </a:r>
            <a:r>
              <a:rPr lang="fr-FR" sz="1200" dirty="0" err="1"/>
              <a:t>yarısına</a:t>
            </a:r>
            <a:r>
              <a:rPr lang="fr-FR" sz="1200" dirty="0"/>
              <a:t> </a:t>
            </a:r>
            <a:r>
              <a:rPr lang="fr-FR" sz="1200" dirty="0" err="1"/>
              <a:t>kadar</a:t>
            </a:r>
            <a:r>
              <a:rPr lang="fr-FR" sz="1200" dirty="0"/>
              <a:t> </a:t>
            </a:r>
            <a:r>
              <a:rPr lang="fr-FR" sz="1200" dirty="0" err="1"/>
              <a:t>artırılır</a:t>
            </a:r>
            <a:r>
              <a:rPr lang="fr-FR" sz="1200" dirty="0"/>
              <a:t>. </a:t>
            </a:r>
            <a:r>
              <a:rPr lang="fr-FR" sz="1200" dirty="0" err="1"/>
              <a:t>Çocukların</a:t>
            </a:r>
            <a:r>
              <a:rPr lang="fr-FR" sz="1200" dirty="0"/>
              <a:t> suça </a:t>
            </a:r>
            <a:r>
              <a:rPr lang="fr-FR" sz="1200" dirty="0" err="1"/>
              <a:t>azmettirilmesi</a:t>
            </a:r>
            <a:r>
              <a:rPr lang="fr-FR" sz="1200" dirty="0"/>
              <a:t> </a:t>
            </a:r>
            <a:r>
              <a:rPr lang="fr-FR" sz="1200" dirty="0" err="1"/>
              <a:t>halinde</a:t>
            </a:r>
            <a:r>
              <a:rPr lang="fr-FR" sz="1200" dirty="0"/>
              <a:t>, bu </a:t>
            </a:r>
            <a:r>
              <a:rPr lang="fr-FR" sz="1200" dirty="0" err="1"/>
              <a:t>fıkra</a:t>
            </a:r>
            <a:r>
              <a:rPr lang="fr-FR" sz="1200" dirty="0"/>
              <a:t> </a:t>
            </a:r>
            <a:r>
              <a:rPr lang="fr-FR" sz="1200" dirty="0" err="1"/>
              <a:t>hükmüne</a:t>
            </a:r>
            <a:r>
              <a:rPr lang="fr-FR" sz="1200" dirty="0"/>
              <a:t> </a:t>
            </a:r>
            <a:r>
              <a:rPr lang="fr-FR" sz="1200" dirty="0" err="1"/>
              <a:t>göre</a:t>
            </a:r>
            <a:r>
              <a:rPr lang="fr-FR" sz="1200" dirty="0"/>
              <a:t> </a:t>
            </a:r>
            <a:r>
              <a:rPr lang="fr-FR" sz="1200" dirty="0" err="1"/>
              <a:t>cezanın</a:t>
            </a:r>
            <a:r>
              <a:rPr lang="fr-FR" sz="1200" dirty="0"/>
              <a:t> </a:t>
            </a:r>
            <a:r>
              <a:rPr lang="fr-FR" sz="1200" dirty="0" err="1"/>
              <a:t>artırılabilmesi</a:t>
            </a:r>
            <a:r>
              <a:rPr lang="fr-FR" sz="1200" dirty="0"/>
              <a:t> </a:t>
            </a:r>
            <a:r>
              <a:rPr lang="fr-FR" sz="1200" dirty="0" err="1"/>
              <a:t>için</a:t>
            </a:r>
            <a:r>
              <a:rPr lang="fr-FR" sz="1200" dirty="0"/>
              <a:t> </a:t>
            </a:r>
            <a:r>
              <a:rPr lang="fr-FR" sz="1200" dirty="0" err="1"/>
              <a:t>üstsoy</a:t>
            </a:r>
            <a:r>
              <a:rPr lang="fr-FR" sz="1200" dirty="0"/>
              <a:t> </a:t>
            </a:r>
            <a:r>
              <a:rPr lang="fr-FR" sz="1200" dirty="0" err="1"/>
              <a:t>ve</a:t>
            </a:r>
            <a:r>
              <a:rPr lang="fr-FR" sz="1200" dirty="0"/>
              <a:t> </a:t>
            </a:r>
            <a:r>
              <a:rPr lang="fr-FR" sz="1200" dirty="0" err="1"/>
              <a:t>altsoy</a:t>
            </a:r>
            <a:r>
              <a:rPr lang="fr-FR" sz="1200" dirty="0"/>
              <a:t> </a:t>
            </a:r>
            <a:r>
              <a:rPr lang="fr-FR" sz="1200" dirty="0" err="1"/>
              <a:t>ilişkisinin</a:t>
            </a:r>
            <a:r>
              <a:rPr lang="fr-FR" sz="1200" dirty="0"/>
              <a:t> </a:t>
            </a:r>
            <a:r>
              <a:rPr lang="fr-FR" sz="1200" dirty="0" err="1"/>
              <a:t>varlığı</a:t>
            </a:r>
            <a:r>
              <a:rPr lang="fr-FR" sz="1200" dirty="0"/>
              <a:t> </a:t>
            </a:r>
            <a:r>
              <a:rPr lang="fr-FR" sz="1200" dirty="0" err="1"/>
              <a:t>aranmaz</a:t>
            </a:r>
            <a:r>
              <a:rPr lang="fr-FR" sz="1200" dirty="0"/>
              <a:t>. </a:t>
            </a:r>
          </a:p>
          <a:p>
            <a:pPr algn="just"/>
            <a:r>
              <a:rPr lang="fr-FR" sz="1200" dirty="0"/>
              <a:t>(3) </a:t>
            </a:r>
            <a:r>
              <a:rPr lang="fr-FR" sz="1200" dirty="0" err="1"/>
              <a:t>Azmettirenin</a:t>
            </a:r>
            <a:r>
              <a:rPr lang="fr-FR" sz="1200" dirty="0"/>
              <a:t> belli </a:t>
            </a:r>
            <a:r>
              <a:rPr lang="fr-FR" sz="1200" dirty="0" err="1"/>
              <a:t>olmaması</a:t>
            </a:r>
            <a:r>
              <a:rPr lang="fr-FR" sz="1200" dirty="0"/>
              <a:t> </a:t>
            </a:r>
            <a:r>
              <a:rPr lang="fr-FR" sz="1200" dirty="0" err="1"/>
              <a:t>halinde</a:t>
            </a:r>
            <a:r>
              <a:rPr lang="fr-FR" sz="1200" dirty="0"/>
              <a:t>, </a:t>
            </a:r>
            <a:r>
              <a:rPr lang="fr-FR" sz="1200" dirty="0" err="1"/>
              <a:t>kim</a:t>
            </a:r>
            <a:r>
              <a:rPr lang="fr-FR" sz="1200" dirty="0"/>
              <a:t> </a:t>
            </a:r>
            <a:r>
              <a:rPr lang="fr-FR" sz="1200" dirty="0" err="1"/>
              <a:t>olduğunun</a:t>
            </a:r>
            <a:r>
              <a:rPr lang="fr-FR" sz="1200" dirty="0"/>
              <a:t> </a:t>
            </a:r>
            <a:r>
              <a:rPr lang="fr-FR" sz="1200" dirty="0" err="1"/>
              <a:t>ortaya</a:t>
            </a:r>
            <a:r>
              <a:rPr lang="fr-FR" sz="1200" dirty="0"/>
              <a:t> </a:t>
            </a:r>
            <a:r>
              <a:rPr lang="fr-FR" sz="1200" dirty="0" err="1"/>
              <a:t>çıkmasını</a:t>
            </a:r>
            <a:r>
              <a:rPr lang="fr-FR" sz="1200" dirty="0"/>
              <a:t> </a:t>
            </a:r>
            <a:r>
              <a:rPr lang="fr-FR" sz="1200" dirty="0" err="1"/>
              <a:t>sağlayan</a:t>
            </a:r>
            <a:r>
              <a:rPr lang="fr-FR" sz="1200" dirty="0"/>
              <a:t> </a:t>
            </a:r>
            <a:r>
              <a:rPr lang="fr-FR" sz="1200" dirty="0" err="1"/>
              <a:t>fail</a:t>
            </a:r>
            <a:r>
              <a:rPr lang="fr-FR" sz="1200" dirty="0"/>
              <a:t> </a:t>
            </a:r>
            <a:r>
              <a:rPr lang="fr-FR" sz="1200" dirty="0" err="1"/>
              <a:t>veya</a:t>
            </a:r>
            <a:r>
              <a:rPr lang="fr-FR" sz="1200" dirty="0"/>
              <a:t> </a:t>
            </a:r>
            <a:r>
              <a:rPr lang="fr-FR" sz="1200" dirty="0" err="1"/>
              <a:t>diğer</a:t>
            </a:r>
            <a:r>
              <a:rPr lang="fr-FR" sz="1200" dirty="0"/>
              <a:t> </a:t>
            </a:r>
            <a:r>
              <a:rPr lang="fr-FR" sz="1200" dirty="0" err="1"/>
              <a:t>suç</a:t>
            </a:r>
            <a:r>
              <a:rPr lang="fr-FR" sz="1200" dirty="0"/>
              <a:t> </a:t>
            </a:r>
            <a:r>
              <a:rPr lang="fr-FR" sz="1200" dirty="0" err="1"/>
              <a:t>ortağı</a:t>
            </a:r>
            <a:r>
              <a:rPr lang="fr-FR" sz="1200" dirty="0"/>
              <a:t> </a:t>
            </a:r>
            <a:r>
              <a:rPr lang="fr-FR" sz="1200" dirty="0" err="1"/>
              <a:t>hakkında</a:t>
            </a:r>
            <a:r>
              <a:rPr lang="fr-FR" sz="1200" dirty="0"/>
              <a:t> </a:t>
            </a:r>
            <a:r>
              <a:rPr lang="fr-FR" sz="1200" dirty="0" err="1"/>
              <a:t>ağırlaştırılmış</a:t>
            </a:r>
            <a:r>
              <a:rPr lang="fr-FR" sz="1200" dirty="0"/>
              <a:t> </a:t>
            </a:r>
            <a:r>
              <a:rPr lang="fr-FR" sz="1200" dirty="0" err="1"/>
              <a:t>müebbet</a:t>
            </a:r>
            <a:r>
              <a:rPr lang="fr-FR" sz="1200" dirty="0"/>
              <a:t> </a:t>
            </a:r>
            <a:r>
              <a:rPr lang="fr-FR" sz="1200" dirty="0" err="1"/>
              <a:t>hapis</a:t>
            </a:r>
            <a:r>
              <a:rPr lang="fr-FR" sz="1200" dirty="0"/>
              <a:t> </a:t>
            </a:r>
            <a:r>
              <a:rPr lang="fr-FR" sz="1200" dirty="0" err="1"/>
              <a:t>cezası</a:t>
            </a:r>
            <a:r>
              <a:rPr lang="fr-FR" sz="1200" dirty="0"/>
              <a:t> </a:t>
            </a:r>
            <a:r>
              <a:rPr lang="fr-FR" sz="1200" dirty="0" err="1"/>
              <a:t>yerine</a:t>
            </a:r>
            <a:r>
              <a:rPr lang="fr-FR" sz="1200" dirty="0"/>
              <a:t> </a:t>
            </a:r>
            <a:r>
              <a:rPr lang="fr-FR" sz="1200" dirty="0" err="1"/>
              <a:t>yirmi</a:t>
            </a:r>
            <a:r>
              <a:rPr lang="fr-FR" sz="1200" dirty="0"/>
              <a:t> </a:t>
            </a:r>
            <a:r>
              <a:rPr lang="fr-FR" sz="1200" dirty="0" err="1"/>
              <a:t>yıldan</a:t>
            </a:r>
            <a:r>
              <a:rPr lang="fr-FR" sz="1200" dirty="0"/>
              <a:t> </a:t>
            </a:r>
            <a:r>
              <a:rPr lang="fr-FR" sz="1200" dirty="0" err="1"/>
              <a:t>yirmibeş</a:t>
            </a:r>
            <a:r>
              <a:rPr lang="fr-FR" sz="1200" dirty="0"/>
              <a:t> </a:t>
            </a:r>
            <a:r>
              <a:rPr lang="fr-FR" sz="1200" dirty="0" err="1"/>
              <a:t>yıla</a:t>
            </a:r>
            <a:r>
              <a:rPr lang="fr-FR" sz="1200" dirty="0"/>
              <a:t> </a:t>
            </a:r>
            <a:r>
              <a:rPr lang="fr-FR" sz="1200" dirty="0" err="1"/>
              <a:t>kadar</a:t>
            </a:r>
            <a:r>
              <a:rPr lang="fr-FR" sz="1200" dirty="0"/>
              <a:t>, </a:t>
            </a:r>
            <a:r>
              <a:rPr lang="fr-FR" sz="1200" dirty="0" err="1"/>
              <a:t>müebbet</a:t>
            </a:r>
            <a:r>
              <a:rPr lang="fr-FR" sz="1200" dirty="0"/>
              <a:t> </a:t>
            </a:r>
            <a:r>
              <a:rPr lang="fr-FR" sz="1200" dirty="0" err="1"/>
              <a:t>hapis</a:t>
            </a:r>
            <a:r>
              <a:rPr lang="fr-FR" sz="1200" dirty="0"/>
              <a:t> </a:t>
            </a:r>
            <a:r>
              <a:rPr lang="fr-FR" sz="1200" dirty="0" err="1"/>
              <a:t>cezası</a:t>
            </a:r>
            <a:r>
              <a:rPr lang="fr-FR" sz="1200" dirty="0"/>
              <a:t> </a:t>
            </a:r>
            <a:r>
              <a:rPr lang="fr-FR" sz="1200" dirty="0" err="1"/>
              <a:t>yerine</a:t>
            </a:r>
            <a:r>
              <a:rPr lang="fr-FR" sz="1200" dirty="0"/>
              <a:t> </a:t>
            </a:r>
            <a:r>
              <a:rPr lang="fr-FR" sz="1200" dirty="0" err="1"/>
              <a:t>onbeş</a:t>
            </a:r>
            <a:r>
              <a:rPr lang="fr-FR" sz="1200" dirty="0"/>
              <a:t> </a:t>
            </a:r>
            <a:r>
              <a:rPr lang="fr-FR" sz="1200" dirty="0" err="1"/>
              <a:t>yıldan</a:t>
            </a:r>
            <a:r>
              <a:rPr lang="fr-FR" sz="1200" dirty="0"/>
              <a:t> </a:t>
            </a:r>
            <a:r>
              <a:rPr lang="fr-FR" sz="1200" dirty="0" err="1"/>
              <a:t>yirmi</a:t>
            </a:r>
            <a:r>
              <a:rPr lang="fr-FR" sz="1200" dirty="0"/>
              <a:t> </a:t>
            </a:r>
            <a:r>
              <a:rPr lang="fr-FR" sz="1200" dirty="0" err="1"/>
              <a:t>yıla</a:t>
            </a:r>
            <a:r>
              <a:rPr lang="fr-FR" sz="1200" dirty="0"/>
              <a:t> </a:t>
            </a:r>
            <a:r>
              <a:rPr lang="fr-FR" sz="1200" dirty="0" err="1"/>
              <a:t>kadar</a:t>
            </a:r>
            <a:r>
              <a:rPr lang="fr-FR" sz="1200" dirty="0"/>
              <a:t> </a:t>
            </a:r>
            <a:r>
              <a:rPr lang="fr-FR" sz="1200" dirty="0" err="1"/>
              <a:t>hapis</a:t>
            </a:r>
            <a:r>
              <a:rPr lang="fr-FR" sz="1200" dirty="0"/>
              <a:t> </a:t>
            </a:r>
            <a:r>
              <a:rPr lang="fr-FR" sz="1200" dirty="0" err="1"/>
              <a:t>cezasına</a:t>
            </a:r>
            <a:r>
              <a:rPr lang="fr-FR" sz="1200" dirty="0"/>
              <a:t> </a:t>
            </a:r>
            <a:r>
              <a:rPr lang="fr-FR" sz="1200" dirty="0" err="1"/>
              <a:t>hükmolunabilir</a:t>
            </a:r>
            <a:r>
              <a:rPr lang="fr-FR" sz="1200" dirty="0"/>
              <a:t>. </a:t>
            </a:r>
            <a:r>
              <a:rPr lang="fr-FR" sz="1200" dirty="0" err="1"/>
              <a:t>Diğer</a:t>
            </a:r>
            <a:r>
              <a:rPr lang="fr-FR" sz="1200" dirty="0"/>
              <a:t> </a:t>
            </a:r>
            <a:r>
              <a:rPr lang="fr-FR" sz="1200" dirty="0" err="1"/>
              <a:t>hallerde</a:t>
            </a:r>
            <a:r>
              <a:rPr lang="fr-FR" sz="1200" dirty="0"/>
              <a:t> </a:t>
            </a:r>
            <a:r>
              <a:rPr lang="fr-FR" sz="1200" dirty="0" err="1"/>
              <a:t>verilecek</a:t>
            </a:r>
            <a:r>
              <a:rPr lang="fr-FR" sz="1200" dirty="0"/>
              <a:t> </a:t>
            </a:r>
            <a:r>
              <a:rPr lang="fr-FR" sz="1200" dirty="0" err="1"/>
              <a:t>cezada</a:t>
            </a:r>
            <a:r>
              <a:rPr lang="fr-FR" sz="1200" dirty="0"/>
              <a:t>, </a:t>
            </a:r>
            <a:r>
              <a:rPr lang="fr-FR" sz="1200" dirty="0" err="1"/>
              <a:t>üçte</a:t>
            </a:r>
            <a:r>
              <a:rPr lang="fr-FR" sz="1200" dirty="0"/>
              <a:t> </a:t>
            </a:r>
            <a:r>
              <a:rPr lang="fr-FR" sz="1200" dirty="0" err="1"/>
              <a:t>bir</a:t>
            </a:r>
            <a:r>
              <a:rPr lang="fr-FR" sz="1200" dirty="0"/>
              <a:t> </a:t>
            </a:r>
            <a:r>
              <a:rPr lang="fr-FR" sz="1200" dirty="0" err="1"/>
              <a:t>oranında</a:t>
            </a:r>
            <a:r>
              <a:rPr lang="fr-FR" sz="1200" dirty="0"/>
              <a:t> </a:t>
            </a:r>
            <a:r>
              <a:rPr lang="fr-FR" sz="1200" dirty="0" err="1"/>
              <a:t>indirim</a:t>
            </a:r>
            <a:r>
              <a:rPr lang="fr-FR" sz="1200" dirty="0"/>
              <a:t> </a:t>
            </a:r>
            <a:r>
              <a:rPr lang="fr-FR" sz="1200" dirty="0" err="1"/>
              <a:t>yapılabilir</a:t>
            </a:r>
            <a:r>
              <a:rPr lang="fr-FR" sz="1200" dirty="0"/>
              <a:t>. </a:t>
            </a:r>
          </a:p>
          <a:p>
            <a:pPr algn="just"/>
            <a:r>
              <a:rPr lang="fr-FR" sz="1200" b="1" dirty="0" err="1"/>
              <a:t>Yardım</a:t>
            </a:r>
            <a:r>
              <a:rPr lang="fr-FR" sz="1200" b="1" dirty="0"/>
              <a:t> </a:t>
            </a:r>
            <a:r>
              <a:rPr lang="fr-FR" sz="1200" b="1" dirty="0" err="1"/>
              <a:t>etme</a:t>
            </a:r>
            <a:r>
              <a:rPr lang="fr-FR" sz="1200" b="1" dirty="0"/>
              <a:t> </a:t>
            </a:r>
            <a:endParaRPr lang="fr-FR" sz="1200" dirty="0"/>
          </a:p>
          <a:p>
            <a:pPr algn="just"/>
            <a:r>
              <a:rPr lang="fr-FR" sz="1200" b="1" dirty="0" err="1"/>
              <a:t>Madde</a:t>
            </a:r>
            <a:r>
              <a:rPr lang="fr-FR" sz="1200" b="1" dirty="0"/>
              <a:t> 39- </a:t>
            </a:r>
            <a:r>
              <a:rPr lang="fr-FR" sz="1200" dirty="0"/>
              <a:t>(1) </a:t>
            </a:r>
            <a:r>
              <a:rPr lang="fr-FR" sz="1200" dirty="0" err="1"/>
              <a:t>Suçun</a:t>
            </a:r>
            <a:r>
              <a:rPr lang="fr-FR" sz="1200" dirty="0"/>
              <a:t> </a:t>
            </a:r>
            <a:r>
              <a:rPr lang="fr-FR" sz="1200" dirty="0" err="1"/>
              <a:t>işlenmesine</a:t>
            </a:r>
            <a:r>
              <a:rPr lang="fr-FR" sz="1200" dirty="0"/>
              <a:t> </a:t>
            </a:r>
            <a:r>
              <a:rPr lang="fr-FR" sz="1200" dirty="0" err="1"/>
              <a:t>yardım</a:t>
            </a:r>
            <a:r>
              <a:rPr lang="fr-FR" sz="1200" dirty="0"/>
              <a:t> </a:t>
            </a:r>
            <a:r>
              <a:rPr lang="fr-FR" sz="1200" dirty="0" err="1"/>
              <a:t>eden</a:t>
            </a:r>
            <a:r>
              <a:rPr lang="fr-FR" sz="1200" dirty="0"/>
              <a:t> </a:t>
            </a:r>
            <a:r>
              <a:rPr lang="fr-FR" sz="1200" dirty="0" err="1"/>
              <a:t>kişiye</a:t>
            </a:r>
            <a:r>
              <a:rPr lang="fr-FR" sz="1200" dirty="0"/>
              <a:t>, </a:t>
            </a:r>
            <a:r>
              <a:rPr lang="fr-FR" sz="1200" dirty="0" err="1"/>
              <a:t>işlenen</a:t>
            </a:r>
            <a:r>
              <a:rPr lang="fr-FR" sz="1200" dirty="0"/>
              <a:t> </a:t>
            </a:r>
            <a:r>
              <a:rPr lang="fr-FR" sz="1200" dirty="0" err="1"/>
              <a:t>suçun</a:t>
            </a:r>
            <a:r>
              <a:rPr lang="fr-FR" sz="1200" dirty="0"/>
              <a:t> </a:t>
            </a:r>
            <a:r>
              <a:rPr lang="fr-FR" sz="1200" dirty="0" err="1"/>
              <a:t>ağırlaştırılmış</a:t>
            </a:r>
            <a:r>
              <a:rPr lang="fr-FR" sz="1200" dirty="0"/>
              <a:t> </a:t>
            </a:r>
            <a:r>
              <a:rPr lang="fr-FR" sz="1200" dirty="0" err="1"/>
              <a:t>müebbet</a:t>
            </a:r>
            <a:r>
              <a:rPr lang="fr-FR" sz="1200" dirty="0"/>
              <a:t> </a:t>
            </a:r>
            <a:r>
              <a:rPr lang="fr-FR" sz="1200" dirty="0" err="1"/>
              <a:t>hapis</a:t>
            </a:r>
            <a:r>
              <a:rPr lang="fr-FR" sz="1200" dirty="0"/>
              <a:t> </a:t>
            </a:r>
            <a:r>
              <a:rPr lang="fr-FR" sz="1200" dirty="0" err="1"/>
              <a:t>cezasını</a:t>
            </a:r>
            <a:r>
              <a:rPr lang="fr-FR" sz="1200" dirty="0"/>
              <a:t> </a:t>
            </a:r>
            <a:r>
              <a:rPr lang="fr-FR" sz="1200" dirty="0" err="1"/>
              <a:t>gerektirmesi</a:t>
            </a:r>
            <a:r>
              <a:rPr lang="fr-FR" sz="1200" dirty="0"/>
              <a:t> </a:t>
            </a:r>
            <a:r>
              <a:rPr lang="fr-FR" sz="1200" dirty="0" err="1"/>
              <a:t>halinde</a:t>
            </a:r>
            <a:r>
              <a:rPr lang="fr-FR" sz="1200" dirty="0"/>
              <a:t>, </a:t>
            </a:r>
            <a:r>
              <a:rPr lang="fr-FR" sz="1200" dirty="0" err="1"/>
              <a:t>onbeş</a:t>
            </a:r>
            <a:r>
              <a:rPr lang="fr-FR" sz="1200" dirty="0"/>
              <a:t> </a:t>
            </a:r>
            <a:r>
              <a:rPr lang="fr-FR" sz="1200" dirty="0" err="1"/>
              <a:t>yıldan</a:t>
            </a:r>
            <a:r>
              <a:rPr lang="fr-FR" sz="1200" dirty="0"/>
              <a:t> </a:t>
            </a:r>
            <a:r>
              <a:rPr lang="fr-FR" sz="1200" dirty="0" err="1"/>
              <a:t>yirmi</a:t>
            </a:r>
            <a:r>
              <a:rPr lang="fr-FR" sz="1200" dirty="0"/>
              <a:t> </a:t>
            </a:r>
            <a:r>
              <a:rPr lang="fr-FR" sz="1200" dirty="0" err="1"/>
              <a:t>yıla</a:t>
            </a:r>
            <a:r>
              <a:rPr lang="fr-FR" sz="1200" dirty="0"/>
              <a:t>; </a:t>
            </a:r>
            <a:r>
              <a:rPr lang="fr-FR" sz="1200" dirty="0" err="1"/>
              <a:t>müebbet</a:t>
            </a:r>
            <a:r>
              <a:rPr lang="fr-FR" sz="1200" dirty="0"/>
              <a:t> </a:t>
            </a:r>
            <a:r>
              <a:rPr lang="fr-FR" sz="1200" dirty="0" err="1"/>
              <a:t>hapis</a:t>
            </a:r>
            <a:r>
              <a:rPr lang="fr-FR" sz="1200" dirty="0"/>
              <a:t> </a:t>
            </a:r>
            <a:r>
              <a:rPr lang="fr-FR" sz="1200" dirty="0" err="1"/>
              <a:t>cezasını</a:t>
            </a:r>
            <a:r>
              <a:rPr lang="fr-FR" sz="1200" dirty="0"/>
              <a:t> </a:t>
            </a:r>
            <a:r>
              <a:rPr lang="fr-FR" sz="1200" dirty="0" err="1"/>
              <a:t>gerektirmesi</a:t>
            </a:r>
            <a:r>
              <a:rPr lang="fr-FR" sz="1200" dirty="0"/>
              <a:t> </a:t>
            </a:r>
            <a:r>
              <a:rPr lang="fr-FR" sz="1200" dirty="0" err="1"/>
              <a:t>halinde</a:t>
            </a:r>
            <a:r>
              <a:rPr lang="fr-FR" sz="1200" dirty="0"/>
              <a:t>, on </a:t>
            </a:r>
            <a:r>
              <a:rPr lang="fr-FR" sz="1200" dirty="0" err="1"/>
              <a:t>yıldan</a:t>
            </a:r>
            <a:r>
              <a:rPr lang="fr-FR" sz="1200" dirty="0"/>
              <a:t> </a:t>
            </a:r>
            <a:r>
              <a:rPr lang="fr-FR" sz="1200" dirty="0" err="1"/>
              <a:t>onbeş</a:t>
            </a:r>
            <a:r>
              <a:rPr lang="fr-FR" sz="1200" dirty="0"/>
              <a:t> </a:t>
            </a:r>
            <a:r>
              <a:rPr lang="fr-FR" sz="1200" dirty="0" err="1"/>
              <a:t>yıla</a:t>
            </a:r>
            <a:r>
              <a:rPr lang="fr-FR" sz="1200" dirty="0"/>
              <a:t> </a:t>
            </a:r>
            <a:r>
              <a:rPr lang="fr-FR" sz="1200" dirty="0" err="1"/>
              <a:t>kadar</a:t>
            </a:r>
            <a:r>
              <a:rPr lang="fr-FR" sz="1200" dirty="0"/>
              <a:t> </a:t>
            </a:r>
            <a:r>
              <a:rPr lang="fr-FR" sz="1200" dirty="0" err="1"/>
              <a:t>hapis</a:t>
            </a:r>
            <a:r>
              <a:rPr lang="fr-FR" sz="1200" dirty="0"/>
              <a:t> </a:t>
            </a:r>
            <a:r>
              <a:rPr lang="fr-FR" sz="1200" dirty="0" err="1"/>
              <a:t>cezası</a:t>
            </a:r>
            <a:r>
              <a:rPr lang="fr-FR" sz="1200" dirty="0"/>
              <a:t> </a:t>
            </a:r>
            <a:r>
              <a:rPr lang="fr-FR" sz="1200" dirty="0" err="1"/>
              <a:t>verilir</a:t>
            </a:r>
            <a:r>
              <a:rPr lang="fr-FR" sz="1200" dirty="0"/>
              <a:t>. </a:t>
            </a:r>
            <a:r>
              <a:rPr lang="fr-FR" sz="1200" dirty="0" err="1"/>
              <a:t>Diğer</a:t>
            </a:r>
            <a:r>
              <a:rPr lang="fr-FR" sz="1200" dirty="0"/>
              <a:t> </a:t>
            </a:r>
            <a:r>
              <a:rPr lang="fr-FR" sz="1200" dirty="0" err="1"/>
              <a:t>hallerde</a:t>
            </a:r>
            <a:r>
              <a:rPr lang="fr-FR" sz="1200" dirty="0"/>
              <a:t> </a:t>
            </a:r>
            <a:r>
              <a:rPr lang="fr-FR" sz="1200" dirty="0" err="1"/>
              <a:t>cezanın</a:t>
            </a:r>
            <a:r>
              <a:rPr lang="fr-FR" sz="1200" dirty="0"/>
              <a:t> </a:t>
            </a:r>
            <a:r>
              <a:rPr lang="fr-FR" sz="1200" dirty="0" err="1"/>
              <a:t>yarısı</a:t>
            </a:r>
            <a:r>
              <a:rPr lang="fr-FR" sz="1200" dirty="0"/>
              <a:t> </a:t>
            </a:r>
            <a:r>
              <a:rPr lang="fr-FR" sz="1200" dirty="0" err="1"/>
              <a:t>indirilir</a:t>
            </a:r>
            <a:r>
              <a:rPr lang="fr-FR" sz="1200" dirty="0"/>
              <a:t>. </a:t>
            </a:r>
            <a:r>
              <a:rPr lang="fr-FR" sz="1200" dirty="0" err="1"/>
              <a:t>Ancak</a:t>
            </a:r>
            <a:r>
              <a:rPr lang="fr-FR" sz="1200" dirty="0"/>
              <a:t>, bu </a:t>
            </a:r>
            <a:r>
              <a:rPr lang="fr-FR" sz="1200" dirty="0" err="1"/>
              <a:t>durumda</a:t>
            </a:r>
            <a:r>
              <a:rPr lang="fr-FR" sz="1200" dirty="0"/>
              <a:t> </a:t>
            </a:r>
            <a:r>
              <a:rPr lang="fr-FR" sz="1200" dirty="0" err="1"/>
              <a:t>verilecek</a:t>
            </a:r>
            <a:r>
              <a:rPr lang="fr-FR" sz="1200" dirty="0"/>
              <a:t> </a:t>
            </a:r>
            <a:r>
              <a:rPr lang="fr-FR" sz="1200" dirty="0" err="1"/>
              <a:t>ceza</a:t>
            </a:r>
            <a:r>
              <a:rPr lang="fr-FR" sz="1200" dirty="0"/>
              <a:t> </a:t>
            </a:r>
            <a:r>
              <a:rPr lang="fr-FR" sz="1200" dirty="0" err="1"/>
              <a:t>sekiz</a:t>
            </a:r>
            <a:r>
              <a:rPr lang="fr-FR" sz="1200" dirty="0"/>
              <a:t> </a:t>
            </a:r>
            <a:r>
              <a:rPr lang="fr-FR" sz="1200" dirty="0" err="1"/>
              <a:t>yılı</a:t>
            </a:r>
            <a:r>
              <a:rPr lang="fr-FR" sz="1200" dirty="0"/>
              <a:t> </a:t>
            </a:r>
            <a:r>
              <a:rPr lang="fr-FR" sz="1200" dirty="0" err="1"/>
              <a:t>geçemez</a:t>
            </a:r>
            <a:r>
              <a:rPr lang="fr-FR" sz="1200" dirty="0"/>
              <a:t>. </a:t>
            </a:r>
          </a:p>
          <a:p>
            <a:pPr algn="just"/>
            <a:r>
              <a:rPr lang="fr-FR" sz="1200" dirty="0"/>
              <a:t>(2) </a:t>
            </a:r>
            <a:r>
              <a:rPr lang="fr-FR" sz="1200" dirty="0" err="1"/>
              <a:t>Aşağıdaki</a:t>
            </a:r>
            <a:r>
              <a:rPr lang="fr-FR" sz="1200" dirty="0"/>
              <a:t> </a:t>
            </a:r>
            <a:r>
              <a:rPr lang="fr-FR" sz="1200" dirty="0" err="1"/>
              <a:t>hallerde</a:t>
            </a:r>
            <a:r>
              <a:rPr lang="fr-FR" sz="1200" dirty="0"/>
              <a:t> </a:t>
            </a:r>
            <a:r>
              <a:rPr lang="fr-FR" sz="1200" dirty="0" err="1"/>
              <a:t>kişi</a:t>
            </a:r>
            <a:r>
              <a:rPr lang="fr-FR" sz="1200" dirty="0"/>
              <a:t> </a:t>
            </a:r>
            <a:r>
              <a:rPr lang="fr-FR" sz="1200" dirty="0" err="1"/>
              <a:t>işlenen</a:t>
            </a:r>
            <a:r>
              <a:rPr lang="fr-FR" sz="1200" dirty="0"/>
              <a:t> </a:t>
            </a:r>
            <a:r>
              <a:rPr lang="fr-FR" sz="1200" dirty="0" err="1"/>
              <a:t>suçtan</a:t>
            </a:r>
            <a:r>
              <a:rPr lang="fr-FR" sz="1200" dirty="0"/>
              <a:t> </a:t>
            </a:r>
            <a:r>
              <a:rPr lang="fr-FR" sz="1200" dirty="0" err="1"/>
              <a:t>dolayı</a:t>
            </a:r>
            <a:r>
              <a:rPr lang="fr-FR" sz="1200" dirty="0"/>
              <a:t> </a:t>
            </a:r>
            <a:r>
              <a:rPr lang="fr-FR" sz="1200" dirty="0" err="1"/>
              <a:t>yardım</a:t>
            </a:r>
            <a:r>
              <a:rPr lang="fr-FR" sz="1200" dirty="0"/>
              <a:t> </a:t>
            </a:r>
            <a:r>
              <a:rPr lang="fr-FR" sz="1200" dirty="0" err="1"/>
              <a:t>eden</a:t>
            </a:r>
            <a:r>
              <a:rPr lang="fr-FR" sz="1200" dirty="0"/>
              <a:t> </a:t>
            </a:r>
            <a:r>
              <a:rPr lang="fr-FR" sz="1200" dirty="0" err="1"/>
              <a:t>sıfatıyla</a:t>
            </a:r>
            <a:r>
              <a:rPr lang="fr-FR" sz="1200" dirty="0"/>
              <a:t> </a:t>
            </a:r>
            <a:r>
              <a:rPr lang="fr-FR" sz="1200" dirty="0" err="1"/>
              <a:t>sorumlu</a:t>
            </a:r>
            <a:r>
              <a:rPr lang="fr-FR" sz="1200" dirty="0"/>
              <a:t> </a:t>
            </a:r>
            <a:r>
              <a:rPr lang="fr-FR" sz="1200" dirty="0" err="1"/>
              <a:t>olur</a:t>
            </a:r>
            <a:r>
              <a:rPr lang="fr-FR" sz="1200" dirty="0"/>
              <a:t>: </a:t>
            </a:r>
          </a:p>
          <a:p>
            <a:pPr algn="just"/>
            <a:r>
              <a:rPr lang="tr-TR" sz="1200" dirty="0"/>
              <a:t> </a:t>
            </a:r>
            <a:r>
              <a:rPr lang="tr-TR" sz="1200" dirty="0" smtClean="0"/>
              <a:t>   </a:t>
            </a:r>
            <a:r>
              <a:rPr lang="fr-FR" sz="1200" dirty="0" smtClean="0"/>
              <a:t>a</a:t>
            </a:r>
            <a:r>
              <a:rPr lang="fr-FR" sz="1200" dirty="0"/>
              <a:t>) </a:t>
            </a:r>
            <a:r>
              <a:rPr lang="fr-FR" sz="1200" dirty="0" err="1"/>
              <a:t>Suç</a:t>
            </a:r>
            <a:r>
              <a:rPr lang="fr-FR" sz="1200" dirty="0"/>
              <a:t> </a:t>
            </a:r>
            <a:r>
              <a:rPr lang="fr-FR" sz="1200" dirty="0" err="1"/>
              <a:t>işlemeye</a:t>
            </a:r>
            <a:r>
              <a:rPr lang="fr-FR" sz="1200" dirty="0"/>
              <a:t> </a:t>
            </a:r>
            <a:r>
              <a:rPr lang="fr-FR" sz="1200" dirty="0" err="1"/>
              <a:t>teşvik</a:t>
            </a:r>
            <a:r>
              <a:rPr lang="fr-FR" sz="1200" dirty="0"/>
              <a:t> </a:t>
            </a:r>
            <a:r>
              <a:rPr lang="fr-FR" sz="1200" dirty="0" err="1"/>
              <a:t>etmek</a:t>
            </a:r>
            <a:r>
              <a:rPr lang="fr-FR" sz="1200" dirty="0"/>
              <a:t> </a:t>
            </a:r>
            <a:r>
              <a:rPr lang="fr-FR" sz="1200" dirty="0" err="1"/>
              <a:t>veya</a:t>
            </a:r>
            <a:r>
              <a:rPr lang="fr-FR" sz="1200" dirty="0"/>
              <a:t> </a:t>
            </a:r>
            <a:r>
              <a:rPr lang="fr-FR" sz="1200" dirty="0" err="1"/>
              <a:t>suç</a:t>
            </a:r>
            <a:r>
              <a:rPr lang="fr-FR" sz="1200" dirty="0"/>
              <a:t> </a:t>
            </a:r>
            <a:r>
              <a:rPr lang="fr-FR" sz="1200" dirty="0" err="1"/>
              <a:t>işleme</a:t>
            </a:r>
            <a:r>
              <a:rPr lang="fr-FR" sz="1200" dirty="0"/>
              <a:t> </a:t>
            </a:r>
            <a:r>
              <a:rPr lang="fr-FR" sz="1200" dirty="0" err="1"/>
              <a:t>kararını</a:t>
            </a:r>
            <a:r>
              <a:rPr lang="fr-FR" sz="1200" dirty="0"/>
              <a:t> </a:t>
            </a:r>
            <a:r>
              <a:rPr lang="fr-FR" sz="1200" dirty="0" err="1"/>
              <a:t>kuvvetlendirmek</a:t>
            </a:r>
            <a:r>
              <a:rPr lang="fr-FR" sz="1200" dirty="0"/>
              <a:t> </a:t>
            </a:r>
            <a:r>
              <a:rPr lang="fr-FR" sz="1200" dirty="0" err="1"/>
              <a:t>veya</a:t>
            </a:r>
            <a:r>
              <a:rPr lang="fr-FR" sz="1200" dirty="0"/>
              <a:t> </a:t>
            </a:r>
            <a:r>
              <a:rPr lang="fr-FR" sz="1200" dirty="0" err="1"/>
              <a:t>fiilin</a:t>
            </a:r>
            <a:r>
              <a:rPr lang="fr-FR" sz="1200" dirty="0"/>
              <a:t> </a:t>
            </a:r>
            <a:r>
              <a:rPr lang="fr-FR" sz="1200" dirty="0" err="1"/>
              <a:t>işlenmesinden</a:t>
            </a:r>
            <a:r>
              <a:rPr lang="fr-FR" sz="1200" dirty="0"/>
              <a:t> sonra </a:t>
            </a:r>
            <a:r>
              <a:rPr lang="fr-FR" sz="1200" dirty="0" err="1"/>
              <a:t>yardımda</a:t>
            </a:r>
            <a:r>
              <a:rPr lang="fr-FR" sz="1200" dirty="0"/>
              <a:t> </a:t>
            </a:r>
            <a:r>
              <a:rPr lang="fr-FR" sz="1200" dirty="0" err="1"/>
              <a:t>bulunacağını</a:t>
            </a:r>
            <a:r>
              <a:rPr lang="fr-FR" sz="1200" dirty="0"/>
              <a:t> </a:t>
            </a:r>
            <a:r>
              <a:rPr lang="fr-FR" sz="1200" dirty="0" err="1"/>
              <a:t>vaat</a:t>
            </a:r>
            <a:r>
              <a:rPr lang="fr-FR" sz="1200" dirty="0"/>
              <a:t> </a:t>
            </a:r>
            <a:r>
              <a:rPr lang="fr-FR" sz="1200" dirty="0" err="1"/>
              <a:t>etmek</a:t>
            </a:r>
            <a:r>
              <a:rPr lang="fr-FR" sz="1200" dirty="0"/>
              <a:t>. </a:t>
            </a:r>
          </a:p>
          <a:p>
            <a:pPr algn="just"/>
            <a:r>
              <a:rPr lang="tr-TR" sz="1200" dirty="0" smtClean="0"/>
              <a:t>    </a:t>
            </a:r>
            <a:r>
              <a:rPr lang="fr-FR" sz="1200" dirty="0" smtClean="0"/>
              <a:t>b</a:t>
            </a:r>
            <a:r>
              <a:rPr lang="fr-FR" sz="1200" dirty="0"/>
              <a:t>) </a:t>
            </a:r>
            <a:r>
              <a:rPr lang="fr-FR" sz="1200" dirty="0" err="1"/>
              <a:t>Suçun</a:t>
            </a:r>
            <a:r>
              <a:rPr lang="fr-FR" sz="1200" dirty="0"/>
              <a:t> </a:t>
            </a:r>
            <a:r>
              <a:rPr lang="fr-FR" sz="1200" dirty="0" err="1"/>
              <a:t>nasıl</a:t>
            </a:r>
            <a:r>
              <a:rPr lang="fr-FR" sz="1200" dirty="0"/>
              <a:t> </a:t>
            </a:r>
            <a:r>
              <a:rPr lang="fr-FR" sz="1200" dirty="0" err="1"/>
              <a:t>işleneceği</a:t>
            </a:r>
            <a:r>
              <a:rPr lang="fr-FR" sz="1200" dirty="0"/>
              <a:t> </a:t>
            </a:r>
            <a:r>
              <a:rPr lang="fr-FR" sz="1200" dirty="0" err="1"/>
              <a:t>hususunda</a:t>
            </a:r>
            <a:r>
              <a:rPr lang="fr-FR" sz="1200" dirty="0"/>
              <a:t> </a:t>
            </a:r>
            <a:r>
              <a:rPr lang="fr-FR" sz="1200" dirty="0" err="1"/>
              <a:t>yol</a:t>
            </a:r>
            <a:r>
              <a:rPr lang="fr-FR" sz="1200" dirty="0"/>
              <a:t> </a:t>
            </a:r>
            <a:r>
              <a:rPr lang="fr-FR" sz="1200" dirty="0" err="1"/>
              <a:t>göstermek</a:t>
            </a:r>
            <a:r>
              <a:rPr lang="fr-FR" sz="1200" dirty="0"/>
              <a:t> </a:t>
            </a:r>
            <a:r>
              <a:rPr lang="fr-FR" sz="1200" dirty="0" err="1"/>
              <a:t>veya</a:t>
            </a:r>
            <a:r>
              <a:rPr lang="fr-FR" sz="1200" dirty="0"/>
              <a:t> </a:t>
            </a:r>
            <a:r>
              <a:rPr lang="fr-FR" sz="1200" dirty="0" err="1"/>
              <a:t>fiilin</a:t>
            </a:r>
            <a:r>
              <a:rPr lang="fr-FR" sz="1200" dirty="0"/>
              <a:t> </a:t>
            </a:r>
            <a:r>
              <a:rPr lang="fr-FR" sz="1200" dirty="0" err="1"/>
              <a:t>işlenmesinde</a:t>
            </a:r>
            <a:r>
              <a:rPr lang="fr-FR" sz="1200" dirty="0"/>
              <a:t> </a:t>
            </a:r>
            <a:r>
              <a:rPr lang="fr-FR" sz="1200" dirty="0" err="1"/>
              <a:t>kullanılan</a:t>
            </a:r>
            <a:r>
              <a:rPr lang="fr-FR" sz="1200" dirty="0"/>
              <a:t> </a:t>
            </a:r>
            <a:r>
              <a:rPr lang="fr-FR" sz="1200" dirty="0" err="1"/>
              <a:t>araçları</a:t>
            </a:r>
            <a:r>
              <a:rPr lang="fr-FR" sz="1200" dirty="0"/>
              <a:t> </a:t>
            </a:r>
            <a:r>
              <a:rPr lang="fr-FR" sz="1200" dirty="0" err="1"/>
              <a:t>sağlamak</a:t>
            </a:r>
            <a:r>
              <a:rPr lang="fr-FR" sz="1200" dirty="0"/>
              <a:t>. </a:t>
            </a:r>
          </a:p>
          <a:p>
            <a:pPr algn="just"/>
            <a:r>
              <a:rPr lang="tr-TR" sz="1200" dirty="0" smtClean="0"/>
              <a:t>    </a:t>
            </a:r>
            <a:r>
              <a:rPr lang="fr-FR" sz="1200" dirty="0" smtClean="0"/>
              <a:t>c</a:t>
            </a:r>
            <a:r>
              <a:rPr lang="fr-FR" sz="1200" dirty="0"/>
              <a:t>) </a:t>
            </a:r>
            <a:r>
              <a:rPr lang="fr-FR" sz="1200" dirty="0" err="1"/>
              <a:t>Suçun</a:t>
            </a:r>
            <a:r>
              <a:rPr lang="fr-FR" sz="1200" dirty="0"/>
              <a:t> </a:t>
            </a:r>
            <a:r>
              <a:rPr lang="fr-FR" sz="1200" dirty="0" err="1"/>
              <a:t>işlenmesinden</a:t>
            </a:r>
            <a:r>
              <a:rPr lang="fr-FR" sz="1200" dirty="0"/>
              <a:t> </a:t>
            </a:r>
            <a:r>
              <a:rPr lang="fr-FR" sz="1200" dirty="0" err="1"/>
              <a:t>önce</a:t>
            </a:r>
            <a:r>
              <a:rPr lang="fr-FR" sz="1200" dirty="0"/>
              <a:t> </a:t>
            </a:r>
            <a:r>
              <a:rPr lang="fr-FR" sz="1200" dirty="0" err="1"/>
              <a:t>veya</a:t>
            </a:r>
            <a:r>
              <a:rPr lang="fr-FR" sz="1200" dirty="0"/>
              <a:t> </a:t>
            </a:r>
            <a:r>
              <a:rPr lang="fr-FR" sz="1200" dirty="0" err="1"/>
              <a:t>işlenmesi</a:t>
            </a:r>
            <a:r>
              <a:rPr lang="fr-FR" sz="1200" dirty="0"/>
              <a:t> </a:t>
            </a:r>
            <a:r>
              <a:rPr lang="fr-FR" sz="1200" dirty="0" err="1"/>
              <a:t>sırasında</a:t>
            </a:r>
            <a:r>
              <a:rPr lang="fr-FR" sz="1200" dirty="0"/>
              <a:t> </a:t>
            </a:r>
            <a:r>
              <a:rPr lang="fr-FR" sz="1200" dirty="0" err="1"/>
              <a:t>yardımda</a:t>
            </a:r>
            <a:r>
              <a:rPr lang="fr-FR" sz="1200" dirty="0"/>
              <a:t> </a:t>
            </a:r>
            <a:r>
              <a:rPr lang="fr-FR" sz="1200" dirty="0" err="1"/>
              <a:t>bulunarak</a:t>
            </a:r>
            <a:r>
              <a:rPr lang="fr-FR" sz="1200" dirty="0"/>
              <a:t> </a:t>
            </a:r>
            <a:r>
              <a:rPr lang="fr-FR" sz="1200" dirty="0" err="1"/>
              <a:t>icrasını</a:t>
            </a:r>
            <a:r>
              <a:rPr lang="fr-FR" sz="1200" dirty="0"/>
              <a:t> </a:t>
            </a:r>
            <a:r>
              <a:rPr lang="fr-FR" sz="1200" dirty="0" err="1"/>
              <a:t>kolaylaştırmak</a:t>
            </a:r>
            <a:r>
              <a:rPr lang="fr-FR" sz="1200" dirty="0"/>
              <a:t>. </a:t>
            </a:r>
          </a:p>
        </p:txBody>
      </p:sp>
      <p:sp>
        <p:nvSpPr>
          <p:cNvPr id="5" name="Metin kutusu 4"/>
          <p:cNvSpPr txBox="1"/>
          <p:nvPr/>
        </p:nvSpPr>
        <p:spPr>
          <a:xfrm>
            <a:off x="105104" y="5703214"/>
            <a:ext cx="2228194" cy="892552"/>
          </a:xfrm>
          <a:prstGeom prst="rect">
            <a:avLst/>
          </a:prstGeom>
          <a:noFill/>
        </p:spPr>
        <p:txBody>
          <a:bodyPr wrap="square" rtlCol="0">
            <a:spAutoFit/>
          </a:bodyPr>
          <a:lstStyle/>
          <a:p>
            <a:r>
              <a:rPr lang="tr-TR" sz="1300" dirty="0" smtClean="0">
                <a:effectLst>
                  <a:outerShdw blurRad="38100" dist="38100" dir="2700000" algn="tl">
                    <a:srgbClr val="000000">
                      <a:alpha val="43137"/>
                    </a:srgbClr>
                  </a:outerShdw>
                </a:effectLst>
              </a:rPr>
              <a:t>Suçun Özel Görünüş Biçimleri</a:t>
            </a:r>
          </a:p>
          <a:p>
            <a:r>
              <a:rPr lang="tr-TR" sz="1300" b="1" dirty="0" smtClean="0"/>
              <a:t>1-</a:t>
            </a:r>
            <a:r>
              <a:rPr lang="tr-TR" sz="1300" dirty="0" smtClean="0"/>
              <a:t>Teşebbüs</a:t>
            </a:r>
          </a:p>
          <a:p>
            <a:r>
              <a:rPr lang="tr-TR" sz="1300" b="1" u="sng" dirty="0" smtClean="0"/>
              <a:t>2-İştirak</a:t>
            </a:r>
          </a:p>
          <a:p>
            <a:r>
              <a:rPr lang="tr-TR" sz="1300" b="1" dirty="0" smtClean="0"/>
              <a:t>3-</a:t>
            </a:r>
            <a:r>
              <a:rPr lang="tr-TR" sz="1300" dirty="0" smtClean="0"/>
              <a:t>İçtima</a:t>
            </a:r>
            <a:endParaRPr lang="fr-FR" sz="1300" dirty="0"/>
          </a:p>
        </p:txBody>
      </p:sp>
      <p:sp>
        <p:nvSpPr>
          <p:cNvPr id="4" name="Slayt Numarası Yer Tutucusu 3"/>
          <p:cNvSpPr>
            <a:spLocks noGrp="1"/>
          </p:cNvSpPr>
          <p:nvPr>
            <p:ph type="sldNum" sz="quarter" idx="12"/>
          </p:nvPr>
        </p:nvSpPr>
        <p:spPr/>
        <p:txBody>
          <a:bodyPr/>
          <a:lstStyle/>
          <a:p>
            <a:fld id="{39F9BA00-44CD-41D4-A3D8-F864C744DC1F}" type="slidenum">
              <a:rPr lang="tr-TR" smtClean="0"/>
              <a:t>86</a:t>
            </a:fld>
            <a:r>
              <a:rPr lang="tr-TR"/>
              <a:t>/116</a:t>
            </a:r>
          </a:p>
        </p:txBody>
      </p:sp>
    </p:spTree>
    <p:extLst>
      <p:ext uri="{BB962C8B-B14F-4D97-AF65-F5344CB8AC3E}">
        <p14:creationId xmlns:p14="http://schemas.microsoft.com/office/powerpoint/2010/main" val="102605501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5" name="Dikdörtgen 14"/>
          <p:cNvSpPr/>
          <p:nvPr/>
        </p:nvSpPr>
        <p:spPr>
          <a:xfrm>
            <a:off x="1874779" y="1842319"/>
            <a:ext cx="4578573"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İştirak</a:t>
            </a:r>
          </a:p>
        </p:txBody>
      </p:sp>
      <p:sp>
        <p:nvSpPr>
          <p:cNvPr id="2" name="Dikdörtgen 1"/>
          <p:cNvSpPr/>
          <p:nvPr/>
        </p:nvSpPr>
        <p:spPr>
          <a:xfrm>
            <a:off x="2084986" y="2242429"/>
            <a:ext cx="9875786" cy="2693045"/>
          </a:xfrm>
          <a:prstGeom prst="rect">
            <a:avLst/>
          </a:prstGeom>
        </p:spPr>
        <p:txBody>
          <a:bodyPr wrap="square">
            <a:spAutoFit/>
          </a:bodyPr>
          <a:lstStyle/>
          <a:p>
            <a:pPr algn="just"/>
            <a:r>
              <a:rPr lang="tr-TR" sz="1300" b="1" dirty="0" smtClean="0"/>
              <a:t>Türk Ceza Kanunu</a:t>
            </a:r>
            <a:endParaRPr lang="fr-FR" sz="1300" dirty="0"/>
          </a:p>
          <a:p>
            <a:pPr algn="just"/>
            <a:r>
              <a:rPr lang="fr-FR" sz="1300" b="1" dirty="0" err="1" smtClean="0"/>
              <a:t>Bağlılık</a:t>
            </a:r>
            <a:r>
              <a:rPr lang="fr-FR" sz="1300" b="1" dirty="0" smtClean="0"/>
              <a:t> </a:t>
            </a:r>
            <a:r>
              <a:rPr lang="fr-FR" sz="1300" b="1" dirty="0" err="1"/>
              <a:t>kuralı</a:t>
            </a:r>
            <a:r>
              <a:rPr lang="fr-FR" sz="1300" b="1" dirty="0"/>
              <a:t> </a:t>
            </a:r>
            <a:endParaRPr lang="fr-FR" sz="1300" dirty="0"/>
          </a:p>
          <a:p>
            <a:pPr algn="just"/>
            <a:r>
              <a:rPr lang="fr-FR" sz="1300" b="1" dirty="0" err="1"/>
              <a:t>Madde</a:t>
            </a:r>
            <a:r>
              <a:rPr lang="fr-FR" sz="1300" b="1" dirty="0"/>
              <a:t> 40- </a:t>
            </a:r>
            <a:r>
              <a:rPr lang="fr-FR" sz="1300" dirty="0"/>
              <a:t>(1) Suça </a:t>
            </a:r>
            <a:r>
              <a:rPr lang="fr-FR" sz="1300" dirty="0" err="1"/>
              <a:t>iştirak</a:t>
            </a:r>
            <a:r>
              <a:rPr lang="fr-FR" sz="1300" dirty="0"/>
              <a:t> </a:t>
            </a:r>
            <a:r>
              <a:rPr lang="fr-FR" sz="1300" dirty="0" err="1"/>
              <a:t>için</a:t>
            </a:r>
            <a:r>
              <a:rPr lang="fr-FR" sz="1300" dirty="0"/>
              <a:t> </a:t>
            </a:r>
            <a:r>
              <a:rPr lang="fr-FR" sz="1300" dirty="0" err="1"/>
              <a:t>kasten</a:t>
            </a:r>
            <a:r>
              <a:rPr lang="fr-FR" sz="1300" dirty="0"/>
              <a:t> </a:t>
            </a:r>
            <a:r>
              <a:rPr lang="fr-FR" sz="1300" dirty="0" err="1"/>
              <a:t>ve</a:t>
            </a:r>
            <a:r>
              <a:rPr lang="fr-FR" sz="1300" dirty="0"/>
              <a:t> </a:t>
            </a:r>
            <a:r>
              <a:rPr lang="fr-FR" sz="1300" dirty="0" err="1"/>
              <a:t>hukuka</a:t>
            </a:r>
            <a:r>
              <a:rPr lang="fr-FR" sz="1300" dirty="0"/>
              <a:t> </a:t>
            </a:r>
            <a:r>
              <a:rPr lang="fr-FR" sz="1300" dirty="0" err="1"/>
              <a:t>aykırı</a:t>
            </a:r>
            <a:r>
              <a:rPr lang="fr-FR" sz="1300" dirty="0"/>
              <a:t> </a:t>
            </a:r>
            <a:r>
              <a:rPr lang="fr-FR" sz="1300" dirty="0" err="1"/>
              <a:t>işlenmiş</a:t>
            </a:r>
            <a:r>
              <a:rPr lang="fr-FR" sz="1300" dirty="0"/>
              <a:t> </a:t>
            </a:r>
            <a:r>
              <a:rPr lang="fr-FR" sz="1300" dirty="0" err="1"/>
              <a:t>bir</a:t>
            </a:r>
            <a:r>
              <a:rPr lang="fr-FR" sz="1300" dirty="0"/>
              <a:t> </a:t>
            </a:r>
            <a:r>
              <a:rPr lang="fr-FR" sz="1300" dirty="0" err="1"/>
              <a:t>fiilin</a:t>
            </a:r>
            <a:r>
              <a:rPr lang="fr-FR" sz="1300" dirty="0"/>
              <a:t> </a:t>
            </a:r>
            <a:r>
              <a:rPr lang="fr-FR" sz="1300" dirty="0" err="1"/>
              <a:t>varlığı</a:t>
            </a:r>
            <a:r>
              <a:rPr lang="fr-FR" sz="1300" dirty="0"/>
              <a:t> </a:t>
            </a:r>
            <a:r>
              <a:rPr lang="fr-FR" sz="1300" dirty="0" err="1"/>
              <a:t>yeterlidir</a:t>
            </a:r>
            <a:r>
              <a:rPr lang="fr-FR" sz="1300" dirty="0"/>
              <a:t>. </a:t>
            </a:r>
            <a:r>
              <a:rPr lang="fr-FR" sz="1300" dirty="0" err="1"/>
              <a:t>Suçun</a:t>
            </a:r>
            <a:r>
              <a:rPr lang="fr-FR" sz="1300" dirty="0"/>
              <a:t> </a:t>
            </a:r>
            <a:r>
              <a:rPr lang="fr-FR" sz="1300" dirty="0" err="1"/>
              <a:t>işlenişine</a:t>
            </a:r>
            <a:r>
              <a:rPr lang="fr-FR" sz="1300" dirty="0"/>
              <a:t> </a:t>
            </a:r>
            <a:r>
              <a:rPr lang="fr-FR" sz="1300" dirty="0" err="1"/>
              <a:t>iştirak</a:t>
            </a:r>
            <a:r>
              <a:rPr lang="fr-FR" sz="1300" dirty="0"/>
              <a:t> </a:t>
            </a:r>
            <a:r>
              <a:rPr lang="fr-FR" sz="1300" dirty="0" err="1"/>
              <a:t>eden</a:t>
            </a:r>
            <a:r>
              <a:rPr lang="fr-FR" sz="1300" dirty="0"/>
              <a:t> </a:t>
            </a:r>
            <a:r>
              <a:rPr lang="fr-FR" sz="1300" dirty="0" err="1"/>
              <a:t>her</a:t>
            </a:r>
            <a:r>
              <a:rPr lang="fr-FR" sz="1300" dirty="0"/>
              <a:t> </a:t>
            </a:r>
            <a:r>
              <a:rPr lang="fr-FR" sz="1300" dirty="0" err="1"/>
              <a:t>kişi</a:t>
            </a:r>
            <a:r>
              <a:rPr lang="fr-FR" sz="1300" dirty="0"/>
              <a:t>, </a:t>
            </a:r>
            <a:r>
              <a:rPr lang="fr-FR" sz="1300" dirty="0" err="1"/>
              <a:t>diğerinin</a:t>
            </a:r>
            <a:r>
              <a:rPr lang="fr-FR" sz="1300" dirty="0"/>
              <a:t> </a:t>
            </a:r>
            <a:r>
              <a:rPr lang="fr-FR" sz="1300" dirty="0" err="1"/>
              <a:t>cezalandırılmasını</a:t>
            </a:r>
            <a:r>
              <a:rPr lang="fr-FR" sz="1300" dirty="0"/>
              <a:t> </a:t>
            </a:r>
            <a:r>
              <a:rPr lang="fr-FR" sz="1300" dirty="0" err="1"/>
              <a:t>önleyen</a:t>
            </a:r>
            <a:r>
              <a:rPr lang="fr-FR" sz="1300" dirty="0"/>
              <a:t> </a:t>
            </a:r>
            <a:r>
              <a:rPr lang="fr-FR" sz="1300" dirty="0" err="1"/>
              <a:t>kişisel</a:t>
            </a:r>
            <a:r>
              <a:rPr lang="fr-FR" sz="1300" dirty="0"/>
              <a:t> </a:t>
            </a:r>
            <a:r>
              <a:rPr lang="fr-FR" sz="1300" dirty="0" err="1"/>
              <a:t>nedenler</a:t>
            </a:r>
            <a:r>
              <a:rPr lang="fr-FR" sz="1300" dirty="0"/>
              <a:t> </a:t>
            </a:r>
            <a:r>
              <a:rPr lang="fr-FR" sz="1300" dirty="0" err="1"/>
              <a:t>göz</a:t>
            </a:r>
            <a:r>
              <a:rPr lang="fr-FR" sz="1300" dirty="0"/>
              <a:t> </a:t>
            </a:r>
            <a:r>
              <a:rPr lang="fr-FR" sz="1300" dirty="0" err="1"/>
              <a:t>önünde</a:t>
            </a:r>
            <a:r>
              <a:rPr lang="fr-FR" sz="1300" dirty="0"/>
              <a:t> </a:t>
            </a:r>
            <a:r>
              <a:rPr lang="fr-FR" sz="1300" dirty="0" err="1"/>
              <a:t>bulundurulmaksızın</a:t>
            </a:r>
            <a:r>
              <a:rPr lang="fr-FR" sz="1300" dirty="0"/>
              <a:t> </a:t>
            </a:r>
            <a:r>
              <a:rPr lang="fr-FR" sz="1300" dirty="0" err="1"/>
              <a:t>kendi</a:t>
            </a:r>
            <a:r>
              <a:rPr lang="fr-FR" sz="1300" dirty="0"/>
              <a:t> </a:t>
            </a:r>
            <a:r>
              <a:rPr lang="fr-FR" sz="1300" dirty="0" err="1"/>
              <a:t>kusurlu</a:t>
            </a:r>
            <a:r>
              <a:rPr lang="fr-FR" sz="1300" dirty="0"/>
              <a:t> </a:t>
            </a:r>
            <a:r>
              <a:rPr lang="fr-FR" sz="1300" dirty="0" err="1"/>
              <a:t>fiiline</a:t>
            </a:r>
            <a:r>
              <a:rPr lang="fr-FR" sz="1300" dirty="0"/>
              <a:t> </a:t>
            </a:r>
            <a:r>
              <a:rPr lang="fr-FR" sz="1300" dirty="0" err="1"/>
              <a:t>göre</a:t>
            </a:r>
            <a:r>
              <a:rPr lang="fr-FR" sz="1300" dirty="0"/>
              <a:t> </a:t>
            </a:r>
            <a:r>
              <a:rPr lang="fr-FR" sz="1300" dirty="0" err="1"/>
              <a:t>cezalandırılır</a:t>
            </a:r>
            <a:r>
              <a:rPr lang="fr-FR" sz="1300" dirty="0"/>
              <a:t>. </a:t>
            </a:r>
          </a:p>
          <a:p>
            <a:pPr algn="just"/>
            <a:r>
              <a:rPr lang="fr-FR" sz="1300" dirty="0"/>
              <a:t>(2) </a:t>
            </a:r>
            <a:r>
              <a:rPr lang="fr-FR" sz="1300" dirty="0" err="1"/>
              <a:t>Özgü</a:t>
            </a:r>
            <a:r>
              <a:rPr lang="fr-FR" sz="1300" dirty="0"/>
              <a:t> </a:t>
            </a:r>
            <a:r>
              <a:rPr lang="fr-FR" sz="1300" dirty="0" err="1"/>
              <a:t>suçlarda</a:t>
            </a:r>
            <a:r>
              <a:rPr lang="fr-FR" sz="1300" dirty="0"/>
              <a:t>, </a:t>
            </a:r>
            <a:r>
              <a:rPr lang="fr-FR" sz="1300" dirty="0" err="1"/>
              <a:t>ancak</a:t>
            </a:r>
            <a:r>
              <a:rPr lang="fr-FR" sz="1300" dirty="0"/>
              <a:t> </a:t>
            </a:r>
            <a:r>
              <a:rPr lang="fr-FR" sz="1300" dirty="0" err="1"/>
              <a:t>özel</a:t>
            </a:r>
            <a:r>
              <a:rPr lang="fr-FR" sz="1300" dirty="0"/>
              <a:t> </a:t>
            </a:r>
            <a:r>
              <a:rPr lang="fr-FR" sz="1300" dirty="0" err="1"/>
              <a:t>faillik</a:t>
            </a:r>
            <a:r>
              <a:rPr lang="fr-FR" sz="1300" dirty="0"/>
              <a:t> </a:t>
            </a:r>
            <a:r>
              <a:rPr lang="fr-FR" sz="1300" dirty="0" err="1"/>
              <a:t>niteliğini</a:t>
            </a:r>
            <a:r>
              <a:rPr lang="fr-FR" sz="1300" dirty="0"/>
              <a:t> </a:t>
            </a:r>
            <a:r>
              <a:rPr lang="fr-FR" sz="1300" dirty="0" err="1"/>
              <a:t>taşıyan</a:t>
            </a:r>
            <a:r>
              <a:rPr lang="fr-FR" sz="1300" dirty="0"/>
              <a:t> </a:t>
            </a:r>
            <a:r>
              <a:rPr lang="fr-FR" sz="1300" dirty="0" err="1"/>
              <a:t>kişi</a:t>
            </a:r>
            <a:r>
              <a:rPr lang="fr-FR" sz="1300" dirty="0"/>
              <a:t> </a:t>
            </a:r>
            <a:r>
              <a:rPr lang="fr-FR" sz="1300" dirty="0" err="1"/>
              <a:t>fail</a:t>
            </a:r>
            <a:r>
              <a:rPr lang="fr-FR" sz="1300" dirty="0"/>
              <a:t> </a:t>
            </a:r>
            <a:r>
              <a:rPr lang="fr-FR" sz="1300" dirty="0" err="1"/>
              <a:t>olabilir</a:t>
            </a:r>
            <a:r>
              <a:rPr lang="fr-FR" sz="1300" dirty="0"/>
              <a:t>. Bu </a:t>
            </a:r>
            <a:r>
              <a:rPr lang="fr-FR" sz="1300" dirty="0" err="1"/>
              <a:t>suçların</a:t>
            </a:r>
            <a:r>
              <a:rPr lang="fr-FR" sz="1300" dirty="0"/>
              <a:t> </a:t>
            </a:r>
            <a:r>
              <a:rPr lang="fr-FR" sz="1300" dirty="0" err="1"/>
              <a:t>işlenişine</a:t>
            </a:r>
            <a:r>
              <a:rPr lang="fr-FR" sz="1300" dirty="0"/>
              <a:t> </a:t>
            </a:r>
            <a:r>
              <a:rPr lang="fr-FR" sz="1300" dirty="0" err="1"/>
              <a:t>iştirak</a:t>
            </a:r>
            <a:r>
              <a:rPr lang="fr-FR" sz="1300" dirty="0"/>
              <a:t> </a:t>
            </a:r>
            <a:r>
              <a:rPr lang="fr-FR" sz="1300" dirty="0" err="1"/>
              <a:t>eden</a:t>
            </a:r>
            <a:r>
              <a:rPr lang="fr-FR" sz="1300" dirty="0"/>
              <a:t> </a:t>
            </a:r>
            <a:r>
              <a:rPr lang="fr-FR" sz="1300" dirty="0" err="1"/>
              <a:t>diğer</a:t>
            </a:r>
            <a:r>
              <a:rPr lang="fr-FR" sz="1300" dirty="0"/>
              <a:t> </a:t>
            </a:r>
            <a:r>
              <a:rPr lang="fr-FR" sz="1300" dirty="0" err="1"/>
              <a:t>kişiler</a:t>
            </a:r>
            <a:r>
              <a:rPr lang="fr-FR" sz="1300" dirty="0"/>
              <a:t> </a:t>
            </a:r>
            <a:r>
              <a:rPr lang="fr-FR" sz="1300" dirty="0" err="1"/>
              <a:t>ise</a:t>
            </a:r>
            <a:r>
              <a:rPr lang="fr-FR" sz="1300" dirty="0"/>
              <a:t> </a:t>
            </a:r>
            <a:r>
              <a:rPr lang="fr-FR" sz="1300" dirty="0" err="1"/>
              <a:t>azmettiren</a:t>
            </a:r>
            <a:r>
              <a:rPr lang="fr-FR" sz="1300" dirty="0"/>
              <a:t> </a:t>
            </a:r>
            <a:r>
              <a:rPr lang="fr-FR" sz="1300" dirty="0" err="1"/>
              <a:t>veya</a:t>
            </a:r>
            <a:r>
              <a:rPr lang="fr-FR" sz="1300" dirty="0"/>
              <a:t> </a:t>
            </a:r>
            <a:r>
              <a:rPr lang="fr-FR" sz="1300" dirty="0" err="1"/>
              <a:t>yardım</a:t>
            </a:r>
            <a:r>
              <a:rPr lang="fr-FR" sz="1300" dirty="0"/>
              <a:t> </a:t>
            </a:r>
            <a:r>
              <a:rPr lang="fr-FR" sz="1300" dirty="0" err="1"/>
              <a:t>eden</a:t>
            </a:r>
            <a:r>
              <a:rPr lang="fr-FR" sz="1300" dirty="0"/>
              <a:t> </a:t>
            </a:r>
            <a:r>
              <a:rPr lang="fr-FR" sz="1300" dirty="0" err="1"/>
              <a:t>olarak</a:t>
            </a:r>
            <a:r>
              <a:rPr lang="fr-FR" sz="1300" dirty="0"/>
              <a:t> </a:t>
            </a:r>
            <a:r>
              <a:rPr lang="fr-FR" sz="1300" dirty="0" err="1"/>
              <a:t>sorumlu</a:t>
            </a:r>
            <a:r>
              <a:rPr lang="fr-FR" sz="1300" dirty="0"/>
              <a:t> </a:t>
            </a:r>
            <a:r>
              <a:rPr lang="fr-FR" sz="1300" dirty="0" err="1"/>
              <a:t>tutulur</a:t>
            </a:r>
            <a:r>
              <a:rPr lang="fr-FR" sz="1300" dirty="0"/>
              <a:t>. </a:t>
            </a:r>
          </a:p>
          <a:p>
            <a:pPr algn="just"/>
            <a:r>
              <a:rPr lang="fr-FR" sz="1300" dirty="0"/>
              <a:t>(3) Suça </a:t>
            </a:r>
            <a:r>
              <a:rPr lang="fr-FR" sz="1300" dirty="0" err="1"/>
              <a:t>iştirakten</a:t>
            </a:r>
            <a:r>
              <a:rPr lang="fr-FR" sz="1300" dirty="0"/>
              <a:t> </a:t>
            </a:r>
            <a:r>
              <a:rPr lang="fr-FR" sz="1300" dirty="0" err="1"/>
              <a:t>dolayı</a:t>
            </a:r>
            <a:r>
              <a:rPr lang="fr-FR" sz="1300" dirty="0"/>
              <a:t> </a:t>
            </a:r>
            <a:r>
              <a:rPr lang="fr-FR" sz="1300" dirty="0" err="1"/>
              <a:t>sorumlu</a:t>
            </a:r>
            <a:r>
              <a:rPr lang="fr-FR" sz="1300" dirty="0"/>
              <a:t> </a:t>
            </a:r>
            <a:r>
              <a:rPr lang="fr-FR" sz="1300" dirty="0" err="1"/>
              <a:t>tutulabilmek</a:t>
            </a:r>
            <a:r>
              <a:rPr lang="fr-FR" sz="1300" dirty="0"/>
              <a:t> </a:t>
            </a:r>
            <a:r>
              <a:rPr lang="fr-FR" sz="1300" dirty="0" err="1"/>
              <a:t>için</a:t>
            </a:r>
            <a:r>
              <a:rPr lang="fr-FR" sz="1300" dirty="0"/>
              <a:t> </a:t>
            </a:r>
            <a:r>
              <a:rPr lang="fr-FR" sz="1300" dirty="0" err="1"/>
              <a:t>ilgili</a:t>
            </a:r>
            <a:r>
              <a:rPr lang="fr-FR" sz="1300" dirty="0"/>
              <a:t> </a:t>
            </a:r>
            <a:r>
              <a:rPr lang="fr-FR" sz="1300" dirty="0" err="1"/>
              <a:t>suçun</a:t>
            </a:r>
            <a:r>
              <a:rPr lang="fr-FR" sz="1300" dirty="0"/>
              <a:t> en </a:t>
            </a:r>
            <a:r>
              <a:rPr lang="fr-FR" sz="1300" dirty="0" err="1"/>
              <a:t>azından</a:t>
            </a:r>
            <a:r>
              <a:rPr lang="fr-FR" sz="1300" dirty="0"/>
              <a:t> </a:t>
            </a:r>
            <a:r>
              <a:rPr lang="fr-FR" sz="1300" dirty="0" err="1"/>
              <a:t>teşebbüs</a:t>
            </a:r>
            <a:r>
              <a:rPr lang="fr-FR" sz="1300" dirty="0"/>
              <a:t> </a:t>
            </a:r>
            <a:r>
              <a:rPr lang="fr-FR" sz="1300" dirty="0" err="1"/>
              <a:t>aşamasına</a:t>
            </a:r>
            <a:r>
              <a:rPr lang="fr-FR" sz="1300" dirty="0"/>
              <a:t> </a:t>
            </a:r>
            <a:r>
              <a:rPr lang="fr-FR" sz="1300" dirty="0" err="1"/>
              <a:t>varmış</a:t>
            </a:r>
            <a:r>
              <a:rPr lang="fr-FR" sz="1300" dirty="0"/>
              <a:t> </a:t>
            </a:r>
            <a:r>
              <a:rPr lang="fr-FR" sz="1300" dirty="0" err="1"/>
              <a:t>olması</a:t>
            </a:r>
            <a:r>
              <a:rPr lang="fr-FR" sz="1300" dirty="0"/>
              <a:t> </a:t>
            </a:r>
            <a:r>
              <a:rPr lang="fr-FR" sz="1300" dirty="0" err="1"/>
              <a:t>gerekir</a:t>
            </a:r>
            <a:r>
              <a:rPr lang="fr-FR" sz="1300" dirty="0"/>
              <a:t>. </a:t>
            </a:r>
          </a:p>
          <a:p>
            <a:pPr algn="just"/>
            <a:r>
              <a:rPr lang="fr-FR" sz="1300" b="1" dirty="0" err="1"/>
              <a:t>İştirak</a:t>
            </a:r>
            <a:r>
              <a:rPr lang="fr-FR" sz="1300" b="1" dirty="0"/>
              <a:t> </a:t>
            </a:r>
            <a:r>
              <a:rPr lang="fr-FR" sz="1300" b="1" dirty="0" err="1"/>
              <a:t>hâlinde</a:t>
            </a:r>
            <a:r>
              <a:rPr lang="fr-FR" sz="1300" b="1" dirty="0"/>
              <a:t> </a:t>
            </a:r>
            <a:r>
              <a:rPr lang="fr-FR" sz="1300" b="1" dirty="0" err="1"/>
              <a:t>işlenen</a:t>
            </a:r>
            <a:r>
              <a:rPr lang="fr-FR" sz="1300" b="1" dirty="0"/>
              <a:t> </a:t>
            </a:r>
            <a:r>
              <a:rPr lang="fr-FR" sz="1300" b="1" dirty="0" err="1"/>
              <a:t>suçlarda</a:t>
            </a:r>
            <a:r>
              <a:rPr lang="fr-FR" sz="1300" b="1" dirty="0"/>
              <a:t> </a:t>
            </a:r>
            <a:r>
              <a:rPr lang="fr-FR" sz="1300" b="1" dirty="0" err="1"/>
              <a:t>gönüllü</a:t>
            </a:r>
            <a:r>
              <a:rPr lang="fr-FR" sz="1300" b="1" dirty="0"/>
              <a:t> </a:t>
            </a:r>
            <a:r>
              <a:rPr lang="fr-FR" sz="1300" b="1" dirty="0" err="1"/>
              <a:t>vazgeçme</a:t>
            </a:r>
            <a:r>
              <a:rPr lang="fr-FR" sz="1300" b="1" dirty="0"/>
              <a:t> </a:t>
            </a:r>
            <a:endParaRPr lang="fr-FR" sz="1300" dirty="0"/>
          </a:p>
          <a:p>
            <a:pPr algn="just"/>
            <a:r>
              <a:rPr lang="fr-FR" sz="1300" b="1" dirty="0" err="1"/>
              <a:t>Madde</a:t>
            </a:r>
            <a:r>
              <a:rPr lang="fr-FR" sz="1300" b="1" dirty="0"/>
              <a:t> 41- </a:t>
            </a:r>
            <a:r>
              <a:rPr lang="fr-FR" sz="1300" dirty="0"/>
              <a:t>(1) </a:t>
            </a:r>
            <a:r>
              <a:rPr lang="fr-FR" sz="1300" dirty="0" err="1"/>
              <a:t>İştirak</a:t>
            </a:r>
            <a:r>
              <a:rPr lang="fr-FR" sz="1300" dirty="0"/>
              <a:t> </a:t>
            </a:r>
            <a:r>
              <a:rPr lang="fr-FR" sz="1300" dirty="0" err="1"/>
              <a:t>halinde</a:t>
            </a:r>
            <a:r>
              <a:rPr lang="fr-FR" sz="1300" dirty="0"/>
              <a:t> </a:t>
            </a:r>
            <a:r>
              <a:rPr lang="fr-FR" sz="1300" dirty="0" err="1"/>
              <a:t>işlenen</a:t>
            </a:r>
            <a:r>
              <a:rPr lang="fr-FR" sz="1300" dirty="0"/>
              <a:t> </a:t>
            </a:r>
            <a:r>
              <a:rPr lang="fr-FR" sz="1300" dirty="0" err="1"/>
              <a:t>suçlarda</a:t>
            </a:r>
            <a:r>
              <a:rPr lang="fr-FR" sz="1300" dirty="0"/>
              <a:t>, </a:t>
            </a:r>
            <a:r>
              <a:rPr lang="fr-FR" sz="1300" dirty="0" err="1"/>
              <a:t>sadece</a:t>
            </a:r>
            <a:r>
              <a:rPr lang="fr-FR" sz="1300" dirty="0"/>
              <a:t> </a:t>
            </a:r>
            <a:r>
              <a:rPr lang="fr-FR" sz="1300" dirty="0" err="1"/>
              <a:t>gönüllü</a:t>
            </a:r>
            <a:r>
              <a:rPr lang="fr-FR" sz="1300" dirty="0"/>
              <a:t> </a:t>
            </a:r>
            <a:r>
              <a:rPr lang="fr-FR" sz="1300" dirty="0" err="1"/>
              <a:t>vazgeçen</a:t>
            </a:r>
            <a:r>
              <a:rPr lang="fr-FR" sz="1300" dirty="0"/>
              <a:t> </a:t>
            </a:r>
            <a:r>
              <a:rPr lang="fr-FR" sz="1300" dirty="0" err="1"/>
              <a:t>suç</a:t>
            </a:r>
            <a:r>
              <a:rPr lang="fr-FR" sz="1300" dirty="0"/>
              <a:t> </a:t>
            </a:r>
            <a:r>
              <a:rPr lang="fr-FR" sz="1300" dirty="0" err="1"/>
              <a:t>ortağı</a:t>
            </a:r>
            <a:r>
              <a:rPr lang="fr-FR" sz="1300" dirty="0"/>
              <a:t>, </a:t>
            </a:r>
            <a:r>
              <a:rPr lang="fr-FR" sz="1300" dirty="0" err="1"/>
              <a:t>gönüllü</a:t>
            </a:r>
            <a:r>
              <a:rPr lang="fr-FR" sz="1300" dirty="0"/>
              <a:t> </a:t>
            </a:r>
            <a:r>
              <a:rPr lang="fr-FR" sz="1300" dirty="0" err="1"/>
              <a:t>vazgeçme</a:t>
            </a:r>
            <a:r>
              <a:rPr lang="fr-FR" sz="1300" dirty="0"/>
              <a:t> </a:t>
            </a:r>
            <a:r>
              <a:rPr lang="fr-FR" sz="1300" dirty="0" err="1"/>
              <a:t>hükümlerinden</a:t>
            </a:r>
            <a:r>
              <a:rPr lang="fr-FR" sz="1300" dirty="0"/>
              <a:t> </a:t>
            </a:r>
            <a:r>
              <a:rPr lang="fr-FR" sz="1300" dirty="0" err="1"/>
              <a:t>yararlanır</a:t>
            </a:r>
            <a:r>
              <a:rPr lang="fr-FR" sz="1300" dirty="0"/>
              <a:t>. </a:t>
            </a:r>
          </a:p>
          <a:p>
            <a:pPr algn="just"/>
            <a:r>
              <a:rPr lang="fr-FR" sz="1300" dirty="0"/>
              <a:t>(2) </a:t>
            </a:r>
            <a:r>
              <a:rPr lang="fr-FR" sz="1300" dirty="0" err="1"/>
              <a:t>Suçun</a:t>
            </a:r>
            <a:r>
              <a:rPr lang="fr-FR" sz="1300" dirty="0"/>
              <a:t>; </a:t>
            </a:r>
          </a:p>
          <a:p>
            <a:pPr algn="just"/>
            <a:r>
              <a:rPr lang="fr-FR" sz="1300" dirty="0"/>
              <a:t>a) </a:t>
            </a:r>
            <a:r>
              <a:rPr lang="fr-FR" sz="1300" dirty="0" err="1"/>
              <a:t>Gönüllü</a:t>
            </a:r>
            <a:r>
              <a:rPr lang="fr-FR" sz="1300" dirty="0"/>
              <a:t> </a:t>
            </a:r>
            <a:r>
              <a:rPr lang="fr-FR" sz="1300" dirty="0" err="1"/>
              <a:t>vazgeçenin</a:t>
            </a:r>
            <a:r>
              <a:rPr lang="fr-FR" sz="1300" dirty="0"/>
              <a:t> </a:t>
            </a:r>
            <a:r>
              <a:rPr lang="fr-FR" sz="1300" dirty="0" err="1"/>
              <a:t>gösterdiği</a:t>
            </a:r>
            <a:r>
              <a:rPr lang="fr-FR" sz="1300" dirty="0"/>
              <a:t> </a:t>
            </a:r>
            <a:r>
              <a:rPr lang="fr-FR" sz="1300" dirty="0" err="1"/>
              <a:t>gayreti</a:t>
            </a:r>
            <a:r>
              <a:rPr lang="fr-FR" sz="1300" dirty="0"/>
              <a:t> </a:t>
            </a:r>
            <a:r>
              <a:rPr lang="fr-FR" sz="1300" dirty="0" err="1"/>
              <a:t>dışında</a:t>
            </a:r>
            <a:r>
              <a:rPr lang="fr-FR" sz="1300" dirty="0"/>
              <a:t> </a:t>
            </a:r>
            <a:r>
              <a:rPr lang="fr-FR" sz="1300" dirty="0" err="1"/>
              <a:t>başka</a:t>
            </a:r>
            <a:r>
              <a:rPr lang="fr-FR" sz="1300" dirty="0"/>
              <a:t> </a:t>
            </a:r>
            <a:r>
              <a:rPr lang="fr-FR" sz="1300" dirty="0" err="1"/>
              <a:t>bir</a:t>
            </a:r>
            <a:r>
              <a:rPr lang="fr-FR" sz="1300" dirty="0"/>
              <a:t> </a:t>
            </a:r>
            <a:r>
              <a:rPr lang="fr-FR" sz="1300" dirty="0" err="1"/>
              <a:t>sebeple</a:t>
            </a:r>
            <a:r>
              <a:rPr lang="fr-FR" sz="1300" dirty="0"/>
              <a:t> </a:t>
            </a:r>
            <a:r>
              <a:rPr lang="fr-FR" sz="1300" dirty="0" err="1"/>
              <a:t>işlenmemiş</a:t>
            </a:r>
            <a:r>
              <a:rPr lang="fr-FR" sz="1300" dirty="0"/>
              <a:t> </a:t>
            </a:r>
            <a:r>
              <a:rPr lang="fr-FR" sz="1300" dirty="0" err="1"/>
              <a:t>olması</a:t>
            </a:r>
            <a:r>
              <a:rPr lang="fr-FR" sz="1300" dirty="0"/>
              <a:t>, </a:t>
            </a:r>
          </a:p>
          <a:p>
            <a:pPr algn="just"/>
            <a:r>
              <a:rPr lang="fr-FR" sz="1300" dirty="0"/>
              <a:t>b) </a:t>
            </a:r>
            <a:r>
              <a:rPr lang="fr-FR" sz="1300" dirty="0" err="1"/>
              <a:t>Gönüllü</a:t>
            </a:r>
            <a:r>
              <a:rPr lang="fr-FR" sz="1300" dirty="0"/>
              <a:t> </a:t>
            </a:r>
            <a:r>
              <a:rPr lang="fr-FR" sz="1300" dirty="0" err="1"/>
              <a:t>vazgeçenin</a:t>
            </a:r>
            <a:r>
              <a:rPr lang="fr-FR" sz="1300" dirty="0"/>
              <a:t> </a:t>
            </a:r>
            <a:r>
              <a:rPr lang="fr-FR" sz="1300" dirty="0" err="1"/>
              <a:t>bütün</a:t>
            </a:r>
            <a:r>
              <a:rPr lang="fr-FR" sz="1300" dirty="0"/>
              <a:t> </a:t>
            </a:r>
            <a:r>
              <a:rPr lang="fr-FR" sz="1300" dirty="0" err="1"/>
              <a:t>gayretine</a:t>
            </a:r>
            <a:r>
              <a:rPr lang="fr-FR" sz="1300" dirty="0"/>
              <a:t> </a:t>
            </a:r>
            <a:r>
              <a:rPr lang="fr-FR" sz="1300" dirty="0" err="1"/>
              <a:t>rağmen</a:t>
            </a:r>
            <a:r>
              <a:rPr lang="fr-FR" sz="1300" dirty="0"/>
              <a:t> </a:t>
            </a:r>
            <a:r>
              <a:rPr lang="fr-FR" sz="1300" dirty="0" err="1"/>
              <a:t>işlenmiş</a:t>
            </a:r>
            <a:r>
              <a:rPr lang="fr-FR" sz="1300" dirty="0"/>
              <a:t> </a:t>
            </a:r>
            <a:r>
              <a:rPr lang="fr-FR" sz="1300" dirty="0" err="1"/>
              <a:t>olması</a:t>
            </a:r>
            <a:r>
              <a:rPr lang="fr-FR" sz="1300" dirty="0"/>
              <a:t>, </a:t>
            </a:r>
          </a:p>
          <a:p>
            <a:pPr algn="just"/>
            <a:r>
              <a:rPr lang="fr-FR" sz="1300" dirty="0" err="1"/>
              <a:t>Hallerinde</a:t>
            </a:r>
            <a:r>
              <a:rPr lang="fr-FR" sz="1300" dirty="0"/>
              <a:t> de </a:t>
            </a:r>
            <a:r>
              <a:rPr lang="fr-FR" sz="1300" dirty="0" err="1"/>
              <a:t>gönüllü</a:t>
            </a:r>
            <a:r>
              <a:rPr lang="fr-FR" sz="1300" dirty="0"/>
              <a:t> </a:t>
            </a:r>
            <a:r>
              <a:rPr lang="fr-FR" sz="1300" dirty="0" err="1"/>
              <a:t>vazgeçme</a:t>
            </a:r>
            <a:r>
              <a:rPr lang="fr-FR" sz="1300" dirty="0"/>
              <a:t> </a:t>
            </a:r>
            <a:r>
              <a:rPr lang="fr-FR" sz="1300" dirty="0" err="1"/>
              <a:t>hükümleri</a:t>
            </a:r>
            <a:r>
              <a:rPr lang="fr-FR" sz="1300" dirty="0"/>
              <a:t> </a:t>
            </a:r>
            <a:r>
              <a:rPr lang="fr-FR" sz="1300" dirty="0" err="1"/>
              <a:t>uygulanır</a:t>
            </a:r>
            <a:r>
              <a:rPr lang="fr-FR" sz="1300" dirty="0"/>
              <a:t>. </a:t>
            </a:r>
            <a:endParaRPr lang="tr-TR" sz="1300" i="1" dirty="0"/>
          </a:p>
        </p:txBody>
      </p:sp>
      <p:sp>
        <p:nvSpPr>
          <p:cNvPr id="5" name="Metin kutusu 4"/>
          <p:cNvSpPr txBox="1"/>
          <p:nvPr/>
        </p:nvSpPr>
        <p:spPr>
          <a:xfrm>
            <a:off x="105104" y="5703214"/>
            <a:ext cx="2228194" cy="892552"/>
          </a:xfrm>
          <a:prstGeom prst="rect">
            <a:avLst/>
          </a:prstGeom>
          <a:noFill/>
        </p:spPr>
        <p:txBody>
          <a:bodyPr wrap="square" rtlCol="0">
            <a:spAutoFit/>
          </a:bodyPr>
          <a:lstStyle/>
          <a:p>
            <a:r>
              <a:rPr lang="tr-TR" sz="1300" dirty="0" smtClean="0">
                <a:effectLst>
                  <a:outerShdw blurRad="38100" dist="38100" dir="2700000" algn="tl">
                    <a:srgbClr val="000000">
                      <a:alpha val="43137"/>
                    </a:srgbClr>
                  </a:outerShdw>
                </a:effectLst>
              </a:rPr>
              <a:t>Suçun Özel Görünüş Biçimleri</a:t>
            </a:r>
          </a:p>
          <a:p>
            <a:r>
              <a:rPr lang="tr-TR" sz="1300" b="1" dirty="0" smtClean="0"/>
              <a:t>1-</a:t>
            </a:r>
            <a:r>
              <a:rPr lang="tr-TR" sz="1300" dirty="0" smtClean="0"/>
              <a:t>Teşebbüs</a:t>
            </a:r>
          </a:p>
          <a:p>
            <a:r>
              <a:rPr lang="tr-TR" sz="1300" b="1" u="sng" dirty="0" smtClean="0"/>
              <a:t>2-İştirak</a:t>
            </a:r>
          </a:p>
          <a:p>
            <a:r>
              <a:rPr lang="tr-TR" sz="1300" b="1" dirty="0" smtClean="0"/>
              <a:t>3-</a:t>
            </a:r>
            <a:r>
              <a:rPr lang="tr-TR" sz="1300" dirty="0" smtClean="0"/>
              <a:t>İçtima</a:t>
            </a:r>
            <a:endParaRPr lang="fr-FR" sz="1300" dirty="0"/>
          </a:p>
        </p:txBody>
      </p:sp>
      <p:sp>
        <p:nvSpPr>
          <p:cNvPr id="4" name="Slayt Numarası Yer Tutucusu 3"/>
          <p:cNvSpPr>
            <a:spLocks noGrp="1"/>
          </p:cNvSpPr>
          <p:nvPr>
            <p:ph type="sldNum" sz="quarter" idx="12"/>
          </p:nvPr>
        </p:nvSpPr>
        <p:spPr/>
        <p:txBody>
          <a:bodyPr/>
          <a:lstStyle/>
          <a:p>
            <a:fld id="{39F9BA00-44CD-41D4-A3D8-F864C744DC1F}" type="slidenum">
              <a:rPr lang="tr-TR" smtClean="0"/>
              <a:t>87</a:t>
            </a:fld>
            <a:r>
              <a:rPr lang="tr-TR"/>
              <a:t>/116</a:t>
            </a:r>
          </a:p>
        </p:txBody>
      </p:sp>
    </p:spTree>
    <p:extLst>
      <p:ext uri="{BB962C8B-B14F-4D97-AF65-F5344CB8AC3E}">
        <p14:creationId xmlns:p14="http://schemas.microsoft.com/office/powerpoint/2010/main" val="282132983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5" name="Dikdörtgen 14"/>
          <p:cNvSpPr/>
          <p:nvPr/>
        </p:nvSpPr>
        <p:spPr>
          <a:xfrm>
            <a:off x="1874779" y="1842319"/>
            <a:ext cx="4578573"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İştirak </a:t>
            </a:r>
          </a:p>
        </p:txBody>
      </p:sp>
      <p:sp>
        <p:nvSpPr>
          <p:cNvPr id="2" name="Dikdörtgen 1"/>
          <p:cNvSpPr/>
          <p:nvPr/>
        </p:nvSpPr>
        <p:spPr>
          <a:xfrm>
            <a:off x="1987788" y="2110100"/>
            <a:ext cx="9875786" cy="1384995"/>
          </a:xfrm>
          <a:prstGeom prst="rect">
            <a:avLst/>
          </a:prstGeom>
        </p:spPr>
        <p:txBody>
          <a:bodyPr wrap="square">
            <a:spAutoFit/>
          </a:bodyPr>
          <a:lstStyle/>
          <a:p>
            <a:pPr algn="just"/>
            <a:r>
              <a:rPr lang="tr-TR" sz="1200" i="1" dirty="0" smtClean="0"/>
              <a:t>Suça iştirak </a:t>
            </a:r>
            <a:r>
              <a:rPr lang="tr-TR" sz="1200" i="1" dirty="0" err="1" smtClean="0"/>
              <a:t>Faillik</a:t>
            </a:r>
            <a:r>
              <a:rPr lang="tr-TR" sz="1200" i="1" dirty="0" smtClean="0"/>
              <a:t> ve </a:t>
            </a:r>
            <a:r>
              <a:rPr lang="tr-TR" sz="1200" i="1" dirty="0" err="1" smtClean="0"/>
              <a:t>Şerikliği</a:t>
            </a:r>
            <a:r>
              <a:rPr lang="tr-TR" sz="1200" i="1" dirty="0" smtClean="0"/>
              <a:t> kapsayan bir kavramdır</a:t>
            </a:r>
          </a:p>
          <a:p>
            <a:pPr algn="just"/>
            <a:r>
              <a:rPr lang="tr-TR" sz="1200" i="1" dirty="0" err="1" smtClean="0"/>
              <a:t>Faillik-Şeriklik</a:t>
            </a:r>
            <a:r>
              <a:rPr lang="tr-TR" sz="1200" i="1" dirty="0" smtClean="0"/>
              <a:t> ayrımı, iştirak şekillerinin fiilin işlenişi üzerinde kurulan hakimiyet ölçü alınarak belirlenmektedir. (Fiili Hakimiyet Teorisi)</a:t>
            </a:r>
          </a:p>
          <a:p>
            <a:r>
              <a:rPr lang="tr-TR" sz="1200" i="1" dirty="0" smtClean="0"/>
              <a:t>Dolayısıyla, </a:t>
            </a:r>
          </a:p>
          <a:p>
            <a:pPr algn="just"/>
            <a:r>
              <a:rPr lang="tr-TR" sz="1200" i="1" dirty="0" smtClean="0"/>
              <a:t>Suçun kanuni tanımında yer alan belli bir haksızlığı gerçekleştiren, suçun kanuni tanımında yer alan fiiller üzerinde hakimiyet kuran, suçun oluşum sürecini yönlendiren ve baş aktör olarak bu sürece hakim olan kişiler FAİL,</a:t>
            </a:r>
          </a:p>
          <a:p>
            <a:pPr algn="just"/>
            <a:r>
              <a:rPr lang="tr-TR" sz="1200" i="1" dirty="0" smtClean="0"/>
              <a:t>Kanuni tanımdaki haksızlığı gerçekleştirmeyen, fiil üzerinde hakimiyet kurmadan, yardımcı rollerde suçun işlenmesine katkı sağlayan veya teşvik eden kişiler </a:t>
            </a:r>
            <a:r>
              <a:rPr lang="tr-TR" sz="1200" i="1" dirty="0" err="1" smtClean="0"/>
              <a:t>ŞERİKtir</a:t>
            </a:r>
            <a:r>
              <a:rPr lang="tr-TR" sz="1200" i="1" dirty="0" smtClean="0"/>
              <a:t>. </a:t>
            </a:r>
            <a:endParaRPr lang="tr-TR" sz="1200" i="1" dirty="0"/>
          </a:p>
        </p:txBody>
      </p:sp>
      <p:sp>
        <p:nvSpPr>
          <p:cNvPr id="5" name="Dikdörtgen 4"/>
          <p:cNvSpPr/>
          <p:nvPr/>
        </p:nvSpPr>
        <p:spPr>
          <a:xfrm>
            <a:off x="4985031" y="3249737"/>
            <a:ext cx="2639414" cy="369332"/>
          </a:xfrm>
          <a:prstGeom prst="rect">
            <a:avLst/>
          </a:prstGeom>
        </p:spPr>
        <p:txBody>
          <a:bodyPr wrap="square">
            <a:spAutoFit/>
          </a:bodyPr>
          <a:lstStyle/>
          <a:p>
            <a:pPr algn="ctr"/>
            <a:r>
              <a:rPr lang="tr-TR" b="1" i="1" dirty="0" smtClean="0"/>
              <a:t>İştirak</a:t>
            </a:r>
            <a:endParaRPr lang="tr-TR" b="1" i="1" dirty="0"/>
          </a:p>
        </p:txBody>
      </p:sp>
      <p:sp>
        <p:nvSpPr>
          <p:cNvPr id="6" name="Dikdörtgen 5"/>
          <p:cNvSpPr/>
          <p:nvPr/>
        </p:nvSpPr>
        <p:spPr>
          <a:xfrm>
            <a:off x="2259892" y="3715258"/>
            <a:ext cx="2639414" cy="369332"/>
          </a:xfrm>
          <a:prstGeom prst="rect">
            <a:avLst/>
          </a:prstGeom>
        </p:spPr>
        <p:txBody>
          <a:bodyPr wrap="square">
            <a:spAutoFit/>
          </a:bodyPr>
          <a:lstStyle/>
          <a:p>
            <a:pPr algn="ctr"/>
            <a:r>
              <a:rPr lang="tr-TR" b="1" i="1" dirty="0" err="1" smtClean="0"/>
              <a:t>Faillik</a:t>
            </a:r>
            <a:endParaRPr lang="tr-TR" b="1" i="1" dirty="0"/>
          </a:p>
        </p:txBody>
      </p:sp>
      <p:sp>
        <p:nvSpPr>
          <p:cNvPr id="7" name="Dikdörtgen 6"/>
          <p:cNvSpPr/>
          <p:nvPr/>
        </p:nvSpPr>
        <p:spPr>
          <a:xfrm>
            <a:off x="7538720" y="3715258"/>
            <a:ext cx="2639414" cy="369332"/>
          </a:xfrm>
          <a:prstGeom prst="rect">
            <a:avLst/>
          </a:prstGeom>
        </p:spPr>
        <p:txBody>
          <a:bodyPr wrap="square">
            <a:spAutoFit/>
          </a:bodyPr>
          <a:lstStyle/>
          <a:p>
            <a:pPr algn="ctr"/>
            <a:r>
              <a:rPr lang="tr-TR" b="1" i="1" dirty="0" err="1" smtClean="0"/>
              <a:t>Şeriklik</a:t>
            </a:r>
            <a:endParaRPr lang="tr-TR" b="1" i="1" dirty="0"/>
          </a:p>
        </p:txBody>
      </p:sp>
      <p:sp>
        <p:nvSpPr>
          <p:cNvPr id="8" name="Dikdörtgen 7"/>
          <p:cNvSpPr/>
          <p:nvPr/>
        </p:nvSpPr>
        <p:spPr>
          <a:xfrm>
            <a:off x="1912879" y="4200792"/>
            <a:ext cx="1367228" cy="461665"/>
          </a:xfrm>
          <a:prstGeom prst="rect">
            <a:avLst/>
          </a:prstGeom>
        </p:spPr>
        <p:txBody>
          <a:bodyPr wrap="square">
            <a:spAutoFit/>
          </a:bodyPr>
          <a:lstStyle/>
          <a:p>
            <a:pPr algn="ctr"/>
            <a:r>
              <a:rPr lang="tr-TR" sz="1200" b="1" i="1" dirty="0" smtClean="0"/>
              <a:t>Doğrudan Fail</a:t>
            </a:r>
          </a:p>
          <a:p>
            <a:pPr algn="ctr"/>
            <a:r>
              <a:rPr lang="tr-TR" sz="1200" b="1" i="1" dirty="0" smtClean="0"/>
              <a:t>(Müstakil)</a:t>
            </a:r>
            <a:endParaRPr lang="tr-TR" sz="1200" b="1" i="1" dirty="0"/>
          </a:p>
        </p:txBody>
      </p:sp>
      <p:sp>
        <p:nvSpPr>
          <p:cNvPr id="9" name="Dikdörtgen 8"/>
          <p:cNvSpPr/>
          <p:nvPr/>
        </p:nvSpPr>
        <p:spPr>
          <a:xfrm>
            <a:off x="2724409" y="4593993"/>
            <a:ext cx="1367228" cy="276999"/>
          </a:xfrm>
          <a:prstGeom prst="rect">
            <a:avLst/>
          </a:prstGeom>
        </p:spPr>
        <p:txBody>
          <a:bodyPr wrap="square">
            <a:spAutoFit/>
          </a:bodyPr>
          <a:lstStyle/>
          <a:p>
            <a:pPr algn="ctr"/>
            <a:r>
              <a:rPr lang="tr-TR" sz="1200" b="1" i="1" dirty="0" smtClean="0"/>
              <a:t>Müşterek Fail</a:t>
            </a:r>
            <a:endParaRPr lang="tr-TR" sz="1200" b="1" i="1" dirty="0"/>
          </a:p>
        </p:txBody>
      </p:sp>
      <p:sp>
        <p:nvSpPr>
          <p:cNvPr id="10" name="Dikdörtgen 9"/>
          <p:cNvSpPr/>
          <p:nvPr/>
        </p:nvSpPr>
        <p:spPr>
          <a:xfrm>
            <a:off x="3579599" y="4987194"/>
            <a:ext cx="1367228" cy="276999"/>
          </a:xfrm>
          <a:prstGeom prst="rect">
            <a:avLst/>
          </a:prstGeom>
        </p:spPr>
        <p:txBody>
          <a:bodyPr wrap="square">
            <a:spAutoFit/>
          </a:bodyPr>
          <a:lstStyle/>
          <a:p>
            <a:pPr algn="ctr"/>
            <a:r>
              <a:rPr lang="tr-TR" sz="1200" b="1" i="1" dirty="0" smtClean="0"/>
              <a:t>Dolaylı Fail</a:t>
            </a:r>
            <a:endParaRPr lang="tr-TR" sz="1200" b="1" i="1" dirty="0"/>
          </a:p>
        </p:txBody>
      </p:sp>
      <p:sp>
        <p:nvSpPr>
          <p:cNvPr id="11" name="Dikdörtgen 10"/>
          <p:cNvSpPr/>
          <p:nvPr/>
        </p:nvSpPr>
        <p:spPr>
          <a:xfrm>
            <a:off x="7500620" y="4316994"/>
            <a:ext cx="1367228" cy="276999"/>
          </a:xfrm>
          <a:prstGeom prst="rect">
            <a:avLst/>
          </a:prstGeom>
        </p:spPr>
        <p:txBody>
          <a:bodyPr wrap="square">
            <a:spAutoFit/>
          </a:bodyPr>
          <a:lstStyle/>
          <a:p>
            <a:pPr algn="ctr"/>
            <a:r>
              <a:rPr lang="tr-TR" sz="1200" b="1" i="1" dirty="0" smtClean="0"/>
              <a:t>Azmettiren</a:t>
            </a:r>
            <a:endParaRPr lang="tr-TR" sz="1200" b="1" i="1" dirty="0"/>
          </a:p>
        </p:txBody>
      </p:sp>
      <p:sp>
        <p:nvSpPr>
          <p:cNvPr id="12" name="Dikdörtgen 11"/>
          <p:cNvSpPr/>
          <p:nvPr/>
        </p:nvSpPr>
        <p:spPr>
          <a:xfrm>
            <a:off x="8810906" y="4593993"/>
            <a:ext cx="1367228" cy="276999"/>
          </a:xfrm>
          <a:prstGeom prst="rect">
            <a:avLst/>
          </a:prstGeom>
        </p:spPr>
        <p:txBody>
          <a:bodyPr wrap="square">
            <a:spAutoFit/>
          </a:bodyPr>
          <a:lstStyle/>
          <a:p>
            <a:pPr algn="ctr"/>
            <a:r>
              <a:rPr lang="tr-TR" sz="1200" b="1" i="1" dirty="0" smtClean="0"/>
              <a:t>Yardım Eden</a:t>
            </a:r>
            <a:endParaRPr lang="tr-TR" sz="1200" b="1" i="1" dirty="0"/>
          </a:p>
        </p:txBody>
      </p:sp>
      <p:sp>
        <p:nvSpPr>
          <p:cNvPr id="4" name="Bükülü Ok 3"/>
          <p:cNvSpPr/>
          <p:nvPr/>
        </p:nvSpPr>
        <p:spPr>
          <a:xfrm rot="5400000">
            <a:off x="7755927" y="2710418"/>
            <a:ext cx="434714" cy="1770286"/>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6" name="Bükülü Ok 15"/>
          <p:cNvSpPr/>
          <p:nvPr/>
        </p:nvSpPr>
        <p:spPr>
          <a:xfrm rot="5400000" flipV="1">
            <a:off x="4420687" y="2575219"/>
            <a:ext cx="351370" cy="2033540"/>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Aşağı Ok 12"/>
          <p:cNvSpPr/>
          <p:nvPr/>
        </p:nvSpPr>
        <p:spPr>
          <a:xfrm>
            <a:off x="2555499" y="4016378"/>
            <a:ext cx="111760" cy="222514"/>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Aşağı Ok 16"/>
          <p:cNvSpPr/>
          <p:nvPr/>
        </p:nvSpPr>
        <p:spPr>
          <a:xfrm>
            <a:off x="3383279" y="4089535"/>
            <a:ext cx="90221" cy="504458"/>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Aşağı Ok 17"/>
          <p:cNvSpPr/>
          <p:nvPr/>
        </p:nvSpPr>
        <p:spPr>
          <a:xfrm>
            <a:off x="4189520" y="4084590"/>
            <a:ext cx="138640" cy="902604"/>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Aşağı Ok 18"/>
          <p:cNvSpPr/>
          <p:nvPr/>
        </p:nvSpPr>
        <p:spPr>
          <a:xfrm>
            <a:off x="8109866" y="3978278"/>
            <a:ext cx="89254" cy="367050"/>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Aşağı Ok 19"/>
          <p:cNvSpPr/>
          <p:nvPr/>
        </p:nvSpPr>
        <p:spPr>
          <a:xfrm>
            <a:off x="9430666" y="3978277"/>
            <a:ext cx="101600" cy="615715"/>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Metin kutusu 21"/>
          <p:cNvSpPr txBox="1"/>
          <p:nvPr/>
        </p:nvSpPr>
        <p:spPr>
          <a:xfrm>
            <a:off x="105104" y="5703214"/>
            <a:ext cx="2228194" cy="892552"/>
          </a:xfrm>
          <a:prstGeom prst="rect">
            <a:avLst/>
          </a:prstGeom>
          <a:noFill/>
        </p:spPr>
        <p:txBody>
          <a:bodyPr wrap="square" rtlCol="0">
            <a:spAutoFit/>
          </a:bodyPr>
          <a:lstStyle/>
          <a:p>
            <a:r>
              <a:rPr lang="tr-TR" sz="1300" dirty="0" smtClean="0">
                <a:effectLst>
                  <a:outerShdw blurRad="38100" dist="38100" dir="2700000" algn="tl">
                    <a:srgbClr val="000000">
                      <a:alpha val="43137"/>
                    </a:srgbClr>
                  </a:outerShdw>
                </a:effectLst>
              </a:rPr>
              <a:t>Suçun Özel Görünüş Biçimleri</a:t>
            </a:r>
          </a:p>
          <a:p>
            <a:r>
              <a:rPr lang="tr-TR" sz="1300" b="1" dirty="0" smtClean="0"/>
              <a:t>1-</a:t>
            </a:r>
            <a:r>
              <a:rPr lang="tr-TR" sz="1300" dirty="0" smtClean="0"/>
              <a:t>Teşebbüs</a:t>
            </a:r>
          </a:p>
          <a:p>
            <a:r>
              <a:rPr lang="tr-TR" sz="1300" b="1" u="sng" dirty="0" smtClean="0"/>
              <a:t>2-İştirak</a:t>
            </a:r>
          </a:p>
          <a:p>
            <a:r>
              <a:rPr lang="tr-TR" sz="1300" b="1" dirty="0" smtClean="0"/>
              <a:t>3-</a:t>
            </a:r>
            <a:r>
              <a:rPr lang="tr-TR" sz="1300" dirty="0" smtClean="0"/>
              <a:t>İçtima</a:t>
            </a:r>
            <a:endParaRPr lang="fr-FR" sz="1300" dirty="0"/>
          </a:p>
        </p:txBody>
      </p:sp>
      <p:sp>
        <p:nvSpPr>
          <p:cNvPr id="21" name="Slayt Numarası Yer Tutucusu 20"/>
          <p:cNvSpPr>
            <a:spLocks noGrp="1"/>
          </p:cNvSpPr>
          <p:nvPr>
            <p:ph type="sldNum" sz="quarter" idx="12"/>
          </p:nvPr>
        </p:nvSpPr>
        <p:spPr/>
        <p:txBody>
          <a:bodyPr/>
          <a:lstStyle/>
          <a:p>
            <a:fld id="{39F9BA00-44CD-41D4-A3D8-F864C744DC1F}" type="slidenum">
              <a:rPr lang="tr-TR" smtClean="0"/>
              <a:t>88</a:t>
            </a:fld>
            <a:r>
              <a:rPr lang="tr-TR"/>
              <a:t>/116</a:t>
            </a:r>
          </a:p>
        </p:txBody>
      </p:sp>
    </p:spTree>
    <p:extLst>
      <p:ext uri="{BB962C8B-B14F-4D97-AF65-F5344CB8AC3E}">
        <p14:creationId xmlns:p14="http://schemas.microsoft.com/office/powerpoint/2010/main" val="381482828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5" name="Dikdörtgen 14"/>
          <p:cNvSpPr/>
          <p:nvPr/>
        </p:nvSpPr>
        <p:spPr>
          <a:xfrm>
            <a:off x="8195833" y="1974406"/>
            <a:ext cx="917861" cy="400110"/>
          </a:xfrm>
          <a:prstGeom prst="rect">
            <a:avLst/>
          </a:prstGeom>
        </p:spPr>
        <p:txBody>
          <a:bodyPr wrap="square">
            <a:spAutoFit/>
          </a:bodyPr>
          <a:lstStyle/>
          <a:p>
            <a:pPr marR="0" lvl="0" algn="ctr"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İştirak</a:t>
            </a:r>
          </a:p>
        </p:txBody>
      </p:sp>
      <p:sp>
        <p:nvSpPr>
          <p:cNvPr id="6" name="Dikdörtgen 5"/>
          <p:cNvSpPr/>
          <p:nvPr/>
        </p:nvSpPr>
        <p:spPr>
          <a:xfrm>
            <a:off x="4926506" y="2718830"/>
            <a:ext cx="2639414" cy="369332"/>
          </a:xfrm>
          <a:prstGeom prst="rect">
            <a:avLst/>
          </a:prstGeom>
        </p:spPr>
        <p:txBody>
          <a:bodyPr wrap="square">
            <a:spAutoFit/>
          </a:bodyPr>
          <a:lstStyle/>
          <a:p>
            <a:pPr algn="ctr"/>
            <a:r>
              <a:rPr lang="tr-TR" b="1" i="1" dirty="0" err="1" smtClean="0"/>
              <a:t>Faillik</a:t>
            </a:r>
            <a:endParaRPr lang="tr-TR" b="1" i="1" dirty="0"/>
          </a:p>
        </p:txBody>
      </p:sp>
      <p:sp>
        <p:nvSpPr>
          <p:cNvPr id="7" name="Dikdörtgen 6"/>
          <p:cNvSpPr/>
          <p:nvPr/>
        </p:nvSpPr>
        <p:spPr>
          <a:xfrm>
            <a:off x="9896474" y="2718830"/>
            <a:ext cx="2246911" cy="369332"/>
          </a:xfrm>
          <a:prstGeom prst="rect">
            <a:avLst/>
          </a:prstGeom>
        </p:spPr>
        <p:txBody>
          <a:bodyPr wrap="square">
            <a:spAutoFit/>
          </a:bodyPr>
          <a:lstStyle/>
          <a:p>
            <a:pPr algn="ctr"/>
            <a:r>
              <a:rPr lang="tr-TR" b="1" i="1" dirty="0" err="1" smtClean="0"/>
              <a:t>Şeriklik</a:t>
            </a:r>
            <a:endParaRPr lang="tr-TR" b="1" i="1" dirty="0"/>
          </a:p>
        </p:txBody>
      </p:sp>
      <p:sp>
        <p:nvSpPr>
          <p:cNvPr id="8" name="Dikdörtgen 7"/>
          <p:cNvSpPr/>
          <p:nvPr/>
        </p:nvSpPr>
        <p:spPr>
          <a:xfrm>
            <a:off x="1663346" y="3344139"/>
            <a:ext cx="1628494" cy="338554"/>
          </a:xfrm>
          <a:prstGeom prst="rect">
            <a:avLst/>
          </a:prstGeom>
        </p:spPr>
        <p:txBody>
          <a:bodyPr wrap="square">
            <a:spAutoFit/>
          </a:bodyPr>
          <a:lstStyle/>
          <a:p>
            <a:pPr algn="ctr"/>
            <a:r>
              <a:rPr lang="tr-TR" sz="1600" b="1" i="1" dirty="0" smtClean="0"/>
              <a:t>Doğrudan Fail</a:t>
            </a:r>
            <a:endParaRPr lang="tr-TR" sz="1600" b="1" i="1" dirty="0"/>
          </a:p>
        </p:txBody>
      </p:sp>
      <p:sp>
        <p:nvSpPr>
          <p:cNvPr id="9" name="Dikdörtgen 8"/>
          <p:cNvSpPr/>
          <p:nvPr/>
        </p:nvSpPr>
        <p:spPr>
          <a:xfrm>
            <a:off x="4164065" y="3865297"/>
            <a:ext cx="1367228" cy="338554"/>
          </a:xfrm>
          <a:prstGeom prst="rect">
            <a:avLst/>
          </a:prstGeom>
        </p:spPr>
        <p:txBody>
          <a:bodyPr wrap="square">
            <a:spAutoFit/>
          </a:bodyPr>
          <a:lstStyle/>
          <a:p>
            <a:pPr algn="ctr"/>
            <a:r>
              <a:rPr lang="tr-TR" sz="1600" b="1" i="1" dirty="0"/>
              <a:t>Müşterek Fail</a:t>
            </a:r>
          </a:p>
        </p:txBody>
      </p:sp>
      <p:sp>
        <p:nvSpPr>
          <p:cNvPr id="10" name="Dikdörtgen 9"/>
          <p:cNvSpPr/>
          <p:nvPr/>
        </p:nvSpPr>
        <p:spPr>
          <a:xfrm>
            <a:off x="7984235" y="3991630"/>
            <a:ext cx="1367228" cy="338554"/>
          </a:xfrm>
          <a:prstGeom prst="rect">
            <a:avLst/>
          </a:prstGeom>
        </p:spPr>
        <p:txBody>
          <a:bodyPr wrap="square">
            <a:spAutoFit/>
          </a:bodyPr>
          <a:lstStyle/>
          <a:p>
            <a:pPr algn="ctr"/>
            <a:r>
              <a:rPr lang="tr-TR" sz="1600" b="1" i="1" dirty="0"/>
              <a:t>Dolaylı Fail</a:t>
            </a:r>
          </a:p>
        </p:txBody>
      </p:sp>
      <p:sp>
        <p:nvSpPr>
          <p:cNvPr id="11" name="Dikdörtgen 10"/>
          <p:cNvSpPr/>
          <p:nvPr/>
        </p:nvSpPr>
        <p:spPr>
          <a:xfrm>
            <a:off x="9712252" y="3564670"/>
            <a:ext cx="1367228" cy="276999"/>
          </a:xfrm>
          <a:prstGeom prst="rect">
            <a:avLst/>
          </a:prstGeom>
        </p:spPr>
        <p:txBody>
          <a:bodyPr wrap="square">
            <a:spAutoFit/>
          </a:bodyPr>
          <a:lstStyle/>
          <a:p>
            <a:pPr algn="ctr"/>
            <a:r>
              <a:rPr lang="tr-TR" sz="1200" b="1" i="1" dirty="0" smtClean="0"/>
              <a:t>Azmettiren</a:t>
            </a:r>
            <a:endParaRPr lang="tr-TR" sz="1200" b="1" i="1" dirty="0"/>
          </a:p>
        </p:txBody>
      </p:sp>
      <p:sp>
        <p:nvSpPr>
          <p:cNvPr id="12" name="Dikdörtgen 11"/>
          <p:cNvSpPr/>
          <p:nvPr/>
        </p:nvSpPr>
        <p:spPr>
          <a:xfrm>
            <a:off x="10883980" y="3899924"/>
            <a:ext cx="1367228" cy="276999"/>
          </a:xfrm>
          <a:prstGeom prst="rect">
            <a:avLst/>
          </a:prstGeom>
        </p:spPr>
        <p:txBody>
          <a:bodyPr wrap="square">
            <a:spAutoFit/>
          </a:bodyPr>
          <a:lstStyle/>
          <a:p>
            <a:pPr algn="ctr"/>
            <a:r>
              <a:rPr lang="tr-TR" sz="1200" b="1" i="1" dirty="0" smtClean="0"/>
              <a:t>Yardım Eden</a:t>
            </a:r>
            <a:endParaRPr lang="tr-TR" sz="1200" b="1" i="1" dirty="0"/>
          </a:p>
        </p:txBody>
      </p:sp>
      <p:sp>
        <p:nvSpPr>
          <p:cNvPr id="4" name="Bükülü Ok 3"/>
          <p:cNvSpPr/>
          <p:nvPr/>
        </p:nvSpPr>
        <p:spPr>
          <a:xfrm rot="5400000">
            <a:off x="9886039" y="1372153"/>
            <a:ext cx="421096" cy="1965786"/>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6" name="Bükülü Ok 15"/>
          <p:cNvSpPr/>
          <p:nvPr/>
        </p:nvSpPr>
        <p:spPr>
          <a:xfrm rot="5400000" flipV="1">
            <a:off x="6962038" y="1303413"/>
            <a:ext cx="351370" cy="2033540"/>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9" name="Aşağı Ok 18"/>
          <p:cNvSpPr/>
          <p:nvPr/>
        </p:nvSpPr>
        <p:spPr>
          <a:xfrm>
            <a:off x="10395866" y="3166169"/>
            <a:ext cx="89254" cy="367050"/>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Aşağı Ok 19"/>
          <p:cNvSpPr/>
          <p:nvPr/>
        </p:nvSpPr>
        <p:spPr>
          <a:xfrm>
            <a:off x="11472826" y="3166169"/>
            <a:ext cx="101600" cy="615715"/>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Bükülü Ok 20"/>
          <p:cNvSpPr/>
          <p:nvPr/>
        </p:nvSpPr>
        <p:spPr>
          <a:xfrm rot="5400000" flipV="1">
            <a:off x="3778308" y="1439935"/>
            <a:ext cx="462697" cy="3345714"/>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2" name="Dikdörtgen 21"/>
          <p:cNvSpPr/>
          <p:nvPr/>
        </p:nvSpPr>
        <p:spPr>
          <a:xfrm>
            <a:off x="1307746" y="3707942"/>
            <a:ext cx="2593694" cy="461665"/>
          </a:xfrm>
          <a:prstGeom prst="rect">
            <a:avLst/>
          </a:prstGeom>
        </p:spPr>
        <p:txBody>
          <a:bodyPr wrap="square">
            <a:spAutoFit/>
          </a:bodyPr>
          <a:lstStyle/>
          <a:p>
            <a:pPr algn="ctr"/>
            <a:r>
              <a:rPr lang="tr-TR" sz="1200" b="1" i="1" dirty="0" smtClean="0"/>
              <a:t>Tipikliğin tüm unsurlarını </a:t>
            </a:r>
            <a:r>
              <a:rPr lang="tr-TR" sz="1200" b="1" i="1" u="sng" dirty="0" smtClean="0"/>
              <a:t>tek başına bizzat</a:t>
            </a:r>
            <a:r>
              <a:rPr lang="tr-TR" sz="1200" b="1" i="1" dirty="0" smtClean="0"/>
              <a:t> gerçekleştiren kişi</a:t>
            </a:r>
            <a:endParaRPr lang="tr-TR" sz="1200" b="1" i="1" dirty="0"/>
          </a:p>
        </p:txBody>
      </p:sp>
      <p:sp>
        <p:nvSpPr>
          <p:cNvPr id="23" name="Bükülü Ok 22"/>
          <p:cNvSpPr/>
          <p:nvPr/>
        </p:nvSpPr>
        <p:spPr>
          <a:xfrm rot="5400000" flipV="1">
            <a:off x="4885443" y="2984812"/>
            <a:ext cx="615715" cy="978431"/>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4" name="Dikdörtgen 23"/>
          <p:cNvSpPr/>
          <p:nvPr/>
        </p:nvSpPr>
        <p:spPr>
          <a:xfrm>
            <a:off x="3407238" y="4178144"/>
            <a:ext cx="3267882" cy="1754326"/>
          </a:xfrm>
          <a:prstGeom prst="rect">
            <a:avLst/>
          </a:prstGeom>
        </p:spPr>
        <p:txBody>
          <a:bodyPr wrap="square">
            <a:spAutoFit/>
          </a:bodyPr>
          <a:lstStyle/>
          <a:p>
            <a:pPr algn="ctr"/>
            <a:r>
              <a:rPr lang="tr-TR" sz="1200" b="1" i="1" dirty="0" smtClean="0"/>
              <a:t>Tipikliğin unsurlarını işbirliği içinde gerçekleştiren birden fazla kişi</a:t>
            </a:r>
          </a:p>
          <a:p>
            <a:pPr algn="ctr"/>
            <a:endParaRPr lang="tr-TR" sz="1200" b="1" i="1" dirty="0"/>
          </a:p>
          <a:p>
            <a:pPr marL="171450" indent="-171450" algn="just">
              <a:buFont typeface="Arial" panose="020B0604020202020204" pitchFamily="34" charset="0"/>
              <a:buChar char="•"/>
            </a:pPr>
            <a:r>
              <a:rPr lang="tr-TR" sz="1200" b="1" i="1" dirty="0" smtClean="0"/>
              <a:t>Aynı fiile ilişkin birlikte suç işleme kararı</a:t>
            </a:r>
          </a:p>
          <a:p>
            <a:pPr marL="171450" indent="-171450" algn="just">
              <a:buFont typeface="Arial" panose="020B0604020202020204" pitchFamily="34" charset="0"/>
              <a:buChar char="•"/>
            </a:pPr>
            <a:r>
              <a:rPr lang="tr-TR" sz="1200" b="1" i="1" dirty="0" smtClean="0"/>
              <a:t>Fiilin birlikte icra edilmesi</a:t>
            </a:r>
          </a:p>
          <a:p>
            <a:pPr algn="just"/>
            <a:endParaRPr lang="tr-TR" sz="1200" b="1" i="1" dirty="0"/>
          </a:p>
          <a:p>
            <a:pPr algn="just"/>
            <a:r>
              <a:rPr lang="tr-TR" sz="1200" b="1" i="1" dirty="0" smtClean="0"/>
              <a:t>Bu </a:t>
            </a:r>
            <a:r>
              <a:rPr lang="tr-TR" sz="1200" b="1" i="1" dirty="0" err="1" smtClean="0"/>
              <a:t>faillik</a:t>
            </a:r>
            <a:r>
              <a:rPr lang="tr-TR" sz="1200" b="1" i="1" dirty="0" smtClean="0"/>
              <a:t> türünde her bir fail, fiil üzerinde müşterek hakimiyet kurduğundan, her biri, fail statüsündedir.</a:t>
            </a:r>
          </a:p>
        </p:txBody>
      </p:sp>
      <p:sp>
        <p:nvSpPr>
          <p:cNvPr id="25" name="Bükülü Ok 24"/>
          <p:cNvSpPr/>
          <p:nvPr/>
        </p:nvSpPr>
        <p:spPr>
          <a:xfrm rot="5400000">
            <a:off x="7492383" y="2392593"/>
            <a:ext cx="812391" cy="2202273"/>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6" name="Dikdörtgen 25"/>
          <p:cNvSpPr/>
          <p:nvPr/>
        </p:nvSpPr>
        <p:spPr>
          <a:xfrm>
            <a:off x="7172611" y="4318177"/>
            <a:ext cx="3267882" cy="2339102"/>
          </a:xfrm>
          <a:prstGeom prst="rect">
            <a:avLst/>
          </a:prstGeom>
        </p:spPr>
        <p:txBody>
          <a:bodyPr wrap="square">
            <a:spAutoFit/>
          </a:bodyPr>
          <a:lstStyle/>
          <a:p>
            <a:pPr algn="ctr"/>
            <a:r>
              <a:rPr lang="tr-TR" sz="1200" b="1" i="1" dirty="0" smtClean="0"/>
              <a:t>Suçun işlenmesinde bir başkasını araç olarak kullanan kişi</a:t>
            </a:r>
          </a:p>
          <a:p>
            <a:pPr algn="just"/>
            <a:endParaRPr lang="tr-TR" sz="1200" b="1" i="1" dirty="0" smtClean="0"/>
          </a:p>
          <a:p>
            <a:pPr indent="180975" algn="just"/>
            <a:r>
              <a:rPr lang="tr-TR" sz="1100" b="1" i="1" dirty="0" smtClean="0"/>
              <a:t>Araç durumundaki kişi üzerindeki hakimiyet bu kişinin hataya düşmesinden, cebir/tehditle iradesinin etkilenmesinden veya kusur yeteneğinin bulunmamasından kaynaklanabilir</a:t>
            </a:r>
            <a:endParaRPr lang="tr-TR" sz="1100" b="1" i="1" dirty="0"/>
          </a:p>
          <a:p>
            <a:pPr indent="180975" algn="just"/>
            <a:r>
              <a:rPr lang="tr-TR" sz="1100" b="1" i="1" dirty="0" smtClean="0"/>
              <a:t>Kusur yeteneği bulunmadığı için araç kişi cezalandırılamasa da dolaylı fail statüsünde cezalandırılacaktır</a:t>
            </a:r>
          </a:p>
          <a:p>
            <a:pPr indent="180975" algn="just"/>
            <a:r>
              <a:rPr lang="tr-TR" sz="1100" b="1" i="1" dirty="0" smtClean="0"/>
              <a:t>Hipnotize edilmiş kişinin araç olarak kullanılması, düşman olunan şahsı gözleri iyi görmeyen kimseye kütük diye kandırılarak ateş ettirilmesi gibi</a:t>
            </a:r>
          </a:p>
        </p:txBody>
      </p:sp>
      <p:sp>
        <p:nvSpPr>
          <p:cNvPr id="27" name="Metin kutusu 26"/>
          <p:cNvSpPr txBox="1"/>
          <p:nvPr/>
        </p:nvSpPr>
        <p:spPr>
          <a:xfrm>
            <a:off x="105104" y="5703214"/>
            <a:ext cx="2228194" cy="892552"/>
          </a:xfrm>
          <a:prstGeom prst="rect">
            <a:avLst/>
          </a:prstGeom>
          <a:noFill/>
        </p:spPr>
        <p:txBody>
          <a:bodyPr wrap="square" rtlCol="0">
            <a:spAutoFit/>
          </a:bodyPr>
          <a:lstStyle/>
          <a:p>
            <a:r>
              <a:rPr lang="tr-TR" sz="1300" dirty="0" smtClean="0">
                <a:effectLst>
                  <a:outerShdw blurRad="38100" dist="38100" dir="2700000" algn="tl">
                    <a:srgbClr val="000000">
                      <a:alpha val="43137"/>
                    </a:srgbClr>
                  </a:outerShdw>
                </a:effectLst>
              </a:rPr>
              <a:t>Suçun Özel Görünüş Biçimleri</a:t>
            </a:r>
          </a:p>
          <a:p>
            <a:r>
              <a:rPr lang="tr-TR" sz="1300" b="1" dirty="0" smtClean="0"/>
              <a:t>1-</a:t>
            </a:r>
            <a:r>
              <a:rPr lang="tr-TR" sz="1300" dirty="0" smtClean="0"/>
              <a:t>Teşebbüs</a:t>
            </a:r>
          </a:p>
          <a:p>
            <a:r>
              <a:rPr lang="tr-TR" sz="1300" b="1" u="sng" dirty="0" smtClean="0"/>
              <a:t>2-İştirak</a:t>
            </a:r>
          </a:p>
          <a:p>
            <a:r>
              <a:rPr lang="tr-TR" sz="1300" b="1" dirty="0" smtClean="0"/>
              <a:t>3-</a:t>
            </a:r>
            <a:r>
              <a:rPr lang="tr-TR" sz="1300" dirty="0" smtClean="0"/>
              <a:t>İçtima</a:t>
            </a:r>
            <a:endParaRPr lang="fr-FR" sz="1300" dirty="0"/>
          </a:p>
        </p:txBody>
      </p:sp>
      <p:sp>
        <p:nvSpPr>
          <p:cNvPr id="3" name="Slayt Numarası Yer Tutucusu 2"/>
          <p:cNvSpPr>
            <a:spLocks noGrp="1"/>
          </p:cNvSpPr>
          <p:nvPr>
            <p:ph type="sldNum" sz="quarter" idx="12"/>
          </p:nvPr>
        </p:nvSpPr>
        <p:spPr/>
        <p:txBody>
          <a:bodyPr/>
          <a:lstStyle/>
          <a:p>
            <a:fld id="{39F9BA00-44CD-41D4-A3D8-F864C744DC1F}" type="slidenum">
              <a:rPr lang="tr-TR" smtClean="0"/>
              <a:t>89</a:t>
            </a:fld>
            <a:r>
              <a:rPr lang="tr-TR"/>
              <a:t>/116</a:t>
            </a:r>
          </a:p>
        </p:txBody>
      </p:sp>
    </p:spTree>
    <p:extLst>
      <p:ext uri="{BB962C8B-B14F-4D97-AF65-F5344CB8AC3E}">
        <p14:creationId xmlns:p14="http://schemas.microsoft.com/office/powerpoint/2010/main" val="21592136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5" name="Dikdörtgen 14"/>
          <p:cNvSpPr/>
          <p:nvPr/>
        </p:nvSpPr>
        <p:spPr>
          <a:xfrm>
            <a:off x="1874779" y="1842319"/>
            <a:ext cx="4578573"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İştirak</a:t>
            </a:r>
          </a:p>
        </p:txBody>
      </p:sp>
      <p:sp>
        <p:nvSpPr>
          <p:cNvPr id="2" name="Metin kutusu 1"/>
          <p:cNvSpPr txBox="1"/>
          <p:nvPr/>
        </p:nvSpPr>
        <p:spPr>
          <a:xfrm>
            <a:off x="1981200" y="2242429"/>
            <a:ext cx="1638300" cy="338554"/>
          </a:xfrm>
          <a:prstGeom prst="rect">
            <a:avLst/>
          </a:prstGeom>
          <a:noFill/>
        </p:spPr>
        <p:txBody>
          <a:bodyPr wrap="square" rtlCol="0">
            <a:spAutoFit/>
          </a:bodyPr>
          <a:lstStyle/>
          <a:p>
            <a:r>
              <a:rPr lang="tr-TR" sz="1600" b="1" dirty="0" smtClean="0">
                <a:effectLst>
                  <a:outerShdw blurRad="38100" dist="38100" dir="2700000" algn="tl">
                    <a:srgbClr val="000000">
                      <a:alpha val="43137"/>
                    </a:srgbClr>
                  </a:outerShdw>
                </a:effectLst>
              </a:rPr>
              <a:t>Bağlılık Kuralı</a:t>
            </a:r>
            <a:endParaRPr lang="fr-FR" sz="1600" b="1" dirty="0">
              <a:effectLst>
                <a:outerShdw blurRad="38100" dist="38100" dir="2700000" algn="tl">
                  <a:srgbClr val="000000">
                    <a:alpha val="43137"/>
                  </a:srgbClr>
                </a:outerShdw>
              </a:effectLst>
            </a:endParaRPr>
          </a:p>
        </p:txBody>
      </p:sp>
      <p:sp>
        <p:nvSpPr>
          <p:cNvPr id="3" name="Dikdörtgen 2"/>
          <p:cNvSpPr/>
          <p:nvPr/>
        </p:nvSpPr>
        <p:spPr>
          <a:xfrm>
            <a:off x="2219325" y="2580983"/>
            <a:ext cx="9077325" cy="1384995"/>
          </a:xfrm>
          <a:prstGeom prst="rect">
            <a:avLst/>
          </a:prstGeom>
        </p:spPr>
        <p:txBody>
          <a:bodyPr wrap="square">
            <a:spAutoFit/>
          </a:bodyPr>
          <a:lstStyle/>
          <a:p>
            <a:pPr algn="just"/>
            <a:r>
              <a:rPr lang="tr-TR" sz="1200" b="1" dirty="0"/>
              <a:t>Türk Ceza Kanunu</a:t>
            </a:r>
            <a:endParaRPr lang="fr-FR" sz="1200" dirty="0"/>
          </a:p>
          <a:p>
            <a:pPr algn="just"/>
            <a:r>
              <a:rPr lang="fr-FR" sz="1200" b="1" dirty="0" err="1"/>
              <a:t>Bağlılık</a:t>
            </a:r>
            <a:r>
              <a:rPr lang="fr-FR" sz="1200" b="1" dirty="0"/>
              <a:t> </a:t>
            </a:r>
            <a:r>
              <a:rPr lang="fr-FR" sz="1200" b="1" dirty="0" err="1"/>
              <a:t>kuralı</a:t>
            </a:r>
            <a:r>
              <a:rPr lang="fr-FR" sz="1200" b="1" dirty="0"/>
              <a:t> </a:t>
            </a:r>
            <a:endParaRPr lang="fr-FR" sz="1200" dirty="0"/>
          </a:p>
          <a:p>
            <a:pPr algn="just"/>
            <a:r>
              <a:rPr lang="fr-FR" sz="1200" b="1" dirty="0" err="1"/>
              <a:t>Madde</a:t>
            </a:r>
            <a:r>
              <a:rPr lang="fr-FR" sz="1200" b="1" dirty="0"/>
              <a:t> 40- </a:t>
            </a:r>
            <a:r>
              <a:rPr lang="fr-FR" sz="1200" dirty="0"/>
              <a:t>(1) Suça </a:t>
            </a:r>
            <a:r>
              <a:rPr lang="fr-FR" sz="1200" dirty="0" err="1"/>
              <a:t>iştirak</a:t>
            </a:r>
            <a:r>
              <a:rPr lang="fr-FR" sz="1200" dirty="0"/>
              <a:t> </a:t>
            </a:r>
            <a:r>
              <a:rPr lang="fr-FR" sz="1200" dirty="0" err="1"/>
              <a:t>için</a:t>
            </a:r>
            <a:r>
              <a:rPr lang="fr-FR" sz="1200" dirty="0"/>
              <a:t> </a:t>
            </a:r>
            <a:r>
              <a:rPr lang="fr-FR" sz="1200" dirty="0" err="1"/>
              <a:t>kasten</a:t>
            </a:r>
            <a:r>
              <a:rPr lang="fr-FR" sz="1200" dirty="0"/>
              <a:t> </a:t>
            </a:r>
            <a:r>
              <a:rPr lang="fr-FR" sz="1200" dirty="0" err="1"/>
              <a:t>ve</a:t>
            </a:r>
            <a:r>
              <a:rPr lang="fr-FR" sz="1200" dirty="0"/>
              <a:t> </a:t>
            </a:r>
            <a:r>
              <a:rPr lang="fr-FR" sz="1200" dirty="0" err="1"/>
              <a:t>hukuka</a:t>
            </a:r>
            <a:r>
              <a:rPr lang="fr-FR" sz="1200" dirty="0"/>
              <a:t> </a:t>
            </a:r>
            <a:r>
              <a:rPr lang="fr-FR" sz="1200" dirty="0" err="1"/>
              <a:t>aykırı</a:t>
            </a:r>
            <a:r>
              <a:rPr lang="fr-FR" sz="1200" dirty="0"/>
              <a:t> </a:t>
            </a:r>
            <a:r>
              <a:rPr lang="fr-FR" sz="1200" dirty="0" err="1"/>
              <a:t>işlenmiş</a:t>
            </a:r>
            <a:r>
              <a:rPr lang="fr-FR" sz="1200" dirty="0"/>
              <a:t> </a:t>
            </a:r>
            <a:r>
              <a:rPr lang="fr-FR" sz="1200" dirty="0" err="1"/>
              <a:t>bir</a:t>
            </a:r>
            <a:r>
              <a:rPr lang="fr-FR" sz="1200" dirty="0"/>
              <a:t> </a:t>
            </a:r>
            <a:r>
              <a:rPr lang="fr-FR" sz="1200" dirty="0" err="1"/>
              <a:t>fiilin</a:t>
            </a:r>
            <a:r>
              <a:rPr lang="fr-FR" sz="1200" dirty="0"/>
              <a:t> </a:t>
            </a:r>
            <a:r>
              <a:rPr lang="fr-FR" sz="1200" dirty="0" err="1"/>
              <a:t>varlığı</a:t>
            </a:r>
            <a:r>
              <a:rPr lang="fr-FR" sz="1200" dirty="0"/>
              <a:t> </a:t>
            </a:r>
            <a:r>
              <a:rPr lang="fr-FR" sz="1200" dirty="0" err="1"/>
              <a:t>yeterlidir</a:t>
            </a:r>
            <a:r>
              <a:rPr lang="fr-FR" sz="1200" dirty="0"/>
              <a:t>. </a:t>
            </a:r>
            <a:r>
              <a:rPr lang="fr-FR" sz="1200" dirty="0" err="1"/>
              <a:t>Suçun</a:t>
            </a:r>
            <a:r>
              <a:rPr lang="fr-FR" sz="1200" dirty="0"/>
              <a:t> </a:t>
            </a:r>
            <a:r>
              <a:rPr lang="fr-FR" sz="1200" dirty="0" err="1"/>
              <a:t>işlenişine</a:t>
            </a:r>
            <a:r>
              <a:rPr lang="fr-FR" sz="1200" dirty="0"/>
              <a:t> </a:t>
            </a:r>
            <a:r>
              <a:rPr lang="fr-FR" sz="1200" dirty="0" err="1"/>
              <a:t>iştirak</a:t>
            </a:r>
            <a:r>
              <a:rPr lang="fr-FR" sz="1200" dirty="0"/>
              <a:t> </a:t>
            </a:r>
            <a:r>
              <a:rPr lang="fr-FR" sz="1200" dirty="0" err="1"/>
              <a:t>eden</a:t>
            </a:r>
            <a:r>
              <a:rPr lang="fr-FR" sz="1200" dirty="0"/>
              <a:t> </a:t>
            </a:r>
            <a:r>
              <a:rPr lang="fr-FR" sz="1200" dirty="0" err="1"/>
              <a:t>her</a:t>
            </a:r>
            <a:r>
              <a:rPr lang="fr-FR" sz="1200" dirty="0"/>
              <a:t> </a:t>
            </a:r>
            <a:r>
              <a:rPr lang="fr-FR" sz="1200" dirty="0" err="1"/>
              <a:t>kişi</a:t>
            </a:r>
            <a:r>
              <a:rPr lang="fr-FR" sz="1200" dirty="0"/>
              <a:t>, </a:t>
            </a:r>
            <a:r>
              <a:rPr lang="fr-FR" sz="1200" dirty="0" err="1"/>
              <a:t>diğerinin</a:t>
            </a:r>
            <a:r>
              <a:rPr lang="fr-FR" sz="1200" dirty="0"/>
              <a:t> </a:t>
            </a:r>
            <a:r>
              <a:rPr lang="fr-FR" sz="1200" dirty="0" err="1"/>
              <a:t>cezalandırılmasını</a:t>
            </a:r>
            <a:r>
              <a:rPr lang="fr-FR" sz="1200" dirty="0"/>
              <a:t> </a:t>
            </a:r>
            <a:r>
              <a:rPr lang="fr-FR" sz="1200" dirty="0" err="1"/>
              <a:t>önleyen</a:t>
            </a:r>
            <a:r>
              <a:rPr lang="fr-FR" sz="1200" dirty="0"/>
              <a:t> </a:t>
            </a:r>
            <a:r>
              <a:rPr lang="fr-FR" sz="1200" dirty="0" err="1"/>
              <a:t>kişisel</a:t>
            </a:r>
            <a:r>
              <a:rPr lang="fr-FR" sz="1200" dirty="0"/>
              <a:t> </a:t>
            </a:r>
            <a:r>
              <a:rPr lang="fr-FR" sz="1200" dirty="0" err="1"/>
              <a:t>nedenler</a:t>
            </a:r>
            <a:r>
              <a:rPr lang="fr-FR" sz="1200" dirty="0"/>
              <a:t> </a:t>
            </a:r>
            <a:r>
              <a:rPr lang="fr-FR" sz="1200" dirty="0" err="1"/>
              <a:t>göz</a:t>
            </a:r>
            <a:r>
              <a:rPr lang="fr-FR" sz="1200" dirty="0"/>
              <a:t> </a:t>
            </a:r>
            <a:r>
              <a:rPr lang="fr-FR" sz="1200" dirty="0" err="1"/>
              <a:t>önünde</a:t>
            </a:r>
            <a:r>
              <a:rPr lang="fr-FR" sz="1200" dirty="0"/>
              <a:t> </a:t>
            </a:r>
            <a:r>
              <a:rPr lang="fr-FR" sz="1200" dirty="0" err="1"/>
              <a:t>bulundurulmaksızın</a:t>
            </a:r>
            <a:r>
              <a:rPr lang="fr-FR" sz="1200" dirty="0"/>
              <a:t> </a:t>
            </a:r>
            <a:r>
              <a:rPr lang="fr-FR" sz="1200" dirty="0" err="1"/>
              <a:t>kendi</a:t>
            </a:r>
            <a:r>
              <a:rPr lang="fr-FR" sz="1200" dirty="0"/>
              <a:t> </a:t>
            </a:r>
            <a:r>
              <a:rPr lang="fr-FR" sz="1200" dirty="0" err="1"/>
              <a:t>kusurlu</a:t>
            </a:r>
            <a:r>
              <a:rPr lang="fr-FR" sz="1200" dirty="0"/>
              <a:t> </a:t>
            </a:r>
            <a:r>
              <a:rPr lang="fr-FR" sz="1200" dirty="0" err="1"/>
              <a:t>fiiline</a:t>
            </a:r>
            <a:r>
              <a:rPr lang="fr-FR" sz="1200" dirty="0"/>
              <a:t> </a:t>
            </a:r>
            <a:r>
              <a:rPr lang="fr-FR" sz="1200" dirty="0" err="1"/>
              <a:t>göre</a:t>
            </a:r>
            <a:r>
              <a:rPr lang="fr-FR" sz="1200" dirty="0"/>
              <a:t> </a:t>
            </a:r>
            <a:r>
              <a:rPr lang="fr-FR" sz="1200" dirty="0" err="1"/>
              <a:t>cezalandırılır</a:t>
            </a:r>
            <a:r>
              <a:rPr lang="fr-FR" sz="1200" dirty="0"/>
              <a:t>. </a:t>
            </a:r>
          </a:p>
          <a:p>
            <a:pPr algn="just"/>
            <a:r>
              <a:rPr lang="fr-FR" sz="1200" dirty="0"/>
              <a:t>(2) </a:t>
            </a:r>
            <a:r>
              <a:rPr lang="fr-FR" sz="1200" dirty="0" err="1"/>
              <a:t>Özgü</a:t>
            </a:r>
            <a:r>
              <a:rPr lang="fr-FR" sz="1200" dirty="0"/>
              <a:t> </a:t>
            </a:r>
            <a:r>
              <a:rPr lang="fr-FR" sz="1200" dirty="0" err="1"/>
              <a:t>suçlarda</a:t>
            </a:r>
            <a:r>
              <a:rPr lang="fr-FR" sz="1200" dirty="0"/>
              <a:t>, </a:t>
            </a:r>
            <a:r>
              <a:rPr lang="fr-FR" sz="1200" dirty="0" err="1"/>
              <a:t>ancak</a:t>
            </a:r>
            <a:r>
              <a:rPr lang="fr-FR" sz="1200" dirty="0"/>
              <a:t> </a:t>
            </a:r>
            <a:r>
              <a:rPr lang="fr-FR" sz="1200" dirty="0" err="1"/>
              <a:t>özel</a:t>
            </a:r>
            <a:r>
              <a:rPr lang="fr-FR" sz="1200" dirty="0"/>
              <a:t> </a:t>
            </a:r>
            <a:r>
              <a:rPr lang="fr-FR" sz="1200" dirty="0" err="1"/>
              <a:t>faillik</a:t>
            </a:r>
            <a:r>
              <a:rPr lang="fr-FR" sz="1200" dirty="0"/>
              <a:t> </a:t>
            </a:r>
            <a:r>
              <a:rPr lang="fr-FR" sz="1200" dirty="0" err="1"/>
              <a:t>niteliğini</a:t>
            </a:r>
            <a:r>
              <a:rPr lang="fr-FR" sz="1200" dirty="0"/>
              <a:t> </a:t>
            </a:r>
            <a:r>
              <a:rPr lang="fr-FR" sz="1200" dirty="0" err="1"/>
              <a:t>taşıyan</a:t>
            </a:r>
            <a:r>
              <a:rPr lang="fr-FR" sz="1200" dirty="0"/>
              <a:t> </a:t>
            </a:r>
            <a:r>
              <a:rPr lang="fr-FR" sz="1200" dirty="0" err="1"/>
              <a:t>kişi</a:t>
            </a:r>
            <a:r>
              <a:rPr lang="fr-FR" sz="1200" dirty="0"/>
              <a:t> </a:t>
            </a:r>
            <a:r>
              <a:rPr lang="fr-FR" sz="1200" dirty="0" err="1"/>
              <a:t>fail</a:t>
            </a:r>
            <a:r>
              <a:rPr lang="fr-FR" sz="1200" dirty="0"/>
              <a:t> </a:t>
            </a:r>
            <a:r>
              <a:rPr lang="fr-FR" sz="1200" dirty="0" err="1"/>
              <a:t>olabilir</a:t>
            </a:r>
            <a:r>
              <a:rPr lang="fr-FR" sz="1200" dirty="0"/>
              <a:t>. Bu </a:t>
            </a:r>
            <a:r>
              <a:rPr lang="fr-FR" sz="1200" dirty="0" err="1"/>
              <a:t>suçların</a:t>
            </a:r>
            <a:r>
              <a:rPr lang="fr-FR" sz="1200" dirty="0"/>
              <a:t> </a:t>
            </a:r>
            <a:r>
              <a:rPr lang="fr-FR" sz="1200" dirty="0" err="1"/>
              <a:t>işlenişine</a:t>
            </a:r>
            <a:r>
              <a:rPr lang="fr-FR" sz="1200" dirty="0"/>
              <a:t> </a:t>
            </a:r>
            <a:r>
              <a:rPr lang="fr-FR" sz="1200" dirty="0" err="1"/>
              <a:t>iştirak</a:t>
            </a:r>
            <a:r>
              <a:rPr lang="fr-FR" sz="1200" dirty="0"/>
              <a:t> </a:t>
            </a:r>
            <a:r>
              <a:rPr lang="fr-FR" sz="1200" dirty="0" err="1"/>
              <a:t>eden</a:t>
            </a:r>
            <a:r>
              <a:rPr lang="fr-FR" sz="1200" dirty="0"/>
              <a:t> </a:t>
            </a:r>
            <a:r>
              <a:rPr lang="fr-FR" sz="1200" dirty="0" err="1"/>
              <a:t>diğer</a:t>
            </a:r>
            <a:r>
              <a:rPr lang="fr-FR" sz="1200" dirty="0"/>
              <a:t> </a:t>
            </a:r>
            <a:r>
              <a:rPr lang="fr-FR" sz="1200" dirty="0" err="1"/>
              <a:t>kişiler</a:t>
            </a:r>
            <a:r>
              <a:rPr lang="fr-FR" sz="1200" dirty="0"/>
              <a:t> </a:t>
            </a:r>
            <a:r>
              <a:rPr lang="fr-FR" sz="1200" dirty="0" err="1"/>
              <a:t>ise</a:t>
            </a:r>
            <a:r>
              <a:rPr lang="fr-FR" sz="1200" dirty="0"/>
              <a:t> </a:t>
            </a:r>
            <a:r>
              <a:rPr lang="fr-FR" sz="1200" dirty="0" err="1"/>
              <a:t>azmettiren</a:t>
            </a:r>
            <a:r>
              <a:rPr lang="fr-FR" sz="1200" dirty="0"/>
              <a:t> </a:t>
            </a:r>
            <a:r>
              <a:rPr lang="fr-FR" sz="1200" dirty="0" err="1"/>
              <a:t>veya</a:t>
            </a:r>
            <a:r>
              <a:rPr lang="fr-FR" sz="1200" dirty="0"/>
              <a:t> </a:t>
            </a:r>
            <a:r>
              <a:rPr lang="fr-FR" sz="1200" dirty="0" err="1"/>
              <a:t>yardım</a:t>
            </a:r>
            <a:r>
              <a:rPr lang="fr-FR" sz="1200" dirty="0"/>
              <a:t> </a:t>
            </a:r>
            <a:r>
              <a:rPr lang="fr-FR" sz="1200" dirty="0" err="1"/>
              <a:t>eden</a:t>
            </a:r>
            <a:r>
              <a:rPr lang="fr-FR" sz="1200" dirty="0"/>
              <a:t> </a:t>
            </a:r>
            <a:r>
              <a:rPr lang="fr-FR" sz="1200" dirty="0" err="1"/>
              <a:t>olarak</a:t>
            </a:r>
            <a:r>
              <a:rPr lang="fr-FR" sz="1200" dirty="0"/>
              <a:t> </a:t>
            </a:r>
            <a:r>
              <a:rPr lang="fr-FR" sz="1200" dirty="0" err="1"/>
              <a:t>sorumlu</a:t>
            </a:r>
            <a:r>
              <a:rPr lang="fr-FR" sz="1200" dirty="0"/>
              <a:t> </a:t>
            </a:r>
            <a:r>
              <a:rPr lang="fr-FR" sz="1200" dirty="0" err="1"/>
              <a:t>tutulur</a:t>
            </a:r>
            <a:r>
              <a:rPr lang="fr-FR" sz="1200" dirty="0"/>
              <a:t>. </a:t>
            </a:r>
          </a:p>
          <a:p>
            <a:pPr algn="just"/>
            <a:r>
              <a:rPr lang="fr-FR" sz="1200" dirty="0"/>
              <a:t>(3) Suça </a:t>
            </a:r>
            <a:r>
              <a:rPr lang="fr-FR" sz="1200" dirty="0" err="1"/>
              <a:t>iştirakten</a:t>
            </a:r>
            <a:r>
              <a:rPr lang="fr-FR" sz="1200" dirty="0"/>
              <a:t> </a:t>
            </a:r>
            <a:r>
              <a:rPr lang="fr-FR" sz="1200" dirty="0" err="1"/>
              <a:t>dolayı</a:t>
            </a:r>
            <a:r>
              <a:rPr lang="fr-FR" sz="1200" dirty="0"/>
              <a:t> </a:t>
            </a:r>
            <a:r>
              <a:rPr lang="fr-FR" sz="1200" dirty="0" err="1"/>
              <a:t>sorumlu</a:t>
            </a:r>
            <a:r>
              <a:rPr lang="fr-FR" sz="1200" dirty="0"/>
              <a:t> </a:t>
            </a:r>
            <a:r>
              <a:rPr lang="fr-FR" sz="1200" dirty="0" err="1"/>
              <a:t>tutulabilmek</a:t>
            </a:r>
            <a:r>
              <a:rPr lang="fr-FR" sz="1200" dirty="0"/>
              <a:t> </a:t>
            </a:r>
            <a:r>
              <a:rPr lang="fr-FR" sz="1200" dirty="0" err="1"/>
              <a:t>için</a:t>
            </a:r>
            <a:r>
              <a:rPr lang="fr-FR" sz="1200" dirty="0"/>
              <a:t> </a:t>
            </a:r>
            <a:r>
              <a:rPr lang="fr-FR" sz="1200" dirty="0" err="1"/>
              <a:t>ilgili</a:t>
            </a:r>
            <a:r>
              <a:rPr lang="fr-FR" sz="1200" dirty="0"/>
              <a:t> </a:t>
            </a:r>
            <a:r>
              <a:rPr lang="fr-FR" sz="1200" dirty="0" err="1"/>
              <a:t>suçun</a:t>
            </a:r>
            <a:r>
              <a:rPr lang="fr-FR" sz="1200" dirty="0"/>
              <a:t> en </a:t>
            </a:r>
            <a:r>
              <a:rPr lang="fr-FR" sz="1200" dirty="0" err="1"/>
              <a:t>azından</a:t>
            </a:r>
            <a:r>
              <a:rPr lang="fr-FR" sz="1200" dirty="0"/>
              <a:t> </a:t>
            </a:r>
            <a:r>
              <a:rPr lang="fr-FR" sz="1200" dirty="0" err="1"/>
              <a:t>teşebbüs</a:t>
            </a:r>
            <a:r>
              <a:rPr lang="fr-FR" sz="1200" dirty="0"/>
              <a:t> </a:t>
            </a:r>
            <a:r>
              <a:rPr lang="fr-FR" sz="1200" dirty="0" err="1"/>
              <a:t>aşamasına</a:t>
            </a:r>
            <a:r>
              <a:rPr lang="fr-FR" sz="1200" dirty="0"/>
              <a:t> </a:t>
            </a:r>
            <a:r>
              <a:rPr lang="fr-FR" sz="1200" dirty="0" err="1"/>
              <a:t>varmış</a:t>
            </a:r>
            <a:r>
              <a:rPr lang="fr-FR" sz="1200" dirty="0"/>
              <a:t> </a:t>
            </a:r>
            <a:r>
              <a:rPr lang="fr-FR" sz="1200" dirty="0" err="1"/>
              <a:t>olması</a:t>
            </a:r>
            <a:r>
              <a:rPr lang="fr-FR" sz="1200" dirty="0"/>
              <a:t> </a:t>
            </a:r>
            <a:r>
              <a:rPr lang="fr-FR" sz="1200" dirty="0" err="1"/>
              <a:t>gerekir</a:t>
            </a:r>
            <a:r>
              <a:rPr lang="fr-FR" sz="1200" dirty="0"/>
              <a:t>. </a:t>
            </a:r>
          </a:p>
        </p:txBody>
      </p:sp>
      <p:sp>
        <p:nvSpPr>
          <p:cNvPr id="31" name="Dikdörtgen 30"/>
          <p:cNvSpPr/>
          <p:nvPr/>
        </p:nvSpPr>
        <p:spPr>
          <a:xfrm>
            <a:off x="1981200" y="4181183"/>
            <a:ext cx="9648825" cy="1600438"/>
          </a:xfrm>
          <a:prstGeom prst="rect">
            <a:avLst/>
          </a:prstGeom>
        </p:spPr>
        <p:txBody>
          <a:bodyPr wrap="square">
            <a:spAutoFit/>
          </a:bodyPr>
          <a:lstStyle/>
          <a:p>
            <a:pPr algn="just"/>
            <a:r>
              <a:rPr lang="tr-TR" sz="1400" dirty="0" smtClean="0"/>
              <a:t>Suçun işlenişine bulunduğu katkı kanuni tarifteki haksızlığı gerçekleştirmeyen şeriklerin (Azmettiren veya Yardım Eden), gerçekleşen haksızlık nedeniyle hangi şartlarda sorumlu olacaklarını belirlemektedir.</a:t>
            </a:r>
            <a:endParaRPr lang="tr-TR" sz="1400" dirty="0"/>
          </a:p>
          <a:p>
            <a:pPr marL="447675" indent="-266700" algn="just"/>
            <a:r>
              <a:rPr lang="tr-TR" sz="1400" dirty="0" smtClean="0"/>
              <a:t>Bu kurala göre;</a:t>
            </a:r>
          </a:p>
          <a:p>
            <a:pPr marL="447675" indent="-266700" algn="just">
              <a:buAutoNum type="arabicPeriod"/>
            </a:pPr>
            <a:r>
              <a:rPr lang="tr-TR" sz="1400" dirty="0" smtClean="0"/>
              <a:t>Fail tarafından kasten hukuka aykırı bir fiil işlenmedikçe veya en azından bu nitelikteki fiil teşebbüs aşamasına ulaşmadıkça, bu fiile azmettiren veya yardım eden olarak iştirak edilmesi mümkün olmayacaktır.</a:t>
            </a:r>
          </a:p>
          <a:p>
            <a:pPr marL="447675" indent="-266700" algn="just">
              <a:buAutoNum type="arabicPeriod"/>
            </a:pPr>
            <a:r>
              <a:rPr lang="tr-TR" sz="1400" dirty="0" smtClean="0"/>
              <a:t>Özgü suçlarda (İşkence, Zimmet gibi), bu suçların niteliği gereği fail niteliği taşımayan kişiler, azmettiren veya yardım eden olarak sorumlu olabilecektir.</a:t>
            </a:r>
            <a:endParaRPr lang="fr-FR" sz="1400" dirty="0"/>
          </a:p>
        </p:txBody>
      </p:sp>
      <p:sp>
        <p:nvSpPr>
          <p:cNvPr id="7" name="Metin kutusu 6"/>
          <p:cNvSpPr txBox="1"/>
          <p:nvPr/>
        </p:nvSpPr>
        <p:spPr>
          <a:xfrm>
            <a:off x="105104" y="5703214"/>
            <a:ext cx="2228194" cy="892552"/>
          </a:xfrm>
          <a:prstGeom prst="rect">
            <a:avLst/>
          </a:prstGeom>
          <a:noFill/>
        </p:spPr>
        <p:txBody>
          <a:bodyPr wrap="square" rtlCol="0">
            <a:spAutoFit/>
          </a:bodyPr>
          <a:lstStyle/>
          <a:p>
            <a:r>
              <a:rPr lang="tr-TR" sz="1300" dirty="0" smtClean="0">
                <a:effectLst>
                  <a:outerShdw blurRad="38100" dist="38100" dir="2700000" algn="tl">
                    <a:srgbClr val="000000">
                      <a:alpha val="43137"/>
                    </a:srgbClr>
                  </a:outerShdw>
                </a:effectLst>
              </a:rPr>
              <a:t>Suçun Özel Görünüş Biçimleri</a:t>
            </a:r>
          </a:p>
          <a:p>
            <a:r>
              <a:rPr lang="tr-TR" sz="1300" b="1" dirty="0" smtClean="0"/>
              <a:t>1-</a:t>
            </a:r>
            <a:r>
              <a:rPr lang="tr-TR" sz="1300" dirty="0" smtClean="0"/>
              <a:t>Teşebbüs</a:t>
            </a:r>
          </a:p>
          <a:p>
            <a:r>
              <a:rPr lang="tr-TR" sz="1300" b="1" u="sng" dirty="0" smtClean="0"/>
              <a:t>2-İştirak</a:t>
            </a:r>
          </a:p>
          <a:p>
            <a:r>
              <a:rPr lang="tr-TR" sz="1300" b="1" dirty="0" smtClean="0"/>
              <a:t>3-</a:t>
            </a:r>
            <a:r>
              <a:rPr lang="tr-TR" sz="1300" dirty="0" smtClean="0"/>
              <a:t>İçtima</a:t>
            </a:r>
            <a:endParaRPr lang="fr-FR" sz="1300" dirty="0"/>
          </a:p>
        </p:txBody>
      </p:sp>
      <p:sp>
        <p:nvSpPr>
          <p:cNvPr id="5" name="Slayt Numarası Yer Tutucusu 4"/>
          <p:cNvSpPr>
            <a:spLocks noGrp="1"/>
          </p:cNvSpPr>
          <p:nvPr>
            <p:ph type="sldNum" sz="quarter" idx="12"/>
          </p:nvPr>
        </p:nvSpPr>
        <p:spPr/>
        <p:txBody>
          <a:bodyPr/>
          <a:lstStyle/>
          <a:p>
            <a:fld id="{39F9BA00-44CD-41D4-A3D8-F864C744DC1F}" type="slidenum">
              <a:rPr lang="tr-TR" smtClean="0"/>
              <a:t>90</a:t>
            </a:fld>
            <a:r>
              <a:rPr lang="tr-TR"/>
              <a:t>/116</a:t>
            </a:r>
          </a:p>
        </p:txBody>
      </p:sp>
    </p:spTree>
    <p:extLst>
      <p:ext uri="{BB962C8B-B14F-4D97-AF65-F5344CB8AC3E}">
        <p14:creationId xmlns:p14="http://schemas.microsoft.com/office/powerpoint/2010/main" val="402338273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5" name="Dikdörtgen 14"/>
          <p:cNvSpPr/>
          <p:nvPr/>
        </p:nvSpPr>
        <p:spPr>
          <a:xfrm>
            <a:off x="1874779" y="1842319"/>
            <a:ext cx="4578573"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İştirak</a:t>
            </a:r>
          </a:p>
        </p:txBody>
      </p:sp>
      <p:sp>
        <p:nvSpPr>
          <p:cNvPr id="5" name="Dikdörtgen 4"/>
          <p:cNvSpPr/>
          <p:nvPr/>
        </p:nvSpPr>
        <p:spPr>
          <a:xfrm>
            <a:off x="3291840" y="2172526"/>
            <a:ext cx="2639414" cy="369332"/>
          </a:xfrm>
          <a:prstGeom prst="rect">
            <a:avLst/>
          </a:prstGeom>
        </p:spPr>
        <p:txBody>
          <a:bodyPr wrap="square">
            <a:spAutoFit/>
          </a:bodyPr>
          <a:lstStyle/>
          <a:p>
            <a:pPr algn="ctr"/>
            <a:r>
              <a:rPr lang="tr-TR" b="1" i="1" dirty="0" smtClean="0"/>
              <a:t>İştirak</a:t>
            </a:r>
            <a:endParaRPr lang="tr-TR" b="1" i="1" dirty="0"/>
          </a:p>
        </p:txBody>
      </p:sp>
      <p:sp>
        <p:nvSpPr>
          <p:cNvPr id="6" name="Dikdörtgen 5"/>
          <p:cNvSpPr/>
          <p:nvPr/>
        </p:nvSpPr>
        <p:spPr>
          <a:xfrm>
            <a:off x="1003901" y="2696169"/>
            <a:ext cx="2639414" cy="369332"/>
          </a:xfrm>
          <a:prstGeom prst="rect">
            <a:avLst/>
          </a:prstGeom>
        </p:spPr>
        <p:txBody>
          <a:bodyPr wrap="square">
            <a:spAutoFit/>
          </a:bodyPr>
          <a:lstStyle/>
          <a:p>
            <a:pPr algn="ctr"/>
            <a:r>
              <a:rPr lang="tr-TR" b="1" i="1" dirty="0" err="1" smtClean="0"/>
              <a:t>Faillik</a:t>
            </a:r>
            <a:endParaRPr lang="tr-TR" b="1" i="1" dirty="0"/>
          </a:p>
        </p:txBody>
      </p:sp>
      <p:sp>
        <p:nvSpPr>
          <p:cNvPr id="7" name="Dikdörtgen 6"/>
          <p:cNvSpPr/>
          <p:nvPr/>
        </p:nvSpPr>
        <p:spPr>
          <a:xfrm>
            <a:off x="7560951" y="2742407"/>
            <a:ext cx="2639414" cy="369332"/>
          </a:xfrm>
          <a:prstGeom prst="rect">
            <a:avLst/>
          </a:prstGeom>
        </p:spPr>
        <p:txBody>
          <a:bodyPr wrap="square">
            <a:spAutoFit/>
          </a:bodyPr>
          <a:lstStyle/>
          <a:p>
            <a:pPr algn="ctr"/>
            <a:r>
              <a:rPr lang="tr-TR" b="1" i="1" dirty="0" err="1" smtClean="0"/>
              <a:t>Şeriklik</a:t>
            </a:r>
            <a:endParaRPr lang="tr-TR" b="1" i="1" dirty="0"/>
          </a:p>
        </p:txBody>
      </p:sp>
      <p:sp>
        <p:nvSpPr>
          <p:cNvPr id="8" name="Dikdörtgen 7"/>
          <p:cNvSpPr/>
          <p:nvPr/>
        </p:nvSpPr>
        <p:spPr>
          <a:xfrm>
            <a:off x="1015646" y="3572227"/>
            <a:ext cx="1628494" cy="461665"/>
          </a:xfrm>
          <a:prstGeom prst="rect">
            <a:avLst/>
          </a:prstGeom>
        </p:spPr>
        <p:txBody>
          <a:bodyPr wrap="square">
            <a:spAutoFit/>
          </a:bodyPr>
          <a:lstStyle/>
          <a:p>
            <a:pPr algn="ctr"/>
            <a:r>
              <a:rPr lang="tr-TR" sz="1200" b="1" i="1" dirty="0" smtClean="0"/>
              <a:t>Doğrudan</a:t>
            </a:r>
          </a:p>
          <a:p>
            <a:pPr algn="ctr"/>
            <a:r>
              <a:rPr lang="tr-TR" sz="1200" b="1" i="1" dirty="0" smtClean="0"/>
              <a:t>Fail</a:t>
            </a:r>
            <a:endParaRPr lang="tr-TR" sz="1200" b="1" i="1" dirty="0"/>
          </a:p>
        </p:txBody>
      </p:sp>
      <p:sp>
        <p:nvSpPr>
          <p:cNvPr id="9" name="Dikdörtgen 8"/>
          <p:cNvSpPr/>
          <p:nvPr/>
        </p:nvSpPr>
        <p:spPr>
          <a:xfrm>
            <a:off x="1589194" y="4085653"/>
            <a:ext cx="1367228" cy="461665"/>
          </a:xfrm>
          <a:prstGeom prst="rect">
            <a:avLst/>
          </a:prstGeom>
        </p:spPr>
        <p:txBody>
          <a:bodyPr wrap="square">
            <a:spAutoFit/>
          </a:bodyPr>
          <a:lstStyle/>
          <a:p>
            <a:pPr algn="ctr"/>
            <a:r>
              <a:rPr lang="tr-TR" sz="1200" b="1" i="1" dirty="0" smtClean="0"/>
              <a:t>Müşterek</a:t>
            </a:r>
          </a:p>
          <a:p>
            <a:pPr algn="ctr"/>
            <a:r>
              <a:rPr lang="tr-TR" sz="1200" b="1" i="1" dirty="0" smtClean="0"/>
              <a:t>Fail</a:t>
            </a:r>
            <a:endParaRPr lang="tr-TR" sz="1200" b="1" i="1" dirty="0"/>
          </a:p>
        </p:txBody>
      </p:sp>
      <p:sp>
        <p:nvSpPr>
          <p:cNvPr id="10" name="Dikdörtgen 9"/>
          <p:cNvSpPr/>
          <p:nvPr/>
        </p:nvSpPr>
        <p:spPr>
          <a:xfrm>
            <a:off x="2198445" y="4547318"/>
            <a:ext cx="1367228" cy="461665"/>
          </a:xfrm>
          <a:prstGeom prst="rect">
            <a:avLst/>
          </a:prstGeom>
        </p:spPr>
        <p:txBody>
          <a:bodyPr wrap="square">
            <a:spAutoFit/>
          </a:bodyPr>
          <a:lstStyle/>
          <a:p>
            <a:pPr algn="ctr"/>
            <a:r>
              <a:rPr lang="tr-TR" sz="1200" b="1" i="1" dirty="0"/>
              <a:t>Dolaylı</a:t>
            </a:r>
          </a:p>
          <a:p>
            <a:pPr algn="ctr"/>
            <a:r>
              <a:rPr lang="tr-TR" sz="1200" b="1" i="1" dirty="0"/>
              <a:t>Fail</a:t>
            </a:r>
          </a:p>
        </p:txBody>
      </p:sp>
      <p:sp>
        <p:nvSpPr>
          <p:cNvPr id="11" name="Dikdörtgen 10"/>
          <p:cNvSpPr/>
          <p:nvPr/>
        </p:nvSpPr>
        <p:spPr>
          <a:xfrm>
            <a:off x="5530274" y="3346588"/>
            <a:ext cx="1367228" cy="338554"/>
          </a:xfrm>
          <a:prstGeom prst="rect">
            <a:avLst/>
          </a:prstGeom>
        </p:spPr>
        <p:txBody>
          <a:bodyPr wrap="square">
            <a:spAutoFit/>
          </a:bodyPr>
          <a:lstStyle/>
          <a:p>
            <a:pPr algn="ctr"/>
            <a:r>
              <a:rPr lang="tr-TR" sz="1600" b="1" i="1" dirty="0" smtClean="0"/>
              <a:t>Azmettiren</a:t>
            </a:r>
            <a:endParaRPr lang="tr-TR" sz="1600" b="1" i="1" dirty="0"/>
          </a:p>
        </p:txBody>
      </p:sp>
      <p:sp>
        <p:nvSpPr>
          <p:cNvPr id="12" name="Dikdörtgen 11"/>
          <p:cNvSpPr/>
          <p:nvPr/>
        </p:nvSpPr>
        <p:spPr>
          <a:xfrm>
            <a:off x="9823120" y="3331281"/>
            <a:ext cx="1367228" cy="338554"/>
          </a:xfrm>
          <a:prstGeom prst="rect">
            <a:avLst/>
          </a:prstGeom>
        </p:spPr>
        <p:txBody>
          <a:bodyPr wrap="square">
            <a:spAutoFit/>
          </a:bodyPr>
          <a:lstStyle/>
          <a:p>
            <a:pPr algn="ctr"/>
            <a:r>
              <a:rPr lang="tr-TR" sz="1600" b="1" i="1" dirty="0"/>
              <a:t>Yardım Eden</a:t>
            </a:r>
          </a:p>
        </p:txBody>
      </p:sp>
      <p:sp>
        <p:nvSpPr>
          <p:cNvPr id="4" name="Bükülü Ok 3"/>
          <p:cNvSpPr/>
          <p:nvPr/>
        </p:nvSpPr>
        <p:spPr>
          <a:xfrm rot="5400000">
            <a:off x="6981160" y="805130"/>
            <a:ext cx="312577" cy="3555902"/>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6" name="Bükülü Ok 15"/>
          <p:cNvSpPr/>
          <p:nvPr/>
        </p:nvSpPr>
        <p:spPr>
          <a:xfrm rot="5400000" flipV="1">
            <a:off x="2923018" y="1662179"/>
            <a:ext cx="318407" cy="1720429"/>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9" name="Aşağı Ok 18"/>
          <p:cNvSpPr/>
          <p:nvPr/>
        </p:nvSpPr>
        <p:spPr>
          <a:xfrm>
            <a:off x="1740639" y="3166169"/>
            <a:ext cx="89254" cy="367050"/>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Aşağı Ok 19"/>
          <p:cNvSpPr/>
          <p:nvPr/>
        </p:nvSpPr>
        <p:spPr>
          <a:xfrm>
            <a:off x="2222008" y="3157834"/>
            <a:ext cx="101600" cy="876058"/>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Bükülü Ok 20"/>
          <p:cNvSpPr/>
          <p:nvPr/>
        </p:nvSpPr>
        <p:spPr>
          <a:xfrm rot="5400000" flipV="1">
            <a:off x="6944280" y="2116596"/>
            <a:ext cx="389423" cy="2009774"/>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5" name="Bükülü Ok 24"/>
          <p:cNvSpPr/>
          <p:nvPr/>
        </p:nvSpPr>
        <p:spPr>
          <a:xfrm rot="5400000">
            <a:off x="9856546" y="2538073"/>
            <a:ext cx="389423" cy="1166819"/>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7" name="Aşağı Ok 26"/>
          <p:cNvSpPr/>
          <p:nvPr/>
        </p:nvSpPr>
        <p:spPr>
          <a:xfrm>
            <a:off x="2821099" y="3138393"/>
            <a:ext cx="135323" cy="1367375"/>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Dikdörtgen 21"/>
          <p:cNvSpPr/>
          <p:nvPr/>
        </p:nvSpPr>
        <p:spPr>
          <a:xfrm>
            <a:off x="4740088" y="3669835"/>
            <a:ext cx="3267882" cy="2292935"/>
          </a:xfrm>
          <a:prstGeom prst="rect">
            <a:avLst/>
          </a:prstGeom>
        </p:spPr>
        <p:txBody>
          <a:bodyPr wrap="square">
            <a:spAutoFit/>
          </a:bodyPr>
          <a:lstStyle/>
          <a:p>
            <a:pPr marL="171450" indent="-171450" algn="just">
              <a:buFont typeface="Arial" panose="020B0604020202020204" pitchFamily="34" charset="0"/>
              <a:buChar char="•"/>
            </a:pPr>
            <a:r>
              <a:rPr lang="tr-TR" sz="1100" b="1" i="1" dirty="0"/>
              <a:t>Henüz suç işleme fikri olmayan </a:t>
            </a:r>
            <a:r>
              <a:rPr lang="tr-TR" sz="1100" b="1" i="1" dirty="0" smtClean="0"/>
              <a:t>kimseye suç işleme kararı verdirilmelidir</a:t>
            </a:r>
          </a:p>
          <a:p>
            <a:pPr marL="171450" indent="-171450" algn="just">
              <a:buFont typeface="Arial" panose="020B0604020202020204" pitchFamily="34" charset="0"/>
              <a:buChar char="•"/>
            </a:pPr>
            <a:r>
              <a:rPr lang="tr-TR" sz="1100" b="1" i="1" dirty="0" smtClean="0"/>
              <a:t>Azmettirilen suç işlenmiş veya teşebbüs edilmiş olmalıdır</a:t>
            </a:r>
          </a:p>
          <a:p>
            <a:pPr marL="171450" indent="-171450" algn="just">
              <a:buFont typeface="Arial" panose="020B0604020202020204" pitchFamily="34" charset="0"/>
              <a:buChar char="•"/>
            </a:pPr>
            <a:r>
              <a:rPr lang="tr-TR" sz="1100" b="1" i="1" dirty="0" smtClean="0"/>
              <a:t>Azmettiren kasten hareket etmiş olmalıdır (Azmettirenin kastı belli bir fiile ve belli bir kişinin bu fiili işlemesine yönelik olmalıdır) </a:t>
            </a:r>
          </a:p>
          <a:p>
            <a:pPr algn="ctr"/>
            <a:endParaRPr lang="tr-TR" sz="1100" b="1" i="1" dirty="0"/>
          </a:p>
          <a:p>
            <a:pPr algn="just"/>
            <a:r>
              <a:rPr lang="tr-TR" sz="1100" b="1" i="1" dirty="0" smtClean="0"/>
              <a:t>Azmettiren kişi, işlenen suçun cezasıyla cezalandırılır. Yani azmettirene verilecek ceza faile verilecek ceza değil, failin işlediği suça verilecek cezadır. Dolayısıyla azmettirenin, failden daha ağır bir ceza alması mümkündür. </a:t>
            </a:r>
          </a:p>
        </p:txBody>
      </p:sp>
      <p:sp>
        <p:nvSpPr>
          <p:cNvPr id="23" name="Dikdörtgen 22"/>
          <p:cNvSpPr/>
          <p:nvPr/>
        </p:nvSpPr>
        <p:spPr>
          <a:xfrm>
            <a:off x="8706485" y="3598573"/>
            <a:ext cx="3267882" cy="3139321"/>
          </a:xfrm>
          <a:prstGeom prst="rect">
            <a:avLst/>
          </a:prstGeom>
        </p:spPr>
        <p:txBody>
          <a:bodyPr wrap="square">
            <a:spAutoFit/>
          </a:bodyPr>
          <a:lstStyle/>
          <a:p>
            <a:pPr algn="just"/>
            <a:r>
              <a:rPr lang="tr-TR" sz="1100" b="1" i="1" dirty="0" smtClean="0"/>
              <a:t>Suç üzerinde fiili hakimiyet kurulmadan, kasten işlenen bir suçun kolaylaştırılması durumu.</a:t>
            </a:r>
          </a:p>
          <a:p>
            <a:pPr algn="just"/>
            <a:r>
              <a:rPr lang="tr-TR" sz="1100" b="1" i="1" dirty="0" smtClean="0"/>
              <a:t>Bu kolaylaştırma maddi ve manevi yardımlarla sağlanmaktadır.</a:t>
            </a:r>
          </a:p>
          <a:p>
            <a:pPr indent="180975" algn="just"/>
            <a:r>
              <a:rPr lang="tr-TR" sz="1100" b="1" i="1" dirty="0" smtClean="0"/>
              <a:t>Maddi yardım:</a:t>
            </a:r>
          </a:p>
          <a:p>
            <a:pPr marL="171450" indent="-171450" algn="just">
              <a:buFont typeface="Arial" panose="020B0604020202020204" pitchFamily="34" charset="0"/>
              <a:buChar char="•"/>
            </a:pPr>
            <a:r>
              <a:rPr lang="tr-TR" sz="1100" b="1" i="1" dirty="0" smtClean="0"/>
              <a:t>Araçları sağlamak</a:t>
            </a:r>
          </a:p>
          <a:p>
            <a:pPr marL="171450" indent="-171450" algn="just">
              <a:buFont typeface="Arial" panose="020B0604020202020204" pitchFamily="34" charset="0"/>
              <a:buChar char="•"/>
            </a:pPr>
            <a:r>
              <a:rPr lang="tr-TR" sz="1100" b="1" i="1" dirty="0" smtClean="0"/>
              <a:t>Suçun işlenmesinden önce veya işlenmesi sırasında maddi yardımda bulunarak icrasını kolaylaştırmak</a:t>
            </a:r>
          </a:p>
          <a:p>
            <a:pPr indent="180975" algn="just"/>
            <a:r>
              <a:rPr lang="tr-TR" sz="1100" b="1" i="1" dirty="0" smtClean="0"/>
              <a:t>Manevi yardım:</a:t>
            </a:r>
          </a:p>
          <a:p>
            <a:pPr marL="171450" indent="-171450" algn="just">
              <a:buFont typeface="Arial" panose="020B0604020202020204" pitchFamily="34" charset="0"/>
              <a:buChar char="•"/>
            </a:pPr>
            <a:r>
              <a:rPr lang="tr-TR" sz="1100" b="1" i="1" dirty="0" smtClean="0"/>
              <a:t>Suçun işlenmesini teşvik etmek</a:t>
            </a:r>
          </a:p>
          <a:p>
            <a:pPr marL="171450" indent="-171450" algn="just">
              <a:buFont typeface="Arial" panose="020B0604020202020204" pitchFamily="34" charset="0"/>
              <a:buChar char="•"/>
            </a:pPr>
            <a:r>
              <a:rPr lang="tr-TR" sz="1100" b="1" i="1" dirty="0" smtClean="0"/>
              <a:t>Suç işlenmesi kararını kuvvetlendirmek</a:t>
            </a:r>
          </a:p>
          <a:p>
            <a:pPr marL="171450" indent="-171450" algn="just">
              <a:buFont typeface="Arial" panose="020B0604020202020204" pitchFamily="34" charset="0"/>
              <a:buChar char="•"/>
            </a:pPr>
            <a:r>
              <a:rPr lang="tr-TR" sz="1100" b="1" i="1" dirty="0" smtClean="0"/>
              <a:t>Suç işlenmesinden sonra yardımda bulunacağını vaat etmek</a:t>
            </a:r>
          </a:p>
          <a:p>
            <a:pPr marL="171450" indent="-171450" algn="just">
              <a:buFont typeface="Arial" panose="020B0604020202020204" pitchFamily="34" charset="0"/>
              <a:buChar char="•"/>
            </a:pPr>
            <a:r>
              <a:rPr lang="tr-TR" sz="1100" b="1" i="1" dirty="0" smtClean="0"/>
              <a:t>Suçun nasıl işleneceği konusunda yol göstermek </a:t>
            </a:r>
          </a:p>
          <a:p>
            <a:pPr algn="just"/>
            <a:endParaRPr lang="tr-TR" sz="1100" b="1" i="1" dirty="0" smtClean="0"/>
          </a:p>
          <a:p>
            <a:pPr algn="just"/>
            <a:r>
              <a:rPr lang="tr-TR" sz="1100" b="1" i="1" dirty="0" smtClean="0"/>
              <a:t>Yardım eden kişiye, işlenen suçun cezası belli miktarda indirilerek verilir</a:t>
            </a:r>
          </a:p>
        </p:txBody>
      </p:sp>
      <p:sp>
        <p:nvSpPr>
          <p:cNvPr id="24" name="Metin kutusu 23"/>
          <p:cNvSpPr txBox="1"/>
          <p:nvPr/>
        </p:nvSpPr>
        <p:spPr>
          <a:xfrm>
            <a:off x="105104" y="5703214"/>
            <a:ext cx="2228194" cy="892552"/>
          </a:xfrm>
          <a:prstGeom prst="rect">
            <a:avLst/>
          </a:prstGeom>
          <a:noFill/>
        </p:spPr>
        <p:txBody>
          <a:bodyPr wrap="square" rtlCol="0">
            <a:spAutoFit/>
          </a:bodyPr>
          <a:lstStyle/>
          <a:p>
            <a:r>
              <a:rPr lang="tr-TR" sz="1300" dirty="0" smtClean="0">
                <a:effectLst>
                  <a:outerShdw blurRad="38100" dist="38100" dir="2700000" algn="tl">
                    <a:srgbClr val="000000">
                      <a:alpha val="43137"/>
                    </a:srgbClr>
                  </a:outerShdw>
                </a:effectLst>
              </a:rPr>
              <a:t>Suçun Özel Görünüş Biçimleri</a:t>
            </a:r>
          </a:p>
          <a:p>
            <a:r>
              <a:rPr lang="tr-TR" sz="1300" b="1" dirty="0" smtClean="0"/>
              <a:t>1-</a:t>
            </a:r>
            <a:r>
              <a:rPr lang="tr-TR" sz="1300" dirty="0" smtClean="0"/>
              <a:t>Teşebbüs</a:t>
            </a:r>
          </a:p>
          <a:p>
            <a:r>
              <a:rPr lang="tr-TR" sz="1300" b="1" u="sng" dirty="0" smtClean="0"/>
              <a:t>2-İştirak</a:t>
            </a:r>
          </a:p>
          <a:p>
            <a:r>
              <a:rPr lang="tr-TR" sz="1300" b="1" dirty="0" smtClean="0"/>
              <a:t>3-</a:t>
            </a:r>
            <a:r>
              <a:rPr lang="tr-TR" sz="1300" dirty="0" smtClean="0"/>
              <a:t>İçtima</a:t>
            </a:r>
            <a:endParaRPr lang="fr-FR" sz="1300" dirty="0"/>
          </a:p>
        </p:txBody>
      </p:sp>
      <p:sp>
        <p:nvSpPr>
          <p:cNvPr id="3" name="Slayt Numarası Yer Tutucusu 2"/>
          <p:cNvSpPr>
            <a:spLocks noGrp="1"/>
          </p:cNvSpPr>
          <p:nvPr>
            <p:ph type="sldNum" sz="quarter" idx="12"/>
          </p:nvPr>
        </p:nvSpPr>
        <p:spPr/>
        <p:txBody>
          <a:bodyPr/>
          <a:lstStyle/>
          <a:p>
            <a:fld id="{39F9BA00-44CD-41D4-A3D8-F864C744DC1F}" type="slidenum">
              <a:rPr lang="tr-TR" smtClean="0"/>
              <a:t>91</a:t>
            </a:fld>
            <a:r>
              <a:rPr lang="tr-TR"/>
              <a:t>/116</a:t>
            </a:r>
          </a:p>
        </p:txBody>
      </p:sp>
    </p:spTree>
    <p:extLst>
      <p:ext uri="{BB962C8B-B14F-4D97-AF65-F5344CB8AC3E}">
        <p14:creationId xmlns:p14="http://schemas.microsoft.com/office/powerpoint/2010/main" val="9960047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5" name="Dikdörtgen 14"/>
          <p:cNvSpPr/>
          <p:nvPr/>
        </p:nvSpPr>
        <p:spPr>
          <a:xfrm>
            <a:off x="1874779" y="1842319"/>
            <a:ext cx="4578573"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İştirak</a:t>
            </a:r>
          </a:p>
        </p:txBody>
      </p:sp>
      <p:sp>
        <p:nvSpPr>
          <p:cNvPr id="2" name="Metin kutusu 1"/>
          <p:cNvSpPr txBox="1"/>
          <p:nvPr/>
        </p:nvSpPr>
        <p:spPr>
          <a:xfrm>
            <a:off x="1981199" y="2242429"/>
            <a:ext cx="5095875" cy="338554"/>
          </a:xfrm>
          <a:prstGeom prst="rect">
            <a:avLst/>
          </a:prstGeom>
          <a:noFill/>
        </p:spPr>
        <p:txBody>
          <a:bodyPr wrap="square" rtlCol="0">
            <a:spAutoFit/>
          </a:bodyPr>
          <a:lstStyle/>
          <a:p>
            <a:r>
              <a:rPr lang="tr-TR" sz="1600" b="1" dirty="0" smtClean="0">
                <a:effectLst>
                  <a:outerShdw blurRad="38100" dist="38100" dir="2700000" algn="tl">
                    <a:srgbClr val="000000">
                      <a:alpha val="43137"/>
                    </a:srgbClr>
                  </a:outerShdw>
                </a:effectLst>
              </a:rPr>
              <a:t>İştirak Halinde İşlenen Suçlarda Gönüllü Vazgeçme</a:t>
            </a:r>
            <a:endParaRPr lang="fr-FR" sz="1600" b="1" dirty="0">
              <a:effectLst>
                <a:outerShdw blurRad="38100" dist="38100" dir="2700000" algn="tl">
                  <a:srgbClr val="000000">
                    <a:alpha val="43137"/>
                  </a:srgbClr>
                </a:outerShdw>
              </a:effectLst>
            </a:endParaRPr>
          </a:p>
        </p:txBody>
      </p:sp>
      <p:sp>
        <p:nvSpPr>
          <p:cNvPr id="3" name="Dikdörtgen 2"/>
          <p:cNvSpPr/>
          <p:nvPr/>
        </p:nvSpPr>
        <p:spPr>
          <a:xfrm>
            <a:off x="2219325" y="2580983"/>
            <a:ext cx="9077325" cy="830997"/>
          </a:xfrm>
          <a:prstGeom prst="rect">
            <a:avLst/>
          </a:prstGeom>
        </p:spPr>
        <p:txBody>
          <a:bodyPr wrap="square">
            <a:spAutoFit/>
          </a:bodyPr>
          <a:lstStyle/>
          <a:p>
            <a:pPr algn="just"/>
            <a:r>
              <a:rPr lang="tr-TR" sz="1200" b="1" dirty="0"/>
              <a:t>Türk Ceza Kanunu</a:t>
            </a:r>
            <a:endParaRPr lang="fr-FR" sz="1200" dirty="0"/>
          </a:p>
          <a:p>
            <a:pPr algn="just"/>
            <a:r>
              <a:rPr lang="fr-FR" sz="1200" b="1" dirty="0" err="1" smtClean="0"/>
              <a:t>Gönüllü</a:t>
            </a:r>
            <a:r>
              <a:rPr lang="fr-FR" sz="1200" b="1" dirty="0" smtClean="0"/>
              <a:t> </a:t>
            </a:r>
            <a:r>
              <a:rPr lang="fr-FR" sz="1200" b="1" dirty="0" err="1"/>
              <a:t>vazgeçme</a:t>
            </a:r>
            <a:endParaRPr lang="fr-FR" sz="1200" b="1" dirty="0"/>
          </a:p>
          <a:p>
            <a:pPr algn="just"/>
            <a:r>
              <a:rPr lang="fr-FR" sz="1200" b="1" dirty="0" err="1"/>
              <a:t>Madde</a:t>
            </a:r>
            <a:r>
              <a:rPr lang="fr-FR" sz="1200" b="1" dirty="0"/>
              <a:t> 36- </a:t>
            </a:r>
            <a:r>
              <a:rPr lang="fr-FR" sz="1200" dirty="0"/>
              <a:t>(1) Fail, </a:t>
            </a:r>
            <a:r>
              <a:rPr lang="fr-FR" sz="1200" dirty="0" err="1"/>
              <a:t>suçun</a:t>
            </a:r>
            <a:r>
              <a:rPr lang="fr-FR" sz="1200" dirty="0"/>
              <a:t> </a:t>
            </a:r>
            <a:r>
              <a:rPr lang="fr-FR" sz="1200" dirty="0" err="1"/>
              <a:t>icra</a:t>
            </a:r>
            <a:r>
              <a:rPr lang="fr-FR" sz="1200" dirty="0"/>
              <a:t> </a:t>
            </a:r>
            <a:r>
              <a:rPr lang="fr-FR" sz="1200" dirty="0" err="1"/>
              <a:t>hareketlerinden</a:t>
            </a:r>
            <a:r>
              <a:rPr lang="fr-FR" sz="1200" dirty="0"/>
              <a:t> </a:t>
            </a:r>
            <a:r>
              <a:rPr lang="fr-FR" sz="1200" dirty="0" err="1"/>
              <a:t>gönüllü</a:t>
            </a:r>
            <a:r>
              <a:rPr lang="fr-FR" sz="1200" dirty="0"/>
              <a:t> </a:t>
            </a:r>
            <a:r>
              <a:rPr lang="fr-FR" sz="1200" dirty="0" err="1"/>
              <a:t>vazgeçer</a:t>
            </a:r>
            <a:r>
              <a:rPr lang="fr-FR" sz="1200" dirty="0"/>
              <a:t> </a:t>
            </a:r>
            <a:r>
              <a:rPr lang="fr-FR" sz="1200" dirty="0" err="1"/>
              <a:t>veya</a:t>
            </a:r>
            <a:r>
              <a:rPr lang="fr-FR" sz="1200" dirty="0"/>
              <a:t> </a:t>
            </a:r>
            <a:r>
              <a:rPr lang="fr-FR" sz="1200" dirty="0" err="1"/>
              <a:t>kendi</a:t>
            </a:r>
            <a:r>
              <a:rPr lang="fr-FR" sz="1200" dirty="0"/>
              <a:t> </a:t>
            </a:r>
            <a:r>
              <a:rPr lang="fr-FR" sz="1200" dirty="0" err="1"/>
              <a:t>çabalarıyla</a:t>
            </a:r>
            <a:r>
              <a:rPr lang="fr-FR" sz="1200" dirty="0"/>
              <a:t> </a:t>
            </a:r>
            <a:r>
              <a:rPr lang="fr-FR" sz="1200" dirty="0" err="1"/>
              <a:t>suçun</a:t>
            </a:r>
            <a:r>
              <a:rPr lang="fr-FR" sz="1200" dirty="0"/>
              <a:t> </a:t>
            </a:r>
            <a:r>
              <a:rPr lang="fr-FR" sz="1200" dirty="0" err="1"/>
              <a:t>tamamlanmasını</a:t>
            </a:r>
            <a:r>
              <a:rPr lang="fr-FR" sz="1200" dirty="0"/>
              <a:t> </a:t>
            </a:r>
            <a:r>
              <a:rPr lang="fr-FR" sz="1200" dirty="0" err="1"/>
              <a:t>veya</a:t>
            </a:r>
            <a:r>
              <a:rPr lang="fr-FR" sz="1200" dirty="0"/>
              <a:t> </a:t>
            </a:r>
            <a:r>
              <a:rPr lang="fr-FR" sz="1200" dirty="0" err="1"/>
              <a:t>neticenin</a:t>
            </a:r>
            <a:r>
              <a:rPr lang="fr-FR" sz="1200" dirty="0"/>
              <a:t> </a:t>
            </a:r>
            <a:r>
              <a:rPr lang="fr-FR" sz="1200" dirty="0" err="1"/>
              <a:t>gerçekleşmesini</a:t>
            </a:r>
            <a:r>
              <a:rPr lang="fr-FR" sz="1200" dirty="0"/>
              <a:t> </a:t>
            </a:r>
            <a:r>
              <a:rPr lang="fr-FR" sz="1200" dirty="0" err="1"/>
              <a:t>önlerse</a:t>
            </a:r>
            <a:r>
              <a:rPr lang="fr-FR" sz="1200" dirty="0"/>
              <a:t>, </a:t>
            </a:r>
            <a:r>
              <a:rPr lang="fr-FR" sz="1200" dirty="0" err="1"/>
              <a:t>teşebbüsten</a:t>
            </a:r>
            <a:r>
              <a:rPr lang="fr-FR" sz="1200" dirty="0"/>
              <a:t> </a:t>
            </a:r>
            <a:r>
              <a:rPr lang="fr-FR" sz="1200" dirty="0" err="1"/>
              <a:t>dolayı</a:t>
            </a:r>
            <a:r>
              <a:rPr lang="fr-FR" sz="1200" dirty="0"/>
              <a:t> </a:t>
            </a:r>
            <a:r>
              <a:rPr lang="fr-FR" sz="1200" dirty="0" err="1"/>
              <a:t>cezalandırılmaz</a:t>
            </a:r>
            <a:r>
              <a:rPr lang="fr-FR" sz="1200" dirty="0"/>
              <a:t>; </a:t>
            </a:r>
            <a:r>
              <a:rPr lang="fr-FR" sz="1200" dirty="0" err="1"/>
              <a:t>fakat</a:t>
            </a:r>
            <a:r>
              <a:rPr lang="fr-FR" sz="1200" dirty="0"/>
              <a:t> </a:t>
            </a:r>
            <a:r>
              <a:rPr lang="fr-FR" sz="1200" dirty="0" err="1"/>
              <a:t>tamam</a:t>
            </a:r>
            <a:r>
              <a:rPr lang="fr-FR" sz="1200" dirty="0"/>
              <a:t> </a:t>
            </a:r>
            <a:r>
              <a:rPr lang="fr-FR" sz="1200" dirty="0" err="1"/>
              <a:t>olan</a:t>
            </a:r>
            <a:r>
              <a:rPr lang="fr-FR" sz="1200" dirty="0"/>
              <a:t> </a:t>
            </a:r>
            <a:r>
              <a:rPr lang="fr-FR" sz="1200" dirty="0" err="1"/>
              <a:t>kısım</a:t>
            </a:r>
            <a:r>
              <a:rPr lang="fr-FR" sz="1200" dirty="0"/>
              <a:t> </a:t>
            </a:r>
            <a:r>
              <a:rPr lang="fr-FR" sz="1200" dirty="0" err="1"/>
              <a:t>esasen</a:t>
            </a:r>
            <a:r>
              <a:rPr lang="fr-FR" sz="1200" dirty="0"/>
              <a:t> </a:t>
            </a:r>
            <a:r>
              <a:rPr lang="fr-FR" sz="1200" dirty="0" err="1"/>
              <a:t>bir</a:t>
            </a:r>
            <a:r>
              <a:rPr lang="fr-FR" sz="1200" dirty="0"/>
              <a:t> </a:t>
            </a:r>
            <a:r>
              <a:rPr lang="fr-FR" sz="1200" dirty="0" err="1"/>
              <a:t>suç</a:t>
            </a:r>
            <a:r>
              <a:rPr lang="fr-FR" sz="1200" dirty="0"/>
              <a:t> </a:t>
            </a:r>
            <a:r>
              <a:rPr lang="fr-FR" sz="1200" dirty="0" err="1"/>
              <a:t>oluşturduğu</a:t>
            </a:r>
            <a:r>
              <a:rPr lang="fr-FR" sz="1200" dirty="0"/>
              <a:t> </a:t>
            </a:r>
            <a:r>
              <a:rPr lang="fr-FR" sz="1200" dirty="0" err="1"/>
              <a:t>takdirde</a:t>
            </a:r>
            <a:r>
              <a:rPr lang="fr-FR" sz="1200" dirty="0"/>
              <a:t>, </a:t>
            </a:r>
            <a:r>
              <a:rPr lang="fr-FR" sz="1200" dirty="0" err="1"/>
              <a:t>sadece</a:t>
            </a:r>
            <a:r>
              <a:rPr lang="fr-FR" sz="1200" dirty="0"/>
              <a:t> o suça ait </a:t>
            </a:r>
            <a:r>
              <a:rPr lang="fr-FR" sz="1200" dirty="0" err="1"/>
              <a:t>ceza</a:t>
            </a:r>
            <a:r>
              <a:rPr lang="fr-FR" sz="1200" dirty="0"/>
              <a:t> ile </a:t>
            </a:r>
            <a:r>
              <a:rPr lang="fr-FR" sz="1200" dirty="0" err="1"/>
              <a:t>cezalandırılır</a:t>
            </a:r>
            <a:r>
              <a:rPr lang="fr-FR" sz="1200" dirty="0"/>
              <a:t>.</a:t>
            </a:r>
          </a:p>
        </p:txBody>
      </p:sp>
      <p:sp>
        <p:nvSpPr>
          <p:cNvPr id="4" name="Dikdörtgen 3"/>
          <p:cNvSpPr/>
          <p:nvPr/>
        </p:nvSpPr>
        <p:spPr>
          <a:xfrm>
            <a:off x="2219324" y="3407481"/>
            <a:ext cx="9077325" cy="1384995"/>
          </a:xfrm>
          <a:prstGeom prst="rect">
            <a:avLst/>
          </a:prstGeom>
        </p:spPr>
        <p:txBody>
          <a:bodyPr wrap="square">
            <a:spAutoFit/>
          </a:bodyPr>
          <a:lstStyle/>
          <a:p>
            <a:pPr algn="just"/>
            <a:r>
              <a:rPr lang="tr-TR" sz="1200" b="1" dirty="0" smtClean="0"/>
              <a:t>Türk Ceza Kanunu</a:t>
            </a:r>
          </a:p>
          <a:p>
            <a:pPr algn="just"/>
            <a:r>
              <a:rPr lang="fr-FR" sz="1200" b="1" dirty="0" err="1" smtClean="0"/>
              <a:t>İştirak</a:t>
            </a:r>
            <a:r>
              <a:rPr lang="fr-FR" sz="1200" b="1" dirty="0" smtClean="0"/>
              <a:t> </a:t>
            </a:r>
            <a:r>
              <a:rPr lang="fr-FR" sz="1200" b="1" dirty="0" err="1"/>
              <a:t>hâlinde</a:t>
            </a:r>
            <a:r>
              <a:rPr lang="fr-FR" sz="1200" b="1" dirty="0"/>
              <a:t> </a:t>
            </a:r>
            <a:r>
              <a:rPr lang="fr-FR" sz="1200" b="1" dirty="0" err="1"/>
              <a:t>işlenen</a:t>
            </a:r>
            <a:r>
              <a:rPr lang="fr-FR" sz="1200" b="1" dirty="0"/>
              <a:t> </a:t>
            </a:r>
            <a:r>
              <a:rPr lang="fr-FR" sz="1200" b="1" dirty="0" err="1"/>
              <a:t>suçlarda</a:t>
            </a:r>
            <a:r>
              <a:rPr lang="fr-FR" sz="1200" b="1" dirty="0"/>
              <a:t> </a:t>
            </a:r>
            <a:r>
              <a:rPr lang="fr-FR" sz="1200" b="1" dirty="0" err="1"/>
              <a:t>gönüllü</a:t>
            </a:r>
            <a:r>
              <a:rPr lang="fr-FR" sz="1200" b="1" dirty="0"/>
              <a:t> </a:t>
            </a:r>
            <a:r>
              <a:rPr lang="fr-FR" sz="1200" b="1" dirty="0" err="1"/>
              <a:t>vazgeçme</a:t>
            </a:r>
            <a:endParaRPr lang="fr-FR" sz="1200" b="1" dirty="0"/>
          </a:p>
          <a:p>
            <a:pPr algn="just"/>
            <a:r>
              <a:rPr lang="fr-FR" sz="1200" b="1" dirty="0" err="1"/>
              <a:t>Madde</a:t>
            </a:r>
            <a:r>
              <a:rPr lang="fr-FR" sz="1200" b="1" dirty="0"/>
              <a:t> 41- </a:t>
            </a:r>
            <a:r>
              <a:rPr lang="fr-FR" sz="1200" dirty="0"/>
              <a:t>(1) </a:t>
            </a:r>
            <a:r>
              <a:rPr lang="fr-FR" sz="1200" dirty="0" err="1"/>
              <a:t>İştirak</a:t>
            </a:r>
            <a:r>
              <a:rPr lang="fr-FR" sz="1200" dirty="0"/>
              <a:t> </a:t>
            </a:r>
            <a:r>
              <a:rPr lang="fr-FR" sz="1200" dirty="0" err="1"/>
              <a:t>halinde</a:t>
            </a:r>
            <a:r>
              <a:rPr lang="fr-FR" sz="1200" dirty="0"/>
              <a:t> </a:t>
            </a:r>
            <a:r>
              <a:rPr lang="fr-FR" sz="1200" dirty="0" err="1"/>
              <a:t>işlenen</a:t>
            </a:r>
            <a:r>
              <a:rPr lang="fr-FR" sz="1200" dirty="0"/>
              <a:t> </a:t>
            </a:r>
            <a:r>
              <a:rPr lang="fr-FR" sz="1200" dirty="0" err="1"/>
              <a:t>suçlarda</a:t>
            </a:r>
            <a:r>
              <a:rPr lang="fr-FR" sz="1200" dirty="0"/>
              <a:t>, </a:t>
            </a:r>
            <a:r>
              <a:rPr lang="fr-FR" sz="1200" u="sng" dirty="0" err="1"/>
              <a:t>sadece</a:t>
            </a:r>
            <a:r>
              <a:rPr lang="fr-FR" sz="1200" u="sng" dirty="0"/>
              <a:t> </a:t>
            </a:r>
            <a:r>
              <a:rPr lang="fr-FR" sz="1200" u="sng" dirty="0" err="1"/>
              <a:t>gönüllü</a:t>
            </a:r>
            <a:r>
              <a:rPr lang="fr-FR" sz="1200" u="sng" dirty="0"/>
              <a:t> </a:t>
            </a:r>
            <a:r>
              <a:rPr lang="fr-FR" sz="1200" u="sng" dirty="0" err="1"/>
              <a:t>vazgeçen</a:t>
            </a:r>
            <a:r>
              <a:rPr lang="fr-FR" sz="1200" u="sng" dirty="0"/>
              <a:t> </a:t>
            </a:r>
            <a:r>
              <a:rPr lang="fr-FR" sz="1200" u="sng" dirty="0" err="1"/>
              <a:t>suç</a:t>
            </a:r>
            <a:r>
              <a:rPr lang="fr-FR" sz="1200" u="sng" dirty="0"/>
              <a:t> </a:t>
            </a:r>
            <a:r>
              <a:rPr lang="fr-FR" sz="1200" u="sng" dirty="0" err="1"/>
              <a:t>ortağı</a:t>
            </a:r>
            <a:r>
              <a:rPr lang="fr-FR" sz="1200" dirty="0"/>
              <a:t>, </a:t>
            </a:r>
            <a:r>
              <a:rPr lang="fr-FR" sz="1200" dirty="0" err="1"/>
              <a:t>gönüllü</a:t>
            </a:r>
            <a:r>
              <a:rPr lang="fr-FR" sz="1200" dirty="0"/>
              <a:t> </a:t>
            </a:r>
            <a:r>
              <a:rPr lang="fr-FR" sz="1200" dirty="0" err="1"/>
              <a:t>vazgeçme</a:t>
            </a:r>
            <a:r>
              <a:rPr lang="fr-FR" sz="1200" dirty="0"/>
              <a:t> </a:t>
            </a:r>
            <a:r>
              <a:rPr lang="fr-FR" sz="1200" dirty="0" err="1"/>
              <a:t>hükümlerinden</a:t>
            </a:r>
            <a:r>
              <a:rPr lang="fr-FR" sz="1200" dirty="0"/>
              <a:t> </a:t>
            </a:r>
            <a:r>
              <a:rPr lang="fr-FR" sz="1200" dirty="0" err="1"/>
              <a:t>yararlanır</a:t>
            </a:r>
            <a:r>
              <a:rPr lang="fr-FR" sz="1200" dirty="0"/>
              <a:t>.</a:t>
            </a:r>
          </a:p>
          <a:p>
            <a:pPr algn="just"/>
            <a:r>
              <a:rPr lang="fr-FR" sz="1200" dirty="0"/>
              <a:t>(2) </a:t>
            </a:r>
            <a:r>
              <a:rPr lang="fr-FR" sz="1200" dirty="0" err="1"/>
              <a:t>Suçun</a:t>
            </a:r>
            <a:r>
              <a:rPr lang="fr-FR" sz="1200" dirty="0"/>
              <a:t>;</a:t>
            </a:r>
          </a:p>
          <a:p>
            <a:pPr algn="just"/>
            <a:r>
              <a:rPr lang="fr-FR" sz="1200" dirty="0"/>
              <a:t>a) </a:t>
            </a:r>
            <a:r>
              <a:rPr lang="fr-FR" sz="1200" dirty="0" err="1"/>
              <a:t>Gönüllü</a:t>
            </a:r>
            <a:r>
              <a:rPr lang="fr-FR" sz="1200" dirty="0"/>
              <a:t> </a:t>
            </a:r>
            <a:r>
              <a:rPr lang="fr-FR" sz="1200" dirty="0" err="1"/>
              <a:t>vazgeçenin</a:t>
            </a:r>
            <a:r>
              <a:rPr lang="fr-FR" sz="1200" dirty="0"/>
              <a:t> </a:t>
            </a:r>
            <a:r>
              <a:rPr lang="fr-FR" sz="1200" dirty="0" err="1"/>
              <a:t>gösterdiği</a:t>
            </a:r>
            <a:r>
              <a:rPr lang="fr-FR" sz="1200" dirty="0"/>
              <a:t> </a:t>
            </a:r>
            <a:r>
              <a:rPr lang="fr-FR" sz="1200" dirty="0" err="1"/>
              <a:t>gayreti</a:t>
            </a:r>
            <a:r>
              <a:rPr lang="fr-FR" sz="1200" dirty="0"/>
              <a:t> </a:t>
            </a:r>
            <a:r>
              <a:rPr lang="fr-FR" sz="1200" dirty="0" err="1"/>
              <a:t>dışında</a:t>
            </a:r>
            <a:r>
              <a:rPr lang="fr-FR" sz="1200" dirty="0"/>
              <a:t> </a:t>
            </a:r>
            <a:r>
              <a:rPr lang="fr-FR" sz="1200" dirty="0" err="1"/>
              <a:t>başka</a:t>
            </a:r>
            <a:r>
              <a:rPr lang="fr-FR" sz="1200" dirty="0"/>
              <a:t> </a:t>
            </a:r>
            <a:r>
              <a:rPr lang="fr-FR" sz="1200" dirty="0" err="1"/>
              <a:t>bir</a:t>
            </a:r>
            <a:r>
              <a:rPr lang="fr-FR" sz="1200" dirty="0"/>
              <a:t> </a:t>
            </a:r>
            <a:r>
              <a:rPr lang="fr-FR" sz="1200" dirty="0" err="1"/>
              <a:t>sebeple</a:t>
            </a:r>
            <a:r>
              <a:rPr lang="fr-FR" sz="1200" dirty="0"/>
              <a:t> </a:t>
            </a:r>
            <a:r>
              <a:rPr lang="fr-FR" sz="1200" dirty="0" err="1"/>
              <a:t>işlenmemiş</a:t>
            </a:r>
            <a:r>
              <a:rPr lang="fr-FR" sz="1200" dirty="0"/>
              <a:t> </a:t>
            </a:r>
            <a:r>
              <a:rPr lang="fr-FR" sz="1200" dirty="0" err="1"/>
              <a:t>olması</a:t>
            </a:r>
            <a:r>
              <a:rPr lang="fr-FR" sz="1200" dirty="0"/>
              <a:t>,</a:t>
            </a:r>
          </a:p>
          <a:p>
            <a:pPr algn="just"/>
            <a:r>
              <a:rPr lang="fr-FR" sz="1200" dirty="0"/>
              <a:t>b) </a:t>
            </a:r>
            <a:r>
              <a:rPr lang="fr-FR" sz="1200" dirty="0" err="1"/>
              <a:t>Gönüllü</a:t>
            </a:r>
            <a:r>
              <a:rPr lang="fr-FR" sz="1200" dirty="0"/>
              <a:t> </a:t>
            </a:r>
            <a:r>
              <a:rPr lang="fr-FR" sz="1200" dirty="0" err="1"/>
              <a:t>vazgeçenin</a:t>
            </a:r>
            <a:r>
              <a:rPr lang="fr-FR" sz="1200" dirty="0"/>
              <a:t> </a:t>
            </a:r>
            <a:r>
              <a:rPr lang="fr-FR" sz="1200" dirty="0" err="1"/>
              <a:t>bütün</a:t>
            </a:r>
            <a:r>
              <a:rPr lang="fr-FR" sz="1200" dirty="0"/>
              <a:t> </a:t>
            </a:r>
            <a:r>
              <a:rPr lang="fr-FR" sz="1200" dirty="0" err="1"/>
              <a:t>gayretine</a:t>
            </a:r>
            <a:r>
              <a:rPr lang="fr-FR" sz="1200" dirty="0"/>
              <a:t> </a:t>
            </a:r>
            <a:r>
              <a:rPr lang="fr-FR" sz="1200" dirty="0" err="1"/>
              <a:t>rağmen</a:t>
            </a:r>
            <a:r>
              <a:rPr lang="fr-FR" sz="1200" dirty="0"/>
              <a:t> </a:t>
            </a:r>
            <a:r>
              <a:rPr lang="fr-FR" sz="1200" dirty="0" err="1"/>
              <a:t>işlenmiş</a:t>
            </a:r>
            <a:r>
              <a:rPr lang="fr-FR" sz="1200" dirty="0"/>
              <a:t> </a:t>
            </a:r>
            <a:r>
              <a:rPr lang="fr-FR" sz="1200" dirty="0" err="1"/>
              <a:t>olması</a:t>
            </a:r>
            <a:r>
              <a:rPr lang="fr-FR" sz="1200" dirty="0"/>
              <a:t>,</a:t>
            </a:r>
          </a:p>
          <a:p>
            <a:pPr algn="just"/>
            <a:r>
              <a:rPr lang="fr-FR" sz="1200" dirty="0" err="1"/>
              <a:t>Hallerinde</a:t>
            </a:r>
            <a:r>
              <a:rPr lang="fr-FR" sz="1200" dirty="0"/>
              <a:t> de </a:t>
            </a:r>
            <a:r>
              <a:rPr lang="fr-FR" sz="1200" dirty="0" err="1"/>
              <a:t>gönüllü</a:t>
            </a:r>
            <a:r>
              <a:rPr lang="fr-FR" sz="1200" dirty="0"/>
              <a:t> </a:t>
            </a:r>
            <a:r>
              <a:rPr lang="fr-FR" sz="1200" dirty="0" err="1"/>
              <a:t>vazgeçme</a:t>
            </a:r>
            <a:r>
              <a:rPr lang="fr-FR" sz="1200" dirty="0"/>
              <a:t> </a:t>
            </a:r>
            <a:r>
              <a:rPr lang="fr-FR" sz="1200" dirty="0" err="1"/>
              <a:t>hükümleri</a:t>
            </a:r>
            <a:r>
              <a:rPr lang="fr-FR" sz="1200" dirty="0"/>
              <a:t> </a:t>
            </a:r>
            <a:r>
              <a:rPr lang="fr-FR" sz="1200" dirty="0" err="1"/>
              <a:t>uygulanır</a:t>
            </a:r>
            <a:r>
              <a:rPr lang="fr-FR" sz="1200" dirty="0"/>
              <a:t>.</a:t>
            </a:r>
          </a:p>
        </p:txBody>
      </p:sp>
      <p:sp>
        <p:nvSpPr>
          <p:cNvPr id="8" name="Dikdörtgen 7"/>
          <p:cNvSpPr/>
          <p:nvPr/>
        </p:nvSpPr>
        <p:spPr>
          <a:xfrm>
            <a:off x="1981199" y="4926476"/>
            <a:ext cx="9315450" cy="523220"/>
          </a:xfrm>
          <a:prstGeom prst="rect">
            <a:avLst/>
          </a:prstGeom>
        </p:spPr>
        <p:txBody>
          <a:bodyPr wrap="square">
            <a:spAutoFit/>
          </a:bodyPr>
          <a:lstStyle/>
          <a:p>
            <a:pPr algn="just"/>
            <a:r>
              <a:rPr lang="tr-TR" sz="1400" b="1" i="1" dirty="0" smtClean="0"/>
              <a:t>Failin gönüllü vazgeçme anına kadar gerçekleştirilen fiillerin bağımsız bir suç oluşturması durumunda, fail bu suçtan sorumlu tutulacaktır</a:t>
            </a:r>
            <a:endParaRPr lang="fr-FR" sz="1400" b="1" i="1" dirty="0"/>
          </a:p>
        </p:txBody>
      </p:sp>
      <p:sp>
        <p:nvSpPr>
          <p:cNvPr id="9" name="Metin kutusu 8"/>
          <p:cNvSpPr txBox="1"/>
          <p:nvPr/>
        </p:nvSpPr>
        <p:spPr>
          <a:xfrm>
            <a:off x="105104" y="5703214"/>
            <a:ext cx="2228194" cy="892552"/>
          </a:xfrm>
          <a:prstGeom prst="rect">
            <a:avLst/>
          </a:prstGeom>
          <a:noFill/>
        </p:spPr>
        <p:txBody>
          <a:bodyPr wrap="square" rtlCol="0">
            <a:spAutoFit/>
          </a:bodyPr>
          <a:lstStyle/>
          <a:p>
            <a:r>
              <a:rPr lang="tr-TR" sz="1300" dirty="0" smtClean="0">
                <a:effectLst>
                  <a:outerShdw blurRad="38100" dist="38100" dir="2700000" algn="tl">
                    <a:srgbClr val="000000">
                      <a:alpha val="43137"/>
                    </a:srgbClr>
                  </a:outerShdw>
                </a:effectLst>
              </a:rPr>
              <a:t>Suçun Özel Görünüş Biçimleri</a:t>
            </a:r>
          </a:p>
          <a:p>
            <a:r>
              <a:rPr lang="tr-TR" sz="1300" b="1" dirty="0" smtClean="0"/>
              <a:t>1-</a:t>
            </a:r>
            <a:r>
              <a:rPr lang="tr-TR" sz="1300" dirty="0" smtClean="0"/>
              <a:t>Teşebbüs</a:t>
            </a:r>
          </a:p>
          <a:p>
            <a:r>
              <a:rPr lang="tr-TR" sz="1300" b="1" u="sng" dirty="0" smtClean="0"/>
              <a:t>2-İştirak</a:t>
            </a:r>
          </a:p>
          <a:p>
            <a:r>
              <a:rPr lang="tr-TR" sz="1300" b="1" dirty="0" smtClean="0"/>
              <a:t>3-</a:t>
            </a:r>
            <a:r>
              <a:rPr lang="tr-TR" sz="1300" dirty="0" smtClean="0"/>
              <a:t>İçtima</a:t>
            </a:r>
            <a:endParaRPr lang="fr-FR" sz="1300" dirty="0"/>
          </a:p>
        </p:txBody>
      </p:sp>
      <p:sp>
        <p:nvSpPr>
          <p:cNvPr id="6" name="Slayt Numarası Yer Tutucusu 5"/>
          <p:cNvSpPr>
            <a:spLocks noGrp="1"/>
          </p:cNvSpPr>
          <p:nvPr>
            <p:ph type="sldNum" sz="quarter" idx="12"/>
          </p:nvPr>
        </p:nvSpPr>
        <p:spPr/>
        <p:txBody>
          <a:bodyPr/>
          <a:lstStyle/>
          <a:p>
            <a:fld id="{39F9BA00-44CD-41D4-A3D8-F864C744DC1F}" type="slidenum">
              <a:rPr lang="tr-TR" smtClean="0"/>
              <a:t>92</a:t>
            </a:fld>
            <a:r>
              <a:rPr lang="tr-TR"/>
              <a:t>/116</a:t>
            </a:r>
          </a:p>
        </p:txBody>
      </p:sp>
    </p:spTree>
    <p:extLst>
      <p:ext uri="{BB962C8B-B14F-4D97-AF65-F5344CB8AC3E}">
        <p14:creationId xmlns:p14="http://schemas.microsoft.com/office/powerpoint/2010/main" val="415541186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5" name="Dikdörtgen 14"/>
          <p:cNvSpPr/>
          <p:nvPr/>
        </p:nvSpPr>
        <p:spPr>
          <a:xfrm>
            <a:off x="1874779" y="1842319"/>
            <a:ext cx="9412346"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İçtima </a:t>
            </a:r>
            <a:r>
              <a:rPr lang="tr-TR" sz="1200" i="1" dirty="0" smtClean="0">
                <a:effectLst>
                  <a:outerShdw blurRad="38100" dist="38100" dir="2700000" algn="tl">
                    <a:srgbClr val="000000">
                      <a:alpha val="43137"/>
                    </a:srgbClr>
                  </a:outerShdw>
                </a:effectLst>
                <a:latin typeface="Calibri" panose="020F0502020204030204"/>
              </a:rPr>
              <a:t>Birden çok suçun tek failde toplanması</a:t>
            </a:r>
            <a:endParaRPr lang="tr-TR" sz="2000" i="1" dirty="0" smtClean="0">
              <a:effectLst>
                <a:outerShdw blurRad="38100" dist="38100" dir="2700000" algn="tl">
                  <a:srgbClr val="000000">
                    <a:alpha val="43137"/>
                  </a:srgbClr>
                </a:outerShdw>
              </a:effectLst>
              <a:latin typeface="Calibri" panose="020F0502020204030204"/>
            </a:endParaRPr>
          </a:p>
        </p:txBody>
      </p:sp>
      <p:sp>
        <p:nvSpPr>
          <p:cNvPr id="8" name="Dikdörtgen 7"/>
          <p:cNvSpPr/>
          <p:nvPr/>
        </p:nvSpPr>
        <p:spPr>
          <a:xfrm>
            <a:off x="2342823" y="2220878"/>
            <a:ext cx="9315450" cy="738664"/>
          </a:xfrm>
          <a:prstGeom prst="rect">
            <a:avLst/>
          </a:prstGeom>
        </p:spPr>
        <p:txBody>
          <a:bodyPr wrap="square">
            <a:spAutoFit/>
          </a:bodyPr>
          <a:lstStyle/>
          <a:p>
            <a:pPr algn="just"/>
            <a:r>
              <a:rPr lang="tr-TR" sz="1400" b="1" dirty="0" smtClean="0">
                <a:effectLst>
                  <a:outerShdw blurRad="38100" dist="38100" dir="2700000" algn="tl">
                    <a:srgbClr val="000000">
                      <a:alpha val="43137"/>
                    </a:srgbClr>
                  </a:outerShdw>
                </a:effectLst>
              </a:rPr>
              <a:t>Gerçek içtima</a:t>
            </a:r>
            <a:r>
              <a:rPr lang="tr-TR" sz="1400" b="1" dirty="0" smtClean="0"/>
              <a:t> = </a:t>
            </a:r>
            <a:r>
              <a:rPr lang="tr-TR" sz="1400" i="1" dirty="0" smtClean="0">
                <a:effectLst>
                  <a:outerShdw blurRad="38100" dist="38100" dir="2700000" algn="tl">
                    <a:srgbClr val="000000">
                      <a:alpha val="43137"/>
                    </a:srgbClr>
                  </a:outerShdw>
                </a:effectLst>
              </a:rPr>
              <a:t>Kaç fiil varsa o kadar suç, kaç suç varsa o kadar ceza vardır</a:t>
            </a:r>
            <a:r>
              <a:rPr lang="tr-TR" sz="1400" dirty="0" smtClean="0"/>
              <a:t>.</a:t>
            </a:r>
          </a:p>
          <a:p>
            <a:pPr marL="1162050" algn="just"/>
            <a:r>
              <a:rPr lang="tr-TR" sz="1400" dirty="0" smtClean="0"/>
              <a:t>Ceza Hukukunda kural, birden fazla suç işlendiğinde her bir suçun diğerlerinden bağımsız olarak cezalandırılmasıdır</a:t>
            </a:r>
            <a:endParaRPr lang="fr-FR" sz="1400" dirty="0"/>
          </a:p>
        </p:txBody>
      </p:sp>
      <p:sp>
        <p:nvSpPr>
          <p:cNvPr id="9" name="Dikdörtgen 8"/>
          <p:cNvSpPr/>
          <p:nvPr/>
        </p:nvSpPr>
        <p:spPr>
          <a:xfrm>
            <a:off x="2352348" y="3007584"/>
            <a:ext cx="9315450" cy="307777"/>
          </a:xfrm>
          <a:prstGeom prst="rect">
            <a:avLst/>
          </a:prstGeom>
        </p:spPr>
        <p:txBody>
          <a:bodyPr wrap="square">
            <a:spAutoFit/>
          </a:bodyPr>
          <a:lstStyle/>
          <a:p>
            <a:pPr algn="just"/>
            <a:r>
              <a:rPr lang="tr-TR" sz="1400" b="1" dirty="0" smtClean="0">
                <a:effectLst>
                  <a:outerShdw blurRad="38100" dist="38100" dir="2700000" algn="tl">
                    <a:srgbClr val="000000">
                      <a:alpha val="43137"/>
                    </a:srgbClr>
                  </a:outerShdw>
                </a:effectLst>
              </a:rPr>
              <a:t>Suçların </a:t>
            </a:r>
            <a:r>
              <a:rPr lang="tr-TR" sz="1400" b="1" dirty="0" err="1" smtClean="0">
                <a:effectLst>
                  <a:outerShdw blurRad="38100" dist="38100" dir="2700000" algn="tl">
                    <a:srgbClr val="000000">
                      <a:alpha val="43137"/>
                    </a:srgbClr>
                  </a:outerShdw>
                </a:effectLst>
              </a:rPr>
              <a:t>İçtiması</a:t>
            </a:r>
            <a:r>
              <a:rPr lang="tr-TR" sz="1400" b="1" dirty="0" smtClean="0"/>
              <a:t> = </a:t>
            </a:r>
            <a:r>
              <a:rPr lang="tr-TR" sz="1400" dirty="0" smtClean="0"/>
              <a:t>Birden çok suç işlenmiş olmasına rağmen faile tek suçtan dolayı ceza verilmektedir.</a:t>
            </a:r>
            <a:r>
              <a:rPr lang="tr-TR" sz="1400" b="1" i="1" dirty="0"/>
              <a:t>	</a:t>
            </a:r>
            <a:endParaRPr lang="fr-FR" sz="1400" dirty="0"/>
          </a:p>
        </p:txBody>
      </p:sp>
      <p:sp>
        <p:nvSpPr>
          <p:cNvPr id="10" name="Dikdörtgen 9"/>
          <p:cNvSpPr/>
          <p:nvPr/>
        </p:nvSpPr>
        <p:spPr>
          <a:xfrm>
            <a:off x="4484629" y="3588904"/>
            <a:ext cx="4192646" cy="307777"/>
          </a:xfrm>
          <a:prstGeom prst="rect">
            <a:avLst/>
          </a:prstGeom>
        </p:spPr>
        <p:txBody>
          <a:bodyPr wrap="square">
            <a:spAutoFit/>
          </a:bodyPr>
          <a:lstStyle/>
          <a:p>
            <a:pPr algn="ctr"/>
            <a:r>
              <a:rPr lang="tr-TR" sz="1400" b="1" dirty="0" smtClean="0"/>
              <a:t>Gerçek İçtima </a:t>
            </a:r>
            <a:r>
              <a:rPr lang="tr-TR" sz="1400" dirty="0" smtClean="0"/>
              <a:t>KURAL, </a:t>
            </a:r>
            <a:r>
              <a:rPr lang="tr-TR" sz="1400" b="1" dirty="0" smtClean="0"/>
              <a:t>Suçların </a:t>
            </a:r>
            <a:r>
              <a:rPr lang="tr-TR" sz="1400" b="1" dirty="0" err="1" smtClean="0"/>
              <a:t>İçtiması</a:t>
            </a:r>
            <a:r>
              <a:rPr lang="tr-TR" sz="1400" b="1" dirty="0" smtClean="0"/>
              <a:t> </a:t>
            </a:r>
            <a:r>
              <a:rPr lang="tr-TR" sz="1400" dirty="0" smtClean="0"/>
              <a:t>ise İSTİSNADIR</a:t>
            </a:r>
          </a:p>
        </p:txBody>
      </p:sp>
      <p:sp>
        <p:nvSpPr>
          <p:cNvPr id="11" name="Dikdörtgen 10"/>
          <p:cNvSpPr/>
          <p:nvPr/>
        </p:nvSpPr>
        <p:spPr>
          <a:xfrm>
            <a:off x="1874779" y="4098612"/>
            <a:ext cx="9315450" cy="369332"/>
          </a:xfrm>
          <a:prstGeom prst="rect">
            <a:avLst/>
          </a:prstGeom>
        </p:spPr>
        <p:txBody>
          <a:bodyPr wrap="square">
            <a:spAutoFit/>
          </a:bodyPr>
          <a:lstStyle/>
          <a:p>
            <a:pPr algn="just"/>
            <a:r>
              <a:rPr lang="tr-TR" b="1" dirty="0" smtClean="0"/>
              <a:t>Suçların </a:t>
            </a:r>
            <a:r>
              <a:rPr lang="tr-TR" b="1" dirty="0" err="1" smtClean="0"/>
              <a:t>İçtiması</a:t>
            </a:r>
            <a:r>
              <a:rPr lang="tr-TR" b="1" dirty="0" smtClean="0"/>
              <a:t> Türleri</a:t>
            </a:r>
            <a:r>
              <a:rPr lang="tr-TR" b="1" i="1" dirty="0"/>
              <a:t>	</a:t>
            </a:r>
            <a:endParaRPr lang="fr-FR" dirty="0"/>
          </a:p>
        </p:txBody>
      </p:sp>
      <p:sp>
        <p:nvSpPr>
          <p:cNvPr id="12" name="Dikdörtgen 11"/>
          <p:cNvSpPr/>
          <p:nvPr/>
        </p:nvSpPr>
        <p:spPr>
          <a:xfrm>
            <a:off x="4113154" y="4370731"/>
            <a:ext cx="3971926" cy="338554"/>
          </a:xfrm>
          <a:prstGeom prst="rect">
            <a:avLst/>
          </a:prstGeom>
        </p:spPr>
        <p:txBody>
          <a:bodyPr wrap="square">
            <a:spAutoFit/>
          </a:bodyPr>
          <a:lstStyle/>
          <a:p>
            <a:pPr algn="just"/>
            <a:r>
              <a:rPr lang="tr-TR" sz="1600" b="1" dirty="0" smtClean="0"/>
              <a:t>Seçimlik Hareketli Suçlar</a:t>
            </a:r>
            <a:r>
              <a:rPr lang="tr-TR" sz="1600" b="1" dirty="0"/>
              <a:t>	</a:t>
            </a:r>
            <a:endParaRPr lang="fr-FR" sz="1600" dirty="0"/>
          </a:p>
        </p:txBody>
      </p:sp>
      <p:sp>
        <p:nvSpPr>
          <p:cNvPr id="13" name="Dikdörtgen 12"/>
          <p:cNvSpPr/>
          <p:nvPr/>
        </p:nvSpPr>
        <p:spPr>
          <a:xfrm>
            <a:off x="4113154" y="4729448"/>
            <a:ext cx="3971926" cy="338554"/>
          </a:xfrm>
          <a:prstGeom prst="rect">
            <a:avLst/>
          </a:prstGeom>
        </p:spPr>
        <p:txBody>
          <a:bodyPr wrap="square">
            <a:spAutoFit/>
          </a:bodyPr>
          <a:lstStyle/>
          <a:p>
            <a:pPr algn="just"/>
            <a:r>
              <a:rPr lang="tr-TR" sz="1600" b="1" dirty="0" smtClean="0"/>
              <a:t>Bileşik Suç</a:t>
            </a:r>
            <a:r>
              <a:rPr lang="tr-TR" sz="1600" b="1" dirty="0"/>
              <a:t>	</a:t>
            </a:r>
            <a:endParaRPr lang="fr-FR" sz="1600" dirty="0"/>
          </a:p>
        </p:txBody>
      </p:sp>
      <p:sp>
        <p:nvSpPr>
          <p:cNvPr id="16" name="Dikdörtgen 15"/>
          <p:cNvSpPr/>
          <p:nvPr/>
        </p:nvSpPr>
        <p:spPr>
          <a:xfrm>
            <a:off x="4113154" y="5088165"/>
            <a:ext cx="3971926" cy="338554"/>
          </a:xfrm>
          <a:prstGeom prst="rect">
            <a:avLst/>
          </a:prstGeom>
        </p:spPr>
        <p:txBody>
          <a:bodyPr wrap="square">
            <a:spAutoFit/>
          </a:bodyPr>
          <a:lstStyle/>
          <a:p>
            <a:pPr algn="just"/>
            <a:r>
              <a:rPr lang="tr-TR" sz="1600" b="1" dirty="0" smtClean="0"/>
              <a:t>Zincirleme Suç</a:t>
            </a:r>
            <a:r>
              <a:rPr lang="tr-TR" sz="1600" b="1" dirty="0"/>
              <a:t>	</a:t>
            </a:r>
            <a:endParaRPr lang="fr-FR" sz="1600" dirty="0"/>
          </a:p>
        </p:txBody>
      </p:sp>
      <p:sp>
        <p:nvSpPr>
          <p:cNvPr id="17" name="Dikdörtgen 16"/>
          <p:cNvSpPr/>
          <p:nvPr/>
        </p:nvSpPr>
        <p:spPr>
          <a:xfrm>
            <a:off x="4113154" y="5446882"/>
            <a:ext cx="3971926" cy="338554"/>
          </a:xfrm>
          <a:prstGeom prst="rect">
            <a:avLst/>
          </a:prstGeom>
        </p:spPr>
        <p:txBody>
          <a:bodyPr wrap="square">
            <a:spAutoFit/>
          </a:bodyPr>
          <a:lstStyle/>
          <a:p>
            <a:pPr algn="just"/>
            <a:r>
              <a:rPr lang="tr-TR" sz="1600" b="1" dirty="0" smtClean="0"/>
              <a:t>Fikri İçtima</a:t>
            </a:r>
            <a:r>
              <a:rPr lang="tr-TR" sz="1600" b="1" dirty="0"/>
              <a:t>	</a:t>
            </a:r>
            <a:endParaRPr lang="fr-FR" sz="1600" dirty="0"/>
          </a:p>
        </p:txBody>
      </p:sp>
      <p:sp>
        <p:nvSpPr>
          <p:cNvPr id="5" name="Bükülü Ok 4"/>
          <p:cNvSpPr/>
          <p:nvPr/>
        </p:nvSpPr>
        <p:spPr>
          <a:xfrm flipV="1">
            <a:off x="3648075" y="4487085"/>
            <a:ext cx="400050" cy="105846"/>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8" name="Bükülü Ok 17"/>
          <p:cNvSpPr/>
          <p:nvPr/>
        </p:nvSpPr>
        <p:spPr>
          <a:xfrm flipV="1">
            <a:off x="3648075" y="4846094"/>
            <a:ext cx="400050" cy="105846"/>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9" name="Bükülü Ok 18"/>
          <p:cNvSpPr/>
          <p:nvPr/>
        </p:nvSpPr>
        <p:spPr>
          <a:xfrm flipV="1">
            <a:off x="3648075" y="5193447"/>
            <a:ext cx="400050" cy="105846"/>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0" name="Bükülü Ok 19"/>
          <p:cNvSpPr/>
          <p:nvPr/>
        </p:nvSpPr>
        <p:spPr>
          <a:xfrm flipV="1">
            <a:off x="3648075" y="5540800"/>
            <a:ext cx="400050" cy="105846"/>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1" name="Metin kutusu 20"/>
          <p:cNvSpPr txBox="1"/>
          <p:nvPr/>
        </p:nvSpPr>
        <p:spPr>
          <a:xfrm>
            <a:off x="105104" y="5703214"/>
            <a:ext cx="2228194" cy="892552"/>
          </a:xfrm>
          <a:prstGeom prst="rect">
            <a:avLst/>
          </a:prstGeom>
          <a:noFill/>
        </p:spPr>
        <p:txBody>
          <a:bodyPr wrap="square" rtlCol="0">
            <a:spAutoFit/>
          </a:bodyPr>
          <a:lstStyle/>
          <a:p>
            <a:r>
              <a:rPr lang="tr-TR" sz="1300" dirty="0" smtClean="0">
                <a:effectLst>
                  <a:outerShdw blurRad="38100" dist="38100" dir="2700000" algn="tl">
                    <a:srgbClr val="000000">
                      <a:alpha val="43137"/>
                    </a:srgbClr>
                  </a:outerShdw>
                </a:effectLst>
              </a:rPr>
              <a:t>Suçun Özel Görünüş Biçimleri</a:t>
            </a:r>
          </a:p>
          <a:p>
            <a:r>
              <a:rPr lang="tr-TR" sz="1300" b="1" dirty="0" smtClean="0"/>
              <a:t>1-</a:t>
            </a:r>
            <a:r>
              <a:rPr lang="tr-TR" sz="1300" dirty="0" smtClean="0"/>
              <a:t>Teşebbüs</a:t>
            </a:r>
          </a:p>
          <a:p>
            <a:r>
              <a:rPr lang="tr-TR" sz="1300" b="1" dirty="0" smtClean="0"/>
              <a:t>2-</a:t>
            </a:r>
            <a:r>
              <a:rPr lang="tr-TR" sz="1300" dirty="0" smtClean="0"/>
              <a:t>İştirak</a:t>
            </a:r>
          </a:p>
          <a:p>
            <a:r>
              <a:rPr lang="tr-TR" sz="1300" b="1" u="sng" dirty="0" smtClean="0"/>
              <a:t>3-İçtima</a:t>
            </a:r>
            <a:endParaRPr lang="fr-FR" sz="1300" b="1" u="sng" dirty="0"/>
          </a:p>
        </p:txBody>
      </p:sp>
      <p:sp>
        <p:nvSpPr>
          <p:cNvPr id="2" name="Yukarı Bükülü Ok 1"/>
          <p:cNvSpPr/>
          <p:nvPr/>
        </p:nvSpPr>
        <p:spPr>
          <a:xfrm rot="5400000">
            <a:off x="2144538" y="2165631"/>
            <a:ext cx="277318" cy="280145"/>
          </a:xfrm>
          <a:prstGeom prst="bentUp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Yukarı Bükülü Ok 21"/>
          <p:cNvSpPr/>
          <p:nvPr/>
        </p:nvSpPr>
        <p:spPr>
          <a:xfrm rot="5400000">
            <a:off x="1683037" y="2531879"/>
            <a:ext cx="1105069" cy="375397"/>
          </a:xfrm>
          <a:prstGeom prst="bentUp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Bükülü Ok 22"/>
          <p:cNvSpPr/>
          <p:nvPr/>
        </p:nvSpPr>
        <p:spPr>
          <a:xfrm flipV="1">
            <a:off x="5095875" y="5812863"/>
            <a:ext cx="400050" cy="105846"/>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4" name="Bükülü Ok 23"/>
          <p:cNvSpPr/>
          <p:nvPr/>
        </p:nvSpPr>
        <p:spPr>
          <a:xfrm flipV="1">
            <a:off x="5095875" y="6016140"/>
            <a:ext cx="400050" cy="105846"/>
          </a:xfrm>
          <a:prstGeom prst="ben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5" name="Dikdörtgen 24"/>
          <p:cNvSpPr/>
          <p:nvPr/>
        </p:nvSpPr>
        <p:spPr>
          <a:xfrm>
            <a:off x="5599054" y="5722264"/>
            <a:ext cx="3971926" cy="276999"/>
          </a:xfrm>
          <a:prstGeom prst="rect">
            <a:avLst/>
          </a:prstGeom>
        </p:spPr>
        <p:txBody>
          <a:bodyPr wrap="square">
            <a:spAutoFit/>
          </a:bodyPr>
          <a:lstStyle/>
          <a:p>
            <a:pPr algn="just"/>
            <a:r>
              <a:rPr lang="tr-TR" sz="1200" b="1" dirty="0" smtClean="0"/>
              <a:t>Aynı neviden fikri içtima</a:t>
            </a:r>
            <a:r>
              <a:rPr lang="tr-TR" sz="1200" b="1" dirty="0"/>
              <a:t>	</a:t>
            </a:r>
            <a:endParaRPr lang="fr-FR" sz="1200" dirty="0"/>
          </a:p>
        </p:txBody>
      </p:sp>
      <p:sp>
        <p:nvSpPr>
          <p:cNvPr id="26" name="Dikdörtgen 25"/>
          <p:cNvSpPr/>
          <p:nvPr/>
        </p:nvSpPr>
        <p:spPr>
          <a:xfrm>
            <a:off x="5599054" y="5964420"/>
            <a:ext cx="3971926" cy="276999"/>
          </a:xfrm>
          <a:prstGeom prst="rect">
            <a:avLst/>
          </a:prstGeom>
        </p:spPr>
        <p:txBody>
          <a:bodyPr wrap="square">
            <a:spAutoFit/>
          </a:bodyPr>
          <a:lstStyle/>
          <a:p>
            <a:pPr algn="just"/>
            <a:r>
              <a:rPr lang="tr-TR" sz="1200" b="1" dirty="0" smtClean="0"/>
              <a:t>Farklı neviden fikri içtima</a:t>
            </a:r>
            <a:r>
              <a:rPr lang="tr-TR" sz="1200" b="1" dirty="0"/>
              <a:t>	</a:t>
            </a:r>
            <a:endParaRPr lang="fr-FR" sz="1200" dirty="0"/>
          </a:p>
        </p:txBody>
      </p:sp>
      <p:sp>
        <p:nvSpPr>
          <p:cNvPr id="4" name="Slayt Numarası Yer Tutucusu 3"/>
          <p:cNvSpPr>
            <a:spLocks noGrp="1"/>
          </p:cNvSpPr>
          <p:nvPr>
            <p:ph type="sldNum" sz="quarter" idx="12"/>
          </p:nvPr>
        </p:nvSpPr>
        <p:spPr/>
        <p:txBody>
          <a:bodyPr/>
          <a:lstStyle/>
          <a:p>
            <a:fld id="{39F9BA00-44CD-41D4-A3D8-F864C744DC1F}" type="slidenum">
              <a:rPr lang="tr-TR" smtClean="0"/>
              <a:t>93</a:t>
            </a:fld>
            <a:r>
              <a:rPr lang="tr-TR"/>
              <a:t>/116</a:t>
            </a:r>
          </a:p>
        </p:txBody>
      </p:sp>
    </p:spTree>
    <p:extLst>
      <p:ext uri="{BB962C8B-B14F-4D97-AF65-F5344CB8AC3E}">
        <p14:creationId xmlns:p14="http://schemas.microsoft.com/office/powerpoint/2010/main" val="2568893429"/>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5" name="Dikdörtgen 14"/>
          <p:cNvSpPr/>
          <p:nvPr/>
        </p:nvSpPr>
        <p:spPr>
          <a:xfrm>
            <a:off x="1874779" y="1842319"/>
            <a:ext cx="9412346"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Suçların </a:t>
            </a:r>
            <a:r>
              <a:rPr lang="tr-TR" sz="2000" b="1" dirty="0" err="1" smtClean="0">
                <a:effectLst>
                  <a:outerShdw blurRad="38100" dist="38100" dir="2700000" algn="tl">
                    <a:srgbClr val="000000">
                      <a:alpha val="43137"/>
                    </a:srgbClr>
                  </a:outerShdw>
                </a:effectLst>
                <a:latin typeface="Calibri" panose="020F0502020204030204"/>
              </a:rPr>
              <a:t>İçtiması</a:t>
            </a:r>
            <a:endParaRPr lang="tr-TR" sz="2000" i="1" dirty="0" smtClean="0">
              <a:effectLst>
                <a:outerShdw blurRad="38100" dist="38100" dir="2700000" algn="tl">
                  <a:srgbClr val="000000">
                    <a:alpha val="43137"/>
                  </a:srgbClr>
                </a:outerShdw>
              </a:effectLst>
              <a:latin typeface="Calibri" panose="020F0502020204030204"/>
            </a:endParaRPr>
          </a:p>
        </p:txBody>
      </p:sp>
      <p:sp>
        <p:nvSpPr>
          <p:cNvPr id="12" name="Dikdörtgen 11"/>
          <p:cNvSpPr/>
          <p:nvPr/>
        </p:nvSpPr>
        <p:spPr>
          <a:xfrm>
            <a:off x="2127191" y="2330263"/>
            <a:ext cx="3971926" cy="338554"/>
          </a:xfrm>
          <a:prstGeom prst="rect">
            <a:avLst/>
          </a:prstGeom>
        </p:spPr>
        <p:txBody>
          <a:bodyPr wrap="square">
            <a:spAutoFit/>
          </a:bodyPr>
          <a:lstStyle/>
          <a:p>
            <a:pPr algn="just"/>
            <a:r>
              <a:rPr lang="tr-TR" sz="1600" b="1" dirty="0" smtClean="0"/>
              <a:t>Seçimlik Hareketli Suçlar</a:t>
            </a:r>
            <a:r>
              <a:rPr lang="tr-TR" sz="1600" b="1" dirty="0"/>
              <a:t>	</a:t>
            </a:r>
            <a:endParaRPr lang="fr-FR" sz="1600" dirty="0"/>
          </a:p>
        </p:txBody>
      </p:sp>
      <p:sp>
        <p:nvSpPr>
          <p:cNvPr id="2" name="Dikdörtgen 1"/>
          <p:cNvSpPr/>
          <p:nvPr/>
        </p:nvSpPr>
        <p:spPr>
          <a:xfrm>
            <a:off x="2619374" y="2688980"/>
            <a:ext cx="9124951" cy="1015663"/>
          </a:xfrm>
          <a:prstGeom prst="rect">
            <a:avLst/>
          </a:prstGeom>
        </p:spPr>
        <p:txBody>
          <a:bodyPr wrap="square">
            <a:spAutoFit/>
          </a:bodyPr>
          <a:lstStyle/>
          <a:p>
            <a:pPr algn="just"/>
            <a:r>
              <a:rPr lang="tr-TR" sz="1200" b="1" dirty="0" smtClean="0"/>
              <a:t>Örnek Suç </a:t>
            </a:r>
          </a:p>
          <a:p>
            <a:pPr algn="just"/>
            <a:r>
              <a:rPr lang="tr-TR" sz="1200" b="1" dirty="0" smtClean="0"/>
              <a:t>Türk Ceza Kanunu</a:t>
            </a:r>
          </a:p>
          <a:p>
            <a:pPr algn="just"/>
            <a:r>
              <a:rPr lang="fr-FR" sz="1200" b="1" dirty="0" err="1" smtClean="0"/>
              <a:t>Resmi</a:t>
            </a:r>
            <a:r>
              <a:rPr lang="fr-FR" sz="1200" b="1" dirty="0" smtClean="0"/>
              <a:t> </a:t>
            </a:r>
            <a:r>
              <a:rPr lang="fr-FR" sz="1200" b="1" dirty="0" err="1"/>
              <a:t>belgede</a:t>
            </a:r>
            <a:r>
              <a:rPr lang="fr-FR" sz="1200" b="1" dirty="0"/>
              <a:t> </a:t>
            </a:r>
            <a:r>
              <a:rPr lang="fr-FR" sz="1200" b="1" dirty="0" err="1"/>
              <a:t>sahtecilik</a:t>
            </a:r>
            <a:endParaRPr lang="fr-FR" sz="1200" b="1" dirty="0"/>
          </a:p>
          <a:p>
            <a:pPr algn="just"/>
            <a:r>
              <a:rPr lang="fr-FR" sz="1200" b="1" dirty="0" err="1"/>
              <a:t>Madde</a:t>
            </a:r>
            <a:r>
              <a:rPr lang="fr-FR" sz="1200" b="1" dirty="0"/>
              <a:t> 204- </a:t>
            </a:r>
            <a:r>
              <a:rPr lang="fr-FR" sz="1200" dirty="0"/>
              <a:t>(1) Bir </a:t>
            </a:r>
            <a:r>
              <a:rPr lang="fr-FR" sz="1200" dirty="0" err="1"/>
              <a:t>resmi</a:t>
            </a:r>
            <a:r>
              <a:rPr lang="fr-FR" sz="1200" dirty="0"/>
              <a:t> </a:t>
            </a:r>
            <a:r>
              <a:rPr lang="fr-FR" sz="1200" dirty="0" err="1"/>
              <a:t>belgeyi</a:t>
            </a:r>
            <a:r>
              <a:rPr lang="fr-FR" sz="1200" dirty="0"/>
              <a:t> </a:t>
            </a:r>
            <a:r>
              <a:rPr lang="fr-FR" sz="1200" dirty="0" err="1"/>
              <a:t>sahte</a:t>
            </a:r>
            <a:r>
              <a:rPr lang="fr-FR" sz="1200" dirty="0"/>
              <a:t> </a:t>
            </a:r>
            <a:r>
              <a:rPr lang="fr-FR" sz="1200" dirty="0" err="1"/>
              <a:t>olarak</a:t>
            </a:r>
            <a:r>
              <a:rPr lang="fr-FR" sz="1200" dirty="0"/>
              <a:t> </a:t>
            </a:r>
            <a:r>
              <a:rPr lang="fr-FR" sz="1200" dirty="0" err="1"/>
              <a:t>düzenleyen</a:t>
            </a:r>
            <a:r>
              <a:rPr lang="fr-FR" sz="1200" dirty="0"/>
              <a:t>, </a:t>
            </a:r>
            <a:r>
              <a:rPr lang="fr-FR" sz="1200" dirty="0" err="1"/>
              <a:t>gerçek</a:t>
            </a:r>
            <a:r>
              <a:rPr lang="fr-FR" sz="1200" dirty="0"/>
              <a:t> </a:t>
            </a:r>
            <a:r>
              <a:rPr lang="fr-FR" sz="1200" dirty="0" err="1"/>
              <a:t>bir</a:t>
            </a:r>
            <a:r>
              <a:rPr lang="fr-FR" sz="1200" dirty="0"/>
              <a:t> </a:t>
            </a:r>
            <a:r>
              <a:rPr lang="fr-FR" sz="1200" dirty="0" err="1"/>
              <a:t>resmi</a:t>
            </a:r>
            <a:r>
              <a:rPr lang="fr-FR" sz="1200" dirty="0"/>
              <a:t> </a:t>
            </a:r>
            <a:r>
              <a:rPr lang="fr-FR" sz="1200" dirty="0" err="1"/>
              <a:t>belgeyi</a:t>
            </a:r>
            <a:r>
              <a:rPr lang="fr-FR" sz="1200" dirty="0"/>
              <a:t> </a:t>
            </a:r>
            <a:r>
              <a:rPr lang="fr-FR" sz="1200" dirty="0" err="1"/>
              <a:t>başkalarını</a:t>
            </a:r>
            <a:r>
              <a:rPr lang="fr-FR" sz="1200" dirty="0"/>
              <a:t> </a:t>
            </a:r>
            <a:r>
              <a:rPr lang="fr-FR" sz="1200" dirty="0" err="1"/>
              <a:t>aldatacak</a:t>
            </a:r>
            <a:r>
              <a:rPr lang="fr-FR" sz="1200" dirty="0"/>
              <a:t> </a:t>
            </a:r>
            <a:r>
              <a:rPr lang="fr-FR" sz="1200" dirty="0" err="1"/>
              <a:t>şekilde</a:t>
            </a:r>
            <a:r>
              <a:rPr lang="fr-FR" sz="1200" dirty="0"/>
              <a:t> </a:t>
            </a:r>
            <a:r>
              <a:rPr lang="fr-FR" sz="1200" dirty="0" err="1"/>
              <a:t>değiştiren</a:t>
            </a:r>
            <a:r>
              <a:rPr lang="fr-FR" sz="1200" dirty="0"/>
              <a:t> </a:t>
            </a:r>
            <a:r>
              <a:rPr lang="fr-FR" sz="1200" dirty="0" err="1"/>
              <a:t>veya</a:t>
            </a:r>
            <a:r>
              <a:rPr lang="fr-FR" sz="1200" dirty="0"/>
              <a:t> </a:t>
            </a:r>
            <a:r>
              <a:rPr lang="fr-FR" sz="1200" dirty="0" err="1"/>
              <a:t>sahte</a:t>
            </a:r>
            <a:r>
              <a:rPr lang="fr-FR" sz="1200" dirty="0"/>
              <a:t> </a:t>
            </a:r>
            <a:r>
              <a:rPr lang="fr-FR" sz="1200" dirty="0" err="1"/>
              <a:t>resmi</a:t>
            </a:r>
            <a:r>
              <a:rPr lang="fr-FR" sz="1200" dirty="0"/>
              <a:t> </a:t>
            </a:r>
            <a:r>
              <a:rPr lang="fr-FR" sz="1200" dirty="0" err="1"/>
              <a:t>belgeyi</a:t>
            </a:r>
            <a:r>
              <a:rPr lang="fr-FR" sz="1200" dirty="0"/>
              <a:t> </a:t>
            </a:r>
            <a:r>
              <a:rPr lang="fr-FR" sz="1200" dirty="0" err="1"/>
              <a:t>kullanan</a:t>
            </a:r>
            <a:r>
              <a:rPr lang="fr-FR" sz="1200" dirty="0"/>
              <a:t> </a:t>
            </a:r>
            <a:r>
              <a:rPr lang="fr-FR" sz="1200" dirty="0" err="1"/>
              <a:t>kişi</a:t>
            </a:r>
            <a:r>
              <a:rPr lang="fr-FR" sz="1200" dirty="0"/>
              <a:t>, </a:t>
            </a:r>
            <a:r>
              <a:rPr lang="fr-FR" sz="1200" dirty="0" err="1"/>
              <a:t>iki</a:t>
            </a:r>
            <a:r>
              <a:rPr lang="fr-FR" sz="1200" dirty="0"/>
              <a:t> </a:t>
            </a:r>
            <a:r>
              <a:rPr lang="fr-FR" sz="1200" dirty="0" err="1"/>
              <a:t>yıldan</a:t>
            </a:r>
            <a:r>
              <a:rPr lang="fr-FR" sz="1200" dirty="0"/>
              <a:t> </a:t>
            </a:r>
            <a:r>
              <a:rPr lang="fr-FR" sz="1200" dirty="0" err="1"/>
              <a:t>beş</a:t>
            </a:r>
            <a:r>
              <a:rPr lang="fr-FR" sz="1200" dirty="0"/>
              <a:t> </a:t>
            </a:r>
            <a:r>
              <a:rPr lang="fr-FR" sz="1200" dirty="0" err="1"/>
              <a:t>yıla</a:t>
            </a:r>
            <a:r>
              <a:rPr lang="fr-FR" sz="1200" dirty="0"/>
              <a:t> </a:t>
            </a:r>
            <a:r>
              <a:rPr lang="fr-FR" sz="1200" dirty="0" err="1"/>
              <a:t>kadar</a:t>
            </a:r>
            <a:r>
              <a:rPr lang="fr-FR" sz="1200" dirty="0"/>
              <a:t> </a:t>
            </a:r>
            <a:r>
              <a:rPr lang="fr-FR" sz="1200" dirty="0" err="1"/>
              <a:t>hapis</a:t>
            </a:r>
            <a:r>
              <a:rPr lang="fr-FR" sz="1200" dirty="0"/>
              <a:t> </a:t>
            </a:r>
            <a:r>
              <a:rPr lang="fr-FR" sz="1200" dirty="0" err="1"/>
              <a:t>cezası</a:t>
            </a:r>
            <a:r>
              <a:rPr lang="fr-FR" sz="1200" dirty="0"/>
              <a:t> ile </a:t>
            </a:r>
            <a:r>
              <a:rPr lang="fr-FR" sz="1200" dirty="0" err="1"/>
              <a:t>cezalandırılır</a:t>
            </a:r>
            <a:r>
              <a:rPr lang="fr-FR" sz="1200" dirty="0"/>
              <a:t>.</a:t>
            </a:r>
          </a:p>
        </p:txBody>
      </p:sp>
      <p:sp>
        <p:nvSpPr>
          <p:cNvPr id="9" name="Dikdörtgen 8"/>
          <p:cNvSpPr/>
          <p:nvPr/>
        </p:nvSpPr>
        <p:spPr>
          <a:xfrm>
            <a:off x="2127191" y="3704643"/>
            <a:ext cx="9713826" cy="523220"/>
          </a:xfrm>
          <a:prstGeom prst="rect">
            <a:avLst/>
          </a:prstGeom>
        </p:spPr>
        <p:txBody>
          <a:bodyPr wrap="square">
            <a:spAutoFit/>
          </a:bodyPr>
          <a:lstStyle/>
          <a:p>
            <a:pPr algn="just"/>
            <a:r>
              <a:rPr lang="tr-TR" sz="1400" dirty="0" smtClean="0"/>
              <a:t>Suçun kanuni tanımındaki hareketlerden birinin yerine getirilmesi suçun oluşumuna sebebiyet verecek, ancak seçimlik nitelikli bu hareketlerin tümü yapılsa dahi tek bir suç işlendiği kabul edilecektir.</a:t>
            </a:r>
            <a:endParaRPr lang="fr-FR" sz="1400" dirty="0"/>
          </a:p>
        </p:txBody>
      </p:sp>
      <p:sp>
        <p:nvSpPr>
          <p:cNvPr id="10" name="Dikdörtgen 9"/>
          <p:cNvSpPr/>
          <p:nvPr/>
        </p:nvSpPr>
        <p:spPr>
          <a:xfrm>
            <a:off x="2127190" y="4335179"/>
            <a:ext cx="3971926" cy="338554"/>
          </a:xfrm>
          <a:prstGeom prst="rect">
            <a:avLst/>
          </a:prstGeom>
        </p:spPr>
        <p:txBody>
          <a:bodyPr wrap="square">
            <a:spAutoFit/>
          </a:bodyPr>
          <a:lstStyle/>
          <a:p>
            <a:pPr algn="just"/>
            <a:r>
              <a:rPr lang="tr-TR" sz="1600" b="1" dirty="0" smtClean="0"/>
              <a:t>Bileşik Suçlar </a:t>
            </a:r>
            <a:r>
              <a:rPr lang="tr-TR" sz="1200" dirty="0" smtClean="0"/>
              <a:t>(Mürekkep Suç)</a:t>
            </a:r>
            <a:r>
              <a:rPr lang="tr-TR" sz="1600" b="1" dirty="0" smtClean="0"/>
              <a:t> </a:t>
            </a:r>
            <a:r>
              <a:rPr lang="tr-TR" sz="1600" b="1" dirty="0"/>
              <a:t>	</a:t>
            </a:r>
            <a:endParaRPr lang="fr-FR" sz="1600" dirty="0"/>
          </a:p>
        </p:txBody>
      </p:sp>
      <p:sp>
        <p:nvSpPr>
          <p:cNvPr id="3" name="Dikdörtgen 2"/>
          <p:cNvSpPr/>
          <p:nvPr/>
        </p:nvSpPr>
        <p:spPr>
          <a:xfrm>
            <a:off x="2619374" y="4657517"/>
            <a:ext cx="9039225" cy="830997"/>
          </a:xfrm>
          <a:prstGeom prst="rect">
            <a:avLst/>
          </a:prstGeom>
        </p:spPr>
        <p:txBody>
          <a:bodyPr wrap="square">
            <a:spAutoFit/>
          </a:bodyPr>
          <a:lstStyle/>
          <a:p>
            <a:pPr algn="just"/>
            <a:r>
              <a:rPr lang="tr-TR" sz="1200" b="1" dirty="0" smtClean="0"/>
              <a:t>Türk Ceza Kanunu</a:t>
            </a:r>
          </a:p>
          <a:p>
            <a:pPr algn="just"/>
            <a:r>
              <a:rPr lang="fr-FR" sz="1200" b="1" dirty="0" err="1" smtClean="0"/>
              <a:t>Bileşik</a:t>
            </a:r>
            <a:r>
              <a:rPr lang="fr-FR" sz="1200" b="1" dirty="0" smtClean="0"/>
              <a:t> </a:t>
            </a:r>
            <a:r>
              <a:rPr lang="fr-FR" sz="1200" b="1" dirty="0" err="1"/>
              <a:t>suç</a:t>
            </a:r>
            <a:endParaRPr lang="fr-FR" sz="1200" b="1" dirty="0"/>
          </a:p>
          <a:p>
            <a:pPr algn="just"/>
            <a:r>
              <a:rPr lang="fr-FR" sz="1200" b="1" dirty="0" err="1"/>
              <a:t>Madde</a:t>
            </a:r>
            <a:r>
              <a:rPr lang="fr-FR" sz="1200" b="1" dirty="0"/>
              <a:t> 42- </a:t>
            </a:r>
            <a:r>
              <a:rPr lang="fr-FR" sz="1200" dirty="0"/>
              <a:t>(1) </a:t>
            </a:r>
            <a:r>
              <a:rPr lang="fr-FR" sz="1200" dirty="0" err="1"/>
              <a:t>Biri</a:t>
            </a:r>
            <a:r>
              <a:rPr lang="fr-FR" sz="1200" dirty="0"/>
              <a:t> </a:t>
            </a:r>
            <a:r>
              <a:rPr lang="fr-FR" sz="1200" dirty="0" err="1"/>
              <a:t>diğerinin</a:t>
            </a:r>
            <a:r>
              <a:rPr lang="fr-FR" sz="1200" dirty="0"/>
              <a:t> </a:t>
            </a:r>
            <a:r>
              <a:rPr lang="fr-FR" sz="1200" dirty="0" err="1"/>
              <a:t>unsurunu</a:t>
            </a:r>
            <a:r>
              <a:rPr lang="fr-FR" sz="1200" dirty="0"/>
              <a:t> </a:t>
            </a:r>
            <a:r>
              <a:rPr lang="fr-FR" sz="1200" dirty="0" err="1"/>
              <a:t>veya</a:t>
            </a:r>
            <a:r>
              <a:rPr lang="fr-FR" sz="1200" dirty="0"/>
              <a:t> </a:t>
            </a:r>
            <a:r>
              <a:rPr lang="fr-FR" sz="1200" dirty="0" err="1"/>
              <a:t>ağırlaştırıcı</a:t>
            </a:r>
            <a:r>
              <a:rPr lang="fr-FR" sz="1200" dirty="0"/>
              <a:t> </a:t>
            </a:r>
            <a:r>
              <a:rPr lang="fr-FR" sz="1200" dirty="0" err="1"/>
              <a:t>nedenini</a:t>
            </a:r>
            <a:r>
              <a:rPr lang="fr-FR" sz="1200" dirty="0"/>
              <a:t> </a:t>
            </a:r>
            <a:r>
              <a:rPr lang="fr-FR" sz="1200" dirty="0" err="1"/>
              <a:t>oluşturması</a:t>
            </a:r>
            <a:r>
              <a:rPr lang="fr-FR" sz="1200" dirty="0"/>
              <a:t> </a:t>
            </a:r>
            <a:r>
              <a:rPr lang="fr-FR" sz="1200" dirty="0" err="1"/>
              <a:t>dolayısıyla</a:t>
            </a:r>
            <a:r>
              <a:rPr lang="fr-FR" sz="1200" dirty="0"/>
              <a:t> tek </a:t>
            </a:r>
            <a:r>
              <a:rPr lang="fr-FR" sz="1200" dirty="0" err="1"/>
              <a:t>fiil</a:t>
            </a:r>
            <a:r>
              <a:rPr lang="fr-FR" sz="1200" dirty="0"/>
              <a:t> </a:t>
            </a:r>
            <a:r>
              <a:rPr lang="fr-FR" sz="1200" dirty="0" err="1"/>
              <a:t>sayılan</a:t>
            </a:r>
            <a:r>
              <a:rPr lang="fr-FR" sz="1200" dirty="0"/>
              <a:t> suça </a:t>
            </a:r>
            <a:r>
              <a:rPr lang="fr-FR" sz="1200" dirty="0" err="1"/>
              <a:t>bileşik</a:t>
            </a:r>
            <a:r>
              <a:rPr lang="fr-FR" sz="1200" dirty="0"/>
              <a:t> </a:t>
            </a:r>
            <a:r>
              <a:rPr lang="fr-FR" sz="1200" dirty="0" err="1"/>
              <a:t>suç</a:t>
            </a:r>
            <a:r>
              <a:rPr lang="fr-FR" sz="1200" dirty="0"/>
              <a:t> </a:t>
            </a:r>
            <a:r>
              <a:rPr lang="fr-FR" sz="1200" dirty="0" err="1"/>
              <a:t>denir</a:t>
            </a:r>
            <a:r>
              <a:rPr lang="fr-FR" sz="1200" dirty="0"/>
              <a:t>. Bu </a:t>
            </a:r>
            <a:r>
              <a:rPr lang="fr-FR" sz="1200" dirty="0" err="1"/>
              <a:t>tür</a:t>
            </a:r>
            <a:r>
              <a:rPr lang="fr-FR" sz="1200" dirty="0"/>
              <a:t> </a:t>
            </a:r>
            <a:r>
              <a:rPr lang="fr-FR" sz="1200" dirty="0" err="1"/>
              <a:t>suçlarda</a:t>
            </a:r>
            <a:r>
              <a:rPr lang="fr-FR" sz="1200" dirty="0"/>
              <a:t> </a:t>
            </a:r>
            <a:r>
              <a:rPr lang="fr-FR" sz="1200" dirty="0" err="1"/>
              <a:t>içtima</a:t>
            </a:r>
            <a:r>
              <a:rPr lang="fr-FR" sz="1200" dirty="0"/>
              <a:t> </a:t>
            </a:r>
            <a:r>
              <a:rPr lang="fr-FR" sz="1200" dirty="0" err="1"/>
              <a:t>hükümleri</a:t>
            </a:r>
            <a:r>
              <a:rPr lang="fr-FR" sz="1200" dirty="0"/>
              <a:t> </a:t>
            </a:r>
            <a:r>
              <a:rPr lang="fr-FR" sz="1200" dirty="0" err="1"/>
              <a:t>uygulanmaz</a:t>
            </a:r>
            <a:endParaRPr lang="fr-FR" sz="1200" dirty="0"/>
          </a:p>
        </p:txBody>
      </p:sp>
      <p:sp>
        <p:nvSpPr>
          <p:cNvPr id="11" name="Dikdörtgen 10"/>
          <p:cNvSpPr/>
          <p:nvPr/>
        </p:nvSpPr>
        <p:spPr>
          <a:xfrm>
            <a:off x="2619374" y="5453423"/>
            <a:ext cx="9124951" cy="830997"/>
          </a:xfrm>
          <a:prstGeom prst="rect">
            <a:avLst/>
          </a:prstGeom>
        </p:spPr>
        <p:txBody>
          <a:bodyPr wrap="square">
            <a:spAutoFit/>
          </a:bodyPr>
          <a:lstStyle/>
          <a:p>
            <a:pPr algn="just"/>
            <a:r>
              <a:rPr lang="tr-TR" sz="1200" b="1" dirty="0" smtClean="0"/>
              <a:t>Örnek Suçlar</a:t>
            </a:r>
          </a:p>
          <a:p>
            <a:pPr algn="just"/>
            <a:r>
              <a:rPr lang="tr-TR" sz="1200" dirty="0" smtClean="0"/>
              <a:t>Yağma= Hırsızlık + Cebir Şiddet</a:t>
            </a:r>
          </a:p>
          <a:p>
            <a:pPr algn="just"/>
            <a:r>
              <a:rPr lang="tr-TR" sz="1200" dirty="0" smtClean="0"/>
              <a:t>Eziyet Çektirerek Öldürme suçu kapsamında Öldürme ve Eziyet suçlarının değerlendirilmesi</a:t>
            </a:r>
          </a:p>
          <a:p>
            <a:pPr algn="just"/>
            <a:r>
              <a:rPr lang="tr-TR" sz="1200" dirty="0" smtClean="0"/>
              <a:t>Kablo hırsızlığı için kabloları kesen kişinin sadece hırsızlıktan sorumlu olup ayrıca mala zarar verme suçundan sorumlu olmaması</a:t>
            </a:r>
          </a:p>
        </p:txBody>
      </p:sp>
      <p:sp>
        <p:nvSpPr>
          <p:cNvPr id="13" name="Dikdörtgen 12"/>
          <p:cNvSpPr/>
          <p:nvPr/>
        </p:nvSpPr>
        <p:spPr>
          <a:xfrm>
            <a:off x="2127190" y="6271340"/>
            <a:ext cx="9713826" cy="276999"/>
          </a:xfrm>
          <a:prstGeom prst="rect">
            <a:avLst/>
          </a:prstGeom>
        </p:spPr>
        <p:txBody>
          <a:bodyPr wrap="square">
            <a:spAutoFit/>
          </a:bodyPr>
          <a:lstStyle/>
          <a:p>
            <a:pPr algn="just"/>
            <a:r>
              <a:rPr lang="tr-TR" sz="1200" i="1" dirty="0" smtClean="0">
                <a:effectLst>
                  <a:outerShdw blurRad="38100" dist="38100" dir="2700000" algn="tl">
                    <a:srgbClr val="000000">
                      <a:alpha val="43137"/>
                    </a:srgbClr>
                  </a:outerShdw>
                </a:effectLst>
              </a:rPr>
              <a:t>İstisna Türk Ceza Kanunu </a:t>
            </a:r>
            <a:r>
              <a:rPr lang="tr-TR" sz="1200" i="1" dirty="0" err="1" smtClean="0">
                <a:effectLst>
                  <a:outerShdw blurRad="38100" dist="38100" dir="2700000" algn="tl">
                    <a:srgbClr val="000000">
                      <a:alpha val="43137"/>
                    </a:srgbClr>
                  </a:outerShdw>
                </a:effectLst>
              </a:rPr>
              <a:t>md.</a:t>
            </a:r>
            <a:r>
              <a:rPr lang="tr-TR" sz="1200" i="1" dirty="0" smtClean="0">
                <a:effectLst>
                  <a:outerShdw blurRad="38100" dist="38100" dir="2700000" algn="tl">
                    <a:srgbClr val="000000">
                      <a:alpha val="43137"/>
                    </a:srgbClr>
                  </a:outerShdw>
                </a:effectLst>
              </a:rPr>
              <a:t> 212: Sahte belgenin bir suçun işlenmesinde kullanılması halinde hem sahtecilikten hem de diğer suçtan ceza verilecektir.</a:t>
            </a:r>
          </a:p>
        </p:txBody>
      </p:sp>
      <p:sp>
        <p:nvSpPr>
          <p:cNvPr id="16" name="Metin kutusu 15"/>
          <p:cNvSpPr txBox="1"/>
          <p:nvPr/>
        </p:nvSpPr>
        <p:spPr>
          <a:xfrm>
            <a:off x="105104" y="5703214"/>
            <a:ext cx="2228194" cy="1092607"/>
          </a:xfrm>
          <a:prstGeom prst="rect">
            <a:avLst/>
          </a:prstGeom>
          <a:noFill/>
        </p:spPr>
        <p:txBody>
          <a:bodyPr wrap="square" rtlCol="0">
            <a:spAutoFit/>
          </a:bodyPr>
          <a:lstStyle/>
          <a:p>
            <a:r>
              <a:rPr lang="tr-TR" sz="1300" dirty="0" smtClean="0">
                <a:effectLst>
                  <a:outerShdw blurRad="38100" dist="38100" dir="2700000" algn="tl">
                    <a:srgbClr val="000000">
                      <a:alpha val="43137"/>
                    </a:srgbClr>
                  </a:outerShdw>
                </a:effectLst>
              </a:rPr>
              <a:t>Suçların İçtima</a:t>
            </a:r>
          </a:p>
          <a:p>
            <a:r>
              <a:rPr lang="tr-TR" sz="1300" b="1" u="sng" dirty="0" smtClean="0">
                <a:effectLst>
                  <a:outerShdw blurRad="38100" dist="38100" dir="2700000" algn="tl">
                    <a:srgbClr val="000000">
                      <a:alpha val="43137"/>
                    </a:srgbClr>
                  </a:outerShdw>
                </a:effectLst>
              </a:rPr>
              <a:t>1-</a:t>
            </a:r>
            <a:r>
              <a:rPr lang="tr-TR" sz="1300" u="sng" dirty="0" smtClean="0">
                <a:effectLst>
                  <a:outerShdw blurRad="38100" dist="38100" dir="2700000" algn="tl">
                    <a:srgbClr val="000000">
                      <a:alpha val="43137"/>
                    </a:srgbClr>
                  </a:outerShdw>
                </a:effectLst>
              </a:rPr>
              <a:t>Seçimlik Hareketli Suçlar</a:t>
            </a:r>
          </a:p>
          <a:p>
            <a:r>
              <a:rPr lang="tr-TR" sz="1300" b="1" u="sng" dirty="0" smtClean="0">
                <a:effectLst>
                  <a:outerShdw blurRad="38100" dist="38100" dir="2700000" algn="tl">
                    <a:srgbClr val="000000">
                      <a:alpha val="43137"/>
                    </a:srgbClr>
                  </a:outerShdw>
                </a:effectLst>
              </a:rPr>
              <a:t>2-</a:t>
            </a:r>
            <a:r>
              <a:rPr lang="tr-TR" sz="1300" u="sng" dirty="0" smtClean="0">
                <a:effectLst>
                  <a:outerShdw blurRad="38100" dist="38100" dir="2700000" algn="tl">
                    <a:srgbClr val="000000">
                      <a:alpha val="43137"/>
                    </a:srgbClr>
                  </a:outerShdw>
                </a:effectLst>
              </a:rPr>
              <a:t>Bileşik Suçlar</a:t>
            </a:r>
          </a:p>
          <a:p>
            <a:r>
              <a:rPr lang="tr-TR" sz="1300" b="1" dirty="0" smtClean="0"/>
              <a:t>3-</a:t>
            </a:r>
            <a:r>
              <a:rPr lang="tr-TR" sz="1300" dirty="0" smtClean="0"/>
              <a:t>Zincirleme Suç</a:t>
            </a:r>
          </a:p>
          <a:p>
            <a:r>
              <a:rPr lang="tr-TR" sz="1300" b="1" dirty="0" smtClean="0"/>
              <a:t>4-</a:t>
            </a:r>
            <a:r>
              <a:rPr lang="tr-TR" sz="1300" dirty="0" smtClean="0"/>
              <a:t>Fikri İçtima</a:t>
            </a:r>
            <a:endParaRPr lang="fr-FR" sz="1300" dirty="0"/>
          </a:p>
        </p:txBody>
      </p:sp>
      <p:sp>
        <p:nvSpPr>
          <p:cNvPr id="5" name="Slayt Numarası Yer Tutucusu 4"/>
          <p:cNvSpPr>
            <a:spLocks noGrp="1"/>
          </p:cNvSpPr>
          <p:nvPr>
            <p:ph type="sldNum" sz="quarter" idx="12"/>
          </p:nvPr>
        </p:nvSpPr>
        <p:spPr/>
        <p:txBody>
          <a:bodyPr/>
          <a:lstStyle/>
          <a:p>
            <a:fld id="{39F9BA00-44CD-41D4-A3D8-F864C744DC1F}" type="slidenum">
              <a:rPr lang="tr-TR" smtClean="0"/>
              <a:t>94</a:t>
            </a:fld>
            <a:r>
              <a:rPr lang="tr-TR"/>
              <a:t>/116</a:t>
            </a:r>
          </a:p>
        </p:txBody>
      </p:sp>
    </p:spTree>
    <p:extLst>
      <p:ext uri="{BB962C8B-B14F-4D97-AF65-F5344CB8AC3E}">
        <p14:creationId xmlns:p14="http://schemas.microsoft.com/office/powerpoint/2010/main" val="156836166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5" name="Dikdörtgen 14"/>
          <p:cNvSpPr/>
          <p:nvPr/>
        </p:nvSpPr>
        <p:spPr>
          <a:xfrm>
            <a:off x="1874779" y="1842319"/>
            <a:ext cx="9412346"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Suçların </a:t>
            </a:r>
            <a:r>
              <a:rPr lang="tr-TR" sz="2000" b="1" dirty="0" err="1" smtClean="0">
                <a:effectLst>
                  <a:outerShdw blurRad="38100" dist="38100" dir="2700000" algn="tl">
                    <a:srgbClr val="000000">
                      <a:alpha val="43137"/>
                    </a:srgbClr>
                  </a:outerShdw>
                </a:effectLst>
                <a:latin typeface="Calibri" panose="020F0502020204030204"/>
              </a:rPr>
              <a:t>İçtiması</a:t>
            </a:r>
            <a:endParaRPr lang="tr-TR" sz="2000" i="1" dirty="0" smtClean="0">
              <a:effectLst>
                <a:outerShdw blurRad="38100" dist="38100" dir="2700000" algn="tl">
                  <a:srgbClr val="000000">
                    <a:alpha val="43137"/>
                  </a:srgbClr>
                </a:outerShdw>
              </a:effectLst>
              <a:latin typeface="Calibri" panose="020F0502020204030204"/>
            </a:endParaRPr>
          </a:p>
        </p:txBody>
      </p:sp>
      <p:sp>
        <p:nvSpPr>
          <p:cNvPr id="16" name="Dikdörtgen 15"/>
          <p:cNvSpPr/>
          <p:nvPr/>
        </p:nvSpPr>
        <p:spPr>
          <a:xfrm>
            <a:off x="2246254" y="2320886"/>
            <a:ext cx="9305924" cy="584775"/>
          </a:xfrm>
          <a:prstGeom prst="rect">
            <a:avLst/>
          </a:prstGeom>
        </p:spPr>
        <p:txBody>
          <a:bodyPr wrap="square">
            <a:spAutoFit/>
          </a:bodyPr>
          <a:lstStyle/>
          <a:p>
            <a:pPr algn="just"/>
            <a:r>
              <a:rPr lang="tr-TR" sz="1600" b="1" dirty="0"/>
              <a:t>Zincirleme </a:t>
            </a:r>
            <a:r>
              <a:rPr lang="tr-TR" sz="1600" b="1" dirty="0" smtClean="0"/>
              <a:t>Suç </a:t>
            </a:r>
            <a:r>
              <a:rPr lang="tr-TR" sz="1200" i="1" dirty="0" smtClean="0"/>
              <a:t>Aynı </a:t>
            </a:r>
            <a:r>
              <a:rPr lang="tr-TR" sz="1200" i="1" dirty="0"/>
              <a:t>suç, bir suç işleme kararı kapsamında, aynı kişiye karşı, birden fazla kez işlenmektedir.</a:t>
            </a:r>
            <a:endParaRPr lang="fr-FR" sz="1600" i="1" dirty="0"/>
          </a:p>
          <a:p>
            <a:pPr algn="just"/>
            <a:r>
              <a:rPr lang="tr-TR" sz="1600" b="1" dirty="0"/>
              <a:t>	</a:t>
            </a:r>
            <a:endParaRPr lang="fr-FR" sz="1600" b="1" dirty="0"/>
          </a:p>
        </p:txBody>
      </p:sp>
      <p:sp>
        <p:nvSpPr>
          <p:cNvPr id="2" name="Dikdörtgen 1"/>
          <p:cNvSpPr/>
          <p:nvPr/>
        </p:nvSpPr>
        <p:spPr>
          <a:xfrm>
            <a:off x="2495549" y="2659440"/>
            <a:ext cx="8943975" cy="1384995"/>
          </a:xfrm>
          <a:prstGeom prst="rect">
            <a:avLst/>
          </a:prstGeom>
        </p:spPr>
        <p:txBody>
          <a:bodyPr wrap="square">
            <a:spAutoFit/>
          </a:bodyPr>
          <a:lstStyle/>
          <a:p>
            <a:pPr algn="just"/>
            <a:r>
              <a:rPr lang="tr-TR" sz="1200" b="1" dirty="0" smtClean="0"/>
              <a:t>Türk Ceza Kanunu</a:t>
            </a:r>
          </a:p>
          <a:p>
            <a:pPr algn="just"/>
            <a:r>
              <a:rPr lang="fr-FR" sz="1200" b="1" dirty="0" err="1" smtClean="0"/>
              <a:t>Zincirleme</a:t>
            </a:r>
            <a:r>
              <a:rPr lang="fr-FR" sz="1200" b="1" dirty="0" smtClean="0"/>
              <a:t> </a:t>
            </a:r>
            <a:r>
              <a:rPr lang="fr-FR" sz="1200" b="1" dirty="0" err="1"/>
              <a:t>suç</a:t>
            </a:r>
            <a:endParaRPr lang="fr-FR" sz="1200" b="1" dirty="0"/>
          </a:p>
          <a:p>
            <a:pPr algn="just"/>
            <a:r>
              <a:rPr lang="fr-FR" sz="1200" b="1" dirty="0" err="1"/>
              <a:t>Madde</a:t>
            </a:r>
            <a:r>
              <a:rPr lang="fr-FR" sz="1200" b="1" dirty="0"/>
              <a:t> 43-</a:t>
            </a:r>
            <a:r>
              <a:rPr lang="fr-FR" sz="1200" dirty="0"/>
              <a:t> (1) Bir </a:t>
            </a:r>
            <a:r>
              <a:rPr lang="fr-FR" sz="1200" dirty="0" err="1"/>
              <a:t>suç</a:t>
            </a:r>
            <a:r>
              <a:rPr lang="fr-FR" sz="1200" dirty="0"/>
              <a:t> </a:t>
            </a:r>
            <a:r>
              <a:rPr lang="fr-FR" sz="1200" dirty="0" err="1"/>
              <a:t>işleme</a:t>
            </a:r>
            <a:r>
              <a:rPr lang="fr-FR" sz="1200" dirty="0"/>
              <a:t> </a:t>
            </a:r>
            <a:r>
              <a:rPr lang="fr-FR" sz="1200" dirty="0" err="1"/>
              <a:t>kararının</a:t>
            </a:r>
            <a:r>
              <a:rPr lang="fr-FR" sz="1200" dirty="0"/>
              <a:t> </a:t>
            </a:r>
            <a:r>
              <a:rPr lang="fr-FR" sz="1200" dirty="0" err="1"/>
              <a:t>icrası</a:t>
            </a:r>
            <a:r>
              <a:rPr lang="fr-FR" sz="1200" dirty="0"/>
              <a:t> </a:t>
            </a:r>
            <a:r>
              <a:rPr lang="fr-FR" sz="1200" dirty="0" err="1"/>
              <a:t>kapsamında</a:t>
            </a:r>
            <a:r>
              <a:rPr lang="fr-FR" sz="1200" dirty="0"/>
              <a:t>, </a:t>
            </a:r>
            <a:r>
              <a:rPr lang="fr-FR" sz="1200" dirty="0" err="1"/>
              <a:t>değişik</a:t>
            </a:r>
            <a:r>
              <a:rPr lang="fr-FR" sz="1200" dirty="0"/>
              <a:t> </a:t>
            </a:r>
            <a:r>
              <a:rPr lang="fr-FR" sz="1200" dirty="0" err="1"/>
              <a:t>zamanlarda</a:t>
            </a:r>
            <a:r>
              <a:rPr lang="fr-FR" sz="1200" dirty="0"/>
              <a:t> </a:t>
            </a:r>
            <a:r>
              <a:rPr lang="fr-FR" sz="1200" dirty="0" err="1"/>
              <a:t>bir</a:t>
            </a:r>
            <a:r>
              <a:rPr lang="fr-FR" sz="1200" dirty="0"/>
              <a:t> </a:t>
            </a:r>
            <a:r>
              <a:rPr lang="fr-FR" sz="1200" dirty="0" err="1"/>
              <a:t>kişiye</a:t>
            </a:r>
            <a:r>
              <a:rPr lang="fr-FR" sz="1200" dirty="0"/>
              <a:t> </a:t>
            </a:r>
            <a:r>
              <a:rPr lang="fr-FR" sz="1200" dirty="0" err="1"/>
              <a:t>karşı</a:t>
            </a:r>
            <a:r>
              <a:rPr lang="fr-FR" sz="1200" dirty="0"/>
              <a:t> </a:t>
            </a:r>
            <a:r>
              <a:rPr lang="fr-FR" sz="1200" dirty="0" err="1"/>
              <a:t>aynı</a:t>
            </a:r>
            <a:r>
              <a:rPr lang="fr-FR" sz="1200" dirty="0"/>
              <a:t> </a:t>
            </a:r>
            <a:r>
              <a:rPr lang="fr-FR" sz="1200" dirty="0" err="1"/>
              <a:t>suçun</a:t>
            </a:r>
            <a:r>
              <a:rPr lang="fr-FR" sz="1200" dirty="0"/>
              <a:t> </a:t>
            </a:r>
            <a:r>
              <a:rPr lang="fr-FR" sz="1200" dirty="0" err="1"/>
              <a:t>birden</a:t>
            </a:r>
            <a:r>
              <a:rPr lang="fr-FR" sz="1200" dirty="0"/>
              <a:t> </a:t>
            </a:r>
            <a:r>
              <a:rPr lang="fr-FR" sz="1200" dirty="0" err="1"/>
              <a:t>fazla</a:t>
            </a:r>
            <a:r>
              <a:rPr lang="fr-FR" sz="1200" dirty="0"/>
              <a:t> </a:t>
            </a:r>
            <a:r>
              <a:rPr lang="fr-FR" sz="1200" dirty="0" err="1"/>
              <a:t>işlenmesi</a:t>
            </a:r>
            <a:r>
              <a:rPr lang="fr-FR" sz="1200" dirty="0"/>
              <a:t> </a:t>
            </a:r>
            <a:r>
              <a:rPr lang="fr-FR" sz="1200" dirty="0" err="1"/>
              <a:t>durumunda</a:t>
            </a:r>
            <a:r>
              <a:rPr lang="fr-FR" sz="1200" dirty="0"/>
              <a:t>, </a:t>
            </a:r>
            <a:r>
              <a:rPr lang="fr-FR" sz="1200" dirty="0" err="1"/>
              <a:t>bir</a:t>
            </a:r>
            <a:r>
              <a:rPr lang="fr-FR" sz="1200" dirty="0"/>
              <a:t> </a:t>
            </a:r>
            <a:r>
              <a:rPr lang="fr-FR" sz="1200" dirty="0" err="1"/>
              <a:t>cezaya</a:t>
            </a:r>
            <a:r>
              <a:rPr lang="fr-FR" sz="1200" dirty="0"/>
              <a:t> </a:t>
            </a:r>
            <a:r>
              <a:rPr lang="fr-FR" sz="1200" dirty="0" err="1"/>
              <a:t>hükmedilir</a:t>
            </a:r>
            <a:r>
              <a:rPr lang="fr-FR" sz="1200" dirty="0"/>
              <a:t>. </a:t>
            </a:r>
            <a:r>
              <a:rPr lang="fr-FR" sz="1200" dirty="0" err="1"/>
              <a:t>Ancak</a:t>
            </a:r>
            <a:r>
              <a:rPr lang="fr-FR" sz="1200" dirty="0"/>
              <a:t> bu </a:t>
            </a:r>
            <a:r>
              <a:rPr lang="fr-FR" sz="1200" dirty="0" err="1"/>
              <a:t>ceza</a:t>
            </a:r>
            <a:r>
              <a:rPr lang="fr-FR" sz="1200" dirty="0"/>
              <a:t>, </a:t>
            </a:r>
            <a:r>
              <a:rPr lang="fr-FR" sz="1200" dirty="0" err="1"/>
              <a:t>dörtte</a:t>
            </a:r>
            <a:r>
              <a:rPr lang="fr-FR" sz="1200" dirty="0"/>
              <a:t> </a:t>
            </a:r>
            <a:r>
              <a:rPr lang="fr-FR" sz="1200" dirty="0" err="1"/>
              <a:t>birinden</a:t>
            </a:r>
            <a:r>
              <a:rPr lang="fr-FR" sz="1200" dirty="0"/>
              <a:t> </a:t>
            </a:r>
            <a:r>
              <a:rPr lang="fr-FR" sz="1200" dirty="0" err="1"/>
              <a:t>dörtte</a:t>
            </a:r>
            <a:r>
              <a:rPr lang="fr-FR" sz="1200" dirty="0"/>
              <a:t> </a:t>
            </a:r>
            <a:r>
              <a:rPr lang="fr-FR" sz="1200" dirty="0" err="1"/>
              <a:t>üçüne</a:t>
            </a:r>
            <a:r>
              <a:rPr lang="fr-FR" sz="1200" dirty="0"/>
              <a:t> </a:t>
            </a:r>
            <a:r>
              <a:rPr lang="fr-FR" sz="1200" dirty="0" err="1"/>
              <a:t>kadar</a:t>
            </a:r>
            <a:r>
              <a:rPr lang="fr-FR" sz="1200" dirty="0"/>
              <a:t> </a:t>
            </a:r>
            <a:r>
              <a:rPr lang="fr-FR" sz="1200" dirty="0" err="1"/>
              <a:t>artırılır</a:t>
            </a:r>
            <a:r>
              <a:rPr lang="fr-FR" sz="1200" dirty="0"/>
              <a:t>. Bir </a:t>
            </a:r>
            <a:r>
              <a:rPr lang="fr-FR" sz="1200" dirty="0" err="1"/>
              <a:t>suçun</a:t>
            </a:r>
            <a:r>
              <a:rPr lang="fr-FR" sz="1200" dirty="0"/>
              <a:t> </a:t>
            </a:r>
            <a:r>
              <a:rPr lang="fr-FR" sz="1200" dirty="0" err="1"/>
              <a:t>temel</a:t>
            </a:r>
            <a:r>
              <a:rPr lang="fr-FR" sz="1200" dirty="0"/>
              <a:t> </a:t>
            </a:r>
            <a:r>
              <a:rPr lang="fr-FR" sz="1200" dirty="0" err="1"/>
              <a:t>şekli</a:t>
            </a:r>
            <a:r>
              <a:rPr lang="fr-FR" sz="1200" dirty="0"/>
              <a:t> ile </a:t>
            </a:r>
            <a:r>
              <a:rPr lang="fr-FR" sz="1200" dirty="0" err="1"/>
              <a:t>daha</a:t>
            </a:r>
            <a:r>
              <a:rPr lang="fr-FR" sz="1200" dirty="0"/>
              <a:t> </a:t>
            </a:r>
            <a:r>
              <a:rPr lang="fr-FR" sz="1200" dirty="0" err="1"/>
              <a:t>ağır</a:t>
            </a:r>
            <a:r>
              <a:rPr lang="fr-FR" sz="1200" dirty="0"/>
              <a:t> </a:t>
            </a:r>
            <a:r>
              <a:rPr lang="fr-FR" sz="1200" dirty="0" err="1"/>
              <a:t>veya</a:t>
            </a:r>
            <a:r>
              <a:rPr lang="fr-FR" sz="1200" dirty="0"/>
              <a:t> </a:t>
            </a:r>
            <a:r>
              <a:rPr lang="fr-FR" sz="1200" dirty="0" err="1"/>
              <a:t>daha</a:t>
            </a:r>
            <a:r>
              <a:rPr lang="fr-FR" sz="1200" dirty="0"/>
              <a:t> </a:t>
            </a:r>
            <a:r>
              <a:rPr lang="fr-FR" sz="1200" dirty="0" err="1"/>
              <a:t>az</a:t>
            </a:r>
            <a:r>
              <a:rPr lang="fr-FR" sz="1200" dirty="0"/>
              <a:t> </a:t>
            </a:r>
            <a:r>
              <a:rPr lang="fr-FR" sz="1200" dirty="0" err="1"/>
              <a:t>cezayı</a:t>
            </a:r>
            <a:r>
              <a:rPr lang="fr-FR" sz="1200" dirty="0"/>
              <a:t> </a:t>
            </a:r>
            <a:r>
              <a:rPr lang="fr-FR" sz="1200" dirty="0" err="1"/>
              <a:t>gerektiren</a:t>
            </a:r>
            <a:r>
              <a:rPr lang="fr-FR" sz="1200" dirty="0"/>
              <a:t> </a:t>
            </a:r>
            <a:r>
              <a:rPr lang="fr-FR" sz="1200" dirty="0" err="1"/>
              <a:t>nitelikli</a:t>
            </a:r>
            <a:r>
              <a:rPr lang="fr-FR" sz="1200" dirty="0"/>
              <a:t> </a:t>
            </a:r>
            <a:r>
              <a:rPr lang="fr-FR" sz="1200" dirty="0" err="1"/>
              <a:t>şekilleri</a:t>
            </a:r>
            <a:r>
              <a:rPr lang="fr-FR" sz="1200" dirty="0"/>
              <a:t>, </a:t>
            </a:r>
            <a:r>
              <a:rPr lang="fr-FR" sz="1200" dirty="0" err="1"/>
              <a:t>aynı</a:t>
            </a:r>
            <a:r>
              <a:rPr lang="fr-FR" sz="1200" dirty="0"/>
              <a:t> </a:t>
            </a:r>
            <a:r>
              <a:rPr lang="fr-FR" sz="1200" dirty="0" err="1"/>
              <a:t>suç</a:t>
            </a:r>
            <a:r>
              <a:rPr lang="fr-FR" sz="1200" dirty="0"/>
              <a:t> </a:t>
            </a:r>
            <a:r>
              <a:rPr lang="fr-FR" sz="1200" dirty="0" err="1"/>
              <a:t>sayılır</a:t>
            </a:r>
            <a:r>
              <a:rPr lang="fr-FR" sz="1200" dirty="0"/>
              <a:t>. </a:t>
            </a:r>
            <a:r>
              <a:rPr lang="fr-FR" sz="1200" dirty="0" err="1" smtClean="0"/>
              <a:t>Mağduru</a:t>
            </a:r>
            <a:r>
              <a:rPr lang="fr-FR" sz="1200" dirty="0" smtClean="0"/>
              <a:t> </a:t>
            </a:r>
            <a:r>
              <a:rPr lang="fr-FR" sz="1200" dirty="0"/>
              <a:t>belli </a:t>
            </a:r>
            <a:r>
              <a:rPr lang="fr-FR" sz="1200" dirty="0" err="1"/>
              <a:t>bir</a:t>
            </a:r>
            <a:r>
              <a:rPr lang="fr-FR" sz="1200" dirty="0"/>
              <a:t> </a:t>
            </a:r>
            <a:r>
              <a:rPr lang="fr-FR" sz="1200" dirty="0" err="1"/>
              <a:t>kişi</a:t>
            </a:r>
            <a:r>
              <a:rPr lang="fr-FR" sz="1200" dirty="0"/>
              <a:t> </a:t>
            </a:r>
            <a:r>
              <a:rPr lang="fr-FR" sz="1200" dirty="0" err="1"/>
              <a:t>olmayan</a:t>
            </a:r>
            <a:r>
              <a:rPr lang="fr-FR" sz="1200" dirty="0"/>
              <a:t> </a:t>
            </a:r>
            <a:r>
              <a:rPr lang="fr-FR" sz="1200" dirty="0" err="1"/>
              <a:t>suçlarda</a:t>
            </a:r>
            <a:r>
              <a:rPr lang="fr-FR" sz="1200" dirty="0"/>
              <a:t> da bu </a:t>
            </a:r>
            <a:r>
              <a:rPr lang="fr-FR" sz="1200" dirty="0" err="1"/>
              <a:t>fıkra</a:t>
            </a:r>
            <a:r>
              <a:rPr lang="fr-FR" sz="1200" dirty="0"/>
              <a:t> </a:t>
            </a:r>
            <a:r>
              <a:rPr lang="fr-FR" sz="1200" dirty="0" err="1"/>
              <a:t>hükmü</a:t>
            </a:r>
            <a:r>
              <a:rPr lang="fr-FR" sz="1200" dirty="0"/>
              <a:t> </a:t>
            </a:r>
            <a:r>
              <a:rPr lang="fr-FR" sz="1200" dirty="0" err="1"/>
              <a:t>uygulanır</a:t>
            </a:r>
            <a:r>
              <a:rPr lang="fr-FR" sz="1200" dirty="0"/>
              <a:t>.</a:t>
            </a:r>
          </a:p>
          <a:p>
            <a:pPr algn="just"/>
            <a:r>
              <a:rPr lang="tr-TR" sz="1200" dirty="0" smtClean="0"/>
              <a:t>..</a:t>
            </a:r>
            <a:r>
              <a:rPr lang="fr-FR" sz="1200" dirty="0" smtClean="0"/>
              <a:t>.</a:t>
            </a:r>
            <a:endParaRPr lang="fr-FR" sz="1200" dirty="0"/>
          </a:p>
          <a:p>
            <a:pPr algn="just"/>
            <a:r>
              <a:rPr lang="fr-FR" sz="1200" dirty="0"/>
              <a:t>(3) </a:t>
            </a:r>
            <a:r>
              <a:rPr lang="fr-FR" sz="1200" dirty="0" err="1"/>
              <a:t>Kasten</a:t>
            </a:r>
            <a:r>
              <a:rPr lang="fr-FR" sz="1200" dirty="0"/>
              <a:t> </a:t>
            </a:r>
            <a:r>
              <a:rPr lang="fr-FR" sz="1200" dirty="0" err="1"/>
              <a:t>öldürme</a:t>
            </a:r>
            <a:r>
              <a:rPr lang="fr-FR" sz="1200" dirty="0"/>
              <a:t>, </a:t>
            </a:r>
            <a:r>
              <a:rPr lang="fr-FR" sz="1200" dirty="0" err="1"/>
              <a:t>kasten</a:t>
            </a:r>
            <a:r>
              <a:rPr lang="fr-FR" sz="1200" dirty="0"/>
              <a:t> </a:t>
            </a:r>
            <a:r>
              <a:rPr lang="fr-FR" sz="1200" dirty="0" err="1"/>
              <a:t>yaralama</a:t>
            </a:r>
            <a:r>
              <a:rPr lang="fr-FR" sz="1200" dirty="0"/>
              <a:t>, </a:t>
            </a:r>
            <a:r>
              <a:rPr lang="fr-FR" sz="1200" dirty="0" err="1"/>
              <a:t>işkence</a:t>
            </a:r>
            <a:r>
              <a:rPr lang="fr-FR" sz="1200" dirty="0"/>
              <a:t> </a:t>
            </a:r>
            <a:r>
              <a:rPr lang="fr-FR" sz="1200" dirty="0" err="1"/>
              <a:t>ve</a:t>
            </a:r>
            <a:r>
              <a:rPr lang="fr-FR" sz="1200" dirty="0"/>
              <a:t> </a:t>
            </a:r>
            <a:r>
              <a:rPr lang="fr-FR" sz="1200" dirty="0" err="1"/>
              <a:t>yağma</a:t>
            </a:r>
            <a:r>
              <a:rPr lang="fr-FR" sz="1200" dirty="0"/>
              <a:t> </a:t>
            </a:r>
            <a:r>
              <a:rPr lang="fr-FR" sz="1200" dirty="0" err="1"/>
              <a:t>suçlarında</a:t>
            </a:r>
            <a:r>
              <a:rPr lang="fr-FR" sz="1200" dirty="0"/>
              <a:t> bu </a:t>
            </a:r>
            <a:r>
              <a:rPr lang="fr-FR" sz="1200" dirty="0" err="1"/>
              <a:t>madde</a:t>
            </a:r>
            <a:r>
              <a:rPr lang="fr-FR" sz="1200" dirty="0"/>
              <a:t> </a:t>
            </a:r>
            <a:r>
              <a:rPr lang="fr-FR" sz="1200" dirty="0" err="1"/>
              <a:t>hükümleri</a:t>
            </a:r>
            <a:r>
              <a:rPr lang="fr-FR" sz="1200" dirty="0"/>
              <a:t> </a:t>
            </a:r>
            <a:r>
              <a:rPr lang="fr-FR" sz="1200" dirty="0" err="1"/>
              <a:t>uygulanmaz</a:t>
            </a:r>
            <a:endParaRPr lang="fr-FR" sz="1200" dirty="0"/>
          </a:p>
        </p:txBody>
      </p:sp>
      <p:sp>
        <p:nvSpPr>
          <p:cNvPr id="10" name="Metin kutusu 9"/>
          <p:cNvSpPr txBox="1"/>
          <p:nvPr/>
        </p:nvSpPr>
        <p:spPr>
          <a:xfrm>
            <a:off x="2133600" y="4267936"/>
            <a:ext cx="9305924" cy="1815882"/>
          </a:xfrm>
          <a:prstGeom prst="rect">
            <a:avLst/>
          </a:prstGeom>
          <a:noFill/>
        </p:spPr>
        <p:txBody>
          <a:bodyPr wrap="square" rtlCol="0">
            <a:spAutoFit/>
          </a:bodyPr>
          <a:lstStyle/>
          <a:p>
            <a:pPr marL="285750" indent="-285750">
              <a:buFont typeface="Arial" panose="020B0604020202020204" pitchFamily="34" charset="0"/>
              <a:buChar char="•"/>
            </a:pPr>
            <a:r>
              <a:rPr lang="tr-TR" sz="1400" dirty="0" smtClean="0">
                <a:effectLst>
                  <a:outerShdw blurRad="38100" dist="38100" dir="2700000" algn="tl">
                    <a:srgbClr val="000000">
                      <a:alpha val="43137"/>
                    </a:srgbClr>
                  </a:outerShdw>
                </a:effectLst>
              </a:rPr>
              <a:t>Suçların sayısı ne olursa olsun, tek suçtan dolayı cezaya hükmedilecektir.</a:t>
            </a:r>
          </a:p>
          <a:p>
            <a:pPr marL="285750" indent="-285750">
              <a:buFont typeface="Arial" panose="020B0604020202020204" pitchFamily="34" charset="0"/>
              <a:buChar char="•"/>
            </a:pPr>
            <a:r>
              <a:rPr lang="tr-TR" sz="1400" dirty="0" smtClean="0">
                <a:effectLst>
                  <a:outerShdw blurRad="38100" dist="38100" dir="2700000" algn="tl">
                    <a:srgbClr val="000000">
                      <a:alpha val="43137"/>
                    </a:srgbClr>
                  </a:outerShdw>
                </a:effectLst>
              </a:rPr>
              <a:t>Tek cezaya hükmedilecek ancak ceza artırılacaktır.</a:t>
            </a:r>
          </a:p>
          <a:p>
            <a:pPr marL="285750" indent="-285750">
              <a:buFont typeface="Arial" panose="020B0604020202020204" pitchFamily="34" charset="0"/>
              <a:buChar char="•"/>
            </a:pPr>
            <a:r>
              <a:rPr lang="tr-TR" sz="1400" dirty="0" smtClean="0">
                <a:effectLst>
                  <a:outerShdw blurRad="38100" dist="38100" dir="2700000" algn="tl">
                    <a:srgbClr val="000000">
                      <a:alpha val="43137"/>
                    </a:srgbClr>
                  </a:outerShdw>
                </a:effectLst>
              </a:rPr>
              <a:t>Suçlardan bazıları teşebbüs aşamasında kalmış, diğerleri tamamlanmış ise, tamamlanmış suçun cezası esas alınarak artırım yapılacaktır.</a:t>
            </a:r>
          </a:p>
          <a:p>
            <a:pPr marL="285750" indent="-285750">
              <a:buFont typeface="Arial" panose="020B0604020202020204" pitchFamily="34" charset="0"/>
              <a:buChar char="•"/>
            </a:pPr>
            <a:r>
              <a:rPr lang="tr-TR" sz="1400" dirty="0" smtClean="0">
                <a:effectLst>
                  <a:outerShdw blurRad="38100" dist="38100" dir="2700000" algn="tl">
                    <a:srgbClr val="000000">
                      <a:alpha val="43137"/>
                    </a:srgbClr>
                  </a:outerShdw>
                </a:effectLst>
              </a:rPr>
              <a:t>Suçun temel şekli ile nitelikli halleri aynı suç sayılacaktır.</a:t>
            </a:r>
          </a:p>
          <a:p>
            <a:pPr marL="285750" indent="-285750">
              <a:buFont typeface="Arial" panose="020B0604020202020204" pitchFamily="34" charset="0"/>
              <a:buChar char="•"/>
            </a:pPr>
            <a:r>
              <a:rPr lang="tr-TR" sz="1400" dirty="0">
                <a:effectLst>
                  <a:outerShdw blurRad="38100" dist="38100" dir="2700000" algn="tl">
                    <a:srgbClr val="000000">
                      <a:alpha val="43137"/>
                    </a:srgbClr>
                  </a:outerShdw>
                </a:effectLst>
              </a:rPr>
              <a:t>Kasten öldürme, kasten yaralama, işkence ve yağma </a:t>
            </a:r>
            <a:r>
              <a:rPr lang="tr-TR" sz="1400" dirty="0" smtClean="0">
                <a:effectLst>
                  <a:outerShdw blurRad="38100" dist="38100" dir="2700000" algn="tl">
                    <a:srgbClr val="000000">
                      <a:alpha val="43137"/>
                    </a:srgbClr>
                  </a:outerShdw>
                </a:effectLst>
              </a:rPr>
              <a:t>suçlarında zincirleme suç hükümleri uygulanmayacak, gerçek içtima yapılacaktır</a:t>
            </a:r>
          </a:p>
          <a:p>
            <a:pPr marL="285750" indent="-285750">
              <a:buFont typeface="Arial" panose="020B0604020202020204" pitchFamily="34" charset="0"/>
              <a:buChar char="•"/>
            </a:pPr>
            <a:endParaRPr lang="fr-FR" sz="1400" dirty="0">
              <a:effectLst>
                <a:outerShdw blurRad="38100" dist="38100" dir="2700000" algn="tl">
                  <a:srgbClr val="000000">
                    <a:alpha val="43137"/>
                  </a:srgbClr>
                </a:outerShdw>
              </a:effectLst>
            </a:endParaRPr>
          </a:p>
        </p:txBody>
      </p:sp>
      <p:sp>
        <p:nvSpPr>
          <p:cNvPr id="8" name="Metin kutusu 7"/>
          <p:cNvSpPr txBox="1"/>
          <p:nvPr/>
        </p:nvSpPr>
        <p:spPr>
          <a:xfrm>
            <a:off x="105104" y="5703214"/>
            <a:ext cx="2228194" cy="1092607"/>
          </a:xfrm>
          <a:prstGeom prst="rect">
            <a:avLst/>
          </a:prstGeom>
          <a:noFill/>
        </p:spPr>
        <p:txBody>
          <a:bodyPr wrap="square" rtlCol="0">
            <a:spAutoFit/>
          </a:bodyPr>
          <a:lstStyle/>
          <a:p>
            <a:r>
              <a:rPr lang="tr-TR" sz="1300" dirty="0" smtClean="0">
                <a:effectLst>
                  <a:outerShdw blurRad="38100" dist="38100" dir="2700000" algn="tl">
                    <a:srgbClr val="000000">
                      <a:alpha val="43137"/>
                    </a:srgbClr>
                  </a:outerShdw>
                </a:effectLst>
              </a:rPr>
              <a:t>Suçların İçtima</a:t>
            </a:r>
          </a:p>
          <a:p>
            <a:r>
              <a:rPr lang="tr-TR" sz="1300" b="1" dirty="0" smtClean="0"/>
              <a:t>1-</a:t>
            </a:r>
            <a:r>
              <a:rPr lang="tr-TR" sz="1300" dirty="0" smtClean="0"/>
              <a:t>Seçimlik Hareketli Suçlar</a:t>
            </a:r>
          </a:p>
          <a:p>
            <a:r>
              <a:rPr lang="tr-TR" sz="1300" b="1" dirty="0" smtClean="0"/>
              <a:t>2-</a:t>
            </a:r>
            <a:r>
              <a:rPr lang="tr-TR" sz="1300" dirty="0" smtClean="0"/>
              <a:t>Bileşik Suçlar</a:t>
            </a:r>
          </a:p>
          <a:p>
            <a:r>
              <a:rPr lang="tr-TR" sz="1300" b="1" u="sng" dirty="0" smtClean="0">
                <a:effectLst>
                  <a:outerShdw blurRad="38100" dist="38100" dir="2700000" algn="tl">
                    <a:srgbClr val="000000">
                      <a:alpha val="43137"/>
                    </a:srgbClr>
                  </a:outerShdw>
                </a:effectLst>
              </a:rPr>
              <a:t>3-</a:t>
            </a:r>
            <a:r>
              <a:rPr lang="tr-TR" sz="1300" u="sng" dirty="0" smtClean="0">
                <a:effectLst>
                  <a:outerShdw blurRad="38100" dist="38100" dir="2700000" algn="tl">
                    <a:srgbClr val="000000">
                      <a:alpha val="43137"/>
                    </a:srgbClr>
                  </a:outerShdw>
                </a:effectLst>
              </a:rPr>
              <a:t>Zincirleme Suç</a:t>
            </a:r>
          </a:p>
          <a:p>
            <a:r>
              <a:rPr lang="tr-TR" sz="1300" b="1" dirty="0" smtClean="0"/>
              <a:t>4-</a:t>
            </a:r>
            <a:r>
              <a:rPr lang="tr-TR" sz="1300" dirty="0" smtClean="0"/>
              <a:t>Fikri İçtima</a:t>
            </a:r>
            <a:endParaRPr lang="fr-FR" sz="1300" dirty="0"/>
          </a:p>
        </p:txBody>
      </p:sp>
      <p:sp>
        <p:nvSpPr>
          <p:cNvPr id="4" name="Slayt Numarası Yer Tutucusu 3"/>
          <p:cNvSpPr>
            <a:spLocks noGrp="1"/>
          </p:cNvSpPr>
          <p:nvPr>
            <p:ph type="sldNum" sz="quarter" idx="12"/>
          </p:nvPr>
        </p:nvSpPr>
        <p:spPr/>
        <p:txBody>
          <a:bodyPr/>
          <a:lstStyle/>
          <a:p>
            <a:fld id="{39F9BA00-44CD-41D4-A3D8-F864C744DC1F}" type="slidenum">
              <a:rPr lang="tr-TR" smtClean="0"/>
              <a:t>95</a:t>
            </a:fld>
            <a:r>
              <a:rPr lang="tr-TR"/>
              <a:t>/116</a:t>
            </a:r>
          </a:p>
        </p:txBody>
      </p:sp>
    </p:spTree>
    <p:extLst>
      <p:ext uri="{BB962C8B-B14F-4D97-AF65-F5344CB8AC3E}">
        <p14:creationId xmlns:p14="http://schemas.microsoft.com/office/powerpoint/2010/main" val="227665084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5" name="Dikdörtgen 14"/>
          <p:cNvSpPr/>
          <p:nvPr/>
        </p:nvSpPr>
        <p:spPr>
          <a:xfrm>
            <a:off x="1874779" y="1842319"/>
            <a:ext cx="9412346"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Suçların </a:t>
            </a:r>
            <a:r>
              <a:rPr lang="tr-TR" sz="2000" b="1" dirty="0" err="1" smtClean="0">
                <a:effectLst>
                  <a:outerShdw blurRad="38100" dist="38100" dir="2700000" algn="tl">
                    <a:srgbClr val="000000">
                      <a:alpha val="43137"/>
                    </a:srgbClr>
                  </a:outerShdw>
                </a:effectLst>
                <a:latin typeface="Calibri" panose="020F0502020204030204"/>
              </a:rPr>
              <a:t>İçtiması</a:t>
            </a:r>
            <a:endParaRPr lang="tr-TR" sz="2000" i="1" dirty="0" smtClean="0">
              <a:effectLst>
                <a:outerShdw blurRad="38100" dist="38100" dir="2700000" algn="tl">
                  <a:srgbClr val="000000">
                    <a:alpha val="43137"/>
                  </a:srgbClr>
                </a:outerShdw>
              </a:effectLst>
              <a:latin typeface="Calibri" panose="020F0502020204030204"/>
            </a:endParaRPr>
          </a:p>
        </p:txBody>
      </p:sp>
      <p:sp>
        <p:nvSpPr>
          <p:cNvPr id="16" name="Dikdörtgen 15"/>
          <p:cNvSpPr/>
          <p:nvPr/>
        </p:nvSpPr>
        <p:spPr>
          <a:xfrm>
            <a:off x="2246254" y="2320886"/>
            <a:ext cx="9305924" cy="338554"/>
          </a:xfrm>
          <a:prstGeom prst="rect">
            <a:avLst/>
          </a:prstGeom>
        </p:spPr>
        <p:txBody>
          <a:bodyPr wrap="square">
            <a:spAutoFit/>
          </a:bodyPr>
          <a:lstStyle/>
          <a:p>
            <a:pPr algn="just"/>
            <a:r>
              <a:rPr lang="tr-TR" sz="1600" b="1" dirty="0" smtClean="0"/>
              <a:t>Fikri İçtima </a:t>
            </a:r>
            <a:r>
              <a:rPr lang="tr-TR" sz="1200" i="1" dirty="0" smtClean="0"/>
              <a:t>Failin bir fiiliyle, birden fazla suç oluşmaktadır.</a:t>
            </a:r>
            <a:r>
              <a:rPr lang="tr-TR" sz="1600" b="1" dirty="0"/>
              <a:t>	</a:t>
            </a:r>
            <a:endParaRPr lang="fr-FR" sz="1600" b="1" dirty="0"/>
          </a:p>
        </p:txBody>
      </p:sp>
      <p:sp>
        <p:nvSpPr>
          <p:cNvPr id="2" name="Dikdörtgen 1"/>
          <p:cNvSpPr/>
          <p:nvPr/>
        </p:nvSpPr>
        <p:spPr>
          <a:xfrm>
            <a:off x="2920420" y="2841273"/>
            <a:ext cx="8943975" cy="1200329"/>
          </a:xfrm>
          <a:prstGeom prst="rect">
            <a:avLst/>
          </a:prstGeom>
        </p:spPr>
        <p:txBody>
          <a:bodyPr wrap="square">
            <a:spAutoFit/>
          </a:bodyPr>
          <a:lstStyle/>
          <a:p>
            <a:pPr algn="just"/>
            <a:r>
              <a:rPr lang="tr-TR" sz="1200" b="1" dirty="0" smtClean="0"/>
              <a:t>Türk Ceza Kanunu</a:t>
            </a:r>
          </a:p>
          <a:p>
            <a:pPr algn="just"/>
            <a:r>
              <a:rPr lang="fr-FR" sz="1200" b="1" dirty="0" err="1" smtClean="0"/>
              <a:t>Zincirleme</a:t>
            </a:r>
            <a:r>
              <a:rPr lang="fr-FR" sz="1200" b="1" dirty="0" smtClean="0"/>
              <a:t> </a:t>
            </a:r>
            <a:r>
              <a:rPr lang="fr-FR" sz="1200" b="1" dirty="0" err="1"/>
              <a:t>suç</a:t>
            </a:r>
            <a:endParaRPr lang="fr-FR" sz="1200" b="1" dirty="0"/>
          </a:p>
          <a:p>
            <a:pPr algn="just"/>
            <a:r>
              <a:rPr lang="fr-FR" sz="1200" b="1" dirty="0" err="1"/>
              <a:t>Madde</a:t>
            </a:r>
            <a:r>
              <a:rPr lang="fr-FR" sz="1200" b="1" dirty="0"/>
              <a:t> 43-</a:t>
            </a:r>
            <a:r>
              <a:rPr lang="fr-FR" sz="1200" dirty="0"/>
              <a:t> </a:t>
            </a:r>
            <a:r>
              <a:rPr lang="fr-FR" sz="1200" dirty="0" smtClean="0"/>
              <a:t>(1) Bir </a:t>
            </a:r>
            <a:r>
              <a:rPr lang="fr-FR" sz="1200" dirty="0" err="1" smtClean="0"/>
              <a:t>suç</a:t>
            </a:r>
            <a:r>
              <a:rPr lang="fr-FR" sz="1200" dirty="0" smtClean="0"/>
              <a:t> </a:t>
            </a:r>
            <a:r>
              <a:rPr lang="fr-FR" sz="1200" dirty="0" err="1" smtClean="0"/>
              <a:t>işleme</a:t>
            </a:r>
            <a:r>
              <a:rPr lang="fr-FR" sz="1200" dirty="0" smtClean="0"/>
              <a:t> </a:t>
            </a:r>
            <a:r>
              <a:rPr lang="fr-FR" sz="1200" dirty="0" err="1" smtClean="0"/>
              <a:t>kararının</a:t>
            </a:r>
            <a:r>
              <a:rPr lang="fr-FR" sz="1200" dirty="0" smtClean="0"/>
              <a:t> </a:t>
            </a:r>
            <a:r>
              <a:rPr lang="fr-FR" sz="1200" dirty="0" err="1" smtClean="0"/>
              <a:t>icrası</a:t>
            </a:r>
            <a:r>
              <a:rPr lang="fr-FR" sz="1200" dirty="0" smtClean="0"/>
              <a:t> </a:t>
            </a:r>
            <a:r>
              <a:rPr lang="fr-FR" sz="1200" dirty="0" err="1" smtClean="0"/>
              <a:t>kapsamında</a:t>
            </a:r>
            <a:r>
              <a:rPr lang="fr-FR" sz="1200" dirty="0" smtClean="0"/>
              <a:t>, </a:t>
            </a:r>
            <a:r>
              <a:rPr lang="fr-FR" sz="1200" dirty="0" err="1" smtClean="0"/>
              <a:t>değişik</a:t>
            </a:r>
            <a:r>
              <a:rPr lang="fr-FR" sz="1200" dirty="0" smtClean="0"/>
              <a:t> </a:t>
            </a:r>
            <a:r>
              <a:rPr lang="fr-FR" sz="1200" dirty="0" err="1" smtClean="0"/>
              <a:t>zamanlarda</a:t>
            </a:r>
            <a:r>
              <a:rPr lang="fr-FR" sz="1200" dirty="0" smtClean="0"/>
              <a:t> </a:t>
            </a:r>
            <a:r>
              <a:rPr lang="fr-FR" sz="1200" dirty="0" err="1" smtClean="0"/>
              <a:t>bir</a:t>
            </a:r>
            <a:r>
              <a:rPr lang="fr-FR" sz="1200" dirty="0" smtClean="0"/>
              <a:t> </a:t>
            </a:r>
            <a:r>
              <a:rPr lang="fr-FR" sz="1200" dirty="0" err="1" smtClean="0"/>
              <a:t>kişiye</a:t>
            </a:r>
            <a:r>
              <a:rPr lang="fr-FR" sz="1200" dirty="0" smtClean="0"/>
              <a:t> </a:t>
            </a:r>
            <a:r>
              <a:rPr lang="fr-FR" sz="1200" dirty="0" err="1" smtClean="0"/>
              <a:t>karşı</a:t>
            </a:r>
            <a:r>
              <a:rPr lang="fr-FR" sz="1200" dirty="0" smtClean="0"/>
              <a:t> </a:t>
            </a:r>
            <a:r>
              <a:rPr lang="fr-FR" sz="1200" dirty="0" err="1" smtClean="0"/>
              <a:t>aynı</a:t>
            </a:r>
            <a:r>
              <a:rPr lang="fr-FR" sz="1200" dirty="0" smtClean="0"/>
              <a:t> </a:t>
            </a:r>
            <a:r>
              <a:rPr lang="fr-FR" sz="1200" dirty="0" err="1" smtClean="0"/>
              <a:t>suçun</a:t>
            </a:r>
            <a:r>
              <a:rPr lang="fr-FR" sz="1200" dirty="0" smtClean="0"/>
              <a:t> </a:t>
            </a:r>
            <a:r>
              <a:rPr lang="fr-FR" sz="1200" dirty="0" err="1" smtClean="0"/>
              <a:t>birden</a:t>
            </a:r>
            <a:r>
              <a:rPr lang="fr-FR" sz="1200" dirty="0" smtClean="0"/>
              <a:t> </a:t>
            </a:r>
            <a:r>
              <a:rPr lang="fr-FR" sz="1200" dirty="0" err="1" smtClean="0"/>
              <a:t>fazla</a:t>
            </a:r>
            <a:r>
              <a:rPr lang="fr-FR" sz="1200" dirty="0" smtClean="0"/>
              <a:t> </a:t>
            </a:r>
            <a:r>
              <a:rPr lang="fr-FR" sz="1200" dirty="0" err="1" smtClean="0"/>
              <a:t>işlenmesi</a:t>
            </a:r>
            <a:r>
              <a:rPr lang="fr-FR" sz="1200" dirty="0" smtClean="0"/>
              <a:t> </a:t>
            </a:r>
            <a:r>
              <a:rPr lang="fr-FR" sz="1200" dirty="0" err="1" smtClean="0"/>
              <a:t>durumunda</a:t>
            </a:r>
            <a:r>
              <a:rPr lang="fr-FR" sz="1200" dirty="0" smtClean="0"/>
              <a:t>, </a:t>
            </a:r>
            <a:r>
              <a:rPr lang="fr-FR" sz="1200" dirty="0" err="1" smtClean="0"/>
              <a:t>bir</a:t>
            </a:r>
            <a:r>
              <a:rPr lang="fr-FR" sz="1200" dirty="0" smtClean="0"/>
              <a:t> </a:t>
            </a:r>
            <a:r>
              <a:rPr lang="fr-FR" sz="1200" dirty="0" err="1" smtClean="0"/>
              <a:t>cezaya</a:t>
            </a:r>
            <a:r>
              <a:rPr lang="fr-FR" sz="1200" dirty="0" smtClean="0"/>
              <a:t> </a:t>
            </a:r>
            <a:r>
              <a:rPr lang="fr-FR" sz="1200" dirty="0" err="1" smtClean="0"/>
              <a:t>hükmedilir</a:t>
            </a:r>
            <a:r>
              <a:rPr lang="fr-FR" sz="1200" dirty="0" smtClean="0"/>
              <a:t>. </a:t>
            </a:r>
            <a:r>
              <a:rPr lang="fr-FR" sz="1200" dirty="0" err="1" smtClean="0"/>
              <a:t>Ancak</a:t>
            </a:r>
            <a:r>
              <a:rPr lang="fr-FR" sz="1200" dirty="0" smtClean="0"/>
              <a:t> bu </a:t>
            </a:r>
            <a:r>
              <a:rPr lang="fr-FR" sz="1200" dirty="0" err="1" smtClean="0"/>
              <a:t>ceza</a:t>
            </a:r>
            <a:r>
              <a:rPr lang="fr-FR" sz="1200" dirty="0" smtClean="0"/>
              <a:t>, </a:t>
            </a:r>
            <a:r>
              <a:rPr lang="fr-FR" sz="1200" dirty="0" err="1" smtClean="0"/>
              <a:t>dörtte</a:t>
            </a:r>
            <a:r>
              <a:rPr lang="fr-FR" sz="1200" dirty="0" smtClean="0"/>
              <a:t> </a:t>
            </a:r>
            <a:r>
              <a:rPr lang="fr-FR" sz="1200" dirty="0" err="1" smtClean="0"/>
              <a:t>birinden</a:t>
            </a:r>
            <a:r>
              <a:rPr lang="fr-FR" sz="1200" dirty="0" smtClean="0"/>
              <a:t> </a:t>
            </a:r>
            <a:r>
              <a:rPr lang="fr-FR" sz="1200" dirty="0" err="1" smtClean="0"/>
              <a:t>dörtte</a:t>
            </a:r>
            <a:r>
              <a:rPr lang="fr-FR" sz="1200" dirty="0" smtClean="0"/>
              <a:t> </a:t>
            </a:r>
            <a:r>
              <a:rPr lang="fr-FR" sz="1200" dirty="0" err="1" smtClean="0"/>
              <a:t>üçüne</a:t>
            </a:r>
            <a:r>
              <a:rPr lang="fr-FR" sz="1200" dirty="0" smtClean="0"/>
              <a:t> </a:t>
            </a:r>
            <a:r>
              <a:rPr lang="fr-FR" sz="1200" dirty="0" err="1" smtClean="0"/>
              <a:t>kadar</a:t>
            </a:r>
            <a:r>
              <a:rPr lang="fr-FR" sz="1200" dirty="0" smtClean="0"/>
              <a:t> </a:t>
            </a:r>
            <a:r>
              <a:rPr lang="fr-FR" sz="1200" dirty="0" err="1" smtClean="0"/>
              <a:t>artırılır</a:t>
            </a:r>
            <a:r>
              <a:rPr lang="fr-FR" sz="1200" dirty="0" smtClean="0"/>
              <a:t>. Bir </a:t>
            </a:r>
            <a:r>
              <a:rPr lang="fr-FR" sz="1200" dirty="0" err="1" smtClean="0"/>
              <a:t>suçun</a:t>
            </a:r>
            <a:r>
              <a:rPr lang="fr-FR" sz="1200" dirty="0" smtClean="0"/>
              <a:t> </a:t>
            </a:r>
            <a:r>
              <a:rPr lang="fr-FR" sz="1200" dirty="0" err="1" smtClean="0"/>
              <a:t>temel</a:t>
            </a:r>
            <a:r>
              <a:rPr lang="fr-FR" sz="1200" dirty="0" smtClean="0"/>
              <a:t> </a:t>
            </a:r>
            <a:r>
              <a:rPr lang="fr-FR" sz="1200" dirty="0" err="1" smtClean="0"/>
              <a:t>şekli</a:t>
            </a:r>
            <a:r>
              <a:rPr lang="fr-FR" sz="1200" dirty="0" smtClean="0"/>
              <a:t> ile </a:t>
            </a:r>
            <a:r>
              <a:rPr lang="fr-FR" sz="1200" dirty="0" err="1" smtClean="0"/>
              <a:t>daha</a:t>
            </a:r>
            <a:r>
              <a:rPr lang="fr-FR" sz="1200" dirty="0" smtClean="0"/>
              <a:t> </a:t>
            </a:r>
            <a:r>
              <a:rPr lang="fr-FR" sz="1200" dirty="0" err="1" smtClean="0"/>
              <a:t>ağır</a:t>
            </a:r>
            <a:r>
              <a:rPr lang="fr-FR" sz="1200" dirty="0" smtClean="0"/>
              <a:t> </a:t>
            </a:r>
            <a:r>
              <a:rPr lang="fr-FR" sz="1200" dirty="0" err="1" smtClean="0"/>
              <a:t>veya</a:t>
            </a:r>
            <a:r>
              <a:rPr lang="fr-FR" sz="1200" dirty="0" smtClean="0"/>
              <a:t> </a:t>
            </a:r>
            <a:r>
              <a:rPr lang="fr-FR" sz="1200" dirty="0" err="1" smtClean="0"/>
              <a:t>daha</a:t>
            </a:r>
            <a:r>
              <a:rPr lang="fr-FR" sz="1200" dirty="0" smtClean="0"/>
              <a:t> </a:t>
            </a:r>
            <a:r>
              <a:rPr lang="fr-FR" sz="1200" dirty="0" err="1" smtClean="0"/>
              <a:t>az</a:t>
            </a:r>
            <a:r>
              <a:rPr lang="fr-FR" sz="1200" dirty="0" smtClean="0"/>
              <a:t> </a:t>
            </a:r>
            <a:r>
              <a:rPr lang="fr-FR" sz="1200" dirty="0" err="1" smtClean="0"/>
              <a:t>cezayı</a:t>
            </a:r>
            <a:r>
              <a:rPr lang="fr-FR" sz="1200" dirty="0" smtClean="0"/>
              <a:t> </a:t>
            </a:r>
            <a:r>
              <a:rPr lang="fr-FR" sz="1200" dirty="0" err="1" smtClean="0"/>
              <a:t>gerektiren</a:t>
            </a:r>
            <a:r>
              <a:rPr lang="fr-FR" sz="1200" dirty="0" smtClean="0"/>
              <a:t> </a:t>
            </a:r>
            <a:r>
              <a:rPr lang="fr-FR" sz="1200" dirty="0" err="1" smtClean="0"/>
              <a:t>nitelikli</a:t>
            </a:r>
            <a:r>
              <a:rPr lang="fr-FR" sz="1200" dirty="0" smtClean="0"/>
              <a:t> </a:t>
            </a:r>
            <a:r>
              <a:rPr lang="fr-FR" sz="1200" dirty="0" err="1" smtClean="0"/>
              <a:t>şekilleri</a:t>
            </a:r>
            <a:r>
              <a:rPr lang="fr-FR" sz="1200" dirty="0" smtClean="0"/>
              <a:t>, </a:t>
            </a:r>
            <a:r>
              <a:rPr lang="fr-FR" sz="1200" dirty="0" err="1" smtClean="0"/>
              <a:t>aynı</a:t>
            </a:r>
            <a:r>
              <a:rPr lang="fr-FR" sz="1200" dirty="0" smtClean="0"/>
              <a:t> </a:t>
            </a:r>
            <a:r>
              <a:rPr lang="fr-FR" sz="1200" dirty="0" err="1" smtClean="0"/>
              <a:t>suç</a:t>
            </a:r>
            <a:r>
              <a:rPr lang="fr-FR" sz="1200" dirty="0" smtClean="0"/>
              <a:t> </a:t>
            </a:r>
            <a:r>
              <a:rPr lang="fr-FR" sz="1200" dirty="0" err="1" smtClean="0"/>
              <a:t>sayılır</a:t>
            </a:r>
            <a:r>
              <a:rPr lang="fr-FR" sz="1200" dirty="0" smtClean="0"/>
              <a:t>. </a:t>
            </a:r>
            <a:r>
              <a:rPr lang="fr-FR" sz="1200" dirty="0" err="1" smtClean="0"/>
              <a:t>Mağduru</a:t>
            </a:r>
            <a:r>
              <a:rPr lang="fr-FR" sz="1200" dirty="0" smtClean="0"/>
              <a:t> belli </a:t>
            </a:r>
            <a:r>
              <a:rPr lang="fr-FR" sz="1200" dirty="0" err="1" smtClean="0"/>
              <a:t>bir</a:t>
            </a:r>
            <a:r>
              <a:rPr lang="fr-FR" sz="1200" dirty="0" smtClean="0"/>
              <a:t> </a:t>
            </a:r>
            <a:r>
              <a:rPr lang="fr-FR" sz="1200" dirty="0" err="1" smtClean="0"/>
              <a:t>kişi</a:t>
            </a:r>
            <a:r>
              <a:rPr lang="fr-FR" sz="1200" dirty="0" smtClean="0"/>
              <a:t> </a:t>
            </a:r>
            <a:r>
              <a:rPr lang="fr-FR" sz="1200" dirty="0" err="1" smtClean="0"/>
              <a:t>olmayan</a:t>
            </a:r>
            <a:r>
              <a:rPr lang="fr-FR" sz="1200" dirty="0" smtClean="0"/>
              <a:t> </a:t>
            </a:r>
            <a:r>
              <a:rPr lang="fr-FR" sz="1200" dirty="0" err="1" smtClean="0"/>
              <a:t>suçlarda</a:t>
            </a:r>
            <a:r>
              <a:rPr lang="fr-FR" sz="1200" dirty="0" smtClean="0"/>
              <a:t> da bu </a:t>
            </a:r>
            <a:r>
              <a:rPr lang="fr-FR" sz="1200" dirty="0" err="1" smtClean="0"/>
              <a:t>fıkra</a:t>
            </a:r>
            <a:r>
              <a:rPr lang="fr-FR" sz="1200" dirty="0" smtClean="0"/>
              <a:t> </a:t>
            </a:r>
            <a:r>
              <a:rPr lang="fr-FR" sz="1200" dirty="0" err="1" smtClean="0"/>
              <a:t>hükmü</a:t>
            </a:r>
            <a:r>
              <a:rPr lang="fr-FR" sz="1200" dirty="0" smtClean="0"/>
              <a:t> </a:t>
            </a:r>
            <a:r>
              <a:rPr lang="fr-FR" sz="1200" dirty="0" err="1" smtClean="0"/>
              <a:t>uygulanır</a:t>
            </a:r>
            <a:r>
              <a:rPr lang="fr-FR" sz="1200" dirty="0" smtClean="0"/>
              <a:t>.</a:t>
            </a:r>
          </a:p>
          <a:p>
            <a:pPr algn="just"/>
            <a:r>
              <a:rPr lang="fr-FR" sz="1200" b="1" dirty="0" smtClean="0"/>
              <a:t>(2) </a:t>
            </a:r>
            <a:r>
              <a:rPr lang="fr-FR" sz="1200" b="1" dirty="0" err="1" smtClean="0"/>
              <a:t>Aynı</a:t>
            </a:r>
            <a:r>
              <a:rPr lang="fr-FR" sz="1200" b="1" dirty="0" smtClean="0"/>
              <a:t> </a:t>
            </a:r>
            <a:r>
              <a:rPr lang="fr-FR" sz="1200" b="1" dirty="0" err="1" smtClean="0"/>
              <a:t>suçun</a:t>
            </a:r>
            <a:r>
              <a:rPr lang="fr-FR" sz="1200" b="1" dirty="0" smtClean="0"/>
              <a:t> </a:t>
            </a:r>
            <a:r>
              <a:rPr lang="fr-FR" sz="1200" b="1" dirty="0" err="1" smtClean="0"/>
              <a:t>birden</a:t>
            </a:r>
            <a:r>
              <a:rPr lang="fr-FR" sz="1200" b="1" dirty="0" smtClean="0"/>
              <a:t> </a:t>
            </a:r>
            <a:r>
              <a:rPr lang="fr-FR" sz="1200" b="1" dirty="0" err="1" smtClean="0"/>
              <a:t>fazla</a:t>
            </a:r>
            <a:r>
              <a:rPr lang="fr-FR" sz="1200" b="1" dirty="0" smtClean="0"/>
              <a:t> </a:t>
            </a:r>
            <a:r>
              <a:rPr lang="fr-FR" sz="1200" b="1" dirty="0" err="1" smtClean="0"/>
              <a:t>kişiye</a:t>
            </a:r>
            <a:r>
              <a:rPr lang="fr-FR" sz="1200" b="1" dirty="0" smtClean="0"/>
              <a:t> </a:t>
            </a:r>
            <a:r>
              <a:rPr lang="fr-FR" sz="1200" b="1" dirty="0" err="1" smtClean="0"/>
              <a:t>karşı</a:t>
            </a:r>
            <a:r>
              <a:rPr lang="fr-FR" sz="1200" b="1" dirty="0" smtClean="0"/>
              <a:t> tek </a:t>
            </a:r>
            <a:r>
              <a:rPr lang="fr-FR" sz="1200" b="1" dirty="0" err="1" smtClean="0"/>
              <a:t>bir</a:t>
            </a:r>
            <a:r>
              <a:rPr lang="fr-FR" sz="1200" b="1" dirty="0" smtClean="0"/>
              <a:t> </a:t>
            </a:r>
            <a:r>
              <a:rPr lang="fr-FR" sz="1200" b="1" dirty="0" err="1" smtClean="0"/>
              <a:t>fiille</a:t>
            </a:r>
            <a:r>
              <a:rPr lang="fr-FR" sz="1200" b="1" dirty="0" smtClean="0"/>
              <a:t> </a:t>
            </a:r>
            <a:r>
              <a:rPr lang="fr-FR" sz="1200" b="1" dirty="0" err="1" smtClean="0"/>
              <a:t>işlenmesi</a:t>
            </a:r>
            <a:r>
              <a:rPr lang="fr-FR" sz="1200" b="1" dirty="0" smtClean="0"/>
              <a:t> </a:t>
            </a:r>
            <a:r>
              <a:rPr lang="fr-FR" sz="1200" b="1" dirty="0" err="1" smtClean="0"/>
              <a:t>durumunda</a:t>
            </a:r>
            <a:r>
              <a:rPr lang="fr-FR" sz="1200" b="1" dirty="0" smtClean="0"/>
              <a:t> da, </a:t>
            </a:r>
            <a:r>
              <a:rPr lang="fr-FR" sz="1200" b="1" dirty="0" err="1" smtClean="0"/>
              <a:t>birinci</a:t>
            </a:r>
            <a:r>
              <a:rPr lang="fr-FR" sz="1200" b="1" dirty="0" smtClean="0"/>
              <a:t> </a:t>
            </a:r>
            <a:r>
              <a:rPr lang="fr-FR" sz="1200" b="1" dirty="0" err="1" smtClean="0"/>
              <a:t>fıkra</a:t>
            </a:r>
            <a:r>
              <a:rPr lang="fr-FR" sz="1200" b="1" dirty="0" smtClean="0"/>
              <a:t> </a:t>
            </a:r>
            <a:r>
              <a:rPr lang="fr-FR" sz="1200" b="1" dirty="0" err="1" smtClean="0"/>
              <a:t>hükmü</a:t>
            </a:r>
            <a:r>
              <a:rPr lang="fr-FR" sz="1200" b="1" dirty="0" smtClean="0"/>
              <a:t> </a:t>
            </a:r>
            <a:r>
              <a:rPr lang="fr-FR" sz="1200" b="1" dirty="0" err="1" smtClean="0"/>
              <a:t>uygulanır</a:t>
            </a:r>
            <a:r>
              <a:rPr lang="fr-FR" sz="1200" b="1" dirty="0" smtClean="0"/>
              <a:t>.</a:t>
            </a:r>
          </a:p>
        </p:txBody>
      </p:sp>
      <p:sp>
        <p:nvSpPr>
          <p:cNvPr id="18" name="Dikdörtgen 17"/>
          <p:cNvSpPr/>
          <p:nvPr/>
        </p:nvSpPr>
        <p:spPr>
          <a:xfrm>
            <a:off x="2920420" y="2643974"/>
            <a:ext cx="8920597" cy="523220"/>
          </a:xfrm>
          <a:prstGeom prst="rect">
            <a:avLst/>
          </a:prstGeom>
        </p:spPr>
        <p:txBody>
          <a:bodyPr wrap="square">
            <a:spAutoFit/>
          </a:bodyPr>
          <a:lstStyle/>
          <a:p>
            <a:pPr algn="just"/>
            <a:r>
              <a:rPr lang="tr-TR" sz="1400" b="1" dirty="0" smtClean="0"/>
              <a:t>Aynı Neviden Fikri İçtima</a:t>
            </a:r>
            <a:r>
              <a:rPr lang="tr-TR" sz="1200" i="1" dirty="0" smtClean="0"/>
              <a:t> </a:t>
            </a:r>
            <a:r>
              <a:rPr lang="tr-TR" sz="1200" i="1" u="sng" dirty="0" smtClean="0">
                <a:effectLst>
                  <a:outerShdw blurRad="38100" dist="38100" dir="2700000" algn="tl">
                    <a:srgbClr val="000000">
                      <a:alpha val="43137"/>
                    </a:srgbClr>
                  </a:outerShdw>
                </a:effectLst>
              </a:rPr>
              <a:t>Tek</a:t>
            </a:r>
            <a:r>
              <a:rPr lang="tr-TR" sz="1200" i="1" dirty="0" smtClean="0"/>
              <a:t> </a:t>
            </a:r>
            <a:r>
              <a:rPr lang="tr-TR" sz="1200" i="1" dirty="0"/>
              <a:t>bir fiille, </a:t>
            </a:r>
            <a:r>
              <a:rPr lang="tr-TR" sz="1200" i="1" u="sng" dirty="0">
                <a:effectLst>
                  <a:outerShdw blurRad="38100" dist="38100" dir="2700000" algn="tl">
                    <a:srgbClr val="000000">
                      <a:alpha val="43137"/>
                    </a:srgbClr>
                  </a:outerShdw>
                </a:effectLst>
              </a:rPr>
              <a:t>birden fazla kişiye</a:t>
            </a:r>
            <a:r>
              <a:rPr lang="tr-TR" sz="1200" i="1" dirty="0"/>
              <a:t> karşı </a:t>
            </a:r>
            <a:r>
              <a:rPr lang="tr-TR" sz="1200" i="1" u="sng" dirty="0" smtClean="0">
                <a:effectLst>
                  <a:outerShdw blurRad="38100" dist="38100" dir="2700000" algn="tl">
                    <a:srgbClr val="000000">
                      <a:alpha val="43137"/>
                    </a:srgbClr>
                  </a:outerShdw>
                </a:effectLst>
              </a:rPr>
              <a:t>aynı </a:t>
            </a:r>
            <a:r>
              <a:rPr lang="tr-TR" sz="1200" i="1" u="sng" dirty="0">
                <a:effectLst>
                  <a:outerShdw blurRad="38100" dist="38100" dir="2700000" algn="tl">
                    <a:srgbClr val="000000">
                      <a:alpha val="43137"/>
                    </a:srgbClr>
                  </a:outerShdw>
                </a:effectLst>
              </a:rPr>
              <a:t>suç</a:t>
            </a:r>
            <a:r>
              <a:rPr lang="tr-TR" sz="1200" i="1" dirty="0"/>
              <a:t> işlenmektedir</a:t>
            </a:r>
          </a:p>
          <a:p>
            <a:pPr algn="just"/>
            <a:r>
              <a:rPr lang="tr-TR" sz="1400" b="1" dirty="0"/>
              <a:t>	</a:t>
            </a:r>
            <a:endParaRPr lang="fr-FR" sz="1400" b="1" dirty="0"/>
          </a:p>
        </p:txBody>
      </p:sp>
      <p:sp>
        <p:nvSpPr>
          <p:cNvPr id="19" name="Dikdörtgen 18"/>
          <p:cNvSpPr/>
          <p:nvPr/>
        </p:nvSpPr>
        <p:spPr>
          <a:xfrm>
            <a:off x="2631581" y="4084782"/>
            <a:ext cx="8920597" cy="523220"/>
          </a:xfrm>
          <a:prstGeom prst="rect">
            <a:avLst/>
          </a:prstGeom>
        </p:spPr>
        <p:txBody>
          <a:bodyPr wrap="square">
            <a:spAutoFit/>
          </a:bodyPr>
          <a:lstStyle/>
          <a:p>
            <a:pPr algn="just"/>
            <a:r>
              <a:rPr lang="tr-TR" sz="1400" dirty="0" smtClean="0">
                <a:effectLst>
                  <a:outerShdw blurRad="38100" dist="38100" dir="2700000" algn="tl">
                    <a:srgbClr val="000000">
                      <a:alpha val="43137"/>
                    </a:srgbClr>
                  </a:outerShdw>
                </a:effectLst>
              </a:rPr>
              <a:t>Örneğin bir sözle birden fazla kişiye hakaret edilmesi, bir aracın kaçırılması durumunda araçtakilerin tamamına yönelik hürriyetinden yoksun kılma suçunun işlenmesi</a:t>
            </a:r>
            <a:r>
              <a:rPr lang="tr-TR" sz="1400" dirty="0">
                <a:effectLst>
                  <a:outerShdw blurRad="38100" dist="38100" dir="2700000" algn="tl">
                    <a:srgbClr val="000000">
                      <a:alpha val="43137"/>
                    </a:srgbClr>
                  </a:outerShdw>
                </a:effectLst>
              </a:rPr>
              <a:t>	</a:t>
            </a:r>
            <a:endParaRPr lang="fr-FR" sz="1400" dirty="0">
              <a:effectLst>
                <a:outerShdw blurRad="38100" dist="38100" dir="2700000" algn="tl">
                  <a:srgbClr val="000000">
                    <a:alpha val="43137"/>
                  </a:srgbClr>
                </a:outerShdw>
              </a:effectLst>
            </a:endParaRPr>
          </a:p>
        </p:txBody>
      </p:sp>
      <p:sp>
        <p:nvSpPr>
          <p:cNvPr id="21" name="Metin kutusu 20"/>
          <p:cNvSpPr txBox="1"/>
          <p:nvPr/>
        </p:nvSpPr>
        <p:spPr>
          <a:xfrm>
            <a:off x="2438917" y="4786153"/>
            <a:ext cx="9305924" cy="954107"/>
          </a:xfrm>
          <a:prstGeom prst="rect">
            <a:avLst/>
          </a:prstGeom>
          <a:noFill/>
        </p:spPr>
        <p:txBody>
          <a:bodyPr wrap="square" rtlCol="0">
            <a:spAutoFit/>
          </a:bodyPr>
          <a:lstStyle/>
          <a:p>
            <a:pPr marL="285750" indent="-285750">
              <a:buFont typeface="Arial" panose="020B0604020202020204" pitchFamily="34" charset="0"/>
              <a:buChar char="•"/>
            </a:pPr>
            <a:r>
              <a:rPr lang="tr-TR" sz="1400" dirty="0" smtClean="0">
                <a:effectLst>
                  <a:outerShdw blurRad="38100" dist="38100" dir="2700000" algn="tl">
                    <a:srgbClr val="000000">
                      <a:alpha val="43137"/>
                    </a:srgbClr>
                  </a:outerShdw>
                </a:effectLst>
              </a:rPr>
              <a:t>Tek cezaya hükmedilecek ancak ceza artırılacaktır.</a:t>
            </a:r>
          </a:p>
          <a:p>
            <a:pPr marL="285750" indent="-285750">
              <a:buFont typeface="Arial" panose="020B0604020202020204" pitchFamily="34" charset="0"/>
              <a:buChar char="•"/>
            </a:pPr>
            <a:r>
              <a:rPr lang="tr-TR" sz="1400" dirty="0" smtClean="0">
                <a:effectLst>
                  <a:outerShdw blurRad="38100" dist="38100" dir="2700000" algn="tl">
                    <a:srgbClr val="000000">
                      <a:alpha val="43137"/>
                    </a:srgbClr>
                  </a:outerShdw>
                </a:effectLst>
              </a:rPr>
              <a:t>Suçun temel şekli ile nitelikli halleri aynı suç sayılacaktır.</a:t>
            </a:r>
          </a:p>
          <a:p>
            <a:pPr marL="285750" indent="-285750">
              <a:buFont typeface="Arial" panose="020B0604020202020204" pitchFamily="34" charset="0"/>
              <a:buChar char="•"/>
            </a:pPr>
            <a:r>
              <a:rPr lang="tr-TR" sz="1400" dirty="0">
                <a:effectLst>
                  <a:outerShdw blurRad="38100" dist="38100" dir="2700000" algn="tl">
                    <a:srgbClr val="000000">
                      <a:alpha val="43137"/>
                    </a:srgbClr>
                  </a:outerShdw>
                </a:effectLst>
              </a:rPr>
              <a:t>Kasten öldürme, kasten yaralama, işkence ve yağma </a:t>
            </a:r>
            <a:r>
              <a:rPr lang="tr-TR" sz="1400" dirty="0" smtClean="0">
                <a:effectLst>
                  <a:outerShdw blurRad="38100" dist="38100" dir="2700000" algn="tl">
                    <a:srgbClr val="000000">
                      <a:alpha val="43137"/>
                    </a:srgbClr>
                  </a:outerShdw>
                </a:effectLst>
              </a:rPr>
              <a:t>suçlarında aynı neviden fikri içtima uygulanmayacak gerçek içtima yapılacaktır.</a:t>
            </a:r>
            <a:endParaRPr lang="fr-FR" sz="1400" dirty="0">
              <a:effectLst>
                <a:outerShdw blurRad="38100" dist="38100" dir="2700000" algn="tl">
                  <a:srgbClr val="000000">
                    <a:alpha val="43137"/>
                  </a:srgbClr>
                </a:outerShdw>
              </a:effectLst>
            </a:endParaRPr>
          </a:p>
        </p:txBody>
      </p:sp>
      <p:sp>
        <p:nvSpPr>
          <p:cNvPr id="10" name="Metin kutusu 9"/>
          <p:cNvSpPr txBox="1"/>
          <p:nvPr/>
        </p:nvSpPr>
        <p:spPr>
          <a:xfrm>
            <a:off x="105104" y="5703214"/>
            <a:ext cx="2228194" cy="1092607"/>
          </a:xfrm>
          <a:prstGeom prst="rect">
            <a:avLst/>
          </a:prstGeom>
          <a:noFill/>
        </p:spPr>
        <p:txBody>
          <a:bodyPr wrap="square" rtlCol="0">
            <a:spAutoFit/>
          </a:bodyPr>
          <a:lstStyle/>
          <a:p>
            <a:r>
              <a:rPr lang="tr-TR" sz="1300" dirty="0" smtClean="0">
                <a:effectLst>
                  <a:outerShdw blurRad="38100" dist="38100" dir="2700000" algn="tl">
                    <a:srgbClr val="000000">
                      <a:alpha val="43137"/>
                    </a:srgbClr>
                  </a:outerShdw>
                </a:effectLst>
              </a:rPr>
              <a:t>Suçların İçtima</a:t>
            </a:r>
          </a:p>
          <a:p>
            <a:r>
              <a:rPr lang="tr-TR" sz="1300" b="1" dirty="0" smtClean="0"/>
              <a:t>1-</a:t>
            </a:r>
            <a:r>
              <a:rPr lang="tr-TR" sz="1300" dirty="0" smtClean="0"/>
              <a:t>Seçimlik Hareketli Suçlar</a:t>
            </a:r>
          </a:p>
          <a:p>
            <a:r>
              <a:rPr lang="tr-TR" sz="1300" b="1" dirty="0" smtClean="0"/>
              <a:t>2-</a:t>
            </a:r>
            <a:r>
              <a:rPr lang="tr-TR" sz="1300" dirty="0" smtClean="0"/>
              <a:t>Bileşik Suçlar</a:t>
            </a:r>
          </a:p>
          <a:p>
            <a:r>
              <a:rPr lang="tr-TR" sz="1300" b="1" dirty="0" smtClean="0"/>
              <a:t>3-</a:t>
            </a:r>
            <a:r>
              <a:rPr lang="tr-TR" sz="1300" dirty="0" smtClean="0"/>
              <a:t>Zincirleme Suç</a:t>
            </a:r>
          </a:p>
          <a:p>
            <a:r>
              <a:rPr lang="tr-TR" sz="1300" b="1" u="sng" dirty="0" smtClean="0">
                <a:effectLst>
                  <a:outerShdw blurRad="38100" dist="38100" dir="2700000" algn="tl">
                    <a:srgbClr val="000000">
                      <a:alpha val="43137"/>
                    </a:srgbClr>
                  </a:outerShdw>
                </a:effectLst>
              </a:rPr>
              <a:t>4-</a:t>
            </a:r>
            <a:r>
              <a:rPr lang="tr-TR" sz="1300" u="sng" dirty="0" smtClean="0">
                <a:effectLst>
                  <a:outerShdw blurRad="38100" dist="38100" dir="2700000" algn="tl">
                    <a:srgbClr val="000000">
                      <a:alpha val="43137"/>
                    </a:srgbClr>
                  </a:outerShdw>
                </a:effectLst>
              </a:rPr>
              <a:t>Fikri İçtima</a:t>
            </a:r>
            <a:endParaRPr lang="fr-FR" sz="1300" u="sng" dirty="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96</a:t>
            </a:fld>
            <a:r>
              <a:rPr lang="tr-TR"/>
              <a:t>/116</a:t>
            </a:r>
          </a:p>
        </p:txBody>
      </p:sp>
    </p:spTree>
    <p:extLst>
      <p:ext uri="{BB962C8B-B14F-4D97-AF65-F5344CB8AC3E}">
        <p14:creationId xmlns:p14="http://schemas.microsoft.com/office/powerpoint/2010/main" val="415810090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Suçun </a:t>
            </a:r>
            <a:r>
              <a:rPr lang="tr-TR" sz="2600" b="1" i="1" spc="300" dirty="0" smtClean="0">
                <a:effectLst>
                  <a:outerShdw blurRad="38100" dist="38100" dir="2700000" algn="tl">
                    <a:srgbClr val="000000">
                      <a:alpha val="43137"/>
                    </a:srgbClr>
                  </a:outerShdw>
                </a:effectLst>
              </a:rPr>
              <a:t>Özel Görünüş Biçimleri</a:t>
            </a:r>
            <a:endParaRPr lang="tr-TR" sz="2600" b="1" i="1" spc="300" dirty="0">
              <a:effectLst>
                <a:outerShdw blurRad="38100" dist="38100" dir="2700000" algn="tl">
                  <a:srgbClr val="000000">
                    <a:alpha val="43137"/>
                  </a:srgbClr>
                </a:outerShdw>
              </a:effectLst>
            </a:endParaRPr>
          </a:p>
        </p:txBody>
      </p:sp>
      <p:sp>
        <p:nvSpPr>
          <p:cNvPr id="15" name="Dikdörtgen 14"/>
          <p:cNvSpPr/>
          <p:nvPr/>
        </p:nvSpPr>
        <p:spPr>
          <a:xfrm>
            <a:off x="1874779" y="1842319"/>
            <a:ext cx="9412346" cy="400110"/>
          </a:xfrm>
          <a:prstGeom prst="rect">
            <a:avLst/>
          </a:prstGeom>
        </p:spPr>
        <p:txBody>
          <a:bodyPr wrap="square">
            <a:spAutoFit/>
          </a:bodyPr>
          <a:lstStyle/>
          <a:p>
            <a:pPr marR="0" lvl="0" defTabSz="914400" rtl="0" eaLnBrk="1" fontAlgn="auto" latinLnBrk="0" hangingPunct="1">
              <a:lnSpc>
                <a:spcPct val="100000"/>
              </a:lnSpc>
              <a:spcBef>
                <a:spcPts val="0"/>
              </a:spcBef>
              <a:spcAft>
                <a:spcPts val="0"/>
              </a:spcAft>
              <a:buClrTx/>
              <a:buSzTx/>
              <a:tabLst/>
              <a:defRPr/>
            </a:pPr>
            <a:r>
              <a:rPr lang="tr-TR" sz="2000" b="1" dirty="0" smtClean="0">
                <a:effectLst>
                  <a:outerShdw blurRad="38100" dist="38100" dir="2700000" algn="tl">
                    <a:srgbClr val="000000">
                      <a:alpha val="43137"/>
                    </a:srgbClr>
                  </a:outerShdw>
                </a:effectLst>
                <a:latin typeface="Calibri" panose="020F0502020204030204"/>
              </a:rPr>
              <a:t>Suçların </a:t>
            </a:r>
            <a:r>
              <a:rPr lang="tr-TR" sz="2000" b="1" dirty="0" err="1" smtClean="0">
                <a:effectLst>
                  <a:outerShdw blurRad="38100" dist="38100" dir="2700000" algn="tl">
                    <a:srgbClr val="000000">
                      <a:alpha val="43137"/>
                    </a:srgbClr>
                  </a:outerShdw>
                </a:effectLst>
                <a:latin typeface="Calibri" panose="020F0502020204030204"/>
              </a:rPr>
              <a:t>İçtiması</a:t>
            </a:r>
            <a:endParaRPr lang="tr-TR" sz="2000" i="1" dirty="0" smtClean="0">
              <a:effectLst>
                <a:outerShdw blurRad="38100" dist="38100" dir="2700000" algn="tl">
                  <a:srgbClr val="000000">
                    <a:alpha val="43137"/>
                  </a:srgbClr>
                </a:outerShdw>
              </a:effectLst>
              <a:latin typeface="Calibri" panose="020F0502020204030204"/>
            </a:endParaRPr>
          </a:p>
        </p:txBody>
      </p:sp>
      <p:sp>
        <p:nvSpPr>
          <p:cNvPr id="16" name="Dikdörtgen 15"/>
          <p:cNvSpPr/>
          <p:nvPr/>
        </p:nvSpPr>
        <p:spPr>
          <a:xfrm>
            <a:off x="2246254" y="2320886"/>
            <a:ext cx="9305924" cy="338554"/>
          </a:xfrm>
          <a:prstGeom prst="rect">
            <a:avLst/>
          </a:prstGeom>
        </p:spPr>
        <p:txBody>
          <a:bodyPr wrap="square">
            <a:spAutoFit/>
          </a:bodyPr>
          <a:lstStyle/>
          <a:p>
            <a:pPr algn="just"/>
            <a:r>
              <a:rPr lang="tr-TR" sz="1600" b="1" dirty="0" smtClean="0"/>
              <a:t>Fikri İçtima</a:t>
            </a:r>
            <a:r>
              <a:rPr lang="tr-TR" sz="1600" b="1" dirty="0"/>
              <a:t>	</a:t>
            </a:r>
            <a:endParaRPr lang="fr-FR" sz="1600" b="1" dirty="0"/>
          </a:p>
        </p:txBody>
      </p:sp>
      <p:sp>
        <p:nvSpPr>
          <p:cNvPr id="2" name="Dikdörtgen 1"/>
          <p:cNvSpPr/>
          <p:nvPr/>
        </p:nvSpPr>
        <p:spPr>
          <a:xfrm>
            <a:off x="2920420" y="2841273"/>
            <a:ext cx="8943975" cy="830997"/>
          </a:xfrm>
          <a:prstGeom prst="rect">
            <a:avLst/>
          </a:prstGeom>
        </p:spPr>
        <p:txBody>
          <a:bodyPr wrap="square">
            <a:spAutoFit/>
          </a:bodyPr>
          <a:lstStyle/>
          <a:p>
            <a:pPr algn="just"/>
            <a:r>
              <a:rPr lang="tr-TR" sz="1200" b="1" dirty="0" smtClean="0"/>
              <a:t>Türk Ceza Kanunu</a:t>
            </a:r>
          </a:p>
          <a:p>
            <a:pPr algn="just"/>
            <a:r>
              <a:rPr lang="tr-TR" sz="1200" b="1" dirty="0" smtClean="0"/>
              <a:t>Fikri İçtima</a:t>
            </a:r>
            <a:endParaRPr lang="fr-FR" sz="1200" b="1" dirty="0"/>
          </a:p>
          <a:p>
            <a:pPr algn="just"/>
            <a:r>
              <a:rPr lang="fr-FR" sz="1200" b="1" dirty="0" err="1"/>
              <a:t>Madde</a:t>
            </a:r>
            <a:r>
              <a:rPr lang="fr-FR" sz="1200" b="1" dirty="0"/>
              <a:t> </a:t>
            </a:r>
            <a:r>
              <a:rPr lang="fr-FR" sz="1200" b="1" dirty="0" smtClean="0"/>
              <a:t>4</a:t>
            </a:r>
            <a:r>
              <a:rPr lang="tr-TR" sz="1200" b="1" dirty="0" smtClean="0"/>
              <a:t>4</a:t>
            </a:r>
            <a:r>
              <a:rPr lang="fr-FR" sz="1200" b="1" dirty="0" smtClean="0"/>
              <a:t>-</a:t>
            </a:r>
            <a:r>
              <a:rPr lang="fr-FR" sz="1200" dirty="0" smtClean="0"/>
              <a:t> (1</a:t>
            </a:r>
            <a:r>
              <a:rPr lang="fr-FR" sz="1200" dirty="0"/>
              <a:t>) (1) </a:t>
            </a:r>
            <a:r>
              <a:rPr lang="fr-FR" sz="1200" dirty="0" err="1"/>
              <a:t>İşlediği</a:t>
            </a:r>
            <a:r>
              <a:rPr lang="fr-FR" sz="1200" dirty="0"/>
              <a:t> </a:t>
            </a:r>
            <a:r>
              <a:rPr lang="fr-FR" sz="1200" dirty="0" err="1"/>
              <a:t>bir</a:t>
            </a:r>
            <a:r>
              <a:rPr lang="fr-FR" sz="1200" dirty="0"/>
              <a:t> </a:t>
            </a:r>
            <a:r>
              <a:rPr lang="fr-FR" sz="1200" dirty="0" err="1"/>
              <a:t>fiil</a:t>
            </a:r>
            <a:r>
              <a:rPr lang="fr-FR" sz="1200" dirty="0"/>
              <a:t> ile </a:t>
            </a:r>
            <a:r>
              <a:rPr lang="fr-FR" sz="1200" dirty="0" err="1"/>
              <a:t>birden</a:t>
            </a:r>
            <a:r>
              <a:rPr lang="fr-FR" sz="1200" dirty="0"/>
              <a:t> </a:t>
            </a:r>
            <a:r>
              <a:rPr lang="fr-FR" sz="1200" dirty="0" err="1"/>
              <a:t>fazla</a:t>
            </a:r>
            <a:r>
              <a:rPr lang="fr-FR" sz="1200" dirty="0"/>
              <a:t> </a:t>
            </a:r>
            <a:r>
              <a:rPr lang="fr-FR" sz="1200" dirty="0" err="1"/>
              <a:t>farklı</a:t>
            </a:r>
            <a:r>
              <a:rPr lang="fr-FR" sz="1200" dirty="0"/>
              <a:t> </a:t>
            </a:r>
            <a:r>
              <a:rPr lang="fr-FR" sz="1200" dirty="0" err="1"/>
              <a:t>suçun</a:t>
            </a:r>
            <a:r>
              <a:rPr lang="fr-FR" sz="1200" dirty="0"/>
              <a:t> </a:t>
            </a:r>
            <a:r>
              <a:rPr lang="fr-FR" sz="1200" dirty="0" err="1"/>
              <a:t>oluşmasına</a:t>
            </a:r>
            <a:r>
              <a:rPr lang="fr-FR" sz="1200" dirty="0"/>
              <a:t> </a:t>
            </a:r>
            <a:r>
              <a:rPr lang="fr-FR" sz="1200" dirty="0" err="1"/>
              <a:t>sebebiyet</a:t>
            </a:r>
            <a:r>
              <a:rPr lang="fr-FR" sz="1200" dirty="0"/>
              <a:t> </a:t>
            </a:r>
            <a:r>
              <a:rPr lang="fr-FR" sz="1200" dirty="0" err="1"/>
              <a:t>veren</a:t>
            </a:r>
            <a:r>
              <a:rPr lang="fr-FR" sz="1200" dirty="0"/>
              <a:t> </a:t>
            </a:r>
            <a:r>
              <a:rPr lang="fr-FR" sz="1200" dirty="0" err="1"/>
              <a:t>kişi</a:t>
            </a:r>
            <a:r>
              <a:rPr lang="fr-FR" sz="1200" dirty="0"/>
              <a:t>, </a:t>
            </a:r>
            <a:r>
              <a:rPr lang="fr-FR" sz="1200" dirty="0" err="1"/>
              <a:t>bunlardan</a:t>
            </a:r>
            <a:r>
              <a:rPr lang="fr-FR" sz="1200" dirty="0"/>
              <a:t> en </a:t>
            </a:r>
            <a:r>
              <a:rPr lang="fr-FR" sz="1200" dirty="0" err="1"/>
              <a:t>ağır</a:t>
            </a:r>
            <a:r>
              <a:rPr lang="fr-FR" sz="1200" dirty="0"/>
              <a:t> </a:t>
            </a:r>
            <a:r>
              <a:rPr lang="fr-FR" sz="1200" dirty="0" err="1"/>
              <a:t>cezayı</a:t>
            </a:r>
            <a:r>
              <a:rPr lang="fr-FR" sz="1200" dirty="0"/>
              <a:t> </a:t>
            </a:r>
            <a:r>
              <a:rPr lang="fr-FR" sz="1200" dirty="0" err="1"/>
              <a:t>gerektiren</a:t>
            </a:r>
            <a:r>
              <a:rPr lang="fr-FR" sz="1200" dirty="0"/>
              <a:t> </a:t>
            </a:r>
            <a:r>
              <a:rPr lang="fr-FR" sz="1200" dirty="0" err="1"/>
              <a:t>suçtan</a:t>
            </a:r>
            <a:r>
              <a:rPr lang="fr-FR" sz="1200" dirty="0"/>
              <a:t> </a:t>
            </a:r>
            <a:r>
              <a:rPr lang="fr-FR" sz="1200" dirty="0" err="1"/>
              <a:t>dolayı</a:t>
            </a:r>
            <a:r>
              <a:rPr lang="fr-FR" sz="1200" dirty="0"/>
              <a:t> </a:t>
            </a:r>
            <a:r>
              <a:rPr lang="fr-FR" sz="1200" dirty="0" err="1"/>
              <a:t>cezalandırılır</a:t>
            </a:r>
            <a:r>
              <a:rPr lang="fr-FR" sz="1200" dirty="0" smtClean="0"/>
              <a:t>.</a:t>
            </a:r>
            <a:endParaRPr lang="tr-TR" sz="1200" dirty="0" smtClean="0"/>
          </a:p>
        </p:txBody>
      </p:sp>
      <p:sp>
        <p:nvSpPr>
          <p:cNvPr id="18" name="Dikdörtgen 17"/>
          <p:cNvSpPr/>
          <p:nvPr/>
        </p:nvSpPr>
        <p:spPr>
          <a:xfrm>
            <a:off x="2920420" y="2644453"/>
            <a:ext cx="8920597" cy="523220"/>
          </a:xfrm>
          <a:prstGeom prst="rect">
            <a:avLst/>
          </a:prstGeom>
        </p:spPr>
        <p:txBody>
          <a:bodyPr wrap="square">
            <a:spAutoFit/>
          </a:bodyPr>
          <a:lstStyle/>
          <a:p>
            <a:pPr algn="just"/>
            <a:r>
              <a:rPr lang="tr-TR" sz="1400" b="1" dirty="0" smtClean="0"/>
              <a:t>Farklı Neviden Fikri İçtima </a:t>
            </a:r>
            <a:r>
              <a:rPr lang="tr-TR" sz="1200" i="1" u="sng" dirty="0" smtClean="0">
                <a:effectLst>
                  <a:outerShdw blurRad="38100" dist="38100" dir="2700000" algn="tl">
                    <a:srgbClr val="000000">
                      <a:alpha val="43137"/>
                    </a:srgbClr>
                  </a:outerShdw>
                </a:effectLst>
              </a:rPr>
              <a:t>Tek</a:t>
            </a:r>
            <a:r>
              <a:rPr lang="tr-TR" sz="1200" i="1" dirty="0" smtClean="0"/>
              <a:t> bir fiille birden fazla </a:t>
            </a:r>
            <a:r>
              <a:rPr lang="tr-TR" sz="1200" i="1" u="sng" dirty="0" smtClean="0">
                <a:effectLst>
                  <a:outerShdw blurRad="38100" dist="38100" dir="2700000" algn="tl">
                    <a:srgbClr val="000000">
                      <a:alpha val="43137"/>
                    </a:srgbClr>
                  </a:outerShdw>
                </a:effectLst>
              </a:rPr>
              <a:t>farklı</a:t>
            </a:r>
            <a:r>
              <a:rPr lang="tr-TR" sz="1200" i="1" dirty="0" smtClean="0"/>
              <a:t> suç oluşmaktadır </a:t>
            </a:r>
            <a:endParaRPr lang="tr-TR" sz="1400" i="1" dirty="0" smtClean="0"/>
          </a:p>
          <a:p>
            <a:pPr algn="just"/>
            <a:r>
              <a:rPr lang="tr-TR" sz="1400" b="1" dirty="0"/>
              <a:t>	</a:t>
            </a:r>
            <a:endParaRPr lang="fr-FR" sz="1400" b="1" dirty="0"/>
          </a:p>
        </p:txBody>
      </p:sp>
      <p:sp>
        <p:nvSpPr>
          <p:cNvPr id="19" name="Dikdörtgen 18"/>
          <p:cNvSpPr/>
          <p:nvPr/>
        </p:nvSpPr>
        <p:spPr>
          <a:xfrm>
            <a:off x="2631580" y="3854103"/>
            <a:ext cx="8920597" cy="523220"/>
          </a:xfrm>
          <a:prstGeom prst="rect">
            <a:avLst/>
          </a:prstGeom>
        </p:spPr>
        <p:txBody>
          <a:bodyPr wrap="square">
            <a:spAutoFit/>
          </a:bodyPr>
          <a:lstStyle/>
          <a:p>
            <a:pPr algn="just"/>
            <a:r>
              <a:rPr lang="tr-TR" sz="1400" dirty="0" smtClean="0">
                <a:effectLst>
                  <a:outerShdw blurRad="38100" dist="38100" dir="2700000" algn="tl">
                    <a:srgbClr val="000000">
                      <a:alpha val="43137"/>
                    </a:srgbClr>
                  </a:outerShdw>
                </a:effectLst>
              </a:rPr>
              <a:t>Örneğin bir insanı bıçaklayarak öldürme durumunda hem öldürme hem de öldürülen kişinin giysisine verilen zarardan ötürü mala zarar verme suçu oluşması</a:t>
            </a:r>
            <a:endParaRPr lang="fr-FR" sz="1400" dirty="0">
              <a:effectLst>
                <a:outerShdw blurRad="38100" dist="38100" dir="2700000" algn="tl">
                  <a:srgbClr val="000000">
                    <a:alpha val="43137"/>
                  </a:srgbClr>
                </a:outerShdw>
              </a:effectLst>
            </a:endParaRPr>
          </a:p>
        </p:txBody>
      </p:sp>
      <p:sp>
        <p:nvSpPr>
          <p:cNvPr id="21" name="Metin kutusu 20"/>
          <p:cNvSpPr txBox="1"/>
          <p:nvPr/>
        </p:nvSpPr>
        <p:spPr>
          <a:xfrm>
            <a:off x="2438917" y="4509928"/>
            <a:ext cx="9305924" cy="307777"/>
          </a:xfrm>
          <a:prstGeom prst="rect">
            <a:avLst/>
          </a:prstGeom>
          <a:noFill/>
        </p:spPr>
        <p:txBody>
          <a:bodyPr wrap="square" rtlCol="0">
            <a:spAutoFit/>
          </a:bodyPr>
          <a:lstStyle/>
          <a:p>
            <a:pPr marL="285750" indent="-285750">
              <a:buFont typeface="Arial" panose="020B0604020202020204" pitchFamily="34" charset="0"/>
              <a:buChar char="•"/>
            </a:pPr>
            <a:r>
              <a:rPr lang="tr-TR" sz="1400" dirty="0" smtClean="0">
                <a:effectLst>
                  <a:outerShdw blurRad="38100" dist="38100" dir="2700000" algn="tl">
                    <a:srgbClr val="000000">
                      <a:alpha val="43137"/>
                    </a:srgbClr>
                  </a:outerShdw>
                </a:effectLst>
              </a:rPr>
              <a:t>Fail oluşan bu suçlardan sadece ağır cezayı gerektirenden cezalandırılacaktır.</a:t>
            </a:r>
          </a:p>
        </p:txBody>
      </p:sp>
      <p:sp>
        <p:nvSpPr>
          <p:cNvPr id="10" name="Metin kutusu 9"/>
          <p:cNvSpPr txBox="1"/>
          <p:nvPr/>
        </p:nvSpPr>
        <p:spPr>
          <a:xfrm>
            <a:off x="105104" y="5703214"/>
            <a:ext cx="2228194" cy="1092607"/>
          </a:xfrm>
          <a:prstGeom prst="rect">
            <a:avLst/>
          </a:prstGeom>
          <a:noFill/>
        </p:spPr>
        <p:txBody>
          <a:bodyPr wrap="square" rtlCol="0">
            <a:spAutoFit/>
          </a:bodyPr>
          <a:lstStyle/>
          <a:p>
            <a:r>
              <a:rPr lang="tr-TR" sz="1300" dirty="0" smtClean="0">
                <a:effectLst>
                  <a:outerShdw blurRad="38100" dist="38100" dir="2700000" algn="tl">
                    <a:srgbClr val="000000">
                      <a:alpha val="43137"/>
                    </a:srgbClr>
                  </a:outerShdw>
                </a:effectLst>
              </a:rPr>
              <a:t>Suçların İçtima</a:t>
            </a:r>
          </a:p>
          <a:p>
            <a:r>
              <a:rPr lang="tr-TR" sz="1300" b="1" dirty="0" smtClean="0"/>
              <a:t>1-</a:t>
            </a:r>
            <a:r>
              <a:rPr lang="tr-TR" sz="1300" dirty="0" smtClean="0"/>
              <a:t>Seçimlik Hareketli Suçlar</a:t>
            </a:r>
          </a:p>
          <a:p>
            <a:r>
              <a:rPr lang="tr-TR" sz="1300" b="1" dirty="0" smtClean="0"/>
              <a:t>2-</a:t>
            </a:r>
            <a:r>
              <a:rPr lang="tr-TR" sz="1300" dirty="0" smtClean="0"/>
              <a:t>Bileşik Suçlar</a:t>
            </a:r>
          </a:p>
          <a:p>
            <a:r>
              <a:rPr lang="tr-TR" sz="1300" b="1" dirty="0" smtClean="0"/>
              <a:t>3-</a:t>
            </a:r>
            <a:r>
              <a:rPr lang="tr-TR" sz="1300" dirty="0" smtClean="0"/>
              <a:t>Zincirleme Suç</a:t>
            </a:r>
          </a:p>
          <a:p>
            <a:r>
              <a:rPr lang="tr-TR" sz="1300" b="1" u="sng" dirty="0" smtClean="0">
                <a:effectLst>
                  <a:outerShdw blurRad="38100" dist="38100" dir="2700000" algn="tl">
                    <a:srgbClr val="000000">
                      <a:alpha val="43137"/>
                    </a:srgbClr>
                  </a:outerShdw>
                </a:effectLst>
              </a:rPr>
              <a:t>4-</a:t>
            </a:r>
            <a:r>
              <a:rPr lang="tr-TR" sz="1300" u="sng" dirty="0" smtClean="0">
                <a:effectLst>
                  <a:outerShdw blurRad="38100" dist="38100" dir="2700000" algn="tl">
                    <a:srgbClr val="000000">
                      <a:alpha val="43137"/>
                    </a:srgbClr>
                  </a:outerShdw>
                </a:effectLst>
              </a:rPr>
              <a:t>Fikri İçtima</a:t>
            </a:r>
            <a:endParaRPr lang="fr-FR" sz="1300" u="sng" dirty="0">
              <a:effectLst>
                <a:outerShdw blurRad="38100" dist="38100" dir="2700000" algn="tl">
                  <a:srgbClr val="000000">
                    <a:alpha val="43137"/>
                  </a:srgbClr>
                </a:outerShdw>
              </a:effectLst>
            </a:endParaRPr>
          </a:p>
        </p:txBody>
      </p:sp>
      <p:sp>
        <p:nvSpPr>
          <p:cNvPr id="4" name="Slayt Numarası Yer Tutucusu 3"/>
          <p:cNvSpPr>
            <a:spLocks noGrp="1"/>
          </p:cNvSpPr>
          <p:nvPr>
            <p:ph type="sldNum" sz="quarter" idx="12"/>
          </p:nvPr>
        </p:nvSpPr>
        <p:spPr/>
        <p:txBody>
          <a:bodyPr/>
          <a:lstStyle/>
          <a:p>
            <a:fld id="{39F9BA00-44CD-41D4-A3D8-F864C744DC1F}" type="slidenum">
              <a:rPr lang="tr-TR" smtClean="0"/>
              <a:t>97</a:t>
            </a:fld>
            <a:r>
              <a:rPr lang="tr-TR"/>
              <a:t>/116</a:t>
            </a:r>
          </a:p>
        </p:txBody>
      </p:sp>
    </p:spTree>
    <p:extLst>
      <p:ext uri="{BB962C8B-B14F-4D97-AF65-F5344CB8AC3E}">
        <p14:creationId xmlns:p14="http://schemas.microsoft.com/office/powerpoint/2010/main" val="281989755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444382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Ceza Hukuku yaptırımları</a:t>
            </a:r>
          </a:p>
        </p:txBody>
      </p:sp>
      <p:sp>
        <p:nvSpPr>
          <p:cNvPr id="2" name="Şeritli Sağ Ok 1"/>
          <p:cNvSpPr/>
          <p:nvPr/>
        </p:nvSpPr>
        <p:spPr>
          <a:xfrm rot="5400000">
            <a:off x="4137128" y="2441678"/>
            <a:ext cx="815674" cy="282669"/>
          </a:xfrm>
          <a:prstGeom prst="striped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Şeritli Sağ Ok 15"/>
          <p:cNvSpPr/>
          <p:nvPr/>
        </p:nvSpPr>
        <p:spPr>
          <a:xfrm>
            <a:off x="4686300" y="1909074"/>
            <a:ext cx="1074026" cy="270392"/>
          </a:xfrm>
          <a:prstGeom prst="striped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Metin kutusu 5"/>
          <p:cNvSpPr txBox="1"/>
          <p:nvPr/>
        </p:nvSpPr>
        <p:spPr>
          <a:xfrm>
            <a:off x="5837556" y="1859604"/>
            <a:ext cx="1704975" cy="369332"/>
          </a:xfrm>
          <a:prstGeom prst="rect">
            <a:avLst/>
          </a:prstGeom>
          <a:noFill/>
        </p:spPr>
        <p:txBody>
          <a:bodyPr wrap="square" rtlCol="0">
            <a:spAutoFit/>
          </a:bodyPr>
          <a:lstStyle/>
          <a:p>
            <a:r>
              <a:rPr lang="tr-TR" dirty="0" smtClean="0"/>
              <a:t>Cezalar</a:t>
            </a:r>
            <a:endParaRPr lang="fr-FR" dirty="0"/>
          </a:p>
        </p:txBody>
      </p:sp>
      <p:sp>
        <p:nvSpPr>
          <p:cNvPr id="19" name="Metin kutusu 18"/>
          <p:cNvSpPr txBox="1"/>
          <p:nvPr/>
        </p:nvSpPr>
        <p:spPr>
          <a:xfrm>
            <a:off x="4686301" y="2806184"/>
            <a:ext cx="2114550" cy="369332"/>
          </a:xfrm>
          <a:prstGeom prst="rect">
            <a:avLst/>
          </a:prstGeom>
          <a:noFill/>
        </p:spPr>
        <p:txBody>
          <a:bodyPr wrap="square" rtlCol="0">
            <a:spAutoFit/>
          </a:bodyPr>
          <a:lstStyle/>
          <a:p>
            <a:r>
              <a:rPr lang="tr-TR" dirty="0" smtClean="0"/>
              <a:t>Güvenlik Tedbirleri</a:t>
            </a:r>
            <a:endParaRPr lang="fr-FR" dirty="0"/>
          </a:p>
        </p:txBody>
      </p:sp>
      <p:sp>
        <p:nvSpPr>
          <p:cNvPr id="20" name="Metin kutusu 19"/>
          <p:cNvSpPr txBox="1"/>
          <p:nvPr/>
        </p:nvSpPr>
        <p:spPr>
          <a:xfrm>
            <a:off x="2105025" y="3516808"/>
            <a:ext cx="9496425" cy="369332"/>
          </a:xfrm>
          <a:prstGeom prst="rect">
            <a:avLst/>
          </a:prstGeom>
          <a:noFill/>
        </p:spPr>
        <p:txBody>
          <a:bodyPr wrap="square" rtlCol="0">
            <a:spAutoFit/>
          </a:bodyPr>
          <a:lstStyle/>
          <a:p>
            <a:r>
              <a:rPr lang="tr-TR" b="1" i="1" spc="300" dirty="0" smtClean="0">
                <a:effectLst>
                  <a:outerShdw blurRad="38100" dist="38100" dir="2700000" algn="tl">
                    <a:srgbClr val="000000">
                      <a:alpha val="43137"/>
                    </a:srgbClr>
                  </a:outerShdw>
                </a:effectLst>
              </a:rPr>
              <a:t>Suçta ve Cezada Kanunilik (Ceza Hukukunun Güvence Fonksiyonu)</a:t>
            </a:r>
            <a:endParaRPr lang="fr-FR" b="1" i="1" spc="300" dirty="0">
              <a:effectLst>
                <a:outerShdw blurRad="38100" dist="38100" dir="2700000" algn="tl">
                  <a:srgbClr val="000000">
                    <a:alpha val="43137"/>
                  </a:srgbClr>
                </a:outerShdw>
              </a:effectLst>
            </a:endParaRPr>
          </a:p>
        </p:txBody>
      </p:sp>
      <p:sp>
        <p:nvSpPr>
          <p:cNvPr id="21" name="Metin kutusu 20"/>
          <p:cNvSpPr txBox="1"/>
          <p:nvPr/>
        </p:nvSpPr>
        <p:spPr>
          <a:xfrm>
            <a:off x="1911937" y="4227432"/>
            <a:ext cx="9127538" cy="1200329"/>
          </a:xfrm>
          <a:prstGeom prst="rect">
            <a:avLst/>
          </a:prstGeom>
          <a:noFill/>
        </p:spPr>
        <p:txBody>
          <a:bodyPr wrap="square" rtlCol="0">
            <a:spAutoFit/>
          </a:bodyPr>
          <a:lstStyle/>
          <a:p>
            <a:pPr indent="361950" algn="just"/>
            <a:r>
              <a:rPr lang="tr-TR" dirty="0" smtClean="0"/>
              <a:t>Yaptırımlara ilişkin genel kural ve ilkeler, suç ve ceza ve güvenlik tedbirleri, suçla bağlantılı biçimde hüküm verilinceye kadar uygulanacak hususlar 5237 sayılı </a:t>
            </a:r>
            <a:r>
              <a:rPr lang="tr-TR" b="1" dirty="0" smtClean="0">
                <a:effectLst>
                  <a:outerShdw blurRad="38100" dist="38100" dir="2700000" algn="tl">
                    <a:srgbClr val="000000">
                      <a:alpha val="43137"/>
                    </a:srgbClr>
                  </a:outerShdw>
                </a:effectLst>
              </a:rPr>
              <a:t>Türk Ceza Kanunu</a:t>
            </a:r>
            <a:r>
              <a:rPr lang="tr-TR" dirty="0" smtClean="0"/>
              <a:t>yla;</a:t>
            </a:r>
          </a:p>
          <a:p>
            <a:pPr indent="361950" algn="just"/>
            <a:r>
              <a:rPr lang="tr-TR" dirty="0" smtClean="0"/>
              <a:t>Hükümden sonraki infaza ilişkin hususlar 5275 sayılı </a:t>
            </a:r>
            <a:r>
              <a:rPr lang="tr-TR" b="1" dirty="0" smtClean="0">
                <a:effectLst>
                  <a:outerShdw blurRad="38100" dist="38100" dir="2700000" algn="tl">
                    <a:srgbClr val="000000">
                      <a:alpha val="43137"/>
                    </a:srgbClr>
                  </a:outerShdw>
                </a:effectLst>
              </a:rPr>
              <a:t>Ceza ve Güvenlik Tedbirlerinin İnfazı Hakkında Kanun</a:t>
            </a:r>
            <a:r>
              <a:rPr lang="tr-TR" dirty="0" smtClean="0"/>
              <a:t>la düzenlenmiştir</a:t>
            </a:r>
            <a:endParaRPr lang="fr-FR" dirty="0"/>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dirty="0" smtClean="0"/>
              <a:t>I. Cezalar</a:t>
            </a:r>
          </a:p>
          <a:p>
            <a:r>
              <a:rPr lang="tr-TR" sz="1200" dirty="0" smtClean="0"/>
              <a:t>II. Güvenlik Tedbirleri</a:t>
            </a:r>
            <a:endParaRPr lang="fr-FR" sz="1200" dirty="0"/>
          </a:p>
        </p:txBody>
      </p:sp>
      <p:sp>
        <p:nvSpPr>
          <p:cNvPr id="4" name="Slayt Numarası Yer Tutucusu 3"/>
          <p:cNvSpPr>
            <a:spLocks noGrp="1"/>
          </p:cNvSpPr>
          <p:nvPr>
            <p:ph type="sldNum" sz="quarter" idx="12"/>
          </p:nvPr>
        </p:nvSpPr>
        <p:spPr/>
        <p:txBody>
          <a:bodyPr/>
          <a:lstStyle/>
          <a:p>
            <a:fld id="{39F9BA00-44CD-41D4-A3D8-F864C744DC1F}" type="slidenum">
              <a:rPr lang="tr-TR" smtClean="0"/>
              <a:t>98</a:t>
            </a:fld>
            <a:r>
              <a:rPr lang="tr-TR"/>
              <a:t>/116</a:t>
            </a:r>
          </a:p>
        </p:txBody>
      </p:sp>
    </p:spTree>
    <p:extLst>
      <p:ext uri="{BB962C8B-B14F-4D97-AF65-F5344CB8AC3E}">
        <p14:creationId xmlns:p14="http://schemas.microsoft.com/office/powerpoint/2010/main" val="344005124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Ceza :</a:t>
            </a:r>
            <a:r>
              <a:rPr lang="tr-TR" sz="2000" dirty="0" smtClean="0">
                <a:latin typeface="Calibri" panose="020F0502020204030204"/>
              </a:rPr>
              <a:t> Üzüntü, sıkıntı veya acı verici karşılık</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b="1" dirty="0" smtClean="0"/>
              <a:t>I. Cezalar</a:t>
            </a:r>
          </a:p>
          <a:p>
            <a:r>
              <a:rPr lang="tr-TR" sz="1200" dirty="0" smtClean="0"/>
              <a:t>II. Güvenlik Tedbirleri</a:t>
            </a:r>
            <a:endParaRPr lang="fr-FR" sz="1200" dirty="0"/>
          </a:p>
        </p:txBody>
      </p:sp>
      <p:sp>
        <p:nvSpPr>
          <p:cNvPr id="12" name="Dikdörtgen 11"/>
          <p:cNvSpPr/>
          <p:nvPr/>
        </p:nvSpPr>
        <p:spPr>
          <a:xfrm>
            <a:off x="1547399" y="2308509"/>
            <a:ext cx="9492076" cy="1015663"/>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dirty="0" smtClean="0">
                <a:latin typeface="Calibri" panose="020F0502020204030204"/>
              </a:rPr>
              <a:t>Ceza, yalnızca kanunla konulabilen, suç işleyen kimsenin bir takım yoksunluklara tabi tutularak ıslah edilmesini (özel önleme), toplumda da caydırıcılığı (genel önleme) sağlamaya yönelik yaptırımlardır.</a:t>
            </a:r>
          </a:p>
        </p:txBody>
      </p:sp>
      <p:sp>
        <p:nvSpPr>
          <p:cNvPr id="13" name="Dikdörtgen 12"/>
          <p:cNvSpPr/>
          <p:nvPr/>
        </p:nvSpPr>
        <p:spPr>
          <a:xfrm>
            <a:off x="1547399" y="3375256"/>
            <a:ext cx="9492076" cy="1631216"/>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Cezanın amacı,</a:t>
            </a:r>
            <a:r>
              <a:rPr lang="tr-TR" sz="2000" dirty="0" smtClean="0">
                <a:latin typeface="Calibri" panose="020F0502020204030204"/>
              </a:rPr>
              <a:t> </a:t>
            </a:r>
          </a:p>
          <a:p>
            <a:pPr marR="0" lvl="0" indent="361950" algn="just" defTabSz="914400" rtl="0" eaLnBrk="1" fontAlgn="auto" latinLnBrk="0" hangingPunct="1">
              <a:lnSpc>
                <a:spcPct val="100000"/>
              </a:lnSpc>
              <a:spcBef>
                <a:spcPts val="0"/>
              </a:spcBef>
              <a:spcAft>
                <a:spcPts val="0"/>
              </a:spcAft>
              <a:buClrTx/>
              <a:buSzTx/>
              <a:tabLst/>
              <a:defRPr/>
            </a:pPr>
            <a:r>
              <a:rPr lang="tr-TR" sz="2000" dirty="0">
                <a:latin typeface="Calibri" panose="020F0502020204030204"/>
              </a:rPr>
              <a:t>	</a:t>
            </a:r>
            <a:r>
              <a:rPr lang="tr-TR" sz="2000" dirty="0" smtClean="0">
                <a:latin typeface="Calibri" panose="020F0502020204030204"/>
              </a:rPr>
              <a:t>	Kefaret olması (Suçun karşılığı olması)</a:t>
            </a:r>
          </a:p>
          <a:p>
            <a:pPr marR="0" lvl="0" indent="361950" algn="just" defTabSz="914400" rtl="0" eaLnBrk="1" fontAlgn="auto" latinLnBrk="0" hangingPunct="1">
              <a:lnSpc>
                <a:spcPct val="100000"/>
              </a:lnSpc>
              <a:spcBef>
                <a:spcPts val="0"/>
              </a:spcBef>
              <a:spcAft>
                <a:spcPts val="0"/>
              </a:spcAft>
              <a:buClrTx/>
              <a:buSzTx/>
              <a:tabLst/>
              <a:defRPr/>
            </a:pPr>
            <a:r>
              <a:rPr lang="tr-TR" sz="2000" dirty="0">
                <a:latin typeface="Calibri" panose="020F0502020204030204"/>
              </a:rPr>
              <a:t>	</a:t>
            </a:r>
            <a:r>
              <a:rPr lang="tr-TR" sz="2000" dirty="0" smtClean="0">
                <a:latin typeface="Calibri" panose="020F0502020204030204"/>
              </a:rPr>
              <a:t>	Genel Önleme (Korkutarak, ibret teşkil ederek başkalarının suç işlemesini önleme)</a:t>
            </a:r>
          </a:p>
          <a:p>
            <a:pPr marR="0" lvl="0" indent="361950" algn="just" defTabSz="914400" rtl="0" eaLnBrk="1" fontAlgn="auto" latinLnBrk="0" hangingPunct="1">
              <a:lnSpc>
                <a:spcPct val="100000"/>
              </a:lnSpc>
              <a:spcBef>
                <a:spcPts val="0"/>
              </a:spcBef>
              <a:spcAft>
                <a:spcPts val="0"/>
              </a:spcAft>
              <a:buClrTx/>
              <a:buSzTx/>
              <a:tabLst/>
              <a:defRPr/>
            </a:pPr>
            <a:r>
              <a:rPr lang="tr-TR" sz="2000" dirty="0">
                <a:latin typeface="Calibri" panose="020F0502020204030204"/>
              </a:rPr>
              <a:t>	</a:t>
            </a:r>
            <a:r>
              <a:rPr lang="tr-TR" sz="2000" dirty="0" smtClean="0">
                <a:latin typeface="Calibri" panose="020F0502020204030204"/>
              </a:rPr>
              <a:t>	Özel Önleme (Bizzat faili korkutarak uslandırma)</a:t>
            </a:r>
          </a:p>
        </p:txBody>
      </p:sp>
      <p:sp>
        <p:nvSpPr>
          <p:cNvPr id="3" name="Dikdörtgen 2"/>
          <p:cNvSpPr/>
          <p:nvPr/>
        </p:nvSpPr>
        <p:spPr>
          <a:xfrm>
            <a:off x="3015671" y="5057556"/>
            <a:ext cx="6096000" cy="1107996"/>
          </a:xfrm>
          <a:prstGeom prst="rect">
            <a:avLst/>
          </a:prstGeom>
        </p:spPr>
        <p:txBody>
          <a:bodyPr>
            <a:spAutoFit/>
          </a:bodyPr>
          <a:lstStyle/>
          <a:p>
            <a:pPr algn="just"/>
            <a:r>
              <a:rPr lang="tr-TR" sz="1100" b="1" dirty="0" smtClean="0"/>
              <a:t>5237 sayılı Türk Ceza Kanunu</a:t>
            </a:r>
          </a:p>
          <a:p>
            <a:pPr algn="just"/>
            <a:r>
              <a:rPr lang="tr-TR" sz="1100" b="1" dirty="0" smtClean="0"/>
              <a:t>Ceza</a:t>
            </a:r>
            <a:r>
              <a:rPr lang="fr-FR" sz="1100" b="1" dirty="0" smtClean="0"/>
              <a:t> </a:t>
            </a:r>
            <a:r>
              <a:rPr lang="tr-TR" sz="1100" b="1" noProof="1" smtClean="0"/>
              <a:t>Kanununun</a:t>
            </a:r>
            <a:r>
              <a:rPr lang="fr-FR" sz="1100" b="1" dirty="0" smtClean="0"/>
              <a:t> </a:t>
            </a:r>
            <a:r>
              <a:rPr lang="fr-FR" sz="1100" b="1" dirty="0" err="1"/>
              <a:t>amacı</a:t>
            </a:r>
            <a:endParaRPr lang="fr-FR" sz="1100" b="1" dirty="0"/>
          </a:p>
          <a:p>
            <a:pPr algn="just"/>
            <a:r>
              <a:rPr lang="fr-FR" sz="1100" b="1" dirty="0"/>
              <a:t>Madde 1-</a:t>
            </a:r>
            <a:r>
              <a:rPr lang="fr-FR" sz="1100" dirty="0"/>
              <a:t> (1</a:t>
            </a:r>
            <a:r>
              <a:rPr lang="fr-FR" sz="1100" dirty="0">
                <a:effectLst>
                  <a:outerShdw blurRad="38100" dist="38100" dir="2700000" algn="tl">
                    <a:srgbClr val="000000">
                      <a:alpha val="43137"/>
                    </a:srgbClr>
                  </a:outerShdw>
                </a:effectLst>
              </a:rPr>
              <a:t>) </a:t>
            </a:r>
            <a:r>
              <a:rPr lang="fr-FR" sz="1100" dirty="0" err="1">
                <a:effectLst>
                  <a:outerShdw blurRad="38100" dist="38100" dir="2700000" algn="tl">
                    <a:srgbClr val="000000">
                      <a:alpha val="43137"/>
                    </a:srgbClr>
                  </a:outerShdw>
                </a:effectLst>
              </a:rPr>
              <a:t>Ceza</a:t>
            </a:r>
            <a:r>
              <a:rPr lang="fr-FR" sz="1100" dirty="0">
                <a:effectLst>
                  <a:outerShdw blurRad="38100" dist="38100" dir="2700000" algn="tl">
                    <a:srgbClr val="000000">
                      <a:alpha val="43137"/>
                    </a:srgbClr>
                  </a:outerShdw>
                </a:effectLst>
              </a:rPr>
              <a:t> </a:t>
            </a:r>
            <a:r>
              <a:rPr lang="fr-FR" sz="1100" dirty="0" err="1">
                <a:effectLst>
                  <a:outerShdw blurRad="38100" dist="38100" dir="2700000" algn="tl">
                    <a:srgbClr val="000000">
                      <a:alpha val="43137"/>
                    </a:srgbClr>
                  </a:outerShdw>
                </a:effectLst>
              </a:rPr>
              <a:t>Kanununun</a:t>
            </a:r>
            <a:r>
              <a:rPr lang="fr-FR" sz="1100" dirty="0">
                <a:effectLst>
                  <a:outerShdw blurRad="38100" dist="38100" dir="2700000" algn="tl">
                    <a:srgbClr val="000000">
                      <a:alpha val="43137"/>
                    </a:srgbClr>
                  </a:outerShdw>
                </a:effectLst>
              </a:rPr>
              <a:t> </a:t>
            </a:r>
            <a:r>
              <a:rPr lang="fr-FR" sz="1100" dirty="0" err="1">
                <a:effectLst>
                  <a:outerShdw blurRad="38100" dist="38100" dir="2700000" algn="tl">
                    <a:srgbClr val="000000">
                      <a:alpha val="43137"/>
                    </a:srgbClr>
                  </a:outerShdw>
                </a:effectLst>
              </a:rPr>
              <a:t>amacı</a:t>
            </a:r>
            <a:r>
              <a:rPr lang="fr-FR" sz="1100" dirty="0"/>
              <a:t>; </a:t>
            </a:r>
            <a:r>
              <a:rPr lang="fr-FR" sz="1100" dirty="0" err="1"/>
              <a:t>kişi</a:t>
            </a:r>
            <a:r>
              <a:rPr lang="fr-FR" sz="1100" dirty="0"/>
              <a:t> </a:t>
            </a:r>
            <a:r>
              <a:rPr lang="fr-FR" sz="1100" dirty="0" err="1"/>
              <a:t>hak</a:t>
            </a:r>
            <a:r>
              <a:rPr lang="fr-FR" sz="1100" dirty="0"/>
              <a:t> </a:t>
            </a:r>
            <a:r>
              <a:rPr lang="fr-FR" sz="1100" dirty="0" err="1"/>
              <a:t>ve</a:t>
            </a:r>
            <a:r>
              <a:rPr lang="fr-FR" sz="1100" dirty="0"/>
              <a:t> </a:t>
            </a:r>
            <a:r>
              <a:rPr lang="fr-FR" sz="1100" dirty="0" err="1"/>
              <a:t>özgürlüklerini</a:t>
            </a:r>
            <a:r>
              <a:rPr lang="fr-FR" sz="1100" dirty="0"/>
              <a:t>, </a:t>
            </a:r>
            <a:r>
              <a:rPr lang="fr-FR" sz="1100" dirty="0" err="1"/>
              <a:t>kamu</a:t>
            </a:r>
            <a:r>
              <a:rPr lang="fr-FR" sz="1100" dirty="0"/>
              <a:t> </a:t>
            </a:r>
            <a:r>
              <a:rPr lang="fr-FR" sz="1100" dirty="0" err="1"/>
              <a:t>düzen</a:t>
            </a:r>
            <a:r>
              <a:rPr lang="fr-FR" sz="1100" dirty="0"/>
              <a:t> </a:t>
            </a:r>
            <a:r>
              <a:rPr lang="fr-FR" sz="1100" dirty="0" err="1"/>
              <a:t>ve</a:t>
            </a:r>
            <a:r>
              <a:rPr lang="fr-FR" sz="1100" dirty="0"/>
              <a:t> </a:t>
            </a:r>
            <a:r>
              <a:rPr lang="fr-FR" sz="1100" dirty="0" err="1"/>
              <a:t>güvenliğini</a:t>
            </a:r>
            <a:r>
              <a:rPr lang="fr-FR" sz="1100" dirty="0"/>
              <a:t>, </a:t>
            </a:r>
            <a:r>
              <a:rPr lang="fr-FR" sz="1100" dirty="0" err="1"/>
              <a:t>hukuk</a:t>
            </a:r>
            <a:r>
              <a:rPr lang="fr-FR" sz="1100" dirty="0"/>
              <a:t> </a:t>
            </a:r>
            <a:r>
              <a:rPr lang="fr-FR" sz="1100" dirty="0" err="1"/>
              <a:t>devletini</a:t>
            </a:r>
            <a:r>
              <a:rPr lang="fr-FR" sz="1100" dirty="0"/>
              <a:t>, </a:t>
            </a:r>
            <a:r>
              <a:rPr lang="fr-FR" sz="1100" dirty="0" err="1"/>
              <a:t>kamu</a:t>
            </a:r>
            <a:r>
              <a:rPr lang="fr-FR" sz="1100" dirty="0"/>
              <a:t> </a:t>
            </a:r>
            <a:r>
              <a:rPr lang="fr-FR" sz="1100" dirty="0" err="1"/>
              <a:t>sağlığını</a:t>
            </a:r>
            <a:r>
              <a:rPr lang="fr-FR" sz="1100" dirty="0"/>
              <a:t> </a:t>
            </a:r>
            <a:r>
              <a:rPr lang="fr-FR" sz="1100" dirty="0" err="1"/>
              <a:t>ve</a:t>
            </a:r>
            <a:r>
              <a:rPr lang="fr-FR" sz="1100" dirty="0"/>
              <a:t> </a:t>
            </a:r>
            <a:r>
              <a:rPr lang="fr-FR" sz="1100" dirty="0" err="1"/>
              <a:t>çevreyi</a:t>
            </a:r>
            <a:r>
              <a:rPr lang="fr-FR" sz="1100" dirty="0"/>
              <a:t>, </a:t>
            </a:r>
            <a:r>
              <a:rPr lang="fr-FR" sz="1100" dirty="0" err="1"/>
              <a:t>toplum</a:t>
            </a:r>
            <a:r>
              <a:rPr lang="fr-FR" sz="1100" dirty="0"/>
              <a:t> </a:t>
            </a:r>
            <a:r>
              <a:rPr lang="fr-FR" sz="1100" dirty="0" err="1"/>
              <a:t>barışını</a:t>
            </a:r>
            <a:r>
              <a:rPr lang="fr-FR" sz="1100" dirty="0"/>
              <a:t> </a:t>
            </a:r>
            <a:r>
              <a:rPr lang="fr-FR" sz="1100" dirty="0" err="1"/>
              <a:t>korumak</a:t>
            </a:r>
            <a:r>
              <a:rPr lang="fr-FR" sz="1100" dirty="0"/>
              <a:t>, </a:t>
            </a:r>
            <a:r>
              <a:rPr lang="fr-FR" sz="1100" u="sng" dirty="0" err="1"/>
              <a:t>suç</a:t>
            </a:r>
            <a:r>
              <a:rPr lang="fr-FR" sz="1100" u="sng" dirty="0"/>
              <a:t> </a:t>
            </a:r>
            <a:r>
              <a:rPr lang="fr-FR" sz="1100" u="sng" dirty="0" err="1"/>
              <a:t>işlenmesini</a:t>
            </a:r>
            <a:r>
              <a:rPr lang="fr-FR" sz="1100" u="sng" dirty="0"/>
              <a:t> </a:t>
            </a:r>
            <a:r>
              <a:rPr lang="fr-FR" sz="1100" u="sng" dirty="0" err="1"/>
              <a:t>önlemektir</a:t>
            </a:r>
            <a:r>
              <a:rPr lang="fr-FR" sz="1100" dirty="0"/>
              <a:t>. </a:t>
            </a:r>
            <a:r>
              <a:rPr lang="fr-FR" sz="1100" dirty="0" err="1"/>
              <a:t>Kanunda</a:t>
            </a:r>
            <a:r>
              <a:rPr lang="fr-FR" sz="1100" dirty="0"/>
              <a:t>, bu </a:t>
            </a:r>
            <a:r>
              <a:rPr lang="fr-FR" sz="1100" dirty="0" err="1"/>
              <a:t>amacın</a:t>
            </a:r>
            <a:r>
              <a:rPr lang="fr-FR" sz="1100" dirty="0"/>
              <a:t> </a:t>
            </a:r>
            <a:r>
              <a:rPr lang="fr-FR" sz="1100" dirty="0" err="1"/>
              <a:t>gerçekleştirilmesi</a:t>
            </a:r>
            <a:r>
              <a:rPr lang="fr-FR" sz="1100" dirty="0"/>
              <a:t> </a:t>
            </a:r>
            <a:r>
              <a:rPr lang="fr-FR" sz="1100" dirty="0" err="1"/>
              <a:t>için</a:t>
            </a:r>
            <a:r>
              <a:rPr lang="fr-FR" sz="1100" dirty="0"/>
              <a:t> </a:t>
            </a:r>
            <a:r>
              <a:rPr lang="fr-FR" sz="1100" dirty="0" err="1"/>
              <a:t>ceza</a:t>
            </a:r>
            <a:r>
              <a:rPr lang="fr-FR" sz="1100" dirty="0"/>
              <a:t> </a:t>
            </a:r>
            <a:r>
              <a:rPr lang="fr-FR" sz="1100" dirty="0" err="1"/>
              <a:t>sorumluluğunun</a:t>
            </a:r>
            <a:r>
              <a:rPr lang="fr-FR" sz="1100" dirty="0"/>
              <a:t> </a:t>
            </a:r>
            <a:r>
              <a:rPr lang="fr-FR" sz="1100" dirty="0" err="1"/>
              <a:t>temel</a:t>
            </a:r>
            <a:r>
              <a:rPr lang="fr-FR" sz="1100" dirty="0"/>
              <a:t> </a:t>
            </a:r>
            <a:r>
              <a:rPr lang="fr-FR" sz="1100" dirty="0" err="1"/>
              <a:t>esasları</a:t>
            </a:r>
            <a:r>
              <a:rPr lang="fr-FR" sz="1100" dirty="0"/>
              <a:t> ile </a:t>
            </a:r>
            <a:r>
              <a:rPr lang="fr-FR" sz="1100" dirty="0" err="1"/>
              <a:t>suçlar</a:t>
            </a:r>
            <a:r>
              <a:rPr lang="fr-FR" sz="1100" dirty="0"/>
              <a:t>, </a:t>
            </a:r>
            <a:r>
              <a:rPr lang="fr-FR" sz="1100" dirty="0" err="1"/>
              <a:t>ceza</a:t>
            </a:r>
            <a:r>
              <a:rPr lang="fr-FR" sz="1100" dirty="0"/>
              <a:t> </a:t>
            </a:r>
            <a:r>
              <a:rPr lang="fr-FR" sz="1100" dirty="0" err="1"/>
              <a:t>ve</a:t>
            </a:r>
            <a:r>
              <a:rPr lang="fr-FR" sz="1100" dirty="0"/>
              <a:t> </a:t>
            </a:r>
            <a:r>
              <a:rPr lang="fr-FR" sz="1100" dirty="0" err="1"/>
              <a:t>güvenlik</a:t>
            </a:r>
            <a:r>
              <a:rPr lang="fr-FR" sz="1100" dirty="0"/>
              <a:t> </a:t>
            </a:r>
            <a:r>
              <a:rPr lang="fr-FR" sz="1100" dirty="0" err="1"/>
              <a:t>tedbirlerinin</a:t>
            </a:r>
            <a:r>
              <a:rPr lang="fr-FR" sz="1100" dirty="0"/>
              <a:t> </a:t>
            </a:r>
            <a:r>
              <a:rPr lang="fr-FR" sz="1100" dirty="0" err="1"/>
              <a:t>türleri</a:t>
            </a:r>
            <a:r>
              <a:rPr lang="fr-FR" sz="1100" dirty="0"/>
              <a:t> </a:t>
            </a:r>
            <a:r>
              <a:rPr lang="fr-FR" sz="1100" dirty="0" err="1"/>
              <a:t>düzenlenmiştir</a:t>
            </a:r>
            <a:r>
              <a:rPr lang="fr-FR" sz="1100" dirty="0"/>
              <a:t>.</a:t>
            </a:r>
          </a:p>
        </p:txBody>
      </p:sp>
      <p:sp>
        <p:nvSpPr>
          <p:cNvPr id="4" name="Şeritli Sağ Ok 3"/>
          <p:cNvSpPr/>
          <p:nvPr/>
        </p:nvSpPr>
        <p:spPr>
          <a:xfrm>
            <a:off x="2255520" y="3789680"/>
            <a:ext cx="995680" cy="254000"/>
          </a:xfrm>
          <a:prstGeom prst="stripedRigh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Şeritli Sağ Ok 16"/>
          <p:cNvSpPr/>
          <p:nvPr/>
        </p:nvSpPr>
        <p:spPr>
          <a:xfrm>
            <a:off x="2255520" y="4720811"/>
            <a:ext cx="995680" cy="254000"/>
          </a:xfrm>
          <a:prstGeom prst="stripedRigh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Şeritli Sağ Ok 17"/>
          <p:cNvSpPr/>
          <p:nvPr/>
        </p:nvSpPr>
        <p:spPr>
          <a:xfrm>
            <a:off x="2255520" y="4094764"/>
            <a:ext cx="995680" cy="254000"/>
          </a:xfrm>
          <a:prstGeom prst="stripedRight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Slayt Numarası Yer Tutucusu 4"/>
          <p:cNvSpPr>
            <a:spLocks noGrp="1"/>
          </p:cNvSpPr>
          <p:nvPr>
            <p:ph type="sldNum" sz="quarter" idx="12"/>
          </p:nvPr>
        </p:nvSpPr>
        <p:spPr/>
        <p:txBody>
          <a:bodyPr/>
          <a:lstStyle/>
          <a:p>
            <a:fld id="{39F9BA00-44CD-41D4-A3D8-F864C744DC1F}" type="slidenum">
              <a:rPr lang="tr-TR" smtClean="0"/>
              <a:t>99</a:t>
            </a:fld>
            <a:r>
              <a:rPr lang="tr-TR"/>
              <a:t>/116</a:t>
            </a:r>
          </a:p>
        </p:txBody>
      </p:sp>
    </p:spTree>
    <p:extLst>
      <p:ext uri="{BB962C8B-B14F-4D97-AF65-F5344CB8AC3E}">
        <p14:creationId xmlns:p14="http://schemas.microsoft.com/office/powerpoint/2010/main" val="170233133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Cezanın Özellikleri</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b="1" dirty="0" smtClean="0"/>
              <a:t>I. Cezalar</a:t>
            </a:r>
          </a:p>
          <a:p>
            <a:r>
              <a:rPr lang="tr-TR" sz="1200" dirty="0" smtClean="0"/>
              <a:t>II. Güvenlik Tedbirleri</a:t>
            </a:r>
            <a:endParaRPr lang="fr-FR" sz="1200" dirty="0"/>
          </a:p>
        </p:txBody>
      </p:sp>
      <p:sp>
        <p:nvSpPr>
          <p:cNvPr id="2" name="Metin kutusu 1"/>
          <p:cNvSpPr txBox="1"/>
          <p:nvPr/>
        </p:nvSpPr>
        <p:spPr>
          <a:xfrm>
            <a:off x="2782529" y="2244325"/>
            <a:ext cx="8809703" cy="3139321"/>
          </a:xfrm>
          <a:prstGeom prst="rect">
            <a:avLst/>
          </a:prstGeom>
          <a:noFill/>
        </p:spPr>
        <p:txBody>
          <a:bodyPr wrap="square" rtlCol="0">
            <a:spAutoFit/>
          </a:bodyPr>
          <a:lstStyle/>
          <a:p>
            <a:pPr marL="285750" indent="-285750">
              <a:buFont typeface="Wingdings" panose="05000000000000000000" pitchFamily="2" charset="2"/>
              <a:buChar char="Ø"/>
            </a:pPr>
            <a:r>
              <a:rPr lang="tr-TR" dirty="0" smtClean="0"/>
              <a:t>Kanunla düzenlenmesi</a:t>
            </a:r>
          </a:p>
          <a:p>
            <a:pPr marL="285750" indent="-285750">
              <a:buFont typeface="Wingdings" panose="05000000000000000000" pitchFamily="2" charset="2"/>
              <a:buChar char="Ø"/>
            </a:pPr>
            <a:r>
              <a:rPr lang="tr-TR" dirty="0" smtClean="0"/>
              <a:t>Eşit olması</a:t>
            </a:r>
          </a:p>
          <a:p>
            <a:pPr marL="285750" indent="-285750">
              <a:buFont typeface="Wingdings" panose="05000000000000000000" pitchFamily="2" charset="2"/>
              <a:buChar char="Ø"/>
            </a:pPr>
            <a:r>
              <a:rPr lang="tr-TR" dirty="0" smtClean="0"/>
              <a:t>Hümanist (İnsancıl) ve ahlaki olması</a:t>
            </a:r>
          </a:p>
          <a:p>
            <a:pPr marL="285750" indent="-285750">
              <a:buFont typeface="Wingdings" panose="05000000000000000000" pitchFamily="2" charset="2"/>
              <a:buChar char="Ø"/>
            </a:pPr>
            <a:r>
              <a:rPr lang="tr-TR" dirty="0" smtClean="0"/>
              <a:t>Failin kusur ve kişiliğine göre bireyselleştirilebilir olması</a:t>
            </a:r>
          </a:p>
          <a:p>
            <a:pPr marL="285750" indent="-285750">
              <a:buFont typeface="Wingdings" panose="05000000000000000000" pitchFamily="2" charset="2"/>
              <a:buChar char="Ø"/>
            </a:pPr>
            <a:r>
              <a:rPr lang="tr-TR" dirty="0" smtClean="0"/>
              <a:t>Cezanın şahsiliği gereğince yalnızca suç faili hakkında uygulanması</a:t>
            </a:r>
          </a:p>
          <a:p>
            <a:pPr marL="285750" indent="-285750">
              <a:buFont typeface="Wingdings" panose="05000000000000000000" pitchFamily="2" charset="2"/>
              <a:buChar char="Ø"/>
            </a:pPr>
            <a:r>
              <a:rPr lang="tr-TR" dirty="0" smtClean="0"/>
              <a:t>Kusur ve suçla orantılı ve etkili olması</a:t>
            </a:r>
          </a:p>
          <a:p>
            <a:pPr marL="285750" indent="-285750">
              <a:buFont typeface="Wingdings" panose="05000000000000000000" pitchFamily="2" charset="2"/>
              <a:buChar char="Ø"/>
            </a:pPr>
            <a:r>
              <a:rPr lang="tr-TR" dirty="0" smtClean="0"/>
              <a:t>Son çare olması</a:t>
            </a:r>
          </a:p>
          <a:p>
            <a:pPr marL="285750" indent="-285750">
              <a:buFont typeface="Wingdings" panose="05000000000000000000" pitchFamily="2" charset="2"/>
              <a:buChar char="Ø"/>
            </a:pPr>
            <a:r>
              <a:rPr lang="tr-TR" dirty="0" smtClean="0"/>
              <a:t>İnfazının Devlete en az yük getirmesi</a:t>
            </a:r>
          </a:p>
          <a:p>
            <a:pPr marL="285750" indent="-285750">
              <a:buFont typeface="Wingdings" panose="05000000000000000000" pitchFamily="2" charset="2"/>
              <a:buChar char="Ø"/>
            </a:pPr>
            <a:r>
              <a:rPr lang="tr-TR" dirty="0" smtClean="0"/>
              <a:t>İnfaz edilebilir olması</a:t>
            </a:r>
          </a:p>
          <a:p>
            <a:pPr marL="285750" indent="-285750">
              <a:buFont typeface="Wingdings" panose="05000000000000000000" pitchFamily="2" charset="2"/>
              <a:buChar char="Ø"/>
            </a:pPr>
            <a:r>
              <a:rPr lang="tr-TR" dirty="0" smtClean="0"/>
              <a:t>Yargı organı tarafından verilmesi</a:t>
            </a:r>
          </a:p>
          <a:p>
            <a:pPr marL="285750" indent="-285750">
              <a:buFont typeface="Wingdings" panose="05000000000000000000" pitchFamily="2" charset="2"/>
              <a:buChar char="Ø"/>
            </a:pPr>
            <a:r>
              <a:rPr lang="tr-TR" dirty="0" smtClean="0"/>
              <a:t>Yanlışlık durumunda geri alınabilir ve değiştirilebilir olması</a:t>
            </a:r>
          </a:p>
        </p:txBody>
      </p:sp>
      <p:sp>
        <p:nvSpPr>
          <p:cNvPr id="4" name="Slayt Numarası Yer Tutucusu 3"/>
          <p:cNvSpPr>
            <a:spLocks noGrp="1"/>
          </p:cNvSpPr>
          <p:nvPr>
            <p:ph type="sldNum" sz="quarter" idx="12"/>
          </p:nvPr>
        </p:nvSpPr>
        <p:spPr/>
        <p:txBody>
          <a:bodyPr/>
          <a:lstStyle/>
          <a:p>
            <a:fld id="{39F9BA00-44CD-41D4-A3D8-F864C744DC1F}" type="slidenum">
              <a:rPr lang="tr-TR" smtClean="0"/>
              <a:t>100</a:t>
            </a:fld>
            <a:r>
              <a:rPr lang="tr-TR"/>
              <a:t>/116</a:t>
            </a:r>
          </a:p>
        </p:txBody>
      </p:sp>
    </p:spTree>
    <p:extLst>
      <p:ext uri="{BB962C8B-B14F-4D97-AF65-F5344CB8AC3E}">
        <p14:creationId xmlns:p14="http://schemas.microsoft.com/office/powerpoint/2010/main" val="277042940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Ceza Türleri</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b="1" dirty="0" smtClean="0"/>
              <a:t>I. Cezalar</a:t>
            </a:r>
          </a:p>
          <a:p>
            <a:r>
              <a:rPr lang="tr-TR" sz="1200" dirty="0" smtClean="0"/>
              <a:t>II. Güvenlik Tedbirleri</a:t>
            </a:r>
            <a:endParaRPr lang="fr-FR" sz="1200" dirty="0"/>
          </a:p>
        </p:txBody>
      </p:sp>
      <p:sp>
        <p:nvSpPr>
          <p:cNvPr id="3" name="Metin kutusu 2"/>
          <p:cNvSpPr txBox="1"/>
          <p:nvPr/>
        </p:nvSpPr>
        <p:spPr>
          <a:xfrm>
            <a:off x="4461013" y="1844215"/>
            <a:ext cx="1602658" cy="369332"/>
          </a:xfrm>
          <a:prstGeom prst="rect">
            <a:avLst/>
          </a:prstGeom>
          <a:noFill/>
        </p:spPr>
        <p:txBody>
          <a:bodyPr wrap="square" rtlCol="0">
            <a:spAutoFit/>
          </a:bodyPr>
          <a:lstStyle/>
          <a:p>
            <a:r>
              <a:rPr lang="tr-TR" dirty="0" smtClean="0"/>
              <a:t>Hapis Cezası</a:t>
            </a:r>
          </a:p>
        </p:txBody>
      </p:sp>
      <p:sp>
        <p:nvSpPr>
          <p:cNvPr id="8" name="Metin kutusu 7"/>
          <p:cNvSpPr txBox="1"/>
          <p:nvPr/>
        </p:nvSpPr>
        <p:spPr>
          <a:xfrm>
            <a:off x="4954963" y="2244325"/>
            <a:ext cx="3549820" cy="369332"/>
          </a:xfrm>
          <a:prstGeom prst="rect">
            <a:avLst/>
          </a:prstGeom>
          <a:noFill/>
        </p:spPr>
        <p:txBody>
          <a:bodyPr wrap="square" rtlCol="0">
            <a:spAutoFit/>
          </a:bodyPr>
          <a:lstStyle/>
          <a:p>
            <a:r>
              <a:rPr lang="tr-TR" dirty="0" smtClean="0"/>
              <a:t>Ağırlaştırılmış Müebbet Hapis Cezası</a:t>
            </a:r>
          </a:p>
        </p:txBody>
      </p:sp>
      <p:sp>
        <p:nvSpPr>
          <p:cNvPr id="9" name="Metin kutusu 8"/>
          <p:cNvSpPr txBox="1"/>
          <p:nvPr/>
        </p:nvSpPr>
        <p:spPr>
          <a:xfrm>
            <a:off x="4954963" y="2633288"/>
            <a:ext cx="3549820" cy="369332"/>
          </a:xfrm>
          <a:prstGeom prst="rect">
            <a:avLst/>
          </a:prstGeom>
          <a:noFill/>
        </p:spPr>
        <p:txBody>
          <a:bodyPr wrap="square" rtlCol="0">
            <a:spAutoFit/>
          </a:bodyPr>
          <a:lstStyle/>
          <a:p>
            <a:r>
              <a:rPr lang="tr-TR" dirty="0" smtClean="0"/>
              <a:t>Müebbet Hapis Cezası</a:t>
            </a:r>
          </a:p>
        </p:txBody>
      </p:sp>
      <p:sp>
        <p:nvSpPr>
          <p:cNvPr id="11" name="Metin kutusu 10"/>
          <p:cNvSpPr txBox="1"/>
          <p:nvPr/>
        </p:nvSpPr>
        <p:spPr>
          <a:xfrm>
            <a:off x="4954963" y="3022251"/>
            <a:ext cx="3549820" cy="369332"/>
          </a:xfrm>
          <a:prstGeom prst="rect">
            <a:avLst/>
          </a:prstGeom>
          <a:noFill/>
        </p:spPr>
        <p:txBody>
          <a:bodyPr wrap="square" rtlCol="0">
            <a:spAutoFit/>
          </a:bodyPr>
          <a:lstStyle/>
          <a:p>
            <a:r>
              <a:rPr lang="tr-TR" dirty="0" smtClean="0"/>
              <a:t>Süreli Hapis Cezası</a:t>
            </a:r>
          </a:p>
        </p:txBody>
      </p:sp>
      <p:sp>
        <p:nvSpPr>
          <p:cNvPr id="12" name="Metin kutusu 11"/>
          <p:cNvSpPr txBox="1"/>
          <p:nvPr/>
        </p:nvSpPr>
        <p:spPr>
          <a:xfrm>
            <a:off x="5463902" y="3411214"/>
            <a:ext cx="3549820" cy="369332"/>
          </a:xfrm>
          <a:prstGeom prst="rect">
            <a:avLst/>
          </a:prstGeom>
          <a:noFill/>
        </p:spPr>
        <p:txBody>
          <a:bodyPr wrap="square" rtlCol="0">
            <a:spAutoFit/>
          </a:bodyPr>
          <a:lstStyle/>
          <a:p>
            <a:r>
              <a:rPr lang="tr-TR" dirty="0" smtClean="0"/>
              <a:t>Kısa Süreli Hapis Cezası</a:t>
            </a:r>
          </a:p>
        </p:txBody>
      </p:sp>
      <p:sp>
        <p:nvSpPr>
          <p:cNvPr id="13" name="Metin kutusu 12"/>
          <p:cNvSpPr txBox="1"/>
          <p:nvPr/>
        </p:nvSpPr>
        <p:spPr>
          <a:xfrm>
            <a:off x="4461012" y="4310153"/>
            <a:ext cx="3070497" cy="369332"/>
          </a:xfrm>
          <a:prstGeom prst="rect">
            <a:avLst/>
          </a:prstGeom>
          <a:noFill/>
        </p:spPr>
        <p:txBody>
          <a:bodyPr wrap="square" rtlCol="0">
            <a:spAutoFit/>
          </a:bodyPr>
          <a:lstStyle/>
          <a:p>
            <a:r>
              <a:rPr lang="tr-TR" dirty="0" smtClean="0"/>
              <a:t>Adli Para Cezası</a:t>
            </a:r>
          </a:p>
        </p:txBody>
      </p:sp>
      <p:sp>
        <p:nvSpPr>
          <p:cNvPr id="4" name="Sağ Ok 3"/>
          <p:cNvSpPr/>
          <p:nvPr/>
        </p:nvSpPr>
        <p:spPr>
          <a:xfrm>
            <a:off x="3480619" y="1881508"/>
            <a:ext cx="717754" cy="294746"/>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Yukarı Bükülü Ok 5"/>
          <p:cNvSpPr/>
          <p:nvPr/>
        </p:nvSpPr>
        <p:spPr>
          <a:xfrm rot="5400000">
            <a:off x="2565025" y="3046139"/>
            <a:ext cx="2540525" cy="726171"/>
          </a:xfrm>
          <a:prstGeom prst="ben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Yukarı Bükülü Ok 14"/>
          <p:cNvSpPr/>
          <p:nvPr/>
        </p:nvSpPr>
        <p:spPr>
          <a:xfrm rot="5400000">
            <a:off x="4667130" y="2210675"/>
            <a:ext cx="328015" cy="247651"/>
          </a:xfrm>
          <a:prstGeom prst="ben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Yukarı Bükülü Ok 15"/>
          <p:cNvSpPr/>
          <p:nvPr/>
        </p:nvSpPr>
        <p:spPr>
          <a:xfrm rot="5400000">
            <a:off x="4667130" y="2619328"/>
            <a:ext cx="328015" cy="247651"/>
          </a:xfrm>
          <a:prstGeom prst="ben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Yukarı Bükülü Ok 16"/>
          <p:cNvSpPr/>
          <p:nvPr/>
        </p:nvSpPr>
        <p:spPr>
          <a:xfrm rot="5400000">
            <a:off x="4667130" y="3018904"/>
            <a:ext cx="328015" cy="247651"/>
          </a:xfrm>
          <a:prstGeom prst="ben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Yukarı Bükülü Ok 17"/>
          <p:cNvSpPr/>
          <p:nvPr/>
        </p:nvSpPr>
        <p:spPr>
          <a:xfrm rot="5400000">
            <a:off x="5205072" y="3399027"/>
            <a:ext cx="328015" cy="247651"/>
          </a:xfrm>
          <a:prstGeom prst="ben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Slayt Numarası Yer Tutucusu 4"/>
          <p:cNvSpPr>
            <a:spLocks noGrp="1"/>
          </p:cNvSpPr>
          <p:nvPr>
            <p:ph type="sldNum" sz="quarter" idx="12"/>
          </p:nvPr>
        </p:nvSpPr>
        <p:spPr/>
        <p:txBody>
          <a:bodyPr/>
          <a:lstStyle/>
          <a:p>
            <a:fld id="{39F9BA00-44CD-41D4-A3D8-F864C744DC1F}" type="slidenum">
              <a:rPr lang="tr-TR" smtClean="0"/>
              <a:t>101</a:t>
            </a:fld>
            <a:r>
              <a:rPr lang="tr-TR"/>
              <a:t>/116</a:t>
            </a:r>
          </a:p>
        </p:txBody>
      </p:sp>
    </p:spTree>
    <p:extLst>
      <p:ext uri="{BB962C8B-B14F-4D97-AF65-F5344CB8AC3E}">
        <p14:creationId xmlns:p14="http://schemas.microsoft.com/office/powerpoint/2010/main" val="273775939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Hapis Cezası Türleri</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b="1" dirty="0" smtClean="0"/>
              <a:t>I. Cezalar</a:t>
            </a:r>
          </a:p>
          <a:p>
            <a:r>
              <a:rPr lang="tr-TR" sz="1200" dirty="0" smtClean="0"/>
              <a:t>II. Güvenlik Tedbirleri</a:t>
            </a:r>
            <a:endParaRPr lang="fr-FR" sz="1200" dirty="0"/>
          </a:p>
        </p:txBody>
      </p:sp>
      <p:sp>
        <p:nvSpPr>
          <p:cNvPr id="8" name="Metin kutusu 7"/>
          <p:cNvSpPr txBox="1"/>
          <p:nvPr/>
        </p:nvSpPr>
        <p:spPr>
          <a:xfrm>
            <a:off x="4954962" y="2244325"/>
            <a:ext cx="6330811" cy="553998"/>
          </a:xfrm>
          <a:prstGeom prst="rect">
            <a:avLst/>
          </a:prstGeom>
          <a:noFill/>
        </p:spPr>
        <p:txBody>
          <a:bodyPr wrap="square" rtlCol="0">
            <a:spAutoFit/>
          </a:bodyPr>
          <a:lstStyle/>
          <a:p>
            <a:r>
              <a:rPr lang="tr-TR" dirty="0" smtClean="0"/>
              <a:t>Ağırlaştırılmış Müebbet Hapis Cezası</a:t>
            </a:r>
          </a:p>
          <a:p>
            <a:pPr indent="361950" algn="just"/>
            <a:r>
              <a:rPr lang="tr-TR" sz="1200" i="1" dirty="0" smtClean="0"/>
              <a:t>Yaşam boyu devam eder, ceza, sıkı güvenlik rejimine göre çektirilir  </a:t>
            </a:r>
          </a:p>
        </p:txBody>
      </p:sp>
      <p:sp>
        <p:nvSpPr>
          <p:cNvPr id="9" name="Metin kutusu 8"/>
          <p:cNvSpPr txBox="1"/>
          <p:nvPr/>
        </p:nvSpPr>
        <p:spPr>
          <a:xfrm>
            <a:off x="4954963" y="2824786"/>
            <a:ext cx="3549820" cy="553998"/>
          </a:xfrm>
          <a:prstGeom prst="rect">
            <a:avLst/>
          </a:prstGeom>
          <a:noFill/>
        </p:spPr>
        <p:txBody>
          <a:bodyPr wrap="square" rtlCol="0">
            <a:spAutoFit/>
          </a:bodyPr>
          <a:lstStyle/>
          <a:p>
            <a:r>
              <a:rPr lang="tr-TR" dirty="0" smtClean="0"/>
              <a:t>Müebbet Hapis Cezası</a:t>
            </a:r>
          </a:p>
          <a:p>
            <a:pPr indent="361950" algn="just"/>
            <a:r>
              <a:rPr lang="tr-TR" sz="1200" i="1" dirty="0"/>
              <a:t>Yaşam boyu devam eder</a:t>
            </a:r>
          </a:p>
        </p:txBody>
      </p:sp>
      <p:sp>
        <p:nvSpPr>
          <p:cNvPr id="11" name="Metin kutusu 10"/>
          <p:cNvSpPr txBox="1"/>
          <p:nvPr/>
        </p:nvSpPr>
        <p:spPr>
          <a:xfrm>
            <a:off x="4954963" y="3448494"/>
            <a:ext cx="6084512" cy="1292662"/>
          </a:xfrm>
          <a:prstGeom prst="rect">
            <a:avLst/>
          </a:prstGeom>
          <a:noFill/>
        </p:spPr>
        <p:txBody>
          <a:bodyPr wrap="square" rtlCol="0">
            <a:spAutoFit/>
          </a:bodyPr>
          <a:lstStyle/>
          <a:p>
            <a:r>
              <a:rPr lang="tr-TR" dirty="0" smtClean="0"/>
              <a:t>Süreli Hapis Cezası</a:t>
            </a:r>
          </a:p>
          <a:p>
            <a:pPr indent="361950" algn="just"/>
            <a:r>
              <a:rPr lang="tr-TR" sz="1200" i="1" dirty="0" smtClean="0"/>
              <a:t>1 ay ila 20 yıl arası. Kanunda bir suç için alt sınır gösterilmemişse 1 ay, üst sınır gösterilmemişse 20 yıl olarak uygulanacaktır. Bu süre sınırlandırması somut ceza açısından değil, normatif düzenlemede yer alan soyut düzenlemeler bakımından geçerlidir. Yani hakim cezadaki artırım ve indirim nedenlerini uyguladıktan sonra somut cezayı 1 ayın altında ya da üst sınırı 30 yılı aşmamak kaydıyla 20 yılın üstünde belirleyebilir</a:t>
            </a:r>
          </a:p>
        </p:txBody>
      </p:sp>
      <p:sp>
        <p:nvSpPr>
          <p:cNvPr id="12" name="Metin kutusu 11"/>
          <p:cNvSpPr txBox="1"/>
          <p:nvPr/>
        </p:nvSpPr>
        <p:spPr>
          <a:xfrm>
            <a:off x="6063671" y="4824142"/>
            <a:ext cx="4975804" cy="923330"/>
          </a:xfrm>
          <a:prstGeom prst="rect">
            <a:avLst/>
          </a:prstGeom>
          <a:noFill/>
        </p:spPr>
        <p:txBody>
          <a:bodyPr wrap="square" rtlCol="0">
            <a:spAutoFit/>
          </a:bodyPr>
          <a:lstStyle/>
          <a:p>
            <a:r>
              <a:rPr lang="tr-TR" dirty="0" smtClean="0"/>
              <a:t>Kısa Süreli Hapis Cezası</a:t>
            </a:r>
          </a:p>
          <a:p>
            <a:pPr indent="361950"/>
            <a:r>
              <a:rPr lang="tr-TR" sz="1200" i="1" dirty="0" smtClean="0"/>
              <a:t>1 yıl veya daha az hapis cezası</a:t>
            </a:r>
          </a:p>
          <a:p>
            <a:pPr indent="361950" algn="just"/>
            <a:r>
              <a:rPr lang="tr-TR" sz="1200" i="1" dirty="0" smtClean="0"/>
              <a:t>Bu cezaların önemi, kısa süreli cezalara hükmedilmesi halinde bu cezaların Seçenek Yaptırımlara çevrilebilmesinin mümkün olmasıdır.</a:t>
            </a:r>
          </a:p>
        </p:txBody>
      </p:sp>
      <p:sp>
        <p:nvSpPr>
          <p:cNvPr id="15" name="Yukarı Bükülü Ok 14"/>
          <p:cNvSpPr/>
          <p:nvPr/>
        </p:nvSpPr>
        <p:spPr>
          <a:xfrm rot="5400000">
            <a:off x="4332773" y="1876319"/>
            <a:ext cx="328015" cy="916363"/>
          </a:xfrm>
          <a:prstGeom prst="ben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Yukarı Bükülü Ok 17"/>
          <p:cNvSpPr/>
          <p:nvPr/>
        </p:nvSpPr>
        <p:spPr>
          <a:xfrm rot="5400000">
            <a:off x="5775838" y="4804164"/>
            <a:ext cx="328015" cy="247651"/>
          </a:xfrm>
          <a:prstGeom prst="ben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Yukarı Bükülü Ok 19"/>
          <p:cNvSpPr/>
          <p:nvPr/>
        </p:nvSpPr>
        <p:spPr>
          <a:xfrm rot="5400000">
            <a:off x="4332773" y="2463581"/>
            <a:ext cx="328015" cy="916363"/>
          </a:xfrm>
          <a:prstGeom prst="ben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Yukarı Bükülü Ok 20"/>
          <p:cNvSpPr/>
          <p:nvPr/>
        </p:nvSpPr>
        <p:spPr>
          <a:xfrm rot="5400000">
            <a:off x="4332772" y="3131494"/>
            <a:ext cx="328015" cy="916363"/>
          </a:xfrm>
          <a:prstGeom prst="bentUp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Slayt Numarası Yer Tutucusu 2"/>
          <p:cNvSpPr>
            <a:spLocks noGrp="1"/>
          </p:cNvSpPr>
          <p:nvPr>
            <p:ph type="sldNum" sz="quarter" idx="12"/>
          </p:nvPr>
        </p:nvSpPr>
        <p:spPr/>
        <p:txBody>
          <a:bodyPr/>
          <a:lstStyle/>
          <a:p>
            <a:fld id="{39F9BA00-44CD-41D4-A3D8-F864C744DC1F}" type="slidenum">
              <a:rPr lang="tr-TR" smtClean="0"/>
              <a:t>102</a:t>
            </a:fld>
            <a:r>
              <a:rPr lang="tr-TR"/>
              <a:t>/116</a:t>
            </a:r>
          </a:p>
        </p:txBody>
      </p:sp>
    </p:spTree>
    <p:extLst>
      <p:ext uri="{BB962C8B-B14F-4D97-AF65-F5344CB8AC3E}">
        <p14:creationId xmlns:p14="http://schemas.microsoft.com/office/powerpoint/2010/main" val="2068297333"/>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Kısa Süreli Hapis Cezasının Seçenek Yaptırımlara Çevrilmesi</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b="1" dirty="0" smtClean="0"/>
              <a:t>I. Cezalar</a:t>
            </a:r>
          </a:p>
          <a:p>
            <a:r>
              <a:rPr lang="tr-TR" sz="1200" dirty="0" smtClean="0"/>
              <a:t>II. Güvenlik Tedbirleri</a:t>
            </a:r>
            <a:endParaRPr lang="fr-FR" sz="1200" dirty="0"/>
          </a:p>
        </p:txBody>
      </p:sp>
      <p:sp>
        <p:nvSpPr>
          <p:cNvPr id="2" name="Dikdörtgen 1"/>
          <p:cNvSpPr/>
          <p:nvPr/>
        </p:nvSpPr>
        <p:spPr>
          <a:xfrm>
            <a:off x="2066925" y="2177178"/>
            <a:ext cx="9658349" cy="4154984"/>
          </a:xfrm>
          <a:prstGeom prst="rect">
            <a:avLst/>
          </a:prstGeom>
        </p:spPr>
        <p:txBody>
          <a:bodyPr wrap="square">
            <a:spAutoFit/>
          </a:bodyPr>
          <a:lstStyle/>
          <a:p>
            <a:pPr algn="just"/>
            <a:r>
              <a:rPr lang="tr-TR" sz="1100" b="1" dirty="0"/>
              <a:t>5237 sayılı Türk Ceza Kanunu</a:t>
            </a:r>
          </a:p>
          <a:p>
            <a:pPr algn="just"/>
            <a:r>
              <a:rPr lang="tr-TR" sz="1100" b="1" dirty="0"/>
              <a:t>Kısa süreli hapis cezasına seçenek yaptırımlar</a:t>
            </a:r>
          </a:p>
          <a:p>
            <a:pPr algn="just"/>
            <a:r>
              <a:rPr lang="tr-TR" sz="1100" b="1" dirty="0"/>
              <a:t>Madde 50- </a:t>
            </a:r>
            <a:r>
              <a:rPr lang="tr-TR" sz="1100" dirty="0"/>
              <a:t>(1</a:t>
            </a:r>
            <a:r>
              <a:rPr lang="tr-TR" sz="1100" u="sng" dirty="0"/>
              <a:t>) Kısa süreli hapis cezası</a:t>
            </a:r>
            <a:r>
              <a:rPr lang="tr-TR" sz="1100" dirty="0"/>
              <a:t>, suçlunun kişiliğine, sosyal ve ekonomik durumuna, yargılama sürecinde duyduğu pişmanlığa ve suçun işlenmesindeki özelliklere göre;</a:t>
            </a:r>
          </a:p>
          <a:p>
            <a:pPr marL="355600" algn="just"/>
            <a:r>
              <a:rPr lang="tr-TR" sz="1100" dirty="0"/>
              <a:t>a) Adlî para cezasına,</a:t>
            </a:r>
          </a:p>
          <a:p>
            <a:pPr marL="355600" algn="just"/>
            <a:r>
              <a:rPr lang="tr-TR" sz="1100" dirty="0"/>
              <a:t>b) Mağdurun veya kamunun uğradığı zararın aynen iade, suçtan önceki hale getirme veya tazmin suretiyle, tamamen giderilmesine,</a:t>
            </a:r>
          </a:p>
          <a:p>
            <a:pPr marL="355600" algn="just"/>
            <a:r>
              <a:rPr lang="tr-TR" sz="1100" dirty="0"/>
              <a:t>c) En az iki yıl süreyle, bir meslek veya sanat edinmeyi sağlamak amacıyla, gerektiğinde barınma imkanı da bulunan bir eğitim kurumuna devam etmeye,</a:t>
            </a:r>
          </a:p>
          <a:p>
            <a:pPr marL="355600" algn="just"/>
            <a:r>
              <a:rPr lang="tr-TR" sz="1100" dirty="0"/>
              <a:t>d) Mahkûm olunan cezanın yarısından bir katına kadar süreyle, belirli yerlere gitmekten veya belirli etkinlikleri yapmaktan yasaklanmaya,</a:t>
            </a:r>
          </a:p>
          <a:p>
            <a:pPr marL="355600" algn="just"/>
            <a:r>
              <a:rPr lang="tr-TR" sz="1100" dirty="0"/>
              <a:t>e) Sağladığı hak ve yetkiler kötüye kullanılmak suretiyle veya gerektirdiği dikkat ve özen yükümlülüğüne aykırı davranılarak suç işlenmiş olması durumunda; mahkûm olunan cezanın yarısından bir katına kadar süreyle, ilgili ehliyet ve ruhsat belgelerinin geri alınmasına, belli bir meslek ve sanatı yapmaktan yasaklanmaya,</a:t>
            </a:r>
          </a:p>
          <a:p>
            <a:pPr marL="355600" algn="just"/>
            <a:r>
              <a:rPr lang="tr-TR" sz="1100" dirty="0"/>
              <a:t>f) Mahkûm olunan cezanın yarısından bir katına kadar süreyle ve gönüllü olmak koşuluyla kamuya yararlı bir işte </a:t>
            </a:r>
            <a:r>
              <a:rPr lang="tr-TR" sz="1100" dirty="0" smtClean="0"/>
              <a:t>çalıştırılmaya</a:t>
            </a:r>
          </a:p>
          <a:p>
            <a:pPr algn="just"/>
            <a:r>
              <a:rPr lang="tr-TR" sz="1100" u="sng" dirty="0" smtClean="0"/>
              <a:t>çevrilebilir</a:t>
            </a:r>
            <a:r>
              <a:rPr lang="tr-TR" sz="1100" dirty="0"/>
              <a:t>.</a:t>
            </a:r>
          </a:p>
          <a:p>
            <a:pPr algn="just"/>
            <a:r>
              <a:rPr lang="tr-TR" sz="1100" dirty="0"/>
              <a:t>(2) Suç tanımında hapis cezası ile adlî para cezasının seçenek olarak öngörüldüğü hallerde, hapis cezasına hükmedilmişse; bu ceza artık adlî para cezasına çevrilmez.</a:t>
            </a:r>
          </a:p>
          <a:p>
            <a:pPr algn="just"/>
            <a:r>
              <a:rPr lang="tr-TR" sz="1100" dirty="0"/>
              <a:t>(3) Daha önce hapis cezasına mahkûm edilmemiş olmak koşuluyla, mahkûm olunan otuz gün ve daha az süreli hapis cezası ile fiili işlediği tarihte </a:t>
            </a:r>
            <a:r>
              <a:rPr lang="tr-TR" sz="1100" dirty="0" err="1"/>
              <a:t>onsekiz</a:t>
            </a:r>
            <a:r>
              <a:rPr lang="tr-TR" sz="1100" dirty="0"/>
              <a:t> yaşını doldurmamış veya </a:t>
            </a:r>
            <a:r>
              <a:rPr lang="tr-TR" sz="1100" dirty="0" err="1"/>
              <a:t>altmışbeş</a:t>
            </a:r>
            <a:r>
              <a:rPr lang="tr-TR" sz="1100" dirty="0"/>
              <a:t> yaşını bitirmiş bulunanların mahkûm edildiği bir yıl veya daha az süreli hapis cezası, birinci fıkrada yazılı seçenek yaptırımlardan birine çevrilir.</a:t>
            </a:r>
          </a:p>
          <a:p>
            <a:pPr algn="just"/>
            <a:r>
              <a:rPr lang="tr-TR" sz="1100" dirty="0"/>
              <a:t>(4) </a:t>
            </a:r>
            <a:r>
              <a:rPr lang="tr-TR" sz="1100" u="sng" dirty="0"/>
              <a:t>Taksirli suçlardan dolayı hükmolunan hapis cezası uzun süreli de olsa</a:t>
            </a:r>
            <a:r>
              <a:rPr lang="tr-TR" sz="1100" dirty="0"/>
              <a:t>; bu ceza, diğer koşulların varlığı halinde, birinci fıkranın (a) bendine göre adlî para cezasına çevrilebilir. Ancak, bu hüküm, </a:t>
            </a:r>
            <a:r>
              <a:rPr lang="tr-TR" sz="1100" u="sng" dirty="0"/>
              <a:t>bilinçli taksir halinde</a:t>
            </a:r>
            <a:r>
              <a:rPr lang="tr-TR" sz="1100" dirty="0"/>
              <a:t> uygulanmaz.</a:t>
            </a:r>
          </a:p>
          <a:p>
            <a:pPr algn="just"/>
            <a:r>
              <a:rPr lang="tr-TR" sz="1100" dirty="0"/>
              <a:t>(5) Uygulamada asıl mahkûmiyet, bu madde hükümlerine göre çevrilen adlî para cezası veya tedbirdir.</a:t>
            </a:r>
          </a:p>
          <a:p>
            <a:pPr algn="just"/>
            <a:r>
              <a:rPr lang="tr-TR" sz="1100" dirty="0"/>
              <a:t>(6) Hüküm kesinleştikten sonra Cumhuriyet savcılığınca yapılan tebligata rağmen otuz gün içinde seçenek tedbirin gereklerinin yerine getirilmesine başlanmaması veya başlanıp da devam edilmemesi halinde, infaz hâkimliği kısa süreli hapis cezasının tamamen veya kısmen infazına karar verir ve bu karar derhal infaz edilir. Bu durumda, beşinci fıkra hükmü uygulanmaz.</a:t>
            </a:r>
          </a:p>
          <a:p>
            <a:pPr algn="just"/>
            <a:r>
              <a:rPr lang="tr-TR" sz="1100" dirty="0"/>
              <a:t>(7) Hükmedilen seçenek tedbirin hükümlünün elinde olmayan nedenlerle yerine getirilememesi durumunda, infaz hâkimliğince tedbir </a:t>
            </a:r>
            <a:r>
              <a:rPr lang="tr-TR" sz="1100" dirty="0" smtClean="0"/>
              <a:t>değiştirilir</a:t>
            </a:r>
            <a:endParaRPr lang="tr-TR" sz="1100" b="1" dirty="0"/>
          </a:p>
        </p:txBody>
      </p:sp>
      <p:sp>
        <p:nvSpPr>
          <p:cNvPr id="4" name="Slayt Numarası Yer Tutucusu 3"/>
          <p:cNvSpPr>
            <a:spLocks noGrp="1"/>
          </p:cNvSpPr>
          <p:nvPr>
            <p:ph type="sldNum" sz="quarter" idx="12"/>
          </p:nvPr>
        </p:nvSpPr>
        <p:spPr/>
        <p:txBody>
          <a:bodyPr/>
          <a:lstStyle/>
          <a:p>
            <a:fld id="{39F9BA00-44CD-41D4-A3D8-F864C744DC1F}" type="slidenum">
              <a:rPr lang="tr-TR" smtClean="0"/>
              <a:t>103</a:t>
            </a:fld>
            <a:r>
              <a:rPr lang="tr-TR"/>
              <a:t>/116</a:t>
            </a:r>
          </a:p>
        </p:txBody>
      </p:sp>
    </p:spTree>
    <p:extLst>
      <p:ext uri="{BB962C8B-B14F-4D97-AF65-F5344CB8AC3E}">
        <p14:creationId xmlns:p14="http://schemas.microsoft.com/office/powerpoint/2010/main" val="175859483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Kısa Süreli Hapis Cezasının Seçenek Yaptırımlara Çevrilmesi</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b="1" dirty="0" smtClean="0"/>
              <a:t>I. Cezalar</a:t>
            </a:r>
          </a:p>
          <a:p>
            <a:r>
              <a:rPr lang="tr-TR" sz="1200" dirty="0" smtClean="0"/>
              <a:t>II. Güvenlik Tedbirleri</a:t>
            </a:r>
            <a:endParaRPr lang="fr-FR" sz="1200" dirty="0"/>
          </a:p>
        </p:txBody>
      </p:sp>
      <p:sp>
        <p:nvSpPr>
          <p:cNvPr id="2" name="Dikdörtgen 1"/>
          <p:cNvSpPr/>
          <p:nvPr/>
        </p:nvSpPr>
        <p:spPr>
          <a:xfrm>
            <a:off x="2066925" y="2177178"/>
            <a:ext cx="9658349" cy="954107"/>
          </a:xfrm>
          <a:prstGeom prst="rect">
            <a:avLst/>
          </a:prstGeom>
        </p:spPr>
        <p:txBody>
          <a:bodyPr wrap="square">
            <a:spAutoFit/>
          </a:bodyPr>
          <a:lstStyle/>
          <a:p>
            <a:pPr marL="285750" indent="-285750" algn="just">
              <a:buFont typeface="Arial" panose="020B0604020202020204" pitchFamily="34" charset="0"/>
              <a:buChar char="•"/>
            </a:pPr>
            <a:r>
              <a:rPr lang="tr-TR" sz="1400" dirty="0" smtClean="0"/>
              <a:t>Türk Ceza Kanunu m.50’de </a:t>
            </a:r>
            <a:r>
              <a:rPr lang="tr-TR" sz="1400" dirty="0"/>
              <a:t>b</a:t>
            </a:r>
            <a:r>
              <a:rPr lang="tr-TR" sz="1400" dirty="0" smtClean="0"/>
              <a:t>elirtilenler dışında başka bir seçenek yaptırımın uygulanması mümkün değildir</a:t>
            </a:r>
          </a:p>
          <a:p>
            <a:pPr marL="285750" indent="-285750" algn="just">
              <a:buFont typeface="Arial" panose="020B0604020202020204" pitchFamily="34" charset="0"/>
              <a:buChar char="•"/>
            </a:pPr>
            <a:r>
              <a:rPr lang="tr-TR" sz="1400" dirty="0" smtClean="0"/>
              <a:t>Uygulanacak seçenek yaptırım, işlenen suçun sonrasında failin ıslahında etkili olmalıdır. Örneğin alkollü olarak araç sürme neticesinde öldürmeye sebep olmuş kişiye verilen kısa süreli hapis cezasının alkollü yere gitmeme şeklindeki seçenek yaptırıma çevrilmesi yerinde olacaktır. </a:t>
            </a:r>
            <a:endParaRPr lang="fr-FR" sz="1400" dirty="0"/>
          </a:p>
        </p:txBody>
      </p:sp>
      <p:sp>
        <p:nvSpPr>
          <p:cNvPr id="7" name="Dikdörtgen 6"/>
          <p:cNvSpPr/>
          <p:nvPr/>
        </p:nvSpPr>
        <p:spPr>
          <a:xfrm>
            <a:off x="2066924" y="3239201"/>
            <a:ext cx="9658349" cy="1815882"/>
          </a:xfrm>
          <a:prstGeom prst="rect">
            <a:avLst/>
          </a:prstGeom>
        </p:spPr>
        <p:txBody>
          <a:bodyPr wrap="square">
            <a:spAutoFit/>
          </a:bodyPr>
          <a:lstStyle/>
          <a:p>
            <a:pPr algn="just"/>
            <a:r>
              <a:rPr lang="tr-TR" sz="1400" b="1" dirty="0" smtClean="0">
                <a:effectLst>
                  <a:outerShdw blurRad="38100" dist="38100" dir="2700000" algn="tl">
                    <a:srgbClr val="000000">
                      <a:alpha val="43137"/>
                    </a:srgbClr>
                  </a:outerShdw>
                </a:effectLst>
              </a:rPr>
              <a:t>Seçenek Yaptırımlara Çevirme Koşulları</a:t>
            </a:r>
          </a:p>
          <a:p>
            <a:pPr indent="266700" algn="just"/>
            <a:r>
              <a:rPr lang="tr-TR" sz="1400" b="1" dirty="0" smtClean="0"/>
              <a:t>Objektif Koşul:</a:t>
            </a:r>
            <a:r>
              <a:rPr lang="tr-TR" sz="1400" dirty="0" smtClean="0"/>
              <a:t> Hapis Cezası </a:t>
            </a:r>
            <a:r>
              <a:rPr lang="tr-TR" sz="1400" u="sng" dirty="0" smtClean="0"/>
              <a:t>kısa süreli</a:t>
            </a:r>
            <a:r>
              <a:rPr lang="tr-TR" sz="1400" dirty="0" smtClean="0"/>
              <a:t> olmalıdır. Buna göre, adli para cezası veya 1 yılın üstündeki hapis cezasının seçenek yaptırıma çevrilmesi mümkün değildir. Ancak taksirli suç nedeniyle verilen hapis cezası uzun süreli de olsa adli para cezasına çevrilebilir. İstisna: Bilinçli taksirli işlenmiş ve uzun süreli hapis cezası şeklinde verilen ceza adli para cezasına çevrilemez </a:t>
            </a:r>
          </a:p>
          <a:p>
            <a:pPr indent="1438275" algn="just"/>
            <a:r>
              <a:rPr lang="tr-TR" sz="1400" dirty="0" smtClean="0"/>
              <a:t>Hükümlü </a:t>
            </a:r>
            <a:r>
              <a:rPr lang="tr-TR" sz="1400" u="sng" dirty="0" smtClean="0"/>
              <a:t>birden fazla suçtan ceza almış ise</a:t>
            </a:r>
            <a:r>
              <a:rPr lang="tr-TR" sz="1400" dirty="0" smtClean="0"/>
              <a:t> 1 yıllık süre her bir ceza bakımından ayrı ayrı değerlendirilecektir. </a:t>
            </a:r>
          </a:p>
          <a:p>
            <a:pPr indent="266700" algn="just"/>
            <a:r>
              <a:rPr lang="tr-TR" sz="1400" b="1" dirty="0" err="1" smtClean="0"/>
              <a:t>Subjektif</a:t>
            </a:r>
            <a:r>
              <a:rPr lang="tr-TR" sz="1400" b="1" dirty="0" smtClean="0"/>
              <a:t> Koşul:</a:t>
            </a:r>
            <a:r>
              <a:rPr lang="tr-TR" sz="1400" dirty="0" smtClean="0"/>
              <a:t> Failin kişiliği, yargılama sürecinde gösterdiği pişmanlığı, sosyal ve ekonomik durumu ve suçun işlenmesindeki özellikler.</a:t>
            </a:r>
          </a:p>
          <a:p>
            <a:pPr indent="1438275" algn="just"/>
            <a:r>
              <a:rPr lang="tr-TR" sz="1400" dirty="0" smtClean="0"/>
              <a:t>Seçenek yaptırımlara çevirmede </a:t>
            </a:r>
            <a:r>
              <a:rPr lang="tr-TR" sz="1400" u="sng" dirty="0" smtClean="0"/>
              <a:t>sanığın talebi aranmaz</a:t>
            </a:r>
            <a:r>
              <a:rPr lang="tr-TR" sz="1400" dirty="0" smtClean="0"/>
              <a:t>.</a:t>
            </a:r>
            <a:endParaRPr lang="fr-FR" sz="1400" dirty="0"/>
          </a:p>
        </p:txBody>
      </p:sp>
      <p:sp>
        <p:nvSpPr>
          <p:cNvPr id="4" name="Slayt Numarası Yer Tutucusu 3"/>
          <p:cNvSpPr>
            <a:spLocks noGrp="1"/>
          </p:cNvSpPr>
          <p:nvPr>
            <p:ph type="sldNum" sz="quarter" idx="12"/>
          </p:nvPr>
        </p:nvSpPr>
        <p:spPr/>
        <p:txBody>
          <a:bodyPr/>
          <a:lstStyle/>
          <a:p>
            <a:fld id="{39F9BA00-44CD-41D4-A3D8-F864C744DC1F}" type="slidenum">
              <a:rPr lang="tr-TR" smtClean="0"/>
              <a:t>104</a:t>
            </a:fld>
            <a:r>
              <a:rPr lang="tr-TR"/>
              <a:t>/116</a:t>
            </a:r>
          </a:p>
        </p:txBody>
      </p:sp>
    </p:spTree>
    <p:extLst>
      <p:ext uri="{BB962C8B-B14F-4D97-AF65-F5344CB8AC3E}">
        <p14:creationId xmlns:p14="http://schemas.microsoft.com/office/powerpoint/2010/main" val="114440048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Erteleme</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b="1" dirty="0" smtClean="0"/>
              <a:t>I. Cezalar</a:t>
            </a:r>
          </a:p>
          <a:p>
            <a:r>
              <a:rPr lang="tr-TR" sz="1200" dirty="0" smtClean="0"/>
              <a:t>II. Güvenlik Tedbirleri</a:t>
            </a:r>
            <a:endParaRPr lang="fr-FR" sz="1200" dirty="0"/>
          </a:p>
        </p:txBody>
      </p:sp>
      <p:sp>
        <p:nvSpPr>
          <p:cNvPr id="3" name="Dikdörtgen 2"/>
          <p:cNvSpPr/>
          <p:nvPr/>
        </p:nvSpPr>
        <p:spPr>
          <a:xfrm>
            <a:off x="2482411" y="2240338"/>
            <a:ext cx="8480863" cy="4401205"/>
          </a:xfrm>
          <a:prstGeom prst="rect">
            <a:avLst/>
          </a:prstGeom>
        </p:spPr>
        <p:txBody>
          <a:bodyPr wrap="square">
            <a:spAutoFit/>
          </a:bodyPr>
          <a:lstStyle/>
          <a:p>
            <a:pPr algn="just"/>
            <a:r>
              <a:rPr lang="tr-TR" sz="1000" b="1" dirty="0"/>
              <a:t>5237 sayılı Türk Ceza Kanunu</a:t>
            </a:r>
          </a:p>
          <a:p>
            <a:pPr algn="just"/>
            <a:r>
              <a:rPr lang="tr-TR" sz="1000" b="1" dirty="0"/>
              <a:t>Hapis cezasının ertelenmesi</a:t>
            </a:r>
          </a:p>
          <a:p>
            <a:pPr algn="just"/>
            <a:r>
              <a:rPr lang="tr-TR" sz="1000" b="1" dirty="0"/>
              <a:t>Madde 51- </a:t>
            </a:r>
            <a:r>
              <a:rPr lang="tr-TR" sz="1000" dirty="0"/>
              <a:t>(1) İşlediği suçtan dolayı </a:t>
            </a:r>
            <a:r>
              <a:rPr lang="tr-TR" sz="1000" u="sng" dirty="0"/>
              <a:t>iki yıl veya daha az süreyle hapis cezasına</a:t>
            </a:r>
            <a:r>
              <a:rPr lang="tr-TR" sz="1000" dirty="0"/>
              <a:t> mahkûm edilen kişinin cezası </a:t>
            </a:r>
            <a:r>
              <a:rPr lang="tr-TR" sz="1000" u="sng" dirty="0"/>
              <a:t>ertelenebilir</a:t>
            </a:r>
            <a:r>
              <a:rPr lang="tr-TR" sz="1000" dirty="0"/>
              <a:t>. </a:t>
            </a:r>
            <a:r>
              <a:rPr lang="tr-TR" sz="1000" u="sng" dirty="0"/>
              <a:t>Bu sürenin üst sınırı</a:t>
            </a:r>
            <a:r>
              <a:rPr lang="tr-TR" sz="1000" dirty="0"/>
              <a:t>, fiili işlediği sırada </a:t>
            </a:r>
            <a:r>
              <a:rPr lang="tr-TR" sz="1000" dirty="0" err="1"/>
              <a:t>onsekiz</a:t>
            </a:r>
            <a:r>
              <a:rPr lang="tr-TR" sz="1000" dirty="0"/>
              <a:t> yaşını doldurmamış veya </a:t>
            </a:r>
            <a:r>
              <a:rPr lang="tr-TR" sz="1000" dirty="0" err="1"/>
              <a:t>altmışbeş</a:t>
            </a:r>
            <a:r>
              <a:rPr lang="tr-TR" sz="1000" dirty="0"/>
              <a:t> yaşını bitirmiş olan kişiler bakımından üç yıldır. Ancak, erteleme kararının verilebilmesi için kişinin;</a:t>
            </a:r>
          </a:p>
          <a:p>
            <a:pPr marL="355600" algn="just"/>
            <a:r>
              <a:rPr lang="tr-TR" sz="1000" dirty="0"/>
              <a:t>a) Daha önce </a:t>
            </a:r>
            <a:r>
              <a:rPr lang="tr-TR" sz="1000" u="sng" dirty="0"/>
              <a:t>kasıtlı bir suçtan dolayı üç aydan fazla hapis cezasına mahkûm edilmemiş</a:t>
            </a:r>
            <a:r>
              <a:rPr lang="tr-TR" sz="1000" dirty="0"/>
              <a:t> olması,</a:t>
            </a:r>
          </a:p>
          <a:p>
            <a:pPr marL="355600" algn="just"/>
            <a:r>
              <a:rPr lang="tr-TR" sz="1000" dirty="0"/>
              <a:t>b) Suçu işledikten sonra yargılama sürecinde gösterdiği pişmanlık dolayısıyla </a:t>
            </a:r>
            <a:r>
              <a:rPr lang="tr-TR" sz="1000" u="sng" dirty="0"/>
              <a:t>tekrar suç işlemeyeceği konusunda mahkemede bir kanaatin</a:t>
            </a:r>
            <a:r>
              <a:rPr lang="tr-TR" sz="1000" dirty="0"/>
              <a:t> oluşması,</a:t>
            </a:r>
          </a:p>
          <a:p>
            <a:pPr marL="355600" algn="just"/>
            <a:r>
              <a:rPr lang="tr-TR" sz="1000" dirty="0"/>
              <a:t>gerekir.</a:t>
            </a:r>
          </a:p>
          <a:p>
            <a:pPr algn="just"/>
            <a:r>
              <a:rPr lang="tr-TR" sz="1000" dirty="0"/>
              <a:t>(2) Cezanın ertelenmesi, mağdurun veya kamunun uğradığı zararın aynen iade, suçtan önceki hale getirme veya tazmin suretiyle tamamen giderilmesi koşuluna bağlı tutulabilir. Bu durumda, koşul gerçekleşinceye kadar cezanın infaz kurumunda çektirilmesine devam edilir. Koşulun yerine getirilmesi halinde, infaz hâkimi kararıyla hükümlü infaz kurumundan derhal salıverilir.8</a:t>
            </a:r>
          </a:p>
          <a:p>
            <a:pPr algn="just"/>
            <a:r>
              <a:rPr lang="tr-TR" sz="1000" dirty="0"/>
              <a:t>(3) Cezası ertelenen hükümlü hakkında, </a:t>
            </a:r>
            <a:r>
              <a:rPr lang="tr-TR" sz="1000" u="sng" dirty="0"/>
              <a:t>bir yıldan az, üç yıldan fazla olmamak üzere, bir denetim süresi belirlenir</a:t>
            </a:r>
            <a:r>
              <a:rPr lang="tr-TR" sz="1000" dirty="0"/>
              <a:t>. Bu sürenin alt sınırı, mahkûm olunan ceza süresinden az olamaz.</a:t>
            </a:r>
          </a:p>
          <a:p>
            <a:pPr algn="just"/>
            <a:r>
              <a:rPr lang="tr-TR" sz="1000" dirty="0"/>
              <a:t>(4) Denetim süresi içinde;</a:t>
            </a:r>
          </a:p>
          <a:p>
            <a:pPr marL="355600" algn="just"/>
            <a:r>
              <a:rPr lang="tr-TR" sz="1000" dirty="0"/>
              <a:t>a) Bir meslek veya sanat sahibi olmayan hükümlünün, bu amaçla bir eğitim programına devam etmesine,</a:t>
            </a:r>
          </a:p>
          <a:p>
            <a:pPr marL="355600" algn="just"/>
            <a:r>
              <a:rPr lang="tr-TR" sz="1000" dirty="0"/>
              <a:t>b) Bir meslek veya sanat sahibi hükümlünün, bir kamu kurumunda veya özel olarak aynı meslek veya sanatı icra eden bir başkasının gözetimi altında ücret karşılığında çalıştırılmasına,</a:t>
            </a:r>
          </a:p>
          <a:p>
            <a:pPr marL="355600" algn="just"/>
            <a:r>
              <a:rPr lang="tr-TR" sz="1000" dirty="0"/>
              <a:t>c) </a:t>
            </a:r>
            <a:r>
              <a:rPr lang="tr-TR" sz="1000" dirty="0" err="1"/>
              <a:t>Onsekiz</a:t>
            </a:r>
            <a:r>
              <a:rPr lang="tr-TR" sz="1000" dirty="0"/>
              <a:t> yaşından küçük olan hükümlülerin, bir meslek veya sanat edinmelerini sağlamak amacıyla, gerektiğinde barınma imkanı da bulunan bir eğitim kurumuna devam etmesine,</a:t>
            </a:r>
          </a:p>
          <a:p>
            <a:pPr algn="just"/>
            <a:r>
              <a:rPr lang="tr-TR" sz="1000" dirty="0"/>
              <a:t>mahkemece karar verilebilir.</a:t>
            </a:r>
          </a:p>
          <a:p>
            <a:pPr algn="just"/>
            <a:r>
              <a:rPr lang="tr-TR" sz="1000" dirty="0"/>
              <a:t>(5) Mahkeme, denetim süresi içinde hükümlüye rehberlik edecek bir uzman kişiyi görevlendirebilir. Bu kişi, kötü alışkanlıklardan kurtulmasını ve sorumluluk bilinciyle iyi bir hayat sürmesini temin hususunda hükümlüye öğütte bulunur; eğitim gördüğü kurum yetkilileri veya nezdinde çalıştığı kişilerle görüşerek, istişarelerde bulunur; hükümlünün davranışları, sosyal uyumu ve sorumluluk bilincindeki gelişme hakkında üçer aylık sürelerle rapor düzenleyerek infaz hâkimine verir.</a:t>
            </a:r>
          </a:p>
          <a:p>
            <a:pPr algn="just"/>
            <a:r>
              <a:rPr lang="tr-TR" sz="1000" dirty="0"/>
              <a:t>(6) Mahkeme, hükümlünün kişiliğini ve sosyal durumunu göz önünde bulundurarak, denetim süresinin herhangi bir yükümlülük belirlemeden veya uzman kişi görevlendirmeden geçirilmesine de karar verebilir.</a:t>
            </a:r>
          </a:p>
          <a:p>
            <a:pPr algn="just"/>
            <a:r>
              <a:rPr lang="tr-TR" sz="1000" dirty="0"/>
              <a:t>(7) Hükümlünün denetim süresi içinde kasıtlı bir suç işlemesi veya kendisine yüklenen yükümlülüklere, infaz hâkiminin uyarısına rağmen, uymamakta ısrar etmesi halinde; ertelenen cezanın kısmen veya tamamen infaz kurumunda çektirilmesine infaz hâkimliğince karar verilir.</a:t>
            </a:r>
          </a:p>
          <a:p>
            <a:pPr algn="just"/>
            <a:r>
              <a:rPr lang="tr-TR" sz="1000" dirty="0"/>
              <a:t>(8) Denetim süresi yükümlülüklere uygun veya iyi halli olarak geçirildiği takdirde, </a:t>
            </a:r>
            <a:r>
              <a:rPr lang="tr-TR" sz="1000" u="sng" dirty="0"/>
              <a:t>ceza infaz edilmiş sayılır</a:t>
            </a:r>
            <a:r>
              <a:rPr lang="tr-TR" sz="1000" dirty="0"/>
              <a:t>.</a:t>
            </a:r>
          </a:p>
        </p:txBody>
      </p:sp>
      <p:sp>
        <p:nvSpPr>
          <p:cNvPr id="4" name="Slayt Numarası Yer Tutucusu 3"/>
          <p:cNvSpPr>
            <a:spLocks noGrp="1"/>
          </p:cNvSpPr>
          <p:nvPr>
            <p:ph type="sldNum" sz="quarter" idx="12"/>
          </p:nvPr>
        </p:nvSpPr>
        <p:spPr/>
        <p:txBody>
          <a:bodyPr/>
          <a:lstStyle/>
          <a:p>
            <a:fld id="{39F9BA00-44CD-41D4-A3D8-F864C744DC1F}" type="slidenum">
              <a:rPr lang="tr-TR" smtClean="0"/>
              <a:t>105</a:t>
            </a:fld>
            <a:r>
              <a:rPr lang="tr-TR"/>
              <a:t>/116</a:t>
            </a:r>
          </a:p>
        </p:txBody>
      </p:sp>
    </p:spTree>
    <p:extLst>
      <p:ext uri="{BB962C8B-B14F-4D97-AF65-F5344CB8AC3E}">
        <p14:creationId xmlns:p14="http://schemas.microsoft.com/office/powerpoint/2010/main" val="337514969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Koşullu Salıverme</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b="1" dirty="0" smtClean="0"/>
              <a:t>I. Cezalar</a:t>
            </a:r>
          </a:p>
          <a:p>
            <a:r>
              <a:rPr lang="tr-TR" sz="1200" dirty="0" smtClean="0"/>
              <a:t>II. Güvenlik Tedbirleri</a:t>
            </a:r>
            <a:endParaRPr lang="fr-FR" sz="1200" dirty="0"/>
          </a:p>
        </p:txBody>
      </p:sp>
      <p:sp>
        <p:nvSpPr>
          <p:cNvPr id="2" name="Dikdörtgen 1"/>
          <p:cNvSpPr/>
          <p:nvPr/>
        </p:nvSpPr>
        <p:spPr>
          <a:xfrm>
            <a:off x="2558611" y="2194670"/>
            <a:ext cx="8480863" cy="2123658"/>
          </a:xfrm>
          <a:prstGeom prst="rect">
            <a:avLst/>
          </a:prstGeom>
        </p:spPr>
        <p:txBody>
          <a:bodyPr wrap="square">
            <a:spAutoFit/>
          </a:bodyPr>
          <a:lstStyle/>
          <a:p>
            <a:pPr algn="just"/>
            <a:r>
              <a:rPr lang="tr-TR" sz="1100" b="1" dirty="0"/>
              <a:t>5275 sayılı Ceza ve Güvenlik tedbirlerinin İnfazı Hakkında Kanun</a:t>
            </a:r>
          </a:p>
          <a:p>
            <a:pPr algn="just"/>
            <a:r>
              <a:rPr lang="tr-TR" sz="1100" b="1" dirty="0"/>
              <a:t>Koşullu salıverilme</a:t>
            </a:r>
          </a:p>
          <a:p>
            <a:pPr algn="just"/>
            <a:r>
              <a:rPr lang="tr-TR" sz="1100" b="1" dirty="0"/>
              <a:t>Madde 107- </a:t>
            </a:r>
            <a:r>
              <a:rPr lang="tr-TR" sz="1100" dirty="0"/>
              <a:t>(1) Koşullu salıverilmeden yararlanabilmek için mahkûmun </a:t>
            </a:r>
            <a:r>
              <a:rPr lang="tr-TR" sz="1100" u="sng" dirty="0"/>
              <a:t>kurumdaki infaz süresini iyi hâlli olarak geçirmesi</a:t>
            </a:r>
            <a:r>
              <a:rPr lang="tr-TR" sz="1100" dirty="0"/>
              <a:t> gerekir.</a:t>
            </a:r>
          </a:p>
          <a:p>
            <a:pPr algn="just"/>
            <a:r>
              <a:rPr lang="tr-TR" sz="1100" dirty="0"/>
              <a:t>(2) Ağırlaştırılmış müebbet hapis cezasına mahkûm edilmiş olanlar </a:t>
            </a:r>
            <a:r>
              <a:rPr lang="tr-TR" sz="1100" u="sng" dirty="0"/>
              <a:t>otuz yılını</a:t>
            </a:r>
            <a:r>
              <a:rPr lang="tr-TR" sz="1100" dirty="0"/>
              <a:t>, müebbet hapis cezasına mahkûm edilmiş olanlar </a:t>
            </a:r>
            <a:r>
              <a:rPr lang="tr-TR" sz="1100" u="sng" dirty="0" err="1"/>
              <a:t>yirmidört</a:t>
            </a:r>
            <a:r>
              <a:rPr lang="tr-TR" sz="1100" u="sng" dirty="0"/>
              <a:t> yılını</a:t>
            </a:r>
            <a:r>
              <a:rPr lang="tr-TR" sz="1100" dirty="0"/>
              <a:t>, diğer süreli hapis cezalarına mahkûm edilmiş olanlar cezalarının </a:t>
            </a:r>
            <a:r>
              <a:rPr lang="tr-TR" sz="1100" u="sng" dirty="0"/>
              <a:t>yarısını</a:t>
            </a:r>
            <a:r>
              <a:rPr lang="tr-TR" sz="1100" dirty="0"/>
              <a:t> infaz kurumunda çektikleri takdirde, koşullu salıverilmeden yararlanabilirler. Ancak, Türk Ceza Kanununun;</a:t>
            </a:r>
          </a:p>
          <a:p>
            <a:pPr algn="just"/>
            <a:r>
              <a:rPr lang="tr-TR" sz="1100" dirty="0"/>
              <a:t>….</a:t>
            </a:r>
          </a:p>
          <a:p>
            <a:pPr algn="just"/>
            <a:r>
              <a:rPr lang="tr-TR" sz="1100" dirty="0"/>
              <a:t>(11) Hükümlünün koşullu salıverilmesi hakkında ceza infaz </a:t>
            </a:r>
            <a:r>
              <a:rPr lang="tr-TR" sz="1100" u="sng" dirty="0"/>
              <a:t>kurumu idaresi tarafından hazırlanan gerekçeli rapor</a:t>
            </a:r>
            <a:r>
              <a:rPr lang="tr-TR" sz="1100" dirty="0"/>
              <a:t>, infaz işlemlerinin yapıldığı yer infaz hâkimliğine verilir. İnfaz hâkimi, bu raporu uygun bulursa hükümlünün koşullu salıverilmesine dosya üzerinden karar verir; raporu uygun bulmadığı takdirde gerekçesini kararında gösterir. Bu kararlara karşı itiraz yoluna gidilebilir.</a:t>
            </a:r>
          </a:p>
          <a:p>
            <a:pPr algn="just"/>
            <a:r>
              <a:rPr lang="tr-TR" sz="1100" dirty="0"/>
              <a:t>(12) Koşullu salıverilen hükümlünün, denetim süresinde hapis cezasını gerektiren kasıtlı bir suç işlemesi veya kendisine yüklenen yükümlülüklere, infaz hâkiminin uyarısına rağmen, uymamakta ısrar etmesi hâlinde koşullu salıverilme kararı geri alınır.</a:t>
            </a:r>
          </a:p>
        </p:txBody>
      </p:sp>
      <p:sp>
        <p:nvSpPr>
          <p:cNvPr id="4" name="Metin kutusu 3"/>
          <p:cNvSpPr txBox="1"/>
          <p:nvPr/>
        </p:nvSpPr>
        <p:spPr>
          <a:xfrm>
            <a:off x="2133600" y="4634320"/>
            <a:ext cx="8905874" cy="1323439"/>
          </a:xfrm>
          <a:prstGeom prst="rect">
            <a:avLst/>
          </a:prstGeom>
          <a:noFill/>
        </p:spPr>
        <p:txBody>
          <a:bodyPr wrap="square" rtlCol="0">
            <a:spAutoFit/>
          </a:bodyPr>
          <a:lstStyle/>
          <a:p>
            <a:pPr marL="285750" indent="-285750" algn="just">
              <a:buFont typeface="Arial" panose="020B0604020202020204" pitchFamily="34" charset="0"/>
              <a:buChar char="•"/>
            </a:pPr>
            <a:r>
              <a:rPr lang="tr-TR" sz="1600" dirty="0" smtClean="0"/>
              <a:t>Koşullu Salıverme, iyi halli hükümlülerin özgürlüklerine daha erken kavuşmalarına imkan sağlar</a:t>
            </a:r>
          </a:p>
          <a:p>
            <a:pPr marL="285750" indent="-285750" algn="just">
              <a:buFont typeface="Arial" panose="020B0604020202020204" pitchFamily="34" charset="0"/>
              <a:buChar char="•"/>
            </a:pPr>
            <a:r>
              <a:rPr lang="tr-TR" sz="1600" dirty="0" smtClean="0"/>
              <a:t>Koşullu salıverme için cezanın bir kısmının ceza infaz kurumunda infaz edilmiş olması, hükümlünün de bu infaz süresince iyi halli davranmış olması gerekmektedir.</a:t>
            </a:r>
            <a:endParaRPr lang="tr-TR" sz="1600" dirty="0"/>
          </a:p>
          <a:p>
            <a:pPr marL="285750" indent="-285750" algn="just">
              <a:buFont typeface="Arial" panose="020B0604020202020204" pitchFamily="34" charset="0"/>
              <a:buChar char="•"/>
            </a:pPr>
            <a:r>
              <a:rPr lang="tr-TR" sz="1600" dirty="0" smtClean="0"/>
              <a:t>Koşullu salıverme, Mahkeme tarafından verilecek bir kararla mümkün olup bu kararın verilmesi için hükümlünün talep veya rızasına ihtiyaç bulunmamaktadır.</a:t>
            </a:r>
            <a:endParaRPr lang="fr-FR" sz="1600" dirty="0"/>
          </a:p>
        </p:txBody>
      </p:sp>
      <p:sp>
        <p:nvSpPr>
          <p:cNvPr id="5" name="Slayt Numarası Yer Tutucusu 4"/>
          <p:cNvSpPr>
            <a:spLocks noGrp="1"/>
          </p:cNvSpPr>
          <p:nvPr>
            <p:ph type="sldNum" sz="quarter" idx="12"/>
          </p:nvPr>
        </p:nvSpPr>
        <p:spPr/>
        <p:txBody>
          <a:bodyPr/>
          <a:lstStyle/>
          <a:p>
            <a:fld id="{39F9BA00-44CD-41D4-A3D8-F864C744DC1F}" type="slidenum">
              <a:rPr lang="tr-TR" smtClean="0"/>
              <a:t>106</a:t>
            </a:fld>
            <a:r>
              <a:rPr lang="tr-TR"/>
              <a:t>/116</a:t>
            </a:r>
          </a:p>
        </p:txBody>
      </p:sp>
    </p:spTree>
    <p:extLst>
      <p:ext uri="{BB962C8B-B14F-4D97-AF65-F5344CB8AC3E}">
        <p14:creationId xmlns:p14="http://schemas.microsoft.com/office/powerpoint/2010/main" val="3481952256"/>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Adli Para Cezası</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b="1" dirty="0" smtClean="0"/>
              <a:t>I. Cezalar</a:t>
            </a:r>
          </a:p>
          <a:p>
            <a:r>
              <a:rPr lang="tr-TR" sz="1200" dirty="0" smtClean="0"/>
              <a:t>II. Güvenlik Tedbirleri</a:t>
            </a:r>
            <a:endParaRPr lang="fr-FR" sz="1200" dirty="0"/>
          </a:p>
        </p:txBody>
      </p:sp>
      <p:sp>
        <p:nvSpPr>
          <p:cNvPr id="3" name="Dikdörtgen 2"/>
          <p:cNvSpPr/>
          <p:nvPr/>
        </p:nvSpPr>
        <p:spPr>
          <a:xfrm>
            <a:off x="2558612" y="2244325"/>
            <a:ext cx="8702040" cy="2308324"/>
          </a:xfrm>
          <a:prstGeom prst="rect">
            <a:avLst/>
          </a:prstGeom>
        </p:spPr>
        <p:txBody>
          <a:bodyPr wrap="square">
            <a:spAutoFit/>
          </a:bodyPr>
          <a:lstStyle/>
          <a:p>
            <a:pPr algn="just"/>
            <a:r>
              <a:rPr lang="tr-TR" sz="1200" b="1" dirty="0"/>
              <a:t>5237 sayılı Türk Ceza Kanunu</a:t>
            </a:r>
          </a:p>
          <a:p>
            <a:pPr algn="just"/>
            <a:r>
              <a:rPr lang="tr-TR" sz="1200" b="1" dirty="0"/>
              <a:t>Adlî para cezası</a:t>
            </a:r>
          </a:p>
          <a:p>
            <a:pPr algn="just"/>
            <a:r>
              <a:rPr lang="tr-TR" sz="1200" b="1" dirty="0"/>
              <a:t>Madde 52- </a:t>
            </a:r>
            <a:r>
              <a:rPr lang="tr-TR" sz="1200" dirty="0"/>
              <a:t>(1) Adlî para cezası, </a:t>
            </a:r>
            <a:r>
              <a:rPr lang="tr-TR" sz="1200" u="sng" dirty="0"/>
              <a:t>beş günden az</a:t>
            </a:r>
            <a:r>
              <a:rPr lang="tr-TR" sz="1200" dirty="0"/>
              <a:t> ve kanunda aksine hüküm bulunmayan hallerde </a:t>
            </a:r>
            <a:r>
              <a:rPr lang="tr-TR" sz="1200" u="sng" dirty="0" err="1"/>
              <a:t>yediyüzotuz</a:t>
            </a:r>
            <a:r>
              <a:rPr lang="tr-TR" sz="1200" u="sng" dirty="0"/>
              <a:t> günden fazla olmamak üzere belirlenen tam gün sayısının, bir gün karşılığı olarak takdir edilen miktar ile çarpılması</a:t>
            </a:r>
            <a:r>
              <a:rPr lang="tr-TR" sz="1200" dirty="0"/>
              <a:t> suretiyle hesaplanan meblağın hükümlü tarafından </a:t>
            </a:r>
            <a:r>
              <a:rPr lang="tr-TR" sz="1200" u="sng" dirty="0"/>
              <a:t>Devlet Hazinesine ödenmesinden</a:t>
            </a:r>
            <a:r>
              <a:rPr lang="tr-TR" sz="1200" dirty="0"/>
              <a:t> ibarettir.</a:t>
            </a:r>
          </a:p>
          <a:p>
            <a:pPr algn="just"/>
            <a:r>
              <a:rPr lang="tr-TR" sz="1200" dirty="0"/>
              <a:t>(2) </a:t>
            </a:r>
            <a:r>
              <a:rPr lang="tr-TR" sz="1200" u="sng" dirty="0"/>
              <a:t>En az yirmi ve en fazla yüz Türk Lirası olan</a:t>
            </a:r>
            <a:r>
              <a:rPr lang="tr-TR" sz="1200" dirty="0"/>
              <a:t> bir gün karşılığı adlî para cezasının miktarı</a:t>
            </a:r>
            <a:r>
              <a:rPr lang="tr-TR" sz="1200" u="sng" dirty="0"/>
              <a:t>, kişinin ekonomik ve diğer şahsi halleri göz önünde bulundurularak</a:t>
            </a:r>
            <a:r>
              <a:rPr lang="tr-TR" sz="1200" dirty="0"/>
              <a:t> takdir edilir.</a:t>
            </a:r>
          </a:p>
          <a:p>
            <a:pPr algn="just"/>
            <a:r>
              <a:rPr lang="tr-TR" sz="1200" dirty="0"/>
              <a:t>(3) Kararda, adlî para cezasının belirlenmesinde esas alınan tam gün sayısı ile bir gün karşılığı olarak takdir edilen miktar ayrı ayrı gösterilir.</a:t>
            </a:r>
          </a:p>
          <a:p>
            <a:pPr algn="just"/>
            <a:r>
              <a:rPr lang="tr-TR" sz="1200" dirty="0"/>
              <a:t>(4) Hakim, ekonomik ve şahsi hallerini göz önünde bulundurarak, kişiye adlî para cezasını ödemesi için hükmün kesinleşme tarihinden itibaren </a:t>
            </a:r>
            <a:r>
              <a:rPr lang="tr-TR" sz="1200" u="sng" dirty="0"/>
              <a:t>bir yıldan fazla olmamak üzere mehil verebileceği gibi</a:t>
            </a:r>
            <a:r>
              <a:rPr lang="tr-TR" sz="1200" dirty="0"/>
              <a:t>, bu cezanın belirli </a:t>
            </a:r>
            <a:r>
              <a:rPr lang="tr-TR" sz="1200" u="sng" dirty="0"/>
              <a:t>taksitler halinde ödenmesine de karar verebilir</a:t>
            </a:r>
            <a:r>
              <a:rPr lang="tr-TR" sz="1200" dirty="0"/>
              <a:t>. </a:t>
            </a:r>
            <a:r>
              <a:rPr lang="tr-TR" sz="1200" u="sng" dirty="0"/>
              <a:t>Taksit süresi iki yılı geçemez ve taksit miktarı dörtten az olamaz</a:t>
            </a:r>
            <a:r>
              <a:rPr lang="tr-TR" sz="1200" dirty="0"/>
              <a:t>. Kararda, taksitlerden birinin zamanında ödenmemesi halinde geri kalan kısmın tamamının tahsil edileceği ve ödenmeyen adlî para cezasının hapse çevrileceği belirtilir</a:t>
            </a:r>
            <a:r>
              <a:rPr lang="tr-TR" sz="1200" dirty="0" smtClean="0"/>
              <a:t>.</a:t>
            </a:r>
            <a:endParaRPr lang="tr-TR" sz="1200" dirty="0"/>
          </a:p>
        </p:txBody>
      </p:sp>
      <p:sp>
        <p:nvSpPr>
          <p:cNvPr id="4" name="Slayt Numarası Yer Tutucusu 3"/>
          <p:cNvSpPr>
            <a:spLocks noGrp="1"/>
          </p:cNvSpPr>
          <p:nvPr>
            <p:ph type="sldNum" sz="quarter" idx="12"/>
          </p:nvPr>
        </p:nvSpPr>
        <p:spPr/>
        <p:txBody>
          <a:bodyPr/>
          <a:lstStyle/>
          <a:p>
            <a:fld id="{39F9BA00-44CD-41D4-A3D8-F864C744DC1F}" type="slidenum">
              <a:rPr lang="tr-TR" smtClean="0"/>
              <a:t>107</a:t>
            </a:fld>
            <a:r>
              <a:rPr lang="tr-TR"/>
              <a:t>/116</a:t>
            </a:r>
          </a:p>
        </p:txBody>
      </p:sp>
    </p:spTree>
    <p:extLst>
      <p:ext uri="{BB962C8B-B14F-4D97-AF65-F5344CB8AC3E}">
        <p14:creationId xmlns:p14="http://schemas.microsoft.com/office/powerpoint/2010/main" val="268778158"/>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Güvenlik Tedbirleri</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dirty="0" smtClean="0"/>
              <a:t>I. Cezalar</a:t>
            </a:r>
          </a:p>
          <a:p>
            <a:r>
              <a:rPr lang="tr-TR" sz="1200" b="1" dirty="0" smtClean="0"/>
              <a:t>II. Güvenlik Tedbirleri</a:t>
            </a:r>
            <a:endParaRPr lang="fr-FR" sz="1200" b="1" dirty="0"/>
          </a:p>
        </p:txBody>
      </p:sp>
      <p:sp>
        <p:nvSpPr>
          <p:cNvPr id="2" name="Metin kutusu 1"/>
          <p:cNvSpPr txBox="1"/>
          <p:nvPr/>
        </p:nvSpPr>
        <p:spPr>
          <a:xfrm>
            <a:off x="2476500" y="2253450"/>
            <a:ext cx="8877300" cy="2308324"/>
          </a:xfrm>
          <a:prstGeom prst="rect">
            <a:avLst/>
          </a:prstGeom>
          <a:noFill/>
        </p:spPr>
        <p:txBody>
          <a:bodyPr wrap="square" rtlCol="0">
            <a:spAutoFit/>
          </a:bodyPr>
          <a:lstStyle/>
          <a:p>
            <a:pPr marL="285750" indent="-285750" algn="just">
              <a:buFont typeface="Arial" panose="020B0604020202020204" pitchFamily="34" charset="0"/>
              <a:buChar char="•"/>
            </a:pPr>
            <a:r>
              <a:rPr lang="tr-TR" dirty="0" smtClean="0"/>
              <a:t>Cezaya hükmedilebilmesi için failin kusurunun bulunması gerekmekte iken güvenlik tedbirlerine hükmedilmesi için failin kusurlu olması gerekmez.</a:t>
            </a:r>
          </a:p>
          <a:p>
            <a:pPr marL="285750" indent="-285750" algn="just">
              <a:buFont typeface="Arial" panose="020B0604020202020204" pitchFamily="34" charset="0"/>
              <a:buChar char="•"/>
            </a:pPr>
            <a:r>
              <a:rPr lang="tr-TR" dirty="0" smtClean="0"/>
              <a:t>Bu tedbirlerin amacı, toplum bakımından tehlikeli kişileri iyileştirerek yeniden topluma kazandırmak, yeniden suç işlemelerini önlemektir.</a:t>
            </a:r>
          </a:p>
          <a:p>
            <a:pPr marL="285750" indent="-285750" algn="just">
              <a:buFont typeface="Arial" panose="020B0604020202020204" pitchFamily="34" charset="0"/>
              <a:buChar char="•"/>
            </a:pPr>
            <a:r>
              <a:rPr lang="tr-TR" dirty="0" smtClean="0"/>
              <a:t>Cezaların suçun ağırlığı ile orantılı olması gerekmekte iken güvenlik tedbirleri, suçun ortaya çıkardığı tehlikelilik durumuna göre uygulanmaktadır. </a:t>
            </a:r>
          </a:p>
          <a:p>
            <a:pPr marL="285750" indent="-285750" algn="just">
              <a:buFont typeface="Arial" panose="020B0604020202020204" pitchFamily="34" charset="0"/>
              <a:buChar char="•"/>
            </a:pPr>
            <a:r>
              <a:rPr lang="tr-TR" dirty="0" smtClean="0"/>
              <a:t>Cezaya hükmedilmesi için Mahkeme kararına ihtiyaç duyulmakta iken, güvenlik tedbirlerine hükmedilebilmesi için bazen Hakim kararı da yeterli olabilmektedir. </a:t>
            </a:r>
            <a:endParaRPr lang="fr-FR" dirty="0"/>
          </a:p>
        </p:txBody>
      </p:sp>
      <p:sp>
        <p:nvSpPr>
          <p:cNvPr id="4" name="Slayt Numarası Yer Tutucusu 3"/>
          <p:cNvSpPr>
            <a:spLocks noGrp="1"/>
          </p:cNvSpPr>
          <p:nvPr>
            <p:ph type="sldNum" sz="quarter" idx="12"/>
          </p:nvPr>
        </p:nvSpPr>
        <p:spPr/>
        <p:txBody>
          <a:bodyPr/>
          <a:lstStyle/>
          <a:p>
            <a:fld id="{39F9BA00-44CD-41D4-A3D8-F864C744DC1F}" type="slidenum">
              <a:rPr lang="tr-TR" smtClean="0"/>
              <a:t>108</a:t>
            </a:fld>
            <a:r>
              <a:rPr lang="tr-TR"/>
              <a:t>/116</a:t>
            </a:r>
          </a:p>
        </p:txBody>
      </p:sp>
    </p:spTree>
    <p:extLst>
      <p:ext uri="{BB962C8B-B14F-4D97-AF65-F5344CB8AC3E}">
        <p14:creationId xmlns:p14="http://schemas.microsoft.com/office/powerpoint/2010/main" val="2821851667"/>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Güvenlik Tedbirleri</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dirty="0" smtClean="0"/>
              <a:t>I. Cezalar</a:t>
            </a:r>
          </a:p>
          <a:p>
            <a:r>
              <a:rPr lang="tr-TR" sz="1200" b="1" dirty="0" smtClean="0"/>
              <a:t>II. Güvenlik Tedbirleri</a:t>
            </a:r>
            <a:endParaRPr lang="fr-FR" sz="1200" b="1" dirty="0"/>
          </a:p>
        </p:txBody>
      </p:sp>
      <p:sp>
        <p:nvSpPr>
          <p:cNvPr id="2" name="Metin kutusu 1"/>
          <p:cNvSpPr txBox="1"/>
          <p:nvPr/>
        </p:nvSpPr>
        <p:spPr>
          <a:xfrm>
            <a:off x="2476500" y="2244325"/>
            <a:ext cx="8877300" cy="2246769"/>
          </a:xfrm>
          <a:prstGeom prst="rect">
            <a:avLst/>
          </a:prstGeom>
          <a:noFill/>
        </p:spPr>
        <p:txBody>
          <a:bodyPr wrap="square" rtlCol="0">
            <a:spAutoFit/>
          </a:bodyPr>
          <a:lstStyle/>
          <a:p>
            <a:pPr algn="just"/>
            <a:r>
              <a:rPr lang="tr-TR" sz="1400" b="1" dirty="0" smtClean="0"/>
              <a:t>Türk Ceza Kanunundaki güvenlik tedbirleri: (5237 sayılı TCK 50 ve 60.maddeler arası)</a:t>
            </a:r>
          </a:p>
          <a:p>
            <a:pPr marL="285750" indent="-104775" algn="just">
              <a:buFont typeface="Arial" panose="020B0604020202020204" pitchFamily="34" charset="0"/>
              <a:buChar char="•"/>
            </a:pPr>
            <a:r>
              <a:rPr lang="tr-TR" sz="1400" dirty="0" smtClean="0"/>
              <a:t>Kısa süreli hapis cezasına seçenek yaptırım olarak öngörülen tedbirler </a:t>
            </a:r>
          </a:p>
          <a:p>
            <a:pPr marL="285750" indent="-104775" algn="just">
              <a:buFont typeface="Arial" panose="020B0604020202020204" pitchFamily="34" charset="0"/>
              <a:buChar char="•"/>
            </a:pPr>
            <a:r>
              <a:rPr lang="tr-TR" sz="1400" dirty="0" smtClean="0"/>
              <a:t>Belli hakları kullanmaktan yoksun bırakılma</a:t>
            </a:r>
          </a:p>
          <a:p>
            <a:pPr marL="285750" indent="-104775" algn="just">
              <a:buFont typeface="Arial" panose="020B0604020202020204" pitchFamily="34" charset="0"/>
              <a:buChar char="•"/>
            </a:pPr>
            <a:r>
              <a:rPr lang="tr-TR" sz="1400" dirty="0" smtClean="0"/>
              <a:t>Eşya müsaderesi</a:t>
            </a:r>
          </a:p>
          <a:p>
            <a:pPr marL="285750" indent="-104775" algn="just">
              <a:buFont typeface="Arial" panose="020B0604020202020204" pitchFamily="34" charset="0"/>
              <a:buChar char="•"/>
            </a:pPr>
            <a:r>
              <a:rPr lang="tr-TR" sz="1400" dirty="0" smtClean="0"/>
              <a:t>Kazanç müsaderesi</a:t>
            </a:r>
          </a:p>
          <a:p>
            <a:pPr marL="285750" indent="-104775" algn="just">
              <a:buFont typeface="Arial" panose="020B0604020202020204" pitchFamily="34" charset="0"/>
              <a:buChar char="•"/>
            </a:pPr>
            <a:r>
              <a:rPr lang="tr-TR" sz="1400" dirty="0" smtClean="0"/>
              <a:t>Çocuklara özgü güvenlik tedbirleri</a:t>
            </a:r>
          </a:p>
          <a:p>
            <a:pPr marL="285750" indent="-104775" algn="just">
              <a:buFont typeface="Arial" panose="020B0604020202020204" pitchFamily="34" charset="0"/>
              <a:buChar char="•"/>
            </a:pPr>
            <a:r>
              <a:rPr lang="tr-TR" sz="1400" dirty="0" smtClean="0"/>
              <a:t>Akıl hastalarına özgü güvenlik tedbirleri</a:t>
            </a:r>
          </a:p>
          <a:p>
            <a:pPr marL="285750" indent="-104775" algn="just">
              <a:buFont typeface="Arial" panose="020B0604020202020204" pitchFamily="34" charset="0"/>
              <a:buChar char="•"/>
            </a:pPr>
            <a:r>
              <a:rPr lang="tr-TR" sz="1400" dirty="0" err="1" smtClean="0"/>
              <a:t>Mükerrirlere</a:t>
            </a:r>
            <a:r>
              <a:rPr lang="tr-TR" sz="1400" dirty="0" smtClean="0"/>
              <a:t> ve diğer özel tehlikeli suçlulara özgü güvenlik tedbirleri</a:t>
            </a:r>
          </a:p>
          <a:p>
            <a:pPr marL="285750" indent="-104775" algn="just">
              <a:buFont typeface="Arial" panose="020B0604020202020204" pitchFamily="34" charset="0"/>
              <a:buChar char="•"/>
            </a:pPr>
            <a:r>
              <a:rPr lang="tr-TR" sz="1400" dirty="0" smtClean="0"/>
              <a:t>Sınır dışı edilme</a:t>
            </a:r>
          </a:p>
          <a:p>
            <a:pPr marL="285750" indent="-104775" algn="just">
              <a:buFont typeface="Arial" panose="020B0604020202020204" pitchFamily="34" charset="0"/>
              <a:buChar char="•"/>
            </a:pPr>
            <a:r>
              <a:rPr lang="tr-TR" sz="1400" dirty="0" smtClean="0"/>
              <a:t>Tüzel kişilere özgü güvenlik tedbirleri </a:t>
            </a:r>
            <a:endParaRPr lang="fr-FR" sz="1400" dirty="0"/>
          </a:p>
        </p:txBody>
      </p:sp>
      <p:sp>
        <p:nvSpPr>
          <p:cNvPr id="3" name="Metin kutusu 2"/>
          <p:cNvSpPr txBox="1"/>
          <p:nvPr/>
        </p:nvSpPr>
        <p:spPr>
          <a:xfrm>
            <a:off x="2476500" y="4673157"/>
            <a:ext cx="8286750" cy="1200329"/>
          </a:xfrm>
          <a:prstGeom prst="rect">
            <a:avLst/>
          </a:prstGeom>
          <a:noFill/>
        </p:spPr>
        <p:txBody>
          <a:bodyPr wrap="square" rtlCol="0">
            <a:spAutoFit/>
          </a:bodyPr>
          <a:lstStyle/>
          <a:p>
            <a:pPr algn="just"/>
            <a:r>
              <a:rPr lang="tr-TR" dirty="0" smtClean="0"/>
              <a:t>Güvenlik tedbirlerine hükmedilebilmesi için gerekli şartlar:</a:t>
            </a:r>
          </a:p>
          <a:p>
            <a:pPr marL="285750" indent="-285750" algn="just">
              <a:buFont typeface="Arial" panose="020B0604020202020204" pitchFamily="34" charset="0"/>
              <a:buChar char="•"/>
            </a:pPr>
            <a:r>
              <a:rPr lang="tr-TR" dirty="0" smtClean="0"/>
              <a:t>Bir suçun işlenmiş olması gerekir. Ancak kişinin kusurlu olması şart değildir</a:t>
            </a:r>
          </a:p>
          <a:p>
            <a:pPr marL="285750" indent="-285750" algn="just">
              <a:buFont typeface="Arial" panose="020B0604020202020204" pitchFamily="34" charset="0"/>
              <a:buChar char="•"/>
            </a:pPr>
            <a:r>
              <a:rPr lang="tr-TR" dirty="0" smtClean="0"/>
              <a:t>İşlenen suç nedeniyle tehlikeli bir hal ortaya çıkmalıdır</a:t>
            </a:r>
          </a:p>
          <a:p>
            <a:pPr marL="285750" indent="-285750" algn="just">
              <a:buFont typeface="Arial" panose="020B0604020202020204" pitchFamily="34" charset="0"/>
              <a:buChar char="•"/>
            </a:pPr>
            <a:r>
              <a:rPr lang="tr-TR" dirty="0" smtClean="0"/>
              <a:t>Kanunda hüküm bulunmalıdır. (Kanunilik ilkesi)</a:t>
            </a:r>
            <a:endParaRPr lang="fr-FR" dirty="0"/>
          </a:p>
        </p:txBody>
      </p:sp>
      <p:sp>
        <p:nvSpPr>
          <p:cNvPr id="5" name="Slayt Numarası Yer Tutucusu 4"/>
          <p:cNvSpPr>
            <a:spLocks noGrp="1"/>
          </p:cNvSpPr>
          <p:nvPr>
            <p:ph type="sldNum" sz="quarter" idx="12"/>
          </p:nvPr>
        </p:nvSpPr>
        <p:spPr/>
        <p:txBody>
          <a:bodyPr/>
          <a:lstStyle/>
          <a:p>
            <a:fld id="{39F9BA00-44CD-41D4-A3D8-F864C744DC1F}" type="slidenum">
              <a:rPr lang="tr-TR" smtClean="0"/>
              <a:t>109</a:t>
            </a:fld>
            <a:r>
              <a:rPr lang="tr-TR"/>
              <a:t>/116</a:t>
            </a:r>
          </a:p>
        </p:txBody>
      </p:sp>
    </p:spTree>
    <p:extLst>
      <p:ext uri="{BB962C8B-B14F-4D97-AF65-F5344CB8AC3E}">
        <p14:creationId xmlns:p14="http://schemas.microsoft.com/office/powerpoint/2010/main" val="3403436147"/>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Güvenlik Tedbirleri</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dirty="0" smtClean="0"/>
              <a:t>I. Cezalar</a:t>
            </a:r>
          </a:p>
          <a:p>
            <a:r>
              <a:rPr lang="tr-TR" sz="1200" b="1" dirty="0" smtClean="0"/>
              <a:t>II. Güvenlik Tedbirleri</a:t>
            </a:r>
            <a:endParaRPr lang="fr-FR" sz="1200" b="1" dirty="0"/>
          </a:p>
        </p:txBody>
      </p:sp>
      <p:sp>
        <p:nvSpPr>
          <p:cNvPr id="2" name="Metin kutusu 1"/>
          <p:cNvSpPr txBox="1"/>
          <p:nvPr/>
        </p:nvSpPr>
        <p:spPr>
          <a:xfrm>
            <a:off x="2476500" y="2244325"/>
            <a:ext cx="8877300" cy="3323987"/>
          </a:xfrm>
          <a:prstGeom prst="rect">
            <a:avLst/>
          </a:prstGeom>
          <a:noFill/>
        </p:spPr>
        <p:txBody>
          <a:bodyPr wrap="square" rtlCol="0">
            <a:spAutoFit/>
          </a:bodyPr>
          <a:lstStyle/>
          <a:p>
            <a:pPr marL="285750" indent="-104775" algn="just">
              <a:buFont typeface="Arial" panose="020B0604020202020204" pitchFamily="34" charset="0"/>
              <a:buChar char="•"/>
            </a:pPr>
            <a:r>
              <a:rPr lang="tr-TR" sz="1400" i="1" dirty="0" smtClean="0">
                <a:effectLst>
                  <a:outerShdw blurRad="38100" dist="38100" dir="2700000" algn="tl">
                    <a:srgbClr val="000000">
                      <a:alpha val="43137"/>
                    </a:srgbClr>
                  </a:outerShdw>
                </a:effectLst>
              </a:rPr>
              <a:t>Belli hakları kullanmaktan yoksun bırakılma</a:t>
            </a:r>
          </a:p>
          <a:p>
            <a:pPr marL="733425" indent="-285750" algn="just">
              <a:buFont typeface="Arial" panose="020B0604020202020204" pitchFamily="34" charset="0"/>
              <a:buChar char="•"/>
            </a:pPr>
            <a:r>
              <a:rPr lang="tr-TR" sz="1400" dirty="0" smtClean="0"/>
              <a:t>Sürekli, süreli veya geçici kamu görevinin üstlenilmesi</a:t>
            </a:r>
          </a:p>
          <a:p>
            <a:pPr marL="733425" indent="-285750" algn="just">
              <a:buFont typeface="Arial" panose="020B0604020202020204" pitchFamily="34" charset="0"/>
              <a:buChar char="•"/>
            </a:pPr>
            <a:r>
              <a:rPr lang="tr-TR" sz="1400" dirty="0" smtClean="0"/>
              <a:t>Seçme ve seçilme ehliyeti</a:t>
            </a:r>
          </a:p>
          <a:p>
            <a:pPr marL="733425" indent="-285750" algn="just">
              <a:buFont typeface="Arial" panose="020B0604020202020204" pitchFamily="34" charset="0"/>
              <a:buChar char="•"/>
            </a:pPr>
            <a:r>
              <a:rPr lang="tr-TR" sz="1400" dirty="0" smtClean="0"/>
              <a:t>Velayet hakkı, vesayet ve kayyımlık hizmeti</a:t>
            </a:r>
          </a:p>
          <a:p>
            <a:pPr marL="733425" indent="-285750" algn="just">
              <a:buFont typeface="Arial" panose="020B0604020202020204" pitchFamily="34" charset="0"/>
              <a:buChar char="•"/>
            </a:pPr>
            <a:r>
              <a:rPr lang="tr-TR" sz="1400" dirty="0" smtClean="0"/>
              <a:t>Vakıf, dernek, sendika, kooperatif, ve siyasi parti </a:t>
            </a:r>
            <a:r>
              <a:rPr lang="tr-TR" sz="1400" u="sng" dirty="0" smtClean="0"/>
              <a:t>yöneticisi</a:t>
            </a:r>
            <a:r>
              <a:rPr lang="tr-TR" sz="1400" dirty="0" smtClean="0"/>
              <a:t> veya </a:t>
            </a:r>
            <a:r>
              <a:rPr lang="tr-TR" sz="1400" u="sng" dirty="0" smtClean="0"/>
              <a:t>denetçisi</a:t>
            </a:r>
            <a:r>
              <a:rPr lang="tr-TR" sz="1400" dirty="0" smtClean="0"/>
              <a:t> olma</a:t>
            </a:r>
          </a:p>
          <a:p>
            <a:pPr marL="733425" indent="-285750" algn="just">
              <a:buFont typeface="Arial" panose="020B0604020202020204" pitchFamily="34" charset="0"/>
              <a:buChar char="•"/>
            </a:pPr>
            <a:r>
              <a:rPr lang="tr-TR" sz="1400" dirty="0" smtClean="0"/>
              <a:t>Bir Kamu Kurumu veya kamu kurumu niteliğindeki meslek kuruluşunun iznine tabi meslek veya sanatın icrası</a:t>
            </a:r>
            <a:endParaRPr lang="tr-TR" sz="1400" dirty="0"/>
          </a:p>
          <a:p>
            <a:pPr marL="180975" algn="just"/>
            <a:r>
              <a:rPr lang="tr-TR" sz="1400" dirty="0"/>
              <a:t>	</a:t>
            </a:r>
            <a:endParaRPr lang="tr-TR" sz="1400" dirty="0" smtClean="0"/>
          </a:p>
          <a:p>
            <a:pPr marL="285750" indent="-104775" algn="just">
              <a:buFont typeface="Arial" panose="020B0604020202020204" pitchFamily="34" charset="0"/>
              <a:buChar char="•"/>
            </a:pPr>
            <a:r>
              <a:rPr lang="tr-TR" sz="1400" i="1" dirty="0" smtClean="0">
                <a:effectLst>
                  <a:outerShdw blurRad="38100" dist="38100" dir="2700000" algn="tl">
                    <a:srgbClr val="000000">
                      <a:alpha val="43137"/>
                    </a:srgbClr>
                  </a:outerShdw>
                </a:effectLst>
              </a:rPr>
              <a:t>Eşya müsaderesi (Müsadere, mülkiyetin Devlete geçmesi demektir)</a:t>
            </a:r>
          </a:p>
          <a:p>
            <a:pPr marL="733425" indent="-285750" algn="just">
              <a:buFont typeface="Arial" panose="020B0604020202020204" pitchFamily="34" charset="0"/>
              <a:buChar char="•"/>
            </a:pPr>
            <a:r>
              <a:rPr lang="tr-TR" sz="1400" dirty="0" smtClean="0"/>
              <a:t>Bir suçla bağlantılı eşyanın müsaderesi</a:t>
            </a:r>
          </a:p>
          <a:p>
            <a:pPr marL="733425" indent="-285750" algn="just">
              <a:buFont typeface="Arial" panose="020B0604020202020204" pitchFamily="34" charset="0"/>
              <a:buChar char="•"/>
            </a:pPr>
            <a:r>
              <a:rPr lang="tr-TR" sz="1400" dirty="0" smtClean="0"/>
              <a:t>Suçun işlenmesine tahsis edilen tehlikeli eşyanın müsaderesi</a:t>
            </a:r>
          </a:p>
          <a:p>
            <a:pPr marL="733425" indent="-285750" algn="just">
              <a:buFont typeface="Arial" panose="020B0604020202020204" pitchFamily="34" charset="0"/>
              <a:buChar char="•"/>
            </a:pPr>
            <a:r>
              <a:rPr lang="tr-TR" sz="1400" dirty="0" smtClean="0"/>
              <a:t>Konusu suç teşkil eden eşyanın müsaderesi</a:t>
            </a:r>
          </a:p>
          <a:p>
            <a:pPr marL="733425" indent="-285750" algn="just">
              <a:buFont typeface="Arial" panose="020B0604020202020204" pitchFamily="34" charset="0"/>
              <a:buChar char="•"/>
            </a:pPr>
            <a:r>
              <a:rPr lang="tr-TR" sz="1400" dirty="0" smtClean="0"/>
              <a:t>Kaim değerin (eşdeğerin) müsaderesi</a:t>
            </a:r>
          </a:p>
          <a:p>
            <a:pPr marL="447675" algn="just"/>
            <a:endParaRPr lang="tr-TR" sz="1400" dirty="0" smtClean="0"/>
          </a:p>
          <a:p>
            <a:pPr marL="285750" indent="-104775" algn="just">
              <a:buFont typeface="Arial" panose="020B0604020202020204" pitchFamily="34" charset="0"/>
              <a:buChar char="•"/>
            </a:pPr>
            <a:r>
              <a:rPr lang="tr-TR" sz="1400" i="1" dirty="0" smtClean="0">
                <a:effectLst>
                  <a:outerShdw blurRad="38100" dist="38100" dir="2700000" algn="tl">
                    <a:srgbClr val="000000">
                      <a:alpha val="43137"/>
                    </a:srgbClr>
                  </a:outerShdw>
                </a:effectLst>
              </a:rPr>
              <a:t>Kazanç müsaderesi</a:t>
            </a:r>
          </a:p>
          <a:p>
            <a:pPr marL="733425" indent="-285750" algn="just">
              <a:buFont typeface="Wingdings" panose="05000000000000000000" pitchFamily="2" charset="2"/>
              <a:buChar char="ü"/>
            </a:pPr>
            <a:r>
              <a:rPr lang="tr-TR" sz="1400" dirty="0" smtClean="0"/>
              <a:t>Suçun işlenmesiyle elde edilen ekonomik kazançların müsadere edilmesidir</a:t>
            </a:r>
          </a:p>
        </p:txBody>
      </p:sp>
      <p:sp>
        <p:nvSpPr>
          <p:cNvPr id="4" name="Slayt Numarası Yer Tutucusu 3"/>
          <p:cNvSpPr>
            <a:spLocks noGrp="1"/>
          </p:cNvSpPr>
          <p:nvPr>
            <p:ph type="sldNum" sz="quarter" idx="12"/>
          </p:nvPr>
        </p:nvSpPr>
        <p:spPr/>
        <p:txBody>
          <a:bodyPr/>
          <a:lstStyle/>
          <a:p>
            <a:fld id="{39F9BA00-44CD-41D4-A3D8-F864C744DC1F}" type="slidenum">
              <a:rPr lang="tr-TR" smtClean="0"/>
              <a:t>110</a:t>
            </a:fld>
            <a:r>
              <a:rPr lang="tr-TR"/>
              <a:t>/116</a:t>
            </a:r>
          </a:p>
        </p:txBody>
      </p:sp>
    </p:spTree>
    <p:extLst>
      <p:ext uri="{BB962C8B-B14F-4D97-AF65-F5344CB8AC3E}">
        <p14:creationId xmlns:p14="http://schemas.microsoft.com/office/powerpoint/2010/main" val="154696899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Güvenlik Tedbirleri</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dirty="0" smtClean="0"/>
              <a:t>I. Cezalar</a:t>
            </a:r>
          </a:p>
          <a:p>
            <a:r>
              <a:rPr lang="tr-TR" sz="1200" b="1" dirty="0" smtClean="0"/>
              <a:t>II. Güvenlik Tedbirleri</a:t>
            </a:r>
            <a:endParaRPr lang="fr-FR" sz="1200" b="1" dirty="0"/>
          </a:p>
        </p:txBody>
      </p:sp>
      <p:sp>
        <p:nvSpPr>
          <p:cNvPr id="2" name="Metin kutusu 1"/>
          <p:cNvSpPr txBox="1"/>
          <p:nvPr/>
        </p:nvSpPr>
        <p:spPr>
          <a:xfrm>
            <a:off x="2476500" y="2244326"/>
            <a:ext cx="8562975" cy="4401205"/>
          </a:xfrm>
          <a:prstGeom prst="rect">
            <a:avLst/>
          </a:prstGeom>
          <a:noFill/>
        </p:spPr>
        <p:txBody>
          <a:bodyPr wrap="square" rtlCol="0">
            <a:spAutoFit/>
          </a:bodyPr>
          <a:lstStyle/>
          <a:p>
            <a:pPr marL="285750" indent="-104775" algn="just">
              <a:buFont typeface="Arial" panose="020B0604020202020204" pitchFamily="34" charset="0"/>
              <a:buChar char="•"/>
            </a:pPr>
            <a:r>
              <a:rPr lang="tr-TR" sz="1400" i="1" dirty="0" smtClean="0">
                <a:effectLst>
                  <a:outerShdw blurRad="38100" dist="38100" dir="2700000" algn="tl">
                    <a:srgbClr val="000000">
                      <a:alpha val="43137"/>
                    </a:srgbClr>
                  </a:outerShdw>
                </a:effectLst>
              </a:rPr>
              <a:t>Çocuklara özgü güvenlik tedbirleri</a:t>
            </a:r>
          </a:p>
          <a:p>
            <a:pPr marL="733425" indent="-285750" algn="just">
              <a:buFont typeface="Arial" panose="020B0604020202020204" pitchFamily="34" charset="0"/>
              <a:buChar char="•"/>
            </a:pPr>
            <a:r>
              <a:rPr lang="tr-TR" sz="1400" dirty="0" smtClean="0"/>
              <a:t>Danışmanlık tedbiri</a:t>
            </a:r>
          </a:p>
          <a:p>
            <a:pPr marL="733425" indent="-285750" algn="just">
              <a:buFont typeface="Arial" panose="020B0604020202020204" pitchFamily="34" charset="0"/>
              <a:buChar char="•"/>
            </a:pPr>
            <a:r>
              <a:rPr lang="tr-TR" sz="1400" dirty="0" smtClean="0"/>
              <a:t>Eğitim tedbiri</a:t>
            </a:r>
          </a:p>
          <a:p>
            <a:pPr marL="733425" indent="-285750" algn="just">
              <a:buFont typeface="Arial" panose="020B0604020202020204" pitchFamily="34" charset="0"/>
              <a:buChar char="•"/>
            </a:pPr>
            <a:r>
              <a:rPr lang="tr-TR" sz="1400" dirty="0" smtClean="0"/>
              <a:t>Bakım tedbiri</a:t>
            </a:r>
          </a:p>
          <a:p>
            <a:pPr marL="733425" indent="-285750" algn="just">
              <a:buFont typeface="Arial" panose="020B0604020202020204" pitchFamily="34" charset="0"/>
              <a:buChar char="•"/>
            </a:pPr>
            <a:r>
              <a:rPr lang="tr-TR" sz="1400" dirty="0" smtClean="0"/>
              <a:t>Sağlık tedbiri</a:t>
            </a:r>
          </a:p>
          <a:p>
            <a:pPr marL="733425" indent="-285750" algn="just">
              <a:buFont typeface="Arial" panose="020B0604020202020204" pitchFamily="34" charset="0"/>
              <a:buChar char="•"/>
            </a:pPr>
            <a:r>
              <a:rPr lang="tr-TR" sz="1400" dirty="0" smtClean="0"/>
              <a:t>Barınma tedbiri</a:t>
            </a:r>
          </a:p>
          <a:p>
            <a:pPr marL="447675" algn="just"/>
            <a:endParaRPr lang="tr-TR" sz="1400" dirty="0" smtClean="0"/>
          </a:p>
          <a:p>
            <a:pPr marL="285750" indent="-104775" algn="just">
              <a:buFont typeface="Arial" panose="020B0604020202020204" pitchFamily="34" charset="0"/>
              <a:buChar char="•"/>
            </a:pPr>
            <a:r>
              <a:rPr lang="tr-TR" sz="1400" i="1" dirty="0" smtClean="0">
                <a:effectLst>
                  <a:outerShdw blurRad="38100" dist="38100" dir="2700000" algn="tl">
                    <a:srgbClr val="000000">
                      <a:alpha val="43137"/>
                    </a:srgbClr>
                  </a:outerShdw>
                </a:effectLst>
              </a:rPr>
              <a:t>Akıl hastalarına özgü güvenlik tedbirleri</a:t>
            </a:r>
          </a:p>
          <a:p>
            <a:pPr marL="733425" indent="-285750" algn="just">
              <a:buFont typeface="Wingdings" panose="05000000000000000000" pitchFamily="2" charset="2"/>
              <a:buChar char="ü"/>
            </a:pPr>
            <a:r>
              <a:rPr lang="tr-TR" sz="1400" dirty="0" smtClean="0"/>
              <a:t>Fiili işlediği sırada akıl hastası olan kişi, koruma ve tedavi amaçlı olarak, yüksek güvenlikli sağlık kurumlarında koruma ve tedavi altına alınmaktadır.</a:t>
            </a:r>
          </a:p>
          <a:p>
            <a:pPr marL="714375" indent="-266700" algn="just"/>
            <a:r>
              <a:rPr lang="tr-TR" sz="1400" dirty="0" smtClean="0"/>
              <a:t> </a:t>
            </a:r>
          </a:p>
          <a:p>
            <a:pPr marL="285750" indent="-104775" algn="just">
              <a:buFont typeface="Arial" panose="020B0604020202020204" pitchFamily="34" charset="0"/>
              <a:buChar char="•"/>
            </a:pPr>
            <a:r>
              <a:rPr lang="tr-TR" sz="1400" i="1" dirty="0" err="1" smtClean="0">
                <a:effectLst>
                  <a:outerShdw blurRad="38100" dist="38100" dir="2700000" algn="tl">
                    <a:srgbClr val="000000">
                      <a:alpha val="43137"/>
                    </a:srgbClr>
                  </a:outerShdw>
                </a:effectLst>
              </a:rPr>
              <a:t>Mükerrirlere</a:t>
            </a:r>
            <a:r>
              <a:rPr lang="tr-TR" sz="1400" i="1" dirty="0" smtClean="0">
                <a:effectLst>
                  <a:outerShdw blurRad="38100" dist="38100" dir="2700000" algn="tl">
                    <a:srgbClr val="000000">
                      <a:alpha val="43137"/>
                    </a:srgbClr>
                  </a:outerShdw>
                </a:effectLst>
              </a:rPr>
              <a:t> ve diğer özel tehlikeli suçlulara özgü güvenlik tedbirleri</a:t>
            </a:r>
            <a:r>
              <a:rPr lang="tr-TR" sz="1400" dirty="0" smtClean="0"/>
              <a:t> (</a:t>
            </a:r>
            <a:r>
              <a:rPr lang="tr-TR" sz="1400" dirty="0" err="1" smtClean="0"/>
              <a:t>Mükerrir</a:t>
            </a:r>
            <a:r>
              <a:rPr lang="tr-TR" sz="1400" dirty="0" smtClean="0"/>
              <a:t>: Tekrarlayan kimse)</a:t>
            </a:r>
          </a:p>
          <a:p>
            <a:pPr marL="180975" algn="just">
              <a:tabLst>
                <a:tab pos="447675" algn="l"/>
              </a:tabLst>
            </a:pPr>
            <a:r>
              <a:rPr lang="tr-TR" sz="1400" dirty="0"/>
              <a:t>	</a:t>
            </a:r>
            <a:r>
              <a:rPr lang="tr-TR" sz="1400" dirty="0" smtClean="0"/>
              <a:t>Tekerrürün şartları:</a:t>
            </a:r>
          </a:p>
          <a:p>
            <a:pPr marL="466725" indent="247650" algn="just">
              <a:buFont typeface="Arial" panose="020B0604020202020204" pitchFamily="34" charset="0"/>
              <a:buChar char="•"/>
              <a:tabLst>
                <a:tab pos="447675" algn="l"/>
              </a:tabLst>
            </a:pPr>
            <a:r>
              <a:rPr lang="tr-TR" sz="1400" dirty="0" smtClean="0"/>
              <a:t>Mahkumiyet Şartı (Kesinleşmiş bir hapis veya adli para cezası)</a:t>
            </a:r>
          </a:p>
          <a:p>
            <a:pPr marL="466725" indent="247650" algn="just">
              <a:buFont typeface="Arial" panose="020B0604020202020204" pitchFamily="34" charset="0"/>
              <a:buChar char="•"/>
              <a:tabLst>
                <a:tab pos="895350" algn="l"/>
              </a:tabLst>
            </a:pPr>
            <a:r>
              <a:rPr lang="tr-TR" sz="1400" dirty="0" smtClean="0"/>
              <a:t>Yeni bir suç işlenmesi (İşlenen suçun türü veya niteliğinin önemi bulunmamaktadır)</a:t>
            </a:r>
          </a:p>
          <a:p>
            <a:pPr marL="466725" indent="247650" algn="just">
              <a:buFont typeface="Arial" panose="020B0604020202020204" pitchFamily="34" charset="0"/>
              <a:buChar char="•"/>
              <a:tabLst>
                <a:tab pos="895350" algn="l"/>
              </a:tabLst>
            </a:pPr>
            <a:r>
              <a:rPr lang="tr-TR" sz="1400" dirty="0" smtClean="0"/>
              <a:t>Süre (İlk suçun infazından sonra 3 veya 5 yıllık süre içinde suç işlenmesi)</a:t>
            </a:r>
          </a:p>
          <a:p>
            <a:pPr marL="466725" algn="just">
              <a:tabLst>
                <a:tab pos="895350" algn="l"/>
              </a:tabLst>
            </a:pPr>
            <a:r>
              <a:rPr lang="tr-TR" sz="1400" dirty="0"/>
              <a:t>Tekerrürün </a:t>
            </a:r>
            <a:r>
              <a:rPr lang="tr-TR" sz="1400" dirty="0" smtClean="0"/>
              <a:t>sonuçları</a:t>
            </a:r>
            <a:r>
              <a:rPr lang="tr-TR" sz="1400" dirty="0"/>
              <a:t>:</a:t>
            </a:r>
          </a:p>
          <a:p>
            <a:pPr marL="990600" indent="-180975" algn="just">
              <a:buFont typeface="Wingdings" panose="05000000000000000000" pitchFamily="2" charset="2"/>
              <a:buChar char="ü"/>
            </a:pPr>
            <a:r>
              <a:rPr lang="tr-TR" sz="1400" dirty="0" smtClean="0"/>
              <a:t>Tekerrür </a:t>
            </a:r>
            <a:r>
              <a:rPr lang="tr-TR" sz="1400" dirty="0"/>
              <a:t>halinde sonraki suça ilişkin Kanun maddesinde seçimlik olarak hapis cezası ile adli para cezası öngörülmüşse, hapis cezasına hükmolunacaktır.</a:t>
            </a:r>
          </a:p>
          <a:p>
            <a:pPr marL="990600" indent="-180975" algn="just">
              <a:buFont typeface="Wingdings" panose="05000000000000000000" pitchFamily="2" charset="2"/>
              <a:buChar char="ü"/>
            </a:pPr>
            <a:r>
              <a:rPr lang="tr-TR" sz="1400" dirty="0" smtClean="0"/>
              <a:t>Tekerrür halinde hükmolunacak ceza, </a:t>
            </a:r>
            <a:r>
              <a:rPr lang="tr-TR" sz="1400" dirty="0" err="1" smtClean="0"/>
              <a:t>mükerrirlere</a:t>
            </a:r>
            <a:r>
              <a:rPr lang="tr-TR" sz="1400" dirty="0" smtClean="0"/>
              <a:t> özgü infaz rejimine göre çektirilecektir.</a:t>
            </a:r>
          </a:p>
        </p:txBody>
      </p:sp>
      <p:sp>
        <p:nvSpPr>
          <p:cNvPr id="4" name="Slayt Numarası Yer Tutucusu 3"/>
          <p:cNvSpPr>
            <a:spLocks noGrp="1"/>
          </p:cNvSpPr>
          <p:nvPr>
            <p:ph type="sldNum" sz="quarter" idx="12"/>
          </p:nvPr>
        </p:nvSpPr>
        <p:spPr/>
        <p:txBody>
          <a:bodyPr/>
          <a:lstStyle/>
          <a:p>
            <a:fld id="{39F9BA00-44CD-41D4-A3D8-F864C744DC1F}" type="slidenum">
              <a:rPr lang="tr-TR" smtClean="0"/>
              <a:t>111</a:t>
            </a:fld>
            <a:r>
              <a:rPr lang="tr-TR"/>
              <a:t>/116</a:t>
            </a:r>
          </a:p>
        </p:txBody>
      </p:sp>
    </p:spTree>
    <p:extLst>
      <p:ext uri="{BB962C8B-B14F-4D97-AF65-F5344CB8AC3E}">
        <p14:creationId xmlns:p14="http://schemas.microsoft.com/office/powerpoint/2010/main" val="1493455310"/>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Güvenlik Tedbirleri</a:t>
            </a:r>
          </a:p>
        </p:txBody>
      </p:sp>
      <p:sp>
        <p:nvSpPr>
          <p:cNvPr id="22" name="Metin kutusu 21"/>
          <p:cNvSpPr txBox="1"/>
          <p:nvPr/>
        </p:nvSpPr>
        <p:spPr>
          <a:xfrm>
            <a:off x="123825" y="6075144"/>
            <a:ext cx="2434787" cy="646331"/>
          </a:xfrm>
          <a:prstGeom prst="rect">
            <a:avLst/>
          </a:prstGeom>
          <a:noFill/>
        </p:spPr>
        <p:txBody>
          <a:bodyPr wrap="square" rtlCol="0">
            <a:spAutoFit/>
          </a:bodyPr>
          <a:lstStyle/>
          <a:p>
            <a:r>
              <a:rPr lang="tr-TR" sz="1200" dirty="0" smtClean="0"/>
              <a:t>Yaptırımlar</a:t>
            </a:r>
          </a:p>
          <a:p>
            <a:r>
              <a:rPr lang="tr-TR" sz="1200" dirty="0" smtClean="0"/>
              <a:t>I. Cezalar</a:t>
            </a:r>
          </a:p>
          <a:p>
            <a:r>
              <a:rPr lang="tr-TR" sz="1200" b="1" dirty="0" smtClean="0"/>
              <a:t>II. Güvenlik Tedbirleri</a:t>
            </a:r>
            <a:endParaRPr lang="fr-FR" sz="1200" b="1" dirty="0"/>
          </a:p>
        </p:txBody>
      </p:sp>
      <p:sp>
        <p:nvSpPr>
          <p:cNvPr id="2" name="Metin kutusu 1"/>
          <p:cNvSpPr txBox="1"/>
          <p:nvPr/>
        </p:nvSpPr>
        <p:spPr>
          <a:xfrm>
            <a:off x="2476500" y="2244325"/>
            <a:ext cx="8877300" cy="2462213"/>
          </a:xfrm>
          <a:prstGeom prst="rect">
            <a:avLst/>
          </a:prstGeom>
          <a:noFill/>
        </p:spPr>
        <p:txBody>
          <a:bodyPr wrap="square" rtlCol="0">
            <a:spAutoFit/>
          </a:bodyPr>
          <a:lstStyle/>
          <a:p>
            <a:pPr marL="285750" indent="-104775" algn="just">
              <a:buFont typeface="Arial" panose="020B0604020202020204" pitchFamily="34" charset="0"/>
              <a:buChar char="•"/>
            </a:pPr>
            <a:r>
              <a:rPr lang="tr-TR" sz="1400" i="1" dirty="0" smtClean="0">
                <a:effectLst>
                  <a:outerShdw blurRad="38100" dist="38100" dir="2700000" algn="tl">
                    <a:srgbClr val="000000">
                      <a:alpha val="43137"/>
                    </a:srgbClr>
                  </a:outerShdw>
                </a:effectLst>
              </a:rPr>
              <a:t>Sınır dışı edilme</a:t>
            </a:r>
          </a:p>
          <a:p>
            <a:pPr marL="714375" indent="-266700" algn="just">
              <a:buFont typeface="Wingdings" panose="05000000000000000000" pitchFamily="2" charset="2"/>
              <a:buChar char="ü"/>
            </a:pPr>
            <a:r>
              <a:rPr lang="tr-TR" sz="1400" dirty="0" smtClean="0"/>
              <a:t>Sadece yabancılar hakkında uygulanabilecektir.</a:t>
            </a:r>
          </a:p>
          <a:p>
            <a:pPr marL="714375" indent="-266700" algn="just">
              <a:buFont typeface="Wingdings" panose="05000000000000000000" pitchFamily="2" charset="2"/>
              <a:buChar char="ü"/>
            </a:pPr>
            <a:r>
              <a:rPr lang="tr-TR" sz="1400" dirty="0" smtClean="0"/>
              <a:t>İnfazı tamamlanan yabancı kişinin durumu sınır dışı işlemleriyle ilgili değerlendirme yapılması için İçişleri Bakanlığına bildirilir ve kararı İçişleri Bakanlığı verir. </a:t>
            </a:r>
          </a:p>
          <a:p>
            <a:pPr marL="180975" algn="just"/>
            <a:endParaRPr lang="tr-TR" sz="1400" dirty="0" smtClean="0"/>
          </a:p>
          <a:p>
            <a:pPr marL="285750" indent="-104775" algn="just">
              <a:buFont typeface="Arial" panose="020B0604020202020204" pitchFamily="34" charset="0"/>
              <a:buChar char="•"/>
            </a:pPr>
            <a:r>
              <a:rPr lang="tr-TR" sz="1400" i="1" dirty="0" smtClean="0">
                <a:effectLst>
                  <a:outerShdw blurRad="38100" dist="38100" dir="2700000" algn="tl">
                    <a:srgbClr val="000000">
                      <a:alpha val="43137"/>
                    </a:srgbClr>
                  </a:outerShdw>
                </a:effectLst>
              </a:rPr>
              <a:t>Tüzel kişilere özgü güvenlik tedbirleri</a:t>
            </a:r>
            <a:r>
              <a:rPr lang="tr-TR" sz="1400" dirty="0" smtClean="0"/>
              <a:t> (Bu tedbir özel hukuk tüzel kişileri hakkında uygulanmaktadır)</a:t>
            </a:r>
          </a:p>
          <a:p>
            <a:pPr marL="733425" indent="-285750" algn="just">
              <a:buFont typeface="Wingdings" panose="05000000000000000000" pitchFamily="2" charset="2"/>
              <a:buChar char="ü"/>
            </a:pPr>
            <a:r>
              <a:rPr lang="tr-TR" sz="1400" dirty="0" smtClean="0"/>
              <a:t>Özel </a:t>
            </a:r>
            <a:r>
              <a:rPr lang="tr-TR" sz="1400" dirty="0"/>
              <a:t>hukuk tüzel kişisinin organ veya temsilcilerinin iştirakiyle işlenen kasıtlı suçlardan mahkumiyet halinde </a:t>
            </a:r>
            <a:r>
              <a:rPr lang="tr-TR" sz="1400" dirty="0" smtClean="0"/>
              <a:t>uygulanmaktadır.</a:t>
            </a:r>
          </a:p>
          <a:p>
            <a:pPr marL="447675" algn="just" defTabSz="714375"/>
            <a:r>
              <a:rPr lang="tr-TR" sz="1400" dirty="0"/>
              <a:t>	</a:t>
            </a:r>
            <a:r>
              <a:rPr lang="tr-TR" sz="1400" dirty="0" smtClean="0"/>
              <a:t>Türleri:</a:t>
            </a:r>
          </a:p>
          <a:p>
            <a:pPr marL="714375" indent="-266700" algn="just">
              <a:buFont typeface="Arial" panose="020B0604020202020204" pitchFamily="34" charset="0"/>
              <a:buChar char="•"/>
            </a:pPr>
            <a:r>
              <a:rPr lang="tr-TR" sz="1400" dirty="0" smtClean="0"/>
              <a:t>Faaliyet İzninin İptal edilmesi</a:t>
            </a:r>
          </a:p>
          <a:p>
            <a:pPr marL="714375" indent="-266700" algn="just">
              <a:buFont typeface="Arial" panose="020B0604020202020204" pitchFamily="34" charset="0"/>
              <a:buChar char="•"/>
            </a:pPr>
            <a:r>
              <a:rPr lang="tr-TR" sz="1400" dirty="0" smtClean="0"/>
              <a:t>Müsadere</a:t>
            </a:r>
          </a:p>
        </p:txBody>
      </p:sp>
      <p:sp>
        <p:nvSpPr>
          <p:cNvPr id="4" name="Slayt Numarası Yer Tutucusu 3"/>
          <p:cNvSpPr>
            <a:spLocks noGrp="1"/>
          </p:cNvSpPr>
          <p:nvPr>
            <p:ph type="sldNum" sz="quarter" idx="12"/>
          </p:nvPr>
        </p:nvSpPr>
        <p:spPr/>
        <p:txBody>
          <a:bodyPr/>
          <a:lstStyle/>
          <a:p>
            <a:fld id="{39F9BA00-44CD-41D4-A3D8-F864C744DC1F}" type="slidenum">
              <a:rPr lang="tr-TR" smtClean="0"/>
              <a:t>112</a:t>
            </a:fld>
            <a:r>
              <a:rPr lang="tr-TR"/>
              <a:t>/116</a:t>
            </a:r>
          </a:p>
        </p:txBody>
      </p:sp>
    </p:spTree>
    <p:extLst>
      <p:ext uri="{BB962C8B-B14F-4D97-AF65-F5344CB8AC3E}">
        <p14:creationId xmlns:p14="http://schemas.microsoft.com/office/powerpoint/2010/main" val="2752173846"/>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Cezanın Belirlenmesi ve Bireyselleştirilmesi</a:t>
            </a:r>
          </a:p>
        </p:txBody>
      </p:sp>
      <p:sp>
        <p:nvSpPr>
          <p:cNvPr id="3" name="Dikdörtgen 2"/>
          <p:cNvSpPr/>
          <p:nvPr/>
        </p:nvSpPr>
        <p:spPr>
          <a:xfrm>
            <a:off x="2558612" y="2244325"/>
            <a:ext cx="8795188" cy="4093428"/>
          </a:xfrm>
          <a:prstGeom prst="rect">
            <a:avLst/>
          </a:prstGeom>
        </p:spPr>
        <p:txBody>
          <a:bodyPr wrap="square">
            <a:spAutoFit/>
          </a:bodyPr>
          <a:lstStyle/>
          <a:p>
            <a:pPr algn="just"/>
            <a:r>
              <a:rPr lang="tr-TR" sz="1000" b="1" dirty="0"/>
              <a:t>5237 sayılı Türk Ceza Kanunu</a:t>
            </a:r>
          </a:p>
          <a:p>
            <a:pPr algn="just"/>
            <a:r>
              <a:rPr lang="tr-TR" sz="1000" b="1" dirty="0"/>
              <a:t>Cezanın belirlenmesi</a:t>
            </a:r>
          </a:p>
          <a:p>
            <a:pPr algn="just"/>
            <a:r>
              <a:rPr lang="tr-TR" sz="1000" b="1" dirty="0"/>
              <a:t>MADDE 61 - </a:t>
            </a:r>
            <a:r>
              <a:rPr lang="tr-TR" sz="1000" dirty="0"/>
              <a:t>(1) Hakim, somut olayda;</a:t>
            </a:r>
          </a:p>
          <a:p>
            <a:pPr marL="355600" algn="just"/>
            <a:r>
              <a:rPr lang="tr-TR" sz="1000" dirty="0"/>
              <a:t>a) Suçun işleniş biçimini,</a:t>
            </a:r>
          </a:p>
          <a:p>
            <a:pPr marL="355600" algn="just"/>
            <a:r>
              <a:rPr lang="tr-TR" sz="1000" dirty="0"/>
              <a:t>b) Suçun işlenmesinde kullanılan araçları,</a:t>
            </a:r>
          </a:p>
          <a:p>
            <a:pPr marL="355600" algn="just"/>
            <a:r>
              <a:rPr lang="tr-TR" sz="1000" dirty="0"/>
              <a:t>c) Suçun işlendiği zaman ve yeri,</a:t>
            </a:r>
          </a:p>
          <a:p>
            <a:pPr marL="355600" algn="just"/>
            <a:r>
              <a:rPr lang="tr-TR" sz="1000" dirty="0"/>
              <a:t>d) Suçun konusunun önem ve değerini,</a:t>
            </a:r>
          </a:p>
          <a:p>
            <a:pPr marL="355600" algn="just"/>
            <a:r>
              <a:rPr lang="tr-TR" sz="1000" dirty="0"/>
              <a:t>e) Meydana gelen zarar veya tehlikenin ağırlığını,</a:t>
            </a:r>
          </a:p>
          <a:p>
            <a:pPr marL="355600" algn="just"/>
            <a:r>
              <a:rPr lang="tr-TR" sz="1000" dirty="0"/>
              <a:t>f) Failin kast veya taksire dayalı kusurunun ağırlığını,</a:t>
            </a:r>
          </a:p>
          <a:p>
            <a:pPr marL="355600" algn="just"/>
            <a:r>
              <a:rPr lang="tr-TR" sz="1000" dirty="0"/>
              <a:t>g) Failin güttüğü amaç ve </a:t>
            </a:r>
            <a:r>
              <a:rPr lang="tr-TR" sz="1000" dirty="0" err="1"/>
              <a:t>saiki</a:t>
            </a:r>
            <a:r>
              <a:rPr lang="tr-TR" sz="1000" dirty="0"/>
              <a:t>,</a:t>
            </a:r>
          </a:p>
          <a:p>
            <a:pPr algn="just"/>
            <a:r>
              <a:rPr lang="tr-TR" sz="1000" u="sng" dirty="0"/>
              <a:t>Göz önünde bulundurarak</a:t>
            </a:r>
            <a:r>
              <a:rPr lang="tr-TR" sz="1000" dirty="0"/>
              <a:t>, işlenen suçun </a:t>
            </a:r>
            <a:r>
              <a:rPr lang="tr-TR" sz="1000" u="sng" dirty="0"/>
              <a:t>kanuni tanımında öngörülen cezanın alt ve üst sınırı arasında temel cezayı </a:t>
            </a:r>
            <a:r>
              <a:rPr lang="tr-TR" sz="1000" dirty="0"/>
              <a:t>belirler.</a:t>
            </a:r>
          </a:p>
          <a:p>
            <a:pPr algn="just"/>
            <a:r>
              <a:rPr lang="tr-TR" sz="1000" dirty="0"/>
              <a:t>(2) Suçun olası kastla ya da bilinçli taksirle işlenmesi nedeniyle indirim veya artırım, birinci fıkra hükmüne göre belirlenen ceza üzerinden yapılır.</a:t>
            </a:r>
          </a:p>
          <a:p>
            <a:pPr algn="just"/>
            <a:r>
              <a:rPr lang="tr-TR" sz="1000" dirty="0"/>
              <a:t>(3) Birinci fıkrada belirtilen hususların suçun unsurunu oluşturduğu hallerde, bunlar temel cezanın belirlenmesinde ayrıca göz önünde bulundurulmaz.</a:t>
            </a:r>
          </a:p>
          <a:p>
            <a:pPr algn="just"/>
            <a:r>
              <a:rPr lang="tr-TR" sz="1000" dirty="0"/>
              <a:t>(4) Bir suçun temel şekline nazaran daha ağır veya daha az cezayı gerektiren </a:t>
            </a:r>
            <a:r>
              <a:rPr lang="tr-TR" sz="1000" u="sng" dirty="0"/>
              <a:t>birden fazla nitelikli hallerin gerçekleşmesi durumunda; temel cezada önce artırma sonra indirme</a:t>
            </a:r>
            <a:r>
              <a:rPr lang="tr-TR" sz="1000" dirty="0"/>
              <a:t> yapılır.</a:t>
            </a:r>
          </a:p>
          <a:p>
            <a:pPr algn="just"/>
            <a:r>
              <a:rPr lang="tr-TR" sz="1000" dirty="0"/>
              <a:t>(5) Yukarıdaki fıkralara göre belirlenen ceza üzerinden </a:t>
            </a:r>
            <a:r>
              <a:rPr lang="tr-TR" sz="1000" b="1" u="sng" dirty="0">
                <a:effectLst>
                  <a:outerShdw blurRad="38100" dist="38100" dir="2700000" algn="tl">
                    <a:srgbClr val="000000">
                      <a:alpha val="43137"/>
                    </a:srgbClr>
                  </a:outerShdw>
                </a:effectLst>
              </a:rPr>
              <a:t>sırasıyla</a:t>
            </a:r>
            <a:r>
              <a:rPr lang="tr-TR" sz="1000" u="sng" dirty="0"/>
              <a:t> teşebbüs, iştirak, zincirleme suç, haksız tahrik, yaş küçüklüğü, akıl hastalığı ve cezada indirim yapılmasını gerektiren şahsi sebeplere ilişkin hükümler ile takdiri indirim nedenleri uygulanarak </a:t>
            </a:r>
            <a:r>
              <a:rPr lang="tr-TR" sz="1000" dirty="0"/>
              <a:t>sonuç ceza belirlenir.</a:t>
            </a:r>
          </a:p>
          <a:p>
            <a:pPr algn="just"/>
            <a:r>
              <a:rPr lang="tr-TR" sz="1000" dirty="0"/>
              <a:t>(6) Hapis cezasının </a:t>
            </a:r>
            <a:r>
              <a:rPr lang="tr-TR" sz="1000" u="sng" dirty="0"/>
              <a:t>süresi gün, ay ve yıl hesabıyla belirlenir</a:t>
            </a:r>
            <a:r>
              <a:rPr lang="tr-TR" sz="1000" dirty="0"/>
              <a:t>. Bir gün, </a:t>
            </a:r>
            <a:r>
              <a:rPr lang="tr-TR" sz="1000" dirty="0" err="1"/>
              <a:t>yirmidört</a:t>
            </a:r>
            <a:r>
              <a:rPr lang="tr-TR" sz="1000" dirty="0"/>
              <a:t> saat; bir ay, otuz gündür. Yıl, resmi takvime göre hesap edilir. Hapis cezası için bir günün, adlî para cezası için bir Türk Lirasının artakalanı hesaba katılmaz ve bu cezalar infaz edilmez.</a:t>
            </a:r>
          </a:p>
          <a:p>
            <a:pPr algn="just"/>
            <a:r>
              <a:rPr lang="tr-TR" sz="1000" dirty="0"/>
              <a:t>(7) </a:t>
            </a:r>
            <a:r>
              <a:rPr lang="tr-TR" sz="1000" u="sng" dirty="0"/>
              <a:t>Süreli hapis cezası</a:t>
            </a:r>
            <a:r>
              <a:rPr lang="tr-TR" sz="1000" dirty="0"/>
              <a:t>nı gerektiren bir suçtan dolayı bu madde hükümlerine göre belirlenen </a:t>
            </a:r>
            <a:r>
              <a:rPr lang="tr-TR" sz="1000" u="sng" dirty="0"/>
              <a:t>sonuç ceza, otuz yıldan fazla olamaz</a:t>
            </a:r>
            <a:r>
              <a:rPr lang="tr-TR" sz="1000" dirty="0"/>
              <a:t>.</a:t>
            </a:r>
          </a:p>
          <a:p>
            <a:pPr algn="just"/>
            <a:r>
              <a:rPr lang="tr-TR" sz="1000" dirty="0"/>
              <a:t>(8) Adlî para cezası hesaplanırken, bu madde hükmüne göre cezanın belirlenmesi ve bireyselleştirilmesine yönelik artırma ve indirimler, gün üzerinden yapılır. Adlî para cezası, belirlenen sonuç gün ile kişinin bir gün karşılığı ödeyebileceği miktarın çarpılması suretiyle bulunur.</a:t>
            </a:r>
          </a:p>
          <a:p>
            <a:pPr algn="just"/>
            <a:r>
              <a:rPr lang="tr-TR" sz="1000" dirty="0"/>
              <a:t>(9) Adlî para cezasının seçimlik ceza olarak öngörüldüğü suçlarda bu cezaya ilişkin gün biriminin alt sınırı, o suç tanımındaki hapis cezasının alt sınırından az; üst sınırı da, hapis cezasının üst sınırından fazla olamaz.</a:t>
            </a:r>
          </a:p>
          <a:p>
            <a:pPr algn="just"/>
            <a:r>
              <a:rPr lang="tr-TR" sz="1000" dirty="0"/>
              <a:t>(10) Kanunda açıkça yazılmış olmadıkça cezalar ne artırılabilir, ne eksiltilebilir, ne de değiştirilebilir.</a:t>
            </a:r>
          </a:p>
          <a:p>
            <a:pPr algn="just"/>
            <a:endParaRPr lang="fr-FR" sz="1000" dirty="0"/>
          </a:p>
        </p:txBody>
      </p:sp>
      <p:sp>
        <p:nvSpPr>
          <p:cNvPr id="4" name="Slayt Numarası Yer Tutucusu 3"/>
          <p:cNvSpPr>
            <a:spLocks noGrp="1"/>
          </p:cNvSpPr>
          <p:nvPr>
            <p:ph type="sldNum" sz="quarter" idx="12"/>
          </p:nvPr>
        </p:nvSpPr>
        <p:spPr/>
        <p:txBody>
          <a:bodyPr/>
          <a:lstStyle/>
          <a:p>
            <a:fld id="{39F9BA00-44CD-41D4-A3D8-F864C744DC1F}" type="slidenum">
              <a:rPr lang="tr-TR" smtClean="0"/>
              <a:t>113</a:t>
            </a:fld>
            <a:r>
              <a:rPr lang="tr-TR"/>
              <a:t>/116</a:t>
            </a:r>
          </a:p>
        </p:txBody>
      </p:sp>
    </p:spTree>
    <p:extLst>
      <p:ext uri="{BB962C8B-B14F-4D97-AF65-F5344CB8AC3E}">
        <p14:creationId xmlns:p14="http://schemas.microsoft.com/office/powerpoint/2010/main" val="2959398210"/>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Takdiri İndirim Nedenleri</a:t>
            </a:r>
          </a:p>
        </p:txBody>
      </p:sp>
      <p:sp>
        <p:nvSpPr>
          <p:cNvPr id="3" name="Dikdörtgen 2"/>
          <p:cNvSpPr/>
          <p:nvPr/>
        </p:nvSpPr>
        <p:spPr>
          <a:xfrm>
            <a:off x="2558612" y="2244325"/>
            <a:ext cx="8795188" cy="1169551"/>
          </a:xfrm>
          <a:prstGeom prst="rect">
            <a:avLst/>
          </a:prstGeom>
        </p:spPr>
        <p:txBody>
          <a:bodyPr wrap="square">
            <a:spAutoFit/>
          </a:bodyPr>
          <a:lstStyle/>
          <a:p>
            <a:pPr algn="just"/>
            <a:r>
              <a:rPr lang="tr-TR" sz="1000" b="1" dirty="0" smtClean="0"/>
              <a:t>5237 sayılı Türk Ceza Kanunu</a:t>
            </a:r>
          </a:p>
          <a:p>
            <a:pPr algn="just"/>
            <a:r>
              <a:rPr lang="tr-TR" sz="1000" b="1" dirty="0" smtClean="0"/>
              <a:t>Takdiri İndirim Nedenleri</a:t>
            </a:r>
            <a:endParaRPr lang="fr-FR" sz="1000" b="1" dirty="0"/>
          </a:p>
          <a:p>
            <a:pPr algn="just"/>
            <a:r>
              <a:rPr lang="tr-TR" sz="1000" b="1" dirty="0"/>
              <a:t>Madde 62- </a:t>
            </a:r>
            <a:r>
              <a:rPr lang="tr-TR" sz="1000" dirty="0"/>
              <a:t>(1) Fail yararına cezayı hafifletecek takdiri nedenlerin varlığı halinde, ağırlaştırılmış müebbet hapis cezası yerine, müebbet hapis; müebbet hapis cezası yerine, </a:t>
            </a:r>
            <a:r>
              <a:rPr lang="tr-TR" sz="1000" dirty="0" err="1"/>
              <a:t>yirmibeş</a:t>
            </a:r>
            <a:r>
              <a:rPr lang="tr-TR" sz="1000" dirty="0"/>
              <a:t> yıl hapis cezası verilir. Diğer cezaların altıda birine kadarı </a:t>
            </a:r>
            <a:r>
              <a:rPr lang="tr-TR" sz="1000" dirty="0" smtClean="0"/>
              <a:t>indirilir</a:t>
            </a:r>
          </a:p>
          <a:p>
            <a:pPr algn="just"/>
            <a:r>
              <a:rPr lang="tr-TR" sz="1000" dirty="0"/>
              <a:t>(2) </a:t>
            </a:r>
            <a:r>
              <a:rPr lang="tr-TR" sz="1000" u="sng" dirty="0"/>
              <a:t>Takdiri indirim nedeni olarak</a:t>
            </a:r>
            <a:r>
              <a:rPr lang="tr-TR" sz="1000" dirty="0"/>
              <a:t>, failin geçmişi, sosyal ilişkileri, fiilden sonraki ve yargılama sürecindeki pişmanlığını gösteren davranışları veya cezanın failin geleceği üzerindeki olası etkileri </a:t>
            </a:r>
            <a:r>
              <a:rPr lang="tr-TR" sz="1000" dirty="0" smtClean="0"/>
              <a:t>(…) </a:t>
            </a:r>
            <a:r>
              <a:rPr lang="tr-TR" sz="1000" dirty="0"/>
              <a:t>göz önünde bulundurulabilir. </a:t>
            </a:r>
            <a:r>
              <a:rPr lang="tr-TR" sz="1000" dirty="0" smtClean="0"/>
              <a:t>Ancak </a:t>
            </a:r>
            <a:r>
              <a:rPr lang="tr-TR" sz="1000" dirty="0"/>
              <a:t>failin duruşmadaki mahkemeyi etkilemeye yönelik </a:t>
            </a:r>
            <a:r>
              <a:rPr lang="tr-TR" sz="1000" u="sng" dirty="0"/>
              <a:t>şeklî tutum ve davranışları</a:t>
            </a:r>
            <a:r>
              <a:rPr lang="tr-TR" sz="1000" dirty="0"/>
              <a:t>, takdiri indirim nedeni olarak </a:t>
            </a:r>
            <a:r>
              <a:rPr lang="tr-TR" sz="1000" u="sng" dirty="0"/>
              <a:t>dikkate alınmaz</a:t>
            </a:r>
            <a:r>
              <a:rPr lang="tr-TR" sz="1000" dirty="0"/>
              <a:t>. </a:t>
            </a:r>
            <a:r>
              <a:rPr lang="tr-TR" sz="1000" u="sng" dirty="0"/>
              <a:t>Takdiri indirim nedenleri kararda gerekçeleriyle gösterilir</a:t>
            </a:r>
            <a:endParaRPr lang="tr-TR" sz="1000" u="sng" dirty="0" smtClean="0"/>
          </a:p>
        </p:txBody>
      </p:sp>
      <p:sp>
        <p:nvSpPr>
          <p:cNvPr id="4" name="Slayt Numarası Yer Tutucusu 3"/>
          <p:cNvSpPr>
            <a:spLocks noGrp="1"/>
          </p:cNvSpPr>
          <p:nvPr>
            <p:ph type="sldNum" sz="quarter" idx="12"/>
          </p:nvPr>
        </p:nvSpPr>
        <p:spPr/>
        <p:txBody>
          <a:bodyPr/>
          <a:lstStyle/>
          <a:p>
            <a:fld id="{39F9BA00-44CD-41D4-A3D8-F864C744DC1F}" type="slidenum">
              <a:rPr lang="tr-TR" smtClean="0"/>
              <a:t>114</a:t>
            </a:fld>
            <a:r>
              <a:rPr lang="tr-TR"/>
              <a:t>/116</a:t>
            </a:r>
          </a:p>
        </p:txBody>
      </p:sp>
    </p:spTree>
    <p:extLst>
      <p:ext uri="{BB962C8B-B14F-4D97-AF65-F5344CB8AC3E}">
        <p14:creationId xmlns:p14="http://schemas.microsoft.com/office/powerpoint/2010/main" val="1099301174"/>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1"/>
          <p:cNvSpPr txBox="1">
            <a:spLocks/>
          </p:cNvSpPr>
          <p:nvPr/>
        </p:nvSpPr>
        <p:spPr>
          <a:xfrm>
            <a:off x="286326" y="85725"/>
            <a:ext cx="11554691" cy="133020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tr-TR" sz="2600" b="1" dirty="0" smtClean="0">
              <a:effectLst>
                <a:outerShdw blurRad="38100" dist="38100" dir="2700000" algn="tl">
                  <a:srgbClr val="000000">
                    <a:alpha val="43137"/>
                  </a:srgbClr>
                </a:outerShdw>
              </a:effectLst>
              <a:latin typeface="Arial Black" panose="020B0A04020102020204" pitchFamily="34" charset="0"/>
            </a:endParaRPr>
          </a:p>
          <a:p>
            <a:endParaRPr lang="tr-TR" sz="2600" b="1" dirty="0">
              <a:effectLst>
                <a:outerShdw blurRad="38100" dist="38100" dir="2700000" algn="tl">
                  <a:srgbClr val="000000">
                    <a:alpha val="43137"/>
                  </a:srgbClr>
                </a:outerShdw>
              </a:effectLst>
              <a:latin typeface="Arial Black" panose="020B0A04020102020204" pitchFamily="34" charset="0"/>
            </a:endParaRPr>
          </a:p>
          <a:p>
            <a:r>
              <a:rPr lang="tr-TR" sz="2600" b="1" i="1" spc="300" smtClean="0">
                <a:effectLst>
                  <a:outerShdw blurRad="38100" dist="38100" dir="2700000" algn="tl">
                    <a:srgbClr val="000000">
                      <a:alpha val="43137"/>
                    </a:srgbClr>
                  </a:outerShdw>
                </a:effectLst>
              </a:rPr>
              <a:t>Yaptırım </a:t>
            </a:r>
            <a:r>
              <a:rPr lang="tr-TR" sz="2600" b="1" i="1" spc="300" dirty="0" smtClean="0">
                <a:effectLst>
                  <a:outerShdw blurRad="38100" dist="38100" dir="2700000" algn="tl">
                    <a:srgbClr val="000000">
                      <a:alpha val="43137"/>
                    </a:srgbClr>
                  </a:outerShdw>
                </a:effectLst>
              </a:rPr>
              <a:t>Teorisi</a:t>
            </a:r>
            <a:endParaRPr lang="tr-TR" sz="2600" b="1" i="1" spc="300" dirty="0">
              <a:effectLst>
                <a:outerShdw blurRad="38100" dist="38100" dir="2700000" algn="tl">
                  <a:srgbClr val="000000">
                    <a:alpha val="43137"/>
                  </a:srgbClr>
                </a:outerShdw>
              </a:effectLst>
            </a:endParaRPr>
          </a:p>
        </p:txBody>
      </p:sp>
      <p:sp>
        <p:nvSpPr>
          <p:cNvPr id="10" name="Dikdörtgen 9"/>
          <p:cNvSpPr/>
          <p:nvPr/>
        </p:nvSpPr>
        <p:spPr>
          <a:xfrm>
            <a:off x="1547399" y="1844215"/>
            <a:ext cx="9492076" cy="400110"/>
          </a:xfrm>
          <a:prstGeom prst="rect">
            <a:avLst/>
          </a:prstGeom>
        </p:spPr>
        <p:txBody>
          <a:bodyPr wrap="square">
            <a:spAutoFit/>
          </a:bodyPr>
          <a:lstStyle/>
          <a:p>
            <a:pPr marR="0" lvl="0" indent="361950" algn="just" defTabSz="914400" rtl="0" eaLnBrk="1" fontAlgn="auto" latinLnBrk="0" hangingPunct="1">
              <a:lnSpc>
                <a:spcPct val="100000"/>
              </a:lnSpc>
              <a:spcBef>
                <a:spcPts val="0"/>
              </a:spcBef>
              <a:spcAft>
                <a:spcPts val="0"/>
              </a:spcAft>
              <a:buClrTx/>
              <a:buSzTx/>
              <a:tabLst/>
              <a:defRPr/>
            </a:pPr>
            <a:r>
              <a:rPr lang="tr-TR" sz="2000" b="1" dirty="0" smtClean="0">
                <a:latin typeface="Calibri" panose="020F0502020204030204"/>
              </a:rPr>
              <a:t>Ceza İlişkisini Ortadan kaldıran Nedenler</a:t>
            </a:r>
          </a:p>
        </p:txBody>
      </p:sp>
      <p:sp>
        <p:nvSpPr>
          <p:cNvPr id="3" name="Dikdörtgen 2"/>
          <p:cNvSpPr/>
          <p:nvPr/>
        </p:nvSpPr>
        <p:spPr>
          <a:xfrm>
            <a:off x="2244286" y="2244325"/>
            <a:ext cx="9162853" cy="861774"/>
          </a:xfrm>
          <a:prstGeom prst="rect">
            <a:avLst/>
          </a:prstGeom>
        </p:spPr>
        <p:txBody>
          <a:bodyPr wrap="square">
            <a:spAutoFit/>
          </a:bodyPr>
          <a:lstStyle/>
          <a:p>
            <a:pPr algn="just"/>
            <a:r>
              <a:rPr lang="tr-TR" sz="1000" dirty="0" smtClean="0"/>
              <a:t>Suçun unsurlarının oluşmasına, </a:t>
            </a:r>
            <a:r>
              <a:rPr lang="tr-TR" sz="1000" dirty="0" err="1" smtClean="0"/>
              <a:t>cezalandırılabilirlik</a:t>
            </a:r>
            <a:r>
              <a:rPr lang="tr-TR" sz="1000" dirty="0" smtClean="0"/>
              <a:t> şartlarının gerçekleşmesine, failin kim olduğunun bilinmesine ve muhakeme şartlarının gerçekleşmesine rağmen bazı nedenlerle davaya devam edilememekte veya karar verilmiş bir ceza infaz edilememektedir. </a:t>
            </a:r>
          </a:p>
          <a:p>
            <a:pPr algn="just"/>
            <a:r>
              <a:rPr lang="tr-TR" sz="1000" dirty="0" smtClean="0"/>
              <a:t>Bu kapsamda;</a:t>
            </a:r>
          </a:p>
          <a:p>
            <a:pPr algn="just"/>
            <a:r>
              <a:rPr lang="tr-TR" sz="1000" dirty="0" smtClean="0"/>
              <a:t>Davaya devam edilmesini engelleyen nedenlere </a:t>
            </a:r>
            <a:r>
              <a:rPr lang="tr-TR" sz="1000" b="1" dirty="0" smtClean="0"/>
              <a:t>Dava İlişkisini Düşüren Nedenler</a:t>
            </a:r>
            <a:r>
              <a:rPr lang="tr-TR" sz="1000" dirty="0" smtClean="0"/>
              <a:t>,</a:t>
            </a:r>
          </a:p>
          <a:p>
            <a:pPr algn="just"/>
            <a:r>
              <a:rPr lang="tr-TR" sz="1000" dirty="0" smtClean="0"/>
              <a:t>Kesinleşen cezanın infaz edilmesini engelleyen nedenlere </a:t>
            </a:r>
            <a:r>
              <a:rPr lang="tr-TR" sz="1000" b="1" dirty="0" smtClean="0"/>
              <a:t>Ceza İlişkisini Düşüren Nedenler</a:t>
            </a:r>
            <a:r>
              <a:rPr lang="tr-TR" sz="1000" dirty="0" smtClean="0"/>
              <a:t> adı verilmektedir.</a:t>
            </a:r>
          </a:p>
        </p:txBody>
      </p:sp>
      <p:sp>
        <p:nvSpPr>
          <p:cNvPr id="2" name="Metin kutusu 1"/>
          <p:cNvSpPr txBox="1"/>
          <p:nvPr/>
        </p:nvSpPr>
        <p:spPr>
          <a:xfrm>
            <a:off x="2244286" y="3183615"/>
            <a:ext cx="8728514" cy="338554"/>
          </a:xfrm>
          <a:prstGeom prst="rect">
            <a:avLst/>
          </a:prstGeom>
          <a:noFill/>
        </p:spPr>
        <p:txBody>
          <a:bodyPr wrap="square" rtlCol="0">
            <a:spAutoFit/>
          </a:bodyPr>
          <a:lstStyle/>
          <a:p>
            <a:pPr algn="ctr"/>
            <a:r>
              <a:rPr lang="tr-TR" sz="1600" spc="300" dirty="0" smtClean="0">
                <a:effectLst>
                  <a:outerShdw blurRad="38100" dist="38100" dir="2700000" algn="tl">
                    <a:srgbClr val="000000">
                      <a:alpha val="43137"/>
                    </a:srgbClr>
                  </a:outerShdw>
                </a:effectLst>
              </a:rPr>
              <a:t>Dava ve Ceza İlişkisini Kaldıran Nedenler</a:t>
            </a:r>
            <a:endParaRPr lang="fr-FR" sz="1600" spc="300" dirty="0">
              <a:effectLst>
                <a:outerShdw blurRad="38100" dist="38100" dir="2700000" algn="tl">
                  <a:srgbClr val="000000">
                    <a:alpha val="43137"/>
                  </a:srgbClr>
                </a:outerShdw>
              </a:effectLst>
            </a:endParaRPr>
          </a:p>
        </p:txBody>
      </p:sp>
      <p:sp>
        <p:nvSpPr>
          <p:cNvPr id="7" name="Metin kutusu 6"/>
          <p:cNvSpPr txBox="1"/>
          <p:nvPr/>
        </p:nvSpPr>
        <p:spPr>
          <a:xfrm>
            <a:off x="1988820" y="3755473"/>
            <a:ext cx="1821180" cy="1384995"/>
          </a:xfrm>
          <a:prstGeom prst="rect">
            <a:avLst/>
          </a:prstGeom>
          <a:noFill/>
        </p:spPr>
        <p:txBody>
          <a:bodyPr wrap="square" rtlCol="0">
            <a:spAutoFit/>
          </a:bodyPr>
          <a:lstStyle/>
          <a:p>
            <a:pPr algn="ctr"/>
            <a:r>
              <a:rPr lang="tr-TR" sz="1200" b="1" dirty="0" smtClean="0">
                <a:effectLst>
                  <a:outerShdw blurRad="38100" dist="38100" dir="2700000" algn="tl">
                    <a:srgbClr val="000000">
                      <a:alpha val="43137"/>
                    </a:srgbClr>
                  </a:outerShdw>
                </a:effectLst>
              </a:rPr>
              <a:t>Sanığın </a:t>
            </a:r>
          </a:p>
          <a:p>
            <a:pPr algn="ctr"/>
            <a:r>
              <a:rPr lang="tr-TR" sz="1200" b="1" dirty="0" smtClean="0">
                <a:effectLst>
                  <a:outerShdw blurRad="38100" dist="38100" dir="2700000" algn="tl">
                    <a:srgbClr val="000000">
                      <a:alpha val="43137"/>
                    </a:srgbClr>
                  </a:outerShdw>
                </a:effectLst>
              </a:rPr>
              <a:t>veya </a:t>
            </a:r>
          </a:p>
          <a:p>
            <a:pPr algn="ctr"/>
            <a:r>
              <a:rPr lang="tr-TR" sz="1200" b="1" dirty="0" smtClean="0">
                <a:effectLst>
                  <a:outerShdw blurRad="38100" dist="38100" dir="2700000" algn="tl">
                    <a:srgbClr val="000000">
                      <a:alpha val="43137"/>
                    </a:srgbClr>
                  </a:outerShdw>
                </a:effectLst>
              </a:rPr>
              <a:t>Hükümlünün Ölümü</a:t>
            </a:r>
          </a:p>
          <a:p>
            <a:pPr algn="ctr"/>
            <a:r>
              <a:rPr lang="tr-TR" sz="1100" u="sng" dirty="0" smtClean="0"/>
              <a:t>Sonuçları</a:t>
            </a:r>
          </a:p>
          <a:p>
            <a:pPr algn="ctr"/>
            <a:r>
              <a:rPr lang="tr-TR" sz="1100" dirty="0" smtClean="0"/>
              <a:t>Kamu </a:t>
            </a:r>
            <a:r>
              <a:rPr lang="tr-TR" sz="1100" dirty="0"/>
              <a:t>davası düşer/ortadan kalkar</a:t>
            </a:r>
            <a:endParaRPr lang="fr-FR" sz="1100" dirty="0"/>
          </a:p>
          <a:p>
            <a:pPr algn="ctr"/>
            <a:endParaRPr lang="fr-FR" sz="1200" dirty="0"/>
          </a:p>
        </p:txBody>
      </p:sp>
      <p:sp>
        <p:nvSpPr>
          <p:cNvPr id="8" name="Metin kutusu 7"/>
          <p:cNvSpPr txBox="1"/>
          <p:nvPr/>
        </p:nvSpPr>
        <p:spPr>
          <a:xfrm>
            <a:off x="3665220" y="4062803"/>
            <a:ext cx="1177290" cy="1677382"/>
          </a:xfrm>
          <a:prstGeom prst="rect">
            <a:avLst/>
          </a:prstGeom>
          <a:noFill/>
        </p:spPr>
        <p:txBody>
          <a:bodyPr wrap="square" rtlCol="0">
            <a:spAutoFit/>
          </a:bodyPr>
          <a:lstStyle/>
          <a:p>
            <a:pPr algn="ctr"/>
            <a:r>
              <a:rPr lang="tr-TR" sz="1200" b="1" dirty="0" smtClean="0">
                <a:effectLst>
                  <a:outerShdw blurRad="38100" dist="38100" dir="2700000" algn="tl">
                    <a:srgbClr val="000000">
                      <a:alpha val="43137"/>
                    </a:srgbClr>
                  </a:outerShdw>
                </a:effectLst>
              </a:rPr>
              <a:t>Af</a:t>
            </a:r>
          </a:p>
          <a:p>
            <a:pPr marL="92075"/>
            <a:r>
              <a:rPr lang="tr-TR" sz="1200" dirty="0" smtClean="0"/>
              <a:t>I. Genel Af</a:t>
            </a:r>
          </a:p>
          <a:p>
            <a:pPr marL="92075"/>
            <a:r>
              <a:rPr lang="tr-TR" sz="1200" dirty="0" smtClean="0"/>
              <a:t>II. Özel Af</a:t>
            </a:r>
          </a:p>
          <a:p>
            <a:pPr marL="92075"/>
            <a:endParaRPr lang="tr-TR" sz="1200" dirty="0" smtClean="0"/>
          </a:p>
          <a:p>
            <a:pPr marL="92075" algn="ctr"/>
            <a:r>
              <a:rPr lang="tr-TR" sz="1100" dirty="0" smtClean="0"/>
              <a:t>Orman </a:t>
            </a:r>
            <a:r>
              <a:rPr lang="tr-TR" sz="1100" dirty="0"/>
              <a:t>suçları için genel ve özel af çıkarılamaz</a:t>
            </a:r>
            <a:r>
              <a:rPr lang="tr-TR" sz="1100" dirty="0" smtClean="0"/>
              <a:t>.</a:t>
            </a:r>
          </a:p>
          <a:p>
            <a:pPr marL="92075" algn="ctr"/>
            <a:r>
              <a:rPr lang="tr-TR" sz="1100" dirty="0" smtClean="0"/>
              <a:t>(A.Y. 169.md)</a:t>
            </a:r>
          </a:p>
        </p:txBody>
      </p:sp>
      <p:sp>
        <p:nvSpPr>
          <p:cNvPr id="9" name="Metin kutusu 8"/>
          <p:cNvSpPr txBox="1"/>
          <p:nvPr/>
        </p:nvSpPr>
        <p:spPr>
          <a:xfrm>
            <a:off x="4943474" y="4346958"/>
            <a:ext cx="1575436" cy="1015663"/>
          </a:xfrm>
          <a:prstGeom prst="rect">
            <a:avLst/>
          </a:prstGeom>
          <a:noFill/>
        </p:spPr>
        <p:txBody>
          <a:bodyPr wrap="square" rtlCol="0">
            <a:spAutoFit/>
          </a:bodyPr>
          <a:lstStyle/>
          <a:p>
            <a:pPr algn="ctr"/>
            <a:r>
              <a:rPr lang="tr-TR" sz="1200" b="1" dirty="0" smtClean="0">
                <a:effectLst>
                  <a:outerShdw blurRad="38100" dist="38100" dir="2700000" algn="tl">
                    <a:srgbClr val="000000">
                      <a:alpha val="43137"/>
                    </a:srgbClr>
                  </a:outerShdw>
                </a:effectLst>
              </a:rPr>
              <a:t>Zaman Aşımı</a:t>
            </a:r>
          </a:p>
          <a:p>
            <a:pPr marL="92075"/>
            <a:r>
              <a:rPr lang="tr-TR" sz="1200" dirty="0"/>
              <a:t>I. </a:t>
            </a:r>
            <a:r>
              <a:rPr lang="tr-TR" sz="1200" dirty="0" smtClean="0"/>
              <a:t>Dava Zaman Aşımı</a:t>
            </a:r>
            <a:endParaRPr lang="tr-TR" sz="1200" dirty="0"/>
          </a:p>
          <a:p>
            <a:pPr marL="92075"/>
            <a:r>
              <a:rPr lang="tr-TR" sz="1200" dirty="0"/>
              <a:t>II. </a:t>
            </a:r>
            <a:r>
              <a:rPr lang="tr-TR" sz="1200" dirty="0" smtClean="0"/>
              <a:t>Ceza Zaman Aşımı</a:t>
            </a:r>
            <a:endParaRPr lang="tr-TR" sz="1200" dirty="0"/>
          </a:p>
          <a:p>
            <a:pPr algn="ctr"/>
            <a:endParaRPr lang="tr-TR" sz="1200" dirty="0" smtClean="0"/>
          </a:p>
          <a:p>
            <a:pPr algn="ctr"/>
            <a:endParaRPr lang="tr-TR" sz="1200" dirty="0" smtClean="0"/>
          </a:p>
        </p:txBody>
      </p:sp>
      <p:sp>
        <p:nvSpPr>
          <p:cNvPr id="11" name="Metin kutusu 10"/>
          <p:cNvSpPr txBox="1"/>
          <p:nvPr/>
        </p:nvSpPr>
        <p:spPr>
          <a:xfrm>
            <a:off x="6619874" y="4623956"/>
            <a:ext cx="1861186" cy="1461939"/>
          </a:xfrm>
          <a:prstGeom prst="rect">
            <a:avLst/>
          </a:prstGeom>
          <a:noFill/>
        </p:spPr>
        <p:txBody>
          <a:bodyPr wrap="square" rtlCol="0">
            <a:spAutoFit/>
          </a:bodyPr>
          <a:lstStyle/>
          <a:p>
            <a:pPr algn="ctr"/>
            <a:r>
              <a:rPr lang="tr-TR" sz="1200" b="1" dirty="0" smtClean="0">
                <a:effectLst>
                  <a:outerShdw blurRad="38100" dist="38100" dir="2700000" algn="tl">
                    <a:srgbClr val="000000">
                      <a:alpha val="43137"/>
                    </a:srgbClr>
                  </a:outerShdw>
                </a:effectLst>
              </a:rPr>
              <a:t>Şikayetten Vazgeçme</a:t>
            </a:r>
          </a:p>
          <a:p>
            <a:pPr algn="ctr"/>
            <a:r>
              <a:rPr lang="tr-TR" sz="1100" dirty="0" smtClean="0"/>
              <a:t>Şikayete tabi suçlarda, hüküm kesinleşmeden önce vazgeçme mümkündür. </a:t>
            </a:r>
          </a:p>
          <a:p>
            <a:pPr algn="ctr"/>
            <a:r>
              <a:rPr lang="tr-TR" sz="1100" dirty="0"/>
              <a:t>Kanunda aksi yazılı olmadıkça, vazgeçme onu kabul etmeyen sanığı etkilemez </a:t>
            </a:r>
            <a:endParaRPr lang="tr-TR" sz="1100" dirty="0" smtClean="0"/>
          </a:p>
        </p:txBody>
      </p:sp>
      <p:sp>
        <p:nvSpPr>
          <p:cNvPr id="12" name="Metin kutusu 11"/>
          <p:cNvSpPr txBox="1"/>
          <p:nvPr/>
        </p:nvSpPr>
        <p:spPr>
          <a:xfrm>
            <a:off x="8582024" y="4939966"/>
            <a:ext cx="2390776" cy="1800493"/>
          </a:xfrm>
          <a:prstGeom prst="rect">
            <a:avLst/>
          </a:prstGeom>
          <a:noFill/>
        </p:spPr>
        <p:txBody>
          <a:bodyPr wrap="square" rtlCol="0">
            <a:spAutoFit/>
          </a:bodyPr>
          <a:lstStyle/>
          <a:p>
            <a:pPr algn="ctr"/>
            <a:r>
              <a:rPr lang="tr-TR" sz="1200" b="1" dirty="0" err="1" smtClean="0">
                <a:effectLst>
                  <a:outerShdw blurRad="38100" dist="38100" dir="2700000" algn="tl">
                    <a:srgbClr val="000000">
                      <a:alpha val="43137"/>
                    </a:srgbClr>
                  </a:outerShdw>
                </a:effectLst>
              </a:rPr>
              <a:t>Önödeme</a:t>
            </a:r>
            <a:endParaRPr lang="tr-TR" sz="1200" b="1" dirty="0" smtClean="0">
              <a:effectLst>
                <a:outerShdw blurRad="38100" dist="38100" dir="2700000" algn="tl">
                  <a:srgbClr val="000000">
                    <a:alpha val="43137"/>
                  </a:srgbClr>
                </a:outerShdw>
              </a:effectLst>
            </a:endParaRPr>
          </a:p>
          <a:p>
            <a:pPr algn="ctr"/>
            <a:r>
              <a:rPr lang="tr-TR" sz="1100" dirty="0" smtClean="0"/>
              <a:t>Suçun Kanunda sadece adli para cezasını veya üst sınırı 6 ayı geçmeyen cezayı öngörmesi durumunda mümkündür. </a:t>
            </a:r>
          </a:p>
          <a:p>
            <a:pPr algn="ctr"/>
            <a:r>
              <a:rPr lang="tr-TR" sz="1100" dirty="0" smtClean="0"/>
              <a:t>Dava şartı niteliğindedir.</a:t>
            </a:r>
          </a:p>
          <a:p>
            <a:pPr algn="ctr"/>
            <a:r>
              <a:rPr lang="tr-TR" sz="1100" dirty="0" smtClean="0"/>
              <a:t>Hesaplanan miktar Devlet Hazinesine ödenir.  Ödeme yapılırsa kamu davası açılmaz, dava açılmış ise düşme kararı verilir.</a:t>
            </a:r>
          </a:p>
        </p:txBody>
      </p:sp>
      <p:sp>
        <p:nvSpPr>
          <p:cNvPr id="4" name="Aşağı Ok 3"/>
          <p:cNvSpPr/>
          <p:nvPr/>
        </p:nvSpPr>
        <p:spPr>
          <a:xfrm>
            <a:off x="2824480" y="3584674"/>
            <a:ext cx="111760" cy="170799"/>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Aşağı Ok 14"/>
          <p:cNvSpPr/>
          <p:nvPr/>
        </p:nvSpPr>
        <p:spPr>
          <a:xfrm>
            <a:off x="4180840" y="3584674"/>
            <a:ext cx="137160" cy="478129"/>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Aşağı Ok 15"/>
          <p:cNvSpPr/>
          <p:nvPr/>
        </p:nvSpPr>
        <p:spPr>
          <a:xfrm>
            <a:off x="5634672" y="3584674"/>
            <a:ext cx="166688" cy="762284"/>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Aşağı Ok 16"/>
          <p:cNvSpPr/>
          <p:nvPr/>
        </p:nvSpPr>
        <p:spPr>
          <a:xfrm>
            <a:off x="7467122" y="3584673"/>
            <a:ext cx="173197" cy="1001795"/>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Aşağı Ok 17"/>
          <p:cNvSpPr/>
          <p:nvPr/>
        </p:nvSpPr>
        <p:spPr>
          <a:xfrm>
            <a:off x="9653585" y="3584673"/>
            <a:ext cx="173197" cy="1261647"/>
          </a:xfrm>
          <a:prstGeom prst="downArrow">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Slayt Numarası Yer Tutucusu 5"/>
          <p:cNvSpPr>
            <a:spLocks noGrp="1"/>
          </p:cNvSpPr>
          <p:nvPr>
            <p:ph type="sldNum" sz="quarter" idx="12"/>
          </p:nvPr>
        </p:nvSpPr>
        <p:spPr/>
        <p:txBody>
          <a:bodyPr/>
          <a:lstStyle/>
          <a:p>
            <a:fld id="{39F9BA00-44CD-41D4-A3D8-F864C744DC1F}" type="slidenum">
              <a:rPr lang="tr-TR" smtClean="0"/>
              <a:t>115</a:t>
            </a:fld>
            <a:r>
              <a:rPr lang="tr-TR"/>
              <a:t>/116</a:t>
            </a:r>
          </a:p>
        </p:txBody>
      </p:sp>
    </p:spTree>
    <p:extLst>
      <p:ext uri="{BB962C8B-B14F-4D97-AF65-F5344CB8AC3E}">
        <p14:creationId xmlns:p14="http://schemas.microsoft.com/office/powerpoint/2010/main" val="128370582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577</TotalTime>
  <Words>16448</Words>
  <Application>Microsoft Office PowerPoint</Application>
  <PresentationFormat>Geniş ekran</PresentationFormat>
  <Paragraphs>2101</Paragraphs>
  <Slides>115</Slides>
  <Notes>0</Notes>
  <HiddenSlides>0</HiddenSlides>
  <MMClips>0</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115</vt:i4>
      </vt:variant>
    </vt:vector>
  </HeadingPairs>
  <TitlesOfParts>
    <vt:vector size="124" baseType="lpstr">
      <vt:lpstr>Arial</vt:lpstr>
      <vt:lpstr>Arial Black</vt:lpstr>
      <vt:lpstr>Calibri</vt:lpstr>
      <vt:lpstr>Calibri Light</vt:lpstr>
      <vt:lpstr>MinionPro-It</vt:lpstr>
      <vt:lpstr>MinionPro-Regular</vt:lpstr>
      <vt:lpstr>Times New Roman</vt:lpstr>
      <vt:lpstr>Wingdings</vt:lpstr>
      <vt:lpstr>Office Teması</vt:lpstr>
      <vt:lpstr>PowerPoint Sunusu</vt:lpstr>
      <vt:lpstr> Ceza Hukukunun Amacı, Kaynaklar ve İlkeleri</vt:lpstr>
      <vt:lpstr>PowerPoint Sunusu</vt:lpstr>
      <vt:lpstr> Ceza Hukukunun Amacı, Kaynaklar ve İlkeleri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 Suçun Unsurları (Tipiklik) </vt:lpstr>
      <vt:lpstr> Suçun Unsurları (Tipiklik) </vt:lpstr>
      <vt:lpstr>Suçun Objektif (Maddi) Unsurları </vt:lpstr>
      <vt:lpstr>Suçun Objektif (Maddi) Unsurları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3.HAFTA Tipikliğin Objektif Unsurları</dc:title>
  <dc:creator>DEĞİŞTİR</dc:creator>
  <cp:lastModifiedBy>A1 Sınıfı</cp:lastModifiedBy>
  <cp:revision>136</cp:revision>
  <dcterms:created xsi:type="dcterms:W3CDTF">2023-05-02T12:30:46Z</dcterms:created>
  <dcterms:modified xsi:type="dcterms:W3CDTF">2026-04-01T07:43:48Z</dcterms:modified>
</cp:coreProperties>
</file>